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22.xml" ContentType="application/inkml+xml"/>
  <Override PartName="/ppt/ink/ink23.xml" ContentType="application/inkml+xml"/>
  <Override PartName="/ppt/ink/ink24.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ink/ink25.xml" ContentType="application/inkml+xml"/>
  <Override PartName="/ppt/ink/ink26.xml" ContentType="application/inkml+xml"/>
  <Override PartName="/ppt/notesSlides/notesSlide9.xml" ContentType="application/vnd.openxmlformats-officedocument.presentationml.notesSlide+xml"/>
  <Override PartName="/ppt/notesSlides/notesSlide10.xml" ContentType="application/vnd.openxmlformats-officedocument.presentationml.notesSlide+xml"/>
  <Override PartName="/ppt/ink/ink27.xml" ContentType="application/inkml+xml"/>
  <Override PartName="/ppt/ink/ink28.xml" ContentType="application/inkml+xml"/>
  <Override PartName="/ppt/ink/ink29.xml" ContentType="application/inkml+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59"/>
  </p:notesMasterIdLst>
  <p:sldIdLst>
    <p:sldId id="256" r:id="rId2"/>
    <p:sldId id="298" r:id="rId3"/>
    <p:sldId id="259" r:id="rId4"/>
    <p:sldId id="257" r:id="rId5"/>
    <p:sldId id="314" r:id="rId6"/>
    <p:sldId id="264" r:id="rId7"/>
    <p:sldId id="265" r:id="rId8"/>
    <p:sldId id="299" r:id="rId9"/>
    <p:sldId id="315" r:id="rId10"/>
    <p:sldId id="258" r:id="rId11"/>
    <p:sldId id="285" r:id="rId12"/>
    <p:sldId id="286" r:id="rId13"/>
    <p:sldId id="287" r:id="rId14"/>
    <p:sldId id="260" r:id="rId15"/>
    <p:sldId id="267" r:id="rId16"/>
    <p:sldId id="269" r:id="rId17"/>
    <p:sldId id="268" r:id="rId18"/>
    <p:sldId id="297" r:id="rId19"/>
    <p:sldId id="292" r:id="rId20"/>
    <p:sldId id="261" r:id="rId21"/>
    <p:sldId id="270" r:id="rId22"/>
    <p:sldId id="274" r:id="rId23"/>
    <p:sldId id="271" r:id="rId24"/>
    <p:sldId id="275" r:id="rId25"/>
    <p:sldId id="272" r:id="rId26"/>
    <p:sldId id="276" r:id="rId27"/>
    <p:sldId id="273" r:id="rId28"/>
    <p:sldId id="288" r:id="rId29"/>
    <p:sldId id="262" r:id="rId30"/>
    <p:sldId id="277" r:id="rId31"/>
    <p:sldId id="278" r:id="rId32"/>
    <p:sldId id="312" r:id="rId33"/>
    <p:sldId id="313" r:id="rId34"/>
    <p:sldId id="281" r:id="rId35"/>
    <p:sldId id="282" r:id="rId36"/>
    <p:sldId id="296" r:id="rId37"/>
    <p:sldId id="289" r:id="rId38"/>
    <p:sldId id="263" r:id="rId39"/>
    <p:sldId id="283" r:id="rId40"/>
    <p:sldId id="284" r:id="rId41"/>
    <p:sldId id="290" r:id="rId42"/>
    <p:sldId id="295" r:id="rId43"/>
    <p:sldId id="293" r:id="rId44"/>
    <p:sldId id="291"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294"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503"/>
    <p:restoredTop sz="94741"/>
  </p:normalViewPr>
  <p:slideViewPr>
    <p:cSldViewPr snapToGrid="0">
      <p:cViewPr varScale="1">
        <p:scale>
          <a:sx n="196" d="100"/>
          <a:sy n="196" d="100"/>
        </p:scale>
        <p:origin x="1032" y="16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0:04:16.989"/>
    </inkml:context>
    <inkml:brush xml:id="br0">
      <inkml:brushProperty name="width" value="0.035" units="cm"/>
      <inkml:brushProperty name="height" value="0.035" units="cm"/>
    </inkml:brush>
  </inkml:definitions>
  <inkml:trace contextRef="#ctx0" brushRef="#br0">10 9 24575,'0'5'0,"0"1"0,0-2 0,0 1 0,0-1 0,0-1 0,0 1 0,0 0 0,1 0 0,-1-2 0,1 1 0,-1-1 0,0 1 0,0 1 0,0-2 0,0 2 0,0-2 0,0 0 0,0 0 0,0 0 0,0 0 0,0 0 0,0 0 0,0 0 0,0 0 0,0 0 0,0 1 0,0-1 0,0 0 0,0-2 0,0-2 0,-1-2 0,0-2 0,1 0 0,0 0 0,0 1 0,-1-1 0,0 3 0,0-1 0,1 0 0,-1 0 0,0 1 0,1 1 0,-1 0 0,0 0 0,1 0 0,0 0 0,0-2 0,0 0 0,-1-1 0,1 0 0,-1 0 0,1 1 0,0 1 0,0 2 0,0 4 0,0 0 0,0 3 0,0-2 0,1 3 0,-1-2 0,2 2 0,-1-2 0,1 0 0,-1-1 0,1-1 0,-1-1 0,0 0 0,0 0 0,-1-1 0,1 1 0,-1 0 0,1-1 0,-1 1 0,1-1 0,0 1 0,0 0 0,-1 0 0,1 0 0,-1 0 0,1 1 0,-1-1 0,1 0 0,-1 0 0,1 0 0,-1 1 0,1 0 0,-1-1 0,1 1 0,0-1 0,-1 0 0,0 1 0,0-1 0,0 0 0,0 0 0,0 0 0,0 0 0,0 0 0,0 0 0,0-1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0:04:46.839"/>
    </inkml:context>
    <inkml:brush xml:id="br0">
      <inkml:brushProperty name="width" value="0.035" units="cm"/>
      <inkml:brushProperty name="height" value="0.035" units="cm"/>
      <inkml:brushProperty name="color" value="#FFFFFF"/>
    </inkml:brush>
  </inkml:definitions>
  <inkml:trace contextRef="#ctx0" brushRef="#br0">0 1 24575,'0'6'0,"0"0"0,0 0 0,0 1 0,1 2 0,1 1 0,0 1 0,2 1 0,-1-1 0,0 0 0,-2-3 0,1-2 0,-2-2 0,1 0 0,0-1 0,0 2 0,0 0 0,0-1 0,-1-1 0,1 0 0,0-2 0,0 0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0:04:49.347"/>
    </inkml:context>
    <inkml:brush xml:id="br0">
      <inkml:brushProperty name="width" value="0.035" units="cm"/>
      <inkml:brushProperty name="height" value="0.035" units="cm"/>
      <inkml:brushProperty name="color" value="#FFFFFF"/>
    </inkml:brush>
  </inkml:definitions>
  <inkml:trace contextRef="#ctx0" brushRef="#br0">0 0 24575,'0'10'0,"1"0"0,0 0 0,3 3 0,-1-5 0,5 5 0,-1-1 0,1 0 0,-1-1 0,-3-5 0,-1-2 0,-2 0 0,0-2 0,0 0 0,0 1 0,-1-1 0,1-1 0,-1 1 0,1 0 0,-1 1 0,0 1 0,0-1 0,0 0 0,0 0 0,0-1 0,0 2 0,1-1 0,0 1 0,-1 1 0,0-1 0,0 0 0,0-2 0,0-1 0,1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1:53:28.548"/>
    </inkml:context>
    <inkml:brush xml:id="br0">
      <inkml:brushProperty name="width" value="0.05" units="cm"/>
      <inkml:brushProperty name="height" value="0.05" units="cm"/>
      <inkml:brushProperty name="color" value="#004F8B"/>
    </inkml:brush>
  </inkml:definitions>
  <inkml:trace contextRef="#ctx0" brushRef="#br0">0 0 24575,'0'18'0,"2"-2"0,2 8 0,0-11 0,2 4 0,-2-9 0,0 0 0,-1 0 0,1 0 0,0-1 0,-1 2 0,1 1 0,0 3 0,1-1 0,-1 1 0,0-2 0,1 1 0,-1-2 0,0-1 0,-1-2 0,0-1 0,1 0 0,1 2 0,1 0 0,-1 0 0,0-1 0,-2-1 0,0-3 0,-2 1 0,0-1 0,1 0 0,0 1 0,0-1 0,0 0 0,1 1 0,-2-1 0,0 0 0,1 0 0,0 1 0,0 0 0,1 1 0,-1-2 0,-1-1 0,-1-1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1:53:30.777"/>
    </inkml:context>
    <inkml:brush xml:id="br0">
      <inkml:brushProperty name="width" value="0.05" units="cm"/>
      <inkml:brushProperty name="height" value="0.05" units="cm"/>
      <inkml:brushProperty name="color" value="#004F8B"/>
    </inkml:brush>
  </inkml:definitions>
  <inkml:trace contextRef="#ctx0" brushRef="#br0">220 1 24575,'-7'6'0,"-2"2"0,-7 9 0,2-2 0,-4 6 0,4-4 0,-3 4 0,1 2 0,-1 2 0,1-2 0,1-1 0,4-5 0,3-4 0,1-1 0,3-5 0,-1 2 0,2-3 0,0 0 0,0 0 0,0 0 0,0-1 0,1-1 0,0 0 0,1-1 0,-1 1 0,1-2 0,0 0 0,0 1 0,0-2 0,1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1:55:29.938"/>
    </inkml:context>
    <inkml:brush xml:id="br0">
      <inkml:brushProperty name="width" value="0.05" units="cm"/>
      <inkml:brushProperty name="height" value="0.05" units="cm"/>
      <inkml:brushProperty name="color" value="#E71225"/>
    </inkml:brush>
  </inkml:definitions>
  <inkml:trace contextRef="#ctx0" brushRef="#br0">1 0 24575,'11'19'0,"-1"-2"0,-4-9 0,0 0 0,0 0 0,1 0 0,-1 1 0,1 1 0,-1-1 0,0 0 0,0-2 0,-2-2 0,0-1 0,0 0 0,0 1 0,2 1 0,0 0 0,1 0 0,0 1 0,1 1 0,-1-1 0,-1 0 0,0-1 0,-2 0 0,0-2 0,-1 0 0,0-1 0,-2-1 0,1-1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1:55:32.354"/>
    </inkml:context>
    <inkml:brush xml:id="br0">
      <inkml:brushProperty name="width" value="0.05" units="cm"/>
      <inkml:brushProperty name="height" value="0.05" units="cm"/>
      <inkml:brushProperty name="color" value="#E71225"/>
    </inkml:brush>
  </inkml:definitions>
  <inkml:trace contextRef="#ctx0" brushRef="#br0">142 0 24575,'0'13'0,"0"4"0,-7 8 0,3-6 0,-6 2 0,6-13 0,-1 0 0,1-2 0,0 2 0,1 0 0,0-1 0,0-1 0,0 0 0,0 0 0,1-1 0,0-1 0,0 0 0,-1 1 0,-1 1 0,0 1 0,-2 2 0,0 0 0,-1-2 0,2-2 0,1-2 0,0-2 0,0 2 0,0-1 0,0-1 0,-1 1 0,0-2 0,0 2 0,1-1 0,0 1 0,2-1 0,-1-1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1:26:42.733"/>
    </inkml:context>
    <inkml:brush xml:id="br0">
      <inkml:brushProperty name="width" value="0.6" units="cm"/>
      <inkml:brushProperty name="height" value="0.6" units="cm"/>
      <inkml:brushProperty name="color" value="#FFFFFF"/>
    </inkml:brush>
  </inkml:definitions>
  <inkml:trace contextRef="#ctx0" brushRef="#br0">1 190 7967,'0'-29'-188,"17"-49"0,4-4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1:26:46.494"/>
    </inkml:context>
    <inkml:brush xml:id="br0">
      <inkml:brushProperty name="width" value="0.6" units="cm"/>
      <inkml:brushProperty name="height" value="0.6" units="cm"/>
      <inkml:brushProperty name="color" value="#FFFFFF"/>
    </inkml:brush>
  </inkml:definitions>
  <inkml:trace contextRef="#ctx0" brushRef="#br0">474 2560 7967,'-29'-28'-496,"1"16"455,18-14 0,1 16 88,18-9 20,-7-9 287,15 7 532,-15-6-783,6 8 69,-8 9-237,0 1-196,-17 9 177,13 9-44,-21 1 196,14 9 256,-8 0 2,0 0-223,-8 8 223,6 3-93,-6-1 210,8 7-372,0-6-24,8-1-122,11-2 1,19-16 84,13-5 0,-3-10-221,3-2 1,-1-15 51,7 2 1,-2-7-268,-4 1 308,3-4 0,-1-16 39,4 1 0,-4 0 53,-15 6 22,-9 0 40,7-8 319,-23 14-145,-13 5 1,-25 42-66,-13 16 1,4 11 140,15 3 0,0-5-4,0 4 1,7 2 319,-1-2-510,17 1 0,-8-7 114,17-1-157,8-7 0,25-11-174,18-13 1,1-6-225,5-6 0,-1-7 195,7-12 0,-6-5-338,-1-7 0,-6-3 128,7-5 1,-9 3 27,2-8 1,-6 1 165,-6-1 1,-7-3-110,-12 9 136,-5 0 286,-8 6 1,-23 17 209,-9 8 0,-14 26-195,2 12 0,-3 9 333,3 3 1,2 10-14,-9 3 1,7 3-35,-6-2 1,10 1-164,2-8 1,8 7-122,11-7 1,3 7 187,3-7-322,4-8 1,33-5-208,7-12 0,9-4 101,-2-15 1,6-2 30,1-4 0,1-7-273,-2-12 0,-4-5-170,4-8 0,-6-2 109,-6-4 0,2 2 98,-9-9 0,6 9 172,-5-2 1,-9 4-105,-11 2 287,-4 9 0,-6-3-45,-9 13 1,-4 7 95,-21 18 1,5 13 29,-12 12 0,-1 5 89,2 2 1,-2 6-31,1 1 1,5 5 125,-4-6 1,4 7-108,2-7 1,9 0 138,3-6-190,5 0 150,11 0-491,18-17 1,20-6-76,16-22 1,0-5-386,-6-13 420,0-5 1,4-16-100,-4-5 0,-2 5 130,-11 2 0,-10 2 72,4-3 1,-13 5 87,0-4-90,-4 12 0,-18 1 251,-10 12 1,-10 6 97,-8 20 0,-2 12 72,-5 12 0,-3 5-61,3 2 0,-2 8 129,3 5 1,-3 4-92,9 1 1,8-7-59,11-5 0,6-4-261,6-2 139,5-9 0,25-1-120,8-9 0,2-9-98,5-3 0,6-7-193,6-7 0,0-3 63,-6-9 0,7-9-177,-1-3 1,0-7 38,-6-6 0,-9 4 75,-3-5 1,-1-1 254,-6 2 1,2 0-272,-15 6 297,-8 8 1,-19-1 66,-17 12 1,-2 6 160,-10 19 0,-1 13 31,-6 13 0,0 4 159,0 2 0,1 8-188,-1 5 1,8 3 158,5 3 1,6-2-146,7-5 1,5 3 30,14-9-207,3 1 1,14-12-2,7-7-239,9-1 1,23-25-19,1 0 0,1-9-140,-2-10 1,-4-8 151,4-5 0,-4-3-181,-2-3 1,-6-6 13,0-1 0,-7-5 55,6 6 0,-14-1 187,2 7 0,-10 1-45,3-1 372,-8 8-86,-4 3 104,-27 25 1,-11 18-16,-12 22 1,5 13 82,14-1 0,-3 3 167,9-2 0,0 1-150,6-7 0,8-1-187,5-6 0,8-9-50,11-4 0,10-6-4,21-6 0,4-7-34,9-12 0,8-13-187,5-13 1,6-5-298,6-8 0,-4-9 277,-37 23 1,0-2 0,1-1 0,0-1 18,-1 3 1,0 1 0,0-5 0,-2 0-87,31-33 1,-1 3 87,-12 3 1,2 6 67,-15 7 190,-8-5-103,0 15 31,-23 2 0,-5 23 22,-21 22 1,-12 12 430,-6 19 1,-7 8-297,-7 4 1,-9 14-40,-10 5 1,-1-2 34,2 3 0,4-9-70,-4 2 1,4 2 108,2-1 1,11-7-148,8-7 0,10-14 204,16 2-515,3-13 0,35-6 110,12-13 0,21-14-184,10-11 1,5-15 129,2-10 0,-35 15 0,0-1-156,41-27 0,-41 27 0,0-1 128,35-26 1,-36 26 0,0-1 72,36-31 0,-37 31 0,-1 1 17,26-26 0,-1 0 233,-6 0 1,-3 2-114,-3 5 0,-11 10-173,-8 8 339,-9 9-62,4-4 92,-25 16 104,-38 45 1,-8 2-138,-25 33 1,1-12 115,5 0 1,-6-4-124,5 10 0,1-6 83,6-7 1,9 3 230,4-9 128,12-8-520,5 0 0,29-26-335,17-4 1,17-22 124,21-22 0,14-9-41,5-9 0,-32 26 0,0 1-83,0-3 0,1 0 0,5-1 0,1-1 96,2-3 1,1-2-1,1-2 1,0 0 65,-1 0 0,-1 0 1,-1 0-1,-1 2 33,-3 4 0,-1 0 1,-3-1-1,-1 1 24,-2 3 0,0 1 1,39-28 315,-11 14-279,1 1 20,-22 15 6,-8-1 72,-13 11 1,-35 19-74,-17 13 1,-11 12 9,-8 7 0,-13 6-31,-13 6 1,-5-2 101,-8 9 1,41-24 0,0 2-36,-2 2 1,0 2 0,1 1-1,2 1 289,-35 28 1,0 0-77,0-6 0,11-2 638,8-4-489,17-13-491,21-11 0,42-21 70,21-12 1,22-9-351,3-23 0,11 2 0,2-14 0,-34 25 0,1-1 224,-1-2 0,-1-1 1,3 1-1,1 0-10,-1-1 0,1 1 0,1-1 0,1 1-16,4-1 0,0 1 0,2 0 0,0-1 59,-2 0 0,0 1 1,0 4-1,-1 0 54,-8 2 0,-1 0 1,2 1-1,-1 2 19,34-19 1,5 2 161,-12 4 0,-3 5-259,-15 8 49,-9 0-45,-1 0 141,-18 9 100,-18 1 341,-47 26 1,-8 2-321,-26 13 0,1 5-164,-1 1 0,-16 2-130,42-14 0,-1-1 0,-3-3 0,-1 0 57,5 3 1,0 1-1,-2-1 1,-1 0 11,0 3 0,0 1 0,0-1 0,1 1 37,1 0 1,2-1-1,-38 18 1000,18-8-656,17-8 1,31-20-374,22-4 0,24-14 197,32-11 1,13-10-55,-29 8 1,1-3-1,0-2 1,1-2-344,1-4 0,1 0 0,-2 0 0,1 1 0,3 2 0,1 1 0,1 0 0,0-1 0,4 1 0,2 0 0,0 0 0,2 1 69,3 2 1,1-1 0,-5-1 0,0 0 166,-2 1 1,0 1 0,-2 1 0,0 0-3,-1-2 0,-1 1 0,3 3 1,0 0 90,-1-3 1,-2-1-1,-1 5 1,-2 0-188,35-23 1,-12 6 113,-13 6 1,0-1-209,-6 8 174,-4-1 89,-15 7 405,-17 9 1,-15 3-150,-25 14 1,-11 5-277,-14 14 0,-13 3-37,-12 9 0,-7 2 66,-6 4 1,38-20 0,0 1-31,-6 3 0,-2 1 0,0-1 0,-1 0-91,-3 1 1,-2-1-1,2-2 1,-1-1 39,0 0 0,0 0 0,1 0 1,0-1 129,3 1 0,-1 0 1,1-2-1,1-1 541,-37 9-169,26-12 1,40-10-486,29-9 1,24-9-499,27-4 0,10-12 37,15-6 0,4-14 209,-39 20 0,1 0 0,6-2 0,2-1 106,0 0 0,1-1 0,3 0 1,0-1 48,1-1 1,-2-1 0,1 2-1,1-1 94,4-4 0,2 1 0,1 0 0,1 0-249,7-1 0,0 1 0,-5 1 0,-1 2 242,-3 6 0,-2 0 0,-2-2 1,-1 1 100,-5 4 1,-1 0-1,-3 0 1,-2 2 152,43-12 0,-9 5-117,-16 8 0,-4 0-122,-8 0 0,-2 2 57,-4 5 1,-5-3-14,-8 9 928,-9-1-584,-1 7 584,-9 0-145,-9 0-592,-35 9 1,-3 3-575,-28 14 0,1-3 172,-8 8 1,-7 1-285,-12 6 1,-2-2 342,-5-5 1,-1 5 192,8-4 1,-7 1-202,7-1 0,8 2-227,11-9 445,21 0 378,-2-6 1,42-8-621,8-5 1,24-4 38,14-2 1,15-8 205,-2-5 1,6-10-128,0-2 1,6-9-179,14 2 1,3-4 144,-39 18 1,1-1 0,3-1 0,1 0 22,1-3 1,1 1-1,2 2 1,0-2 46,1-3 1,0 0-1,2 0 1,2 1 7,-1-1 1,0 0 0,-1 0 0,0 1 45,-5 2 0,-1 0 0,0 2 0,-1 0-60,-1-2 0,-1 0 1,-3 2-1,-1 2 27,42-14 0,-12-3-20,-19 3 0,-8 5 211,-5 1 34,4-3 547,-8-1-500,7 1 664,-26 10-1022,-13 10 1,-40 18 2,-12 4 1,-21 12-457,2 6 0,-9 5 34,-4 2 1,-8 2 237,-4 4 1,42-24-1,-1 0 183,-1 2 0,1 1 0,-39 17 273,4-3 1,6-5-201,7 0 1,-1-3 533,13 3-526,13 4 158,17-15-487,16 6 263,11-17 0,25-1-120,13-9 1,6-9 286,1-3 1,3-7-278,9-6 0,8 1-2,5-7 0,10-1-355,2-6 1,8 0 425,-1 1 0,-43 17 1,1 0 17,0-3 1,0 1 0,4 2 0,-1 0-19,1-1 0,-1-2 1,1 0-1,0 0-2,-4 1 0,0 0 0,40-21 188,-5 12 1,-6-3-43,-7 9 1,-12 0 53,-13 6 0,-4 0-78,-2 0 238,-8 0-134,5 0-61,-22 8 1,-7 3 390,-25 8 1,-8 6-386,-11 1 1,-10 14-56,-9-2 0,-9 12 21,-9 1 0,-12 10-241,40-21 1,0 2-1,-4 6 1,-2 1 108,-3-2 0,-1 1 0,-8 5 0,-1 1-186,-2 0 0,-3 0 0,-7 2 0,-2 0 0,-5 1 0,0-1 0,4-2 0,2-2 36,-1-1 0,2-1 0,11-5 0,5-2 701,13 0 1,3-3-1,-19 2 1,50 0-1,22-17 1,12 7-559,19-7 1,-1 1-68,1-7 1,9-2-34,3-5 0,5-10-43,2-8 0,8-9 176,5 3 0,5-5 219,8-2 0,3-6-165,-39 22 1,1 0 0,-1-1 0,0 1 9,1 3 0,-1 1 1,4-4-1,1-1 16,2 1 1,0 0 0,1-3 0,-1 0-16,0 3 1,0-1 0,-2-2 0,-1 0-4,-3 3 0,-1 0 0,39-23 40,-4 7 0,-6 1-15,-7-1 1,-12 8-34,-13 5 1,-10 4-55,-2 2 391,-9 0-105,-4 0-20,-11 8 0,-33 3-105,-13 8 0,-15 0-291,-10 0 1,-6 11 83,-13 7 1,-13 4-142,42-7 0,-1 1 0,-7 0 1,-1 2 134,-3 3 0,-2 2 0,-4-1 0,-1 0-160,-6 6 0,-2 1 0,-12 1 0,-2 1 82,28-7 0,-1 2 0,-2 0 0,-4 2 0,-2 0 0,0 0 0,-2 1 0,-1 1 0,-1 0 0,-2 0 0,-1 1 0,-1 0 0,-5 1 0,-1 0 0,0-1 0,0 0 0,0 0 0,0 0 0,2-1 0,0-1 0,2 0 0,5-1 0,1-1 0,2-2 356,10-3 1,2-1-1,1-1 1,-19 7-1,4-3 299,20-10 1,4-3-1,-20 6 1,66-17-1,34 0 1,26-6-511,18-1 0,20-14-246,6 2 0,-42 4 0,1-1 99,0 0 1,-1 0 0,3-1 0,0-2-81,1 1 0,0-1 0,3-3 0,0-1 0,0 2 0,0-2 0,0-2 0,0 0 147,-3 2 1,0 1 0,3-3 0,2 0 343,0 3 1,2 0 0,7-7 0,1-1-73,1 1 1,0 1 0,0 0 0,-1 1-129,-5 1 1,-1 1-1,0 3 1,0 0 25,1-3 1,-1 0-1,-5 4 1,-2 2-106,-4 0 0,-3 0 0,39-17-113,-28 11 0,-8 6 50,-17 6-164,-9 9 752,-10-5 1,-55 18-1,-21 4 1,-16 5-1,3 8 1,-12 5-247,30-9 1,-3 1 0,-5-2 0,-2 0-1,-7 4 1,-1 0 0,-4 0 0,0 1-96,2 2 0,-1 1 0,-10 3 1,-3 1-348,-4 1 0,-3 1 1,22-8-1,-3 1 0,-2 0 33,-5 1 0,-1 0 0,-1 1 0,-3 1 0,-1 1 0,1 0 0,-3 1 0,1 1 0,-1 0 0,1-1 0,1-1 0,-1 2 0,1 1 0,1 2 0,0-2 0,3-2 0,1-1 0,1 0 0,6 0 0,1 0 0,2-1 0,6-5 0,1 0 0,4-2 133,-14 5 1,5-2-1,12-6 1,4-4 668,-22 2-405,34-8 0,46-13-246,34-5 1,28-7-316,28-18 0,-42 13 0,2-2 82,5-6 0,2-3 0,4-2 0,2-1 0,5-2 0,2 0 0,0-1 0,1-1 0,1-1 0,0 0 0,2 3 0,0 0 0,-2 0 0,-1 1 0,0 4 0,-2 1 194,-6 0 0,-2 1 0,-2 3 0,-1 2-17,-2 3 1,0 2-1,-4 0 1,-1 2 65,-4 3 1,-1 1-1,43-11-113,-17 16 0,-7-1-708,1 2 824,8 4 0,0-1 0,8 10 0,4-3 0,7-2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1:26:48.036"/>
    </inkml:context>
    <inkml:brush xml:id="br0">
      <inkml:brushProperty name="width" value="0.6" units="cm"/>
      <inkml:brushProperty name="height" value="0.6" units="cm"/>
      <inkml:brushProperty name="color" value="#FFFFFF"/>
    </inkml:brush>
  </inkml:definitions>
  <inkml:trace contextRef="#ctx0" brushRef="#br0">76 445 8048,'-21'-30'983,"-4"3"-71,23 8-473,-15-8-295,15 5 76,-7-13-142,18 14 179,-7-7-321,15 1-21,-15-3 174,6-8-271,-8 1 75,0 7 402,0 3-93,0 8-7,0 17 0,0 21-88,0 25 0,0 8 9,0 5 1,7 2 111,-1 4 1,0-4-57,-6 5 1,0-1-53,0-6 0,7 2 145,-1-15-415,0 0-180,-6 2-58,9-22 0,1-3 40,9-34 1,0-17-145,0-20 0,2-7 0,4-6 0,-8-4 0,8-9 0,-8 0 0,9 0 0,-12 9 75,-1 4 0,0 12 526,6 7 201,-9 4 2,7 19 0,-15 14 22,4 26 1,-6 9 156,-6 10 1,2 8-1,-9 4 1,1 3-1,-7-2 1,2 1-1,4-7 1,-4-1 425,5-6-712,-5-9 234,-2 7-647,0-23 0,8-1-212,5-24 1,4-12-73,2-20 0,8 2 0,5-8 0,-2 5-492,1-5 0,1 8 119,6-5 960,0 26 0,-2 15-122,-5 25 0,-3 15 518,-9 10 1,0 8-1,0-1 1,0 8-316,0-2 0,2 2-176,4-15 0,-4 26 0,7-1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1:27:10.282"/>
    </inkml:context>
    <inkml:brush xml:id="br0">
      <inkml:brushProperty name="width" value="0.08571" units="cm"/>
      <inkml:brushProperty name="height" value="0.08571" units="cm"/>
      <inkml:brushProperty name="color" value="#E71224"/>
    </inkml:brush>
  </inkml:definitions>
  <inkml:trace contextRef="#ctx0" brushRef="#br0">1 1485 7598,'10'0'-1177,"0"0"2368,-4 0-463,-4 0-268,6 0-72,-8 0 3902,0 0-3902,0 10-172,0-8 1,2 17-23,4-12 1,-4 4-68,3-3 0,0-3 14,1 11 0,-2-9-113,8 10 0,-8-10 103,2 9 0,2-8 71,-2 8-6,8-1 70,-4 8-52,8 1 40,0 0-214,0-1 44,0 1 1,-2-8-156,-3-1 197,3-9-81,-6 14 0,6-14-28,-4 9 89,3-10 67,-4 16-110,7-18 0,-2 10-28,-4-5-3,4-6 0,-8 12 7,4-7-36,4-4-11,-5 8 0,4-8 71,-3 4-22,4-5-46,-6 10 49,8-2-23,0-8 68,0 19-40,0-18 1,-1 10 22,-5-5-36,4-6 0,-12 9-40,7-11 71,2 10-181,5-7 159,0 7-242,0 1 141,0-8 1,0 6 30,1-9 1,-8 4 83,1 4-17,1-6 0,5 8 16,0-10 0,-7 0-36,2 0 1,-8 0 66,8 0-47,-2 0 0,7 0 1,1 0 1,-7 0-9,0 0 1,-6-2 23,6-6-26,0 6-18,6-19 1,0 16 40,0-12 0,-5 10-29,-2-9 0,-4 8-2,4-8 1,0 9 2,0-9 0,3 8 80,-7-8 0,6 9-40,0-10 1,-4 5 90,4-4-139,-1-5 0,6 8 29,0-10 1,-6 6-48,0 3 0,1-3 42,4-6 0,-5 7-60,0 1 0,-2-1 42,2-8 0,5 9-28,-6-1 0,0 2 24,1-1 1,-3-6 2,4 5 1,0 4 13,-6-5 0,7 5 3,-2-4 1,-2-5-10,2 5 0,-6 3-2,6-3 1,-6 9 19,6-10 1,-6 5-17,6-4 0,-6-5 17,6 6 0,-8 1-18,2-1 0,2 6 34,-2-5-73,8-3 0,-10-4-14,8 5-27,-8-4 1,7 9 76,-6-4-22,-3-6-27,7 7-24,-9-9 0,2 8-83,3-1-5,-3 0 124,7-8 0,-7 9-2,4-1 0,-5 8 24,5-8 0,-4 9-44,-2-9 70,0 11-45,0-16 1,0 16 2,0-12 0,0 10-3,0-9 0,3 11-9,3-3-58,-4-5 30,5 0 0,-7-3-34,0 0 55,0 11 1,0-7 2,0 3-24,0 6 89,0-7-86,0-1 4,0 9 15,0-8 2,0 0-19,-7 6 7,5-6 39,-7 0-25,1 7 0,7-10 42,-5 6-18,-5 3-4,9-6 0,-12 8-5,8-6 1,-1 6 5,0-7-10,5 6 1,-7 3 0,2 0-212,5 0 164,-14 0 1,12 0 23,-8 0 16,8 0 11,-12 0-21,14 0 17,-14 0 1,12 0-40,-8 0 45,8 12 0,-6-2-93,4 6 0,3-4 70,-2-4 0,1-2-62,-2 9 46,3 1 23,-12 7 0,13 1-16,-5 0 1,0-9 5,0 1 0,1-9-54,6 9 59,-7 1 0,3 6-14,-8 1 1,8-9 4,-3 1 0,3-4-33,-1 4 0,3 6 17,-5-8 1,5 0 1,2 2 0,-6-1 30,1 9 0,-2-8 0,7-1 0,-2-1-16,-4 2 0,4 4-1,-4-4 1,4-3-31,2 2 36,0 1 1,-6 8 144,0 0-114,0-1 0,6 1 11,0-1-41,0 1 1,0 0-16,0-1-26,0 1 1,0-2 47,0 2 1,0-8 6,0 0 0,3-8-3,2 8 8,-3-1 3,14 8 0,-12-2 10,9-4 1,-8 0-38,8-8 1,-9 1 10,1-3 1,-1-3-144,3 3 0,-3-2 80,8 3 0,-6-5 68,5 5 0,-4-3-38,4 2 1,-4-3 33,4 4 0,-4-6 17,5-2 1,0 0 14,6 0 0,-6 0 1,0 0 0,0 0 21,6 0 1,0-2 4,1-6 0,-1 2-42,0-9 1,0 6 79,-1-6 0,1 7-71,0-7 0,-5 10-4,-1-4 1,-1-1 18,8 1 0,-1-6 4,0 8 1,-6-4-52,0 3 0,0 3 37,6-11 0,0 11 27,0-3 0,-5-2-35,-2 2 1,2-10 122,5 1 0,0 5-104,0-4 1,0 3 5,0-3 1,0-5-10,-1 5 0,4-4 6,3-4 1,-4 8-18,4 0 0,-4 1 20,-2-8 0,2-1 59,4 0 1,-3 1-72,3-1 0,-4 1 3,-2-1 1,0-7 33,0 0 0,-2-1 4,-4 8 1,4 0-15,-4 1 0,5-1 2,0 2 1,1-2-11,0 1 0,-6-1 2,1 0 0,-4 1-10,4-1 0,3 3 13,-5 5 1,0-4-31,0 4 0,-4-5-13,4-3 0,-4 3-7,4 6 0,-6-6 17,1 5 1,2 3 2,-2-3 24,8 0-8,-12-8-77,6 1 69,-8-1-71,0 1 80,0 0-16,0 0 0,0 6-12,0 1 1,0 11-3,0-16 1,-2 19 5,-4-6 0,4 3-189,-4-3 180,-4 5 0,6-7-119,-8 10 0,5 0 92,-4 0 1,4 0-88,-4 0 1,4 0 66,-4 0 26,-2 0 0,-5 8 20,0-1 0,7 12 15,-2-3 0,1-4-33,-6 4 1,6 3 4,0 12 0,1-5-63,-7 5 0,5-2 62,1 3 1,2-6 36,-2 5 1,-3-5 2,10-2 0,-8 7 7,8 1 0,-7 7-25,6-8 1,0 1 9,6-8 1,-2 7 7,-5 0 1,5 0-8,-3-7 0,3-1 13,2 1 0,0 2-20,0 6 0,0-14-3,0 5 0,2-4 8,3 5 1,-3-1 3,5 1 0,1-1 28,-2 1 1,6-8 4,-7-1 1,10 1-25,-3 8 1,-2-9 35,2 1-64,0-11 0,7 14 61,-1-12-145,-1 12 1,1-14 40,0 11-59,0-11 0,0 6 55,0-11 1,0 0-5,1 0 1,-7-4 72,-1-3 0,2 2-49,5-11 0,0 8 74,0-8 0,0 4-61,0-5 0,0-1 164,1 10 0,-1-10-17,0 3 0,2 1-40,4-1 1,-4-1-17,3-8 1,-1 3-5,3 5 0,-5-4 79,4 4 0,2-5-91,-1-3 1,-2 3 6,-5 6 1,2-6-3,4 5 1,-4-3-38,5 5 0,-5-8 3,-2 6 1,0 4-77,0-4 1,0 1 56,0-9 1,0 1-90,0-1 0,2 8-3,5 0 1,-5 1 90,4-9-31,-4 0-14,-2 1 0,0-1 26,0 1 0,0 6-24,0 3 19,-8-3 10,6-6 1,-6-1-6,8 1 46,1-1 1,-4 0 225,-3 1-242,4-1 3,-14 1 0,13 0 17,-10 0 1,4 6-58,-3 1 0,-4 1 56,3-8 1,6-1-61,-9 1 1,5 6-34,-7 2-39,0-1 60,0-7 1,0 7-35,0 1-49,0 8 98,0-12-5,-7 16-301,5-8 186,-14 11 86,5 0-129,-7 0 1,7 0-4,-2 0 46,9 0 72,-12 0 0,12 0 26,-8 0 1,6 2 3,-6 7 1,0-4 93,-6 10 1,6 1-66,-1 8 0,2-1 103,-7 1 0,0 0-60,0-1 1,5 3 79,2 5 1,-2-2-81,-5 11 0,6-9 8,1 8 0,0-7 18,0 7 1,-4-3 92,10 4 0,-4 4-104,3-5 1,4-1-1,-4 0 0,4-7-112,2 9 1,0-11 139,0 2-42,0 6 1,6-11-35,0 5 1,7-5-85,-8-2 0,10-3 91,-4-5 0,0 1-1,0-8 1,-4 6 407,4-6-247,1 8 0,7-6-97,-1 5 1,-6-3 97,0-6-196,0-4 1,6 8 39,0-11 0,0 0-20,0 0 0,6-7 3,0-2 1,1-9-30,-8 2 0,10 3-52,2-2 0,-2-1 83,-3-8 1,1 8 101,0 1 0,7-1-95,-2-8 1,-4 1 173,-1-1 1,0 9 16,-1-1 0,3 0-72,-3-8 0,-2 2 4,8-2 0,-8 1 3,2-1 1,2 0-125,-2 1 0,6 7 144,-5 1-61,-1-2-152,1-6 0,-3-1 29,9 1 0,-9 6-55,2 3 1,-3 0 65,-4-1 0,4-6-98,2 5 1,-2-5 82,2-3-232,-3 12 146,-2-10 0,1 9-41,-1-11 0,0 9 60,0-1 1,0 4 8,0-4 0,0-6-56,0 7 76,0 4 132,-8-10 0,6 11-51,-3-6 0,0-5 164,-1 6-218,5 4 130,-8-10 1,3 11-76,1-6-26,-9-4 81,12 6 1,-9-2-48,6 1-86,3-1 1,-12-5 65,8 6 1,-8-6-178,2 5 1,2 3 99,-2-3 1,0 9 22,-6-10-144,8 1 95,-6-7 1,6 8 17,-8-1 25,0 11 94,0-17-92,0 20 118,0-8-101,0 10 30,0 0-82,-8 0-16,6 0 79,-14 0 1,12 0-8,-8 0 0,6 0-6,-6 0 0,6 2-48,-6 6 193,8-6-130,-12 20 48,14-20 4,-14 19-45,5-8 105,-7 10-92,9-9 0,-8 7 25,5-6 0,2 4-23,-2-3 0,2 5-51,-2-6 0,-4 6 53,4 2 1,-4 4-46,-2 4 1,2-5 37,4 6 0,-4 2-6,4-3 0,-4 1 71,-2-8 0,5 2 127,2 5 1,5-5 70,-6 5 0,1-5-72,0-2 0,0-1-12,6 1 0,3-1-56,-5 1 0,-1 0-121,3-1 63,-2 1 0,7-1-20,0 1 1,0-9-9,0 1-150,0 0 1,7-1 30,-2 1 1,8-8 98,-8 8 0,10-11 39,-4 2 0,0 0-43,1 0 1,-1-4 78,8 4 1,-7-3-47,-1-4 1,2 7 8,5 1 0,0-1 13,0-7 1,0 0 6,0 0 1,0 0-58,1 0 1,-1 0 30,0 0 0,2-2-35,4-6 1,-4 3 25,3-11 1,-3 9 11,-1-10 0,-1 10 11,0-9 1,2 3 1,4-3 0,-3-5-43,2 6 0,-3 2 28,-1-2 1,4 6 35,1-6 1,1 1-34,-7-2 1,0-4 79,-1 4 1,4 2-73,3 0 1,-4 0-21,4-1 1,-4-6-9,-2 5 0,2-5-70,4-3 1,-1 0 52,6 1 1,-7-1-17,3 1 1,1 8-59,-2-2 1,2 3 52,-2-10 1,-4 0 158,4 1 0,-2-1-90,3 1 1,-5 6 210,4 2-105,-4-1-65,-2-7-42,0-1 0,0 8-5,0 1 0,0 6-123,0-6 134,-8 10-276,6-16 126,-5 8 22,-2 0 1,7-5-347,-3 10 1,-4-3 136,4 3 0,-8 4-1194,8-13 660,-9 12 1,6-6-978,-4 11 1220,-4-10-1233,5 8 1802,-7-9 0,-7 32 0,-4 5 0</inkml:trace>
  <inkml:trace contextRef="#ctx0" brushRef="#br0" timeOffset="725">5853 189 7601,'0'-13'-988,"0"0"622,0 5 191,0 6 714,0-10 1,0 10-106,0-6 0,2 6 253,5-7-288,-5 7 585,6 2-250,-8-10 249,0 7-474,0-8 15,0 1 396,0 8-258,0-9-306,0 11 0,-2-8-28,-4 1 1,2-2 281,-8 9-303,-1 0 1,-10 0 168,-1 0 1,0 0-175,6 0 0,-7 0 47,1 0 0,-5 0-54,4 0 0,-7 9-67,2-2 1,4 1 201,1-8-95,-2 0-141,7 0 160,-7 0-208,9 0 0,6 0 187,0 0 56,8 0-416,-12 0 0,16 8 88,0 0 1,9-1-831,8-7 339,1 0 309,9 0 0,2 0-1916,14 0 877,-5 0 417,14 0 0,-11-7-298,6-1 1,-5-8 575,7 9 1,-9-9-158,2 8 262,-12 1 249,5-5 0,-15 10-69,3-6 1115,-11 6-356,-4 2 0,-22 10 482,-4 6 1,-11 13-185,-2 2 1,-3 11 441,-3-3 0,8-2-739,-2 1 1,8 0-81,-8 0 1,9 4-512,-2-11 0,10 2 113,3-10-3125,6 1 3023,-3-12 0,48-74 0,11-30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1:27:13.398"/>
    </inkml:context>
    <inkml:brush xml:id="br0">
      <inkml:brushProperty name="width" value="0.08571" units="cm"/>
      <inkml:brushProperty name="height" value="0.08571" units="cm"/>
      <inkml:brushProperty name="color" value="#E71224"/>
    </inkml:brush>
  </inkml:definitions>
  <inkml:trace contextRef="#ctx0" brushRef="#br0">19 95 9205,'-2'13'1022,"-4"-1"0,4-5-534,-5 5 1,5 1-35,2 6 0,0 0-122,0 0 1,9-7 78,3 1 0,7-2-197,6 1 0,5-3-21,8-9 0,2 0-205,4 0 1,4-9 81,9-3 0,0-5-138,0-2 1,0 0 7,0 0 0,2 0-79,4 0 0,-6 6-78,0 1 0,-1 7-89,-5-1 0,-3 4-281,3 2 1,-11 0 251,-2 0 1,-2 6-653,-11 1 1,0-1 64,-6-6 922,-8 0 0,-20 8 0,-12 3 0</inkml:trace>
  <inkml:trace contextRef="#ctx0" brushRef="#br0" timeOffset="459">493 304 7590,'-11'-3'-1160,"5"-3"928,4 4 0,0-13 972,-4 9 1,3-2 286,-3 1 337,4 5-190,2-6-504,0 8 1,0 14-135,0 5 1,0 13 70,0 0 0,2 5 112,4 8 0,-3 1-286,3 5 1,-4 3-83,-2-3 1,0 4-122,0 1 0,0-7-324,0-5 0,0-6-206,0-6 1,0-5-755,0-8-443,0-9-147,0-1 1,6-11 11,1-5 0,5-3 866,-5-9 0,5-2 423,-5-4 1,5 4 342,-6-5 0,18-71 0,-14 41 0,1-1 0</inkml:trace>
  <inkml:trace contextRef="#ctx0" brushRef="#br0" timeOffset="709">701 360 7590,'9'-19'0,"-5"0"10,9 1 1,-9 5 149,2 0 104,5 9 0,-7-11 474,9 9-431,-9 0 1,11 8 83,-9 4 0,6 5 58,-5 8 0,5 2-73,-5 4 0,1 4-23,-2 9 1,-3 2-55,3 5 0,-4-3 159,-2 8 0,0-1-131,0 1 0,0-1 68,0-5 1,0-2-288,0 8 0,0-10 43,0-2 1,0-8-1169,0-11 716,0 0-481,0-9 0,6-3-215,1-14 0,5-12 997,-5-12 0,10-24 0,6-10 0,-2-7 0,0 1 0</inkml:trace>
  <inkml:trace contextRef="#ctx0" brushRef="#br0" timeOffset="1209">1403 76 7589,'-9'-10'-812,"7"1"1,-8 9 2089,3 0 1,5-2 713,-4-4-1119,4 4 1,4-7-410,4 9 1,7 0-1,12 0 0,-2-6-271,9 0 1,6-1 0,6 7 1,6-2-330,-5-4 1,7 4 163,-1-5 1,4 5-1589,2 2 1559,-9 0 0,15 9 0,-4 1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1:27:25.765"/>
    </inkml:context>
    <inkml:brush xml:id="br0">
      <inkml:brushProperty name="width" value="0.08571" units="cm"/>
      <inkml:brushProperty name="height" value="0.08571" units="cm"/>
      <inkml:brushProperty name="color" value="#004F8B"/>
    </inkml:brush>
  </inkml:definitions>
  <inkml:trace contextRef="#ctx0" brushRef="#br0">1 2672 8212,'0'-12'1092,"0"3"-1027,0 9-30,0 0 1,2-8-8,4 2 76,-4-1-126,6-3-1,-8 8 87,8-17 0,-4 10-54,8-5 1,-6-4 51,7 3 0,-8 3 15,8-1 1,-7-2 8,6-6 1,-6 7 10,6 1 0,0 0-43,6 0 0,-6-6-1,1 5 1,-1-5-30,6-2 0,-6 8 47,0-2 0,0 4-36,6-3 0,1-3 20,-1 10 0,-6-7 16,0 7 0,0-7-41,7 7 0,-3-2 2,-4 1 1,4 4-53,-4-10 66,5 9 0,1-6-65,0 3 0,-6 6 94,0-5-113,0 5 1,0 2 45,1 0 0,-8 0-3,8 0 0,-7 2 26,6 5 1,-6-5 5,6 6 0,-8-4 50,2 3 1,3-2-65,-4 9 1,3-10 91,-1 4 0,-3 1-68,7-2 1,-4 9-33,4-1 0,-6-4 11,1 3 0,2 0-4,-2 7 1,0 0 11,-6 0 0,2 0-7,4 0 1,-4 0-39,5 0 0,-6 3 33,-1 3 0,0-2 55,0 2 0,0 3-48,0-2 1,0 1 51,0-8 1,-5 2-60,-2 5 1,1-11 23,6 4-60,0-6-15,-7 6-39,4 1 0,-5-8 79,8 0 1,-2-9-271,-4 2 198,3 5 1,-6-10-226,3 5 49,4-5-138,-14-2 270,14 0 41,-14-9 0,12 5 9,-9-11 1,9 8-23,-2-7 1,4 7-97,2-7 0,0 7 94,0-7 0,0 7-72,0-7 1,0 7 106,0-7 1,0 0 74,0-7 0,0 7-65,0-1 1,2 2 108,4-8 1,-2 2-27,9 5 0,-8-5 175,7 6 1,-1-6-61,1-2 1,3 0 49,-2-1 0,1 1-180,-2 0 1,4 0 42,-3 0 0,3 2 65,2 6-116,0-6 0,1 7-77,-1-9 0,-3 7 66,-2 0 0,3 7-6,-3-7 1,0 7-19,0-7 1,3 3 53,-5-4 19,6-4 1,1 8-50,0-10 0,-1 7 31,-5 1 0,4 0 20,-4-1 1,-2-4 89,2 4-76,0-5 3,7-2-25,-1 0-35,0 0 0,-6 7-21,0 0 0,-6 7 32,6-7 1,-6 9 64,7-2 0,-8-2-31,8 2 0,-7-3 9,6 3 1,-2 3-1,2-11-2,5 11 3,-8-15-22,9 7 0,-1-1-148,-5-2 89,5 11 1,-10-8-64,6 5 95,3 5 1,-12-7 50,7 9-84,-6 0-2,12-10 1,-8 8 1,7-9 49,-3 3-76,2 6 1,-4-10 87,7 5 1,-6 4 0,0-3 0,-6 4-16,6 2 1,-6-3 93,7-4 0,-8 4-117,8-3 0,-7 4 28,6 2 0,-6 0 6,6 0 0,-2-3-3,2-4 1,5 4-30,-5-3 1,-2 3-33,2 3 0,-6 0-31,7 0 50,-2 0 1,7 0 2,1 0 0,-7 0 173,0 0-134,0 0-80,6 9 79,1 4-52,-1 8 3,0 0 0,-2 0-10,-4 0 1,2-8 56,-8 2 0,7-9 66,-8 9 1,8-2-17,-7 8 1,6 0-63,-6 0 1,1 0-47,-7 0 1,0 8 57,0-1 0,0 0-95,0-7 1,0 0 61,0 0 0,0 7-22,0-1 1,0 2-9,0-8 1,0 3-23,0 3 0,0-10-81,0 4 0,0-5 107,0 5 0,-7-7-214,1 1 106,0-2-90,-2-1 1,4-3 44,-9-9 1,8 0 32,-8 0 0,7 0 9,-5 0 0,4 0-279,-4 0 293,-2-9 0,1-1-15,0-3 0,7-6 141,0 5 1,3 3-70,2-4 1,0 1 115,0-6 1,0 5 122,0 1-54,0 1 0,2-9-87,3 1 0,0 0-12,7 0 1,-2 0 33,2 0-44,4 0 1,-5 0 118,7 0 0,0 2-116,0 6 0,-6-6 97,0 4 1,1 4-85,5-3 0,-3 7 5,-2-7 1,3 9 10,-4-3 0,-2 0 71,3 1-91,-2-10 0,8 8 13,-1-5 1,-6-3-89,0 11 0,-5-9 70,4 9 1,-4-9-147,4 9 233,2-11-5,5 6-41,0-10 1,-1 0 106,-6 0 0,4 6-134,-10 2 1,10 5 17,-3-5 0,-2 5-157,2-5 92,1-2 1,5-4-13,0 6 0,-6-4 56,0 10 1,0-7-19,6 8 0,-5-4 31,-1 3 0,0 5 7,6-6 1,-6-1 117,1 2-133,-2 0 0,8 4 79,-1-3 0,-6 4-63,0-6 0,-5 6 104,4 2 1,2-7-48,5 0-92,-9-1 26,8 0 1,-7 5 13,9-3 0,-8-4-1,2 3 1,-1-3 271,6 3-259,-8 5-18,6-7 0,-6 9 59,8 0 1,-5-7 55,-1 0-186,0 0 1,6 7 64,0 0 1,-2-3-166,-3-4 187,3 5-14,-6-7-147,0 9 147,6 0 67,-6 0 0,9 0-90,-1 0 0,-6 0 116,0 0-33,0 0-142,7 0 0,-1 0 51,0 0 0,-6 7-83,0-1 1,-6 9 90,6-8 0,-6 3 15,7-4-40,-1 5 0,3 10 3,-2 0 0,3 1 31,-4-1 1,-4 0-17,-2 0 1,3 0-15,-3 0 0,-1 7-7,-5 1 1,0 1-12,0-3 1,0 4-15,0 4 0,-2 5-34,-3-5 65,3-5-95,-15 0 89,15 1-14,-14-7 11,6 5-116,0-7 109,-6-1-9,6 0 7,-1 0-58,-5 0 1,6 0-75,-8 0-54,0 0 0,0-2 143,0-6 1,5 0-17,2-7 0,-2-4-349,-5 6 175,7-6-74,-4-2 68,4 0 0,-1-2 73,0-6 1,8 4 42,-2-10 1,4 7 40,2-8 1,0 2 97,0-8 0,0 7-133,0 0 155,8 0-15,-6-7 0,14 0 12,-4 0 1,-1 0-48,0-1 0,2 1 151,5 0 50,0 0-203,1 0 1,-1 0 137,0 0 1,0 1-62,0-1 1,1 0-25,-1 0 0,-1 0 36,2 0 0,-1 0 100,0-1 1,0 4-8,1 3 0,-7 0-99,0 7 0,0-5-56,6 5 54,0-8 1,1 14-46,-1-6 1,-6-1 107,0 2-103,0-9 1,7 12 10,-1-11 1,-6 11-6,0-4 1,0-1-15,7 2 1,-1-3 4,0 4 0,-4 1-81,4-9 1,-9 9 88,9-1 1,-5-4-13,5 3 1,1-7-2,-1 7 0,-6-7 111,0 7 1,0-3-24,7 3 0,-7 5 31,0-5-73,0-5-15,-2 10 1,6-7 32,-3 9 1,-4-8-48,4 2 1,-8-1-159,8 7 178,-9 0-97,12 0 1,-12 0 131,8 0 1,-6 0-3,7 0 1,-8 0-62,8 0-14,-1 0 28,6 0-143,-8 0 193,7 0-74,-8 0 1,8 2 13,-5 5 0,-2-5 226,-4 6-235,-4-6 1,13 0 37,-10 5-49,1-5-130,3 8 106,-7-1 0,7-7 57,-2 5-35,-5-4-71,6 6 1,-6-4 42,4 9 84,-4-9 1,8 11-10,-4-9 28,-3 9-76,4-4 0,-5 9 5,4 0 1,-3-7-9,3 1 0,-5-9 15,-1 8 0,0 0-59,0 7 1,0 0 33,0 0 14,0 0-37,0 0 0,0 3 23,0 3 0,-5-3 73,-2 5-66,-6-6 4,10-2 0,-7-1 3,4 1 1,-2 0-7,-4 0 1,-2 0-1,7 0 1,-5 0 15,7 1-11,-10-1 1,5 0-29,-9 0 0,8-2 20,-2-5 1,8 2-202,-8-9 1,7 7 3,-6-6 0,2 0-192,-2-1 286,-4-5 52,6 8 0,-3-10 34,1 0-151,8 0 29,-12 0 102,14 0 0,-13-10-168,10-3 1,-1 1 43,6-2 111,0 0 1,2-7-3,4 0 1,-3 0 107,10 0 0,-7 0 98,6-1 0,1 1-52,5 0 0,0 0 6,0 0 0,0 0-12,0 0 1,0 1-42,0-1 0,1 0 22,-1 0 0,2 0-10,5 0 0,-5 0-19,4-1 1,-4 1-7,-1 0 0,-1 0-107,0 0 0,0 7 92,1 0 0,-3 0-42,-4-7 0,4 2 46,-4 6 0,5-4 6,0 10 0,1-7 13,0 7 0,1-7 87,-1 7 1,-6-7-125,1 7 1,-2-3 13,8 3 0,-1 3-29,0-10 1,-5 9-16,-2-2 0,2-3-157,5 4-42,-8-1 201,6 7 1,-8-2-63,4-6 53,4 6 1,-5-9 6,7 3-22,-8 6 109,6-7-87,-5-1 1,7 8 43,-1-5 0,-4-3-24,-1 3 0,-6 1 5,6 6 1,-6-7-27,7-1-2,-2 2 36,7 6 0,1 0 173,-1 0-107,0-10-80,0 8 40,1-7-61,-1 9 0,0-7 16,0-1-5,-8 2 1,4 3 5,-8-3-21,9 2-215,-5-5 137,8 1-54,1 4 0,-4-7-15,-3 5 185,5 3 1,-13-7-20,8 10 0,-6 0 183,6 0-187,-8 0 22,13-9 1,-14 7 40,10-6 1,-7 6-8,6 2 4,-8 0-36,12 0 0,-12 0-58,9 0 45,-10 0-11,14 0 18,-15 0 8,14 0-13,-14 0-1,6 0 0,-8 2-25,0 6 29,0-6-78,0 17 120,0-8-27,0 10 0,0 1 6,0-1 1,0-7 69,0-1 0,0 2-68,0 6 0,0-8-6,0 2 1,0-1-38,0 7 50,0 0 1,0 0 8,0-1 0,0 1-49,0 0 0,0 1-19,0-1-6,0 0 1,0 0-175,0 0 150,0 0 37,0 0-248,0 0 180,0 0 0,-2-6-276,-4-2 200,4-9 0,-9 6-248,6-10 276,3 9 1,-9-6-76,5 4 0,3-2-65,-10 1 15,9-3 61,-12 7 102,5-10 1,0 6 135,-2 1-1,8 1-109,-8-8 142,9 0 1,-6 6 68,4 1-119,4 1 1,-9-8-99,6 0-8,3 0 18,-6 0 1,5 0 0,-3 0-217,5 0 147,-7 0 71,8-10 25,0-1 0,6-10 81,-1 0 0,4 6 14,-3 2 0,-2-2-47,8-6 0,-6 2 84,6 5 1,-6-4-47,7 4 0,-4-5 50,4-2 1,3 8-38,-4-2 1,2 1 69,-2-7 0,5 7-72,-6 0 0,4 7 1,-3-7 0,4 3-122,-4-4 1,-1-1 152,0 9-99,2-10 0,5 8 36,0-5 0,-6 5-55,0 9 1,-6-8-118,6 2-46,-8-1 1,11 5-45,-10-6 29,10 6 1,-8-9 232,6 3-164,3 6 195,-6-7 0,6 7-175,-3-6 232,3 6-5,-6-7-16,8 9-16,0-10 0,-5 8 301,-2-5-241,2 5 0,-1 2-84,0 0 0,-6 0 130,6 0-112,0 0 1,1 0-149,-2 0 116,2-10-42,5 7 0,0-5-143,1 8 102,-1 0 0,0-7 38,0-1 0,-6 1-39,0 7 0,-6-2 35,7-4 1,-8 2-9,8-2 0,-7 3-12,6 3 1,-6-2-3,6-4 1,-6 3-33,7-4 1,-8 4-74,8 3-7,-9 0-27,12-9 208,-6 7-130,0-8 134,-2 10 0,-6 0 5,4 0 33,-4 0-49,6 0-6,-16 0 1,-2 0-18,-8 0 1,1-2-4,6-5 0,-6 5 39,5-6 1,-4 6 4,-3 2 0,8-2 287,-2-5-172,1 5 261,-5-17-13,-2 17-215,1-8 1,6 3 27,-1 1 23,9-2-62,-3 8-71,7 0 1,7 0-208,6 0 0,3 0 42,2 0 1,6 2-491,0 6 1,9-6 70,-3 5 1,4-3-125,3 4 1,-3-6 261,-4 5 0,5-5-81,-5-2 0,3 0 379,-3 0 1,3 8-38,-9-2 1,0 1 354,-6-7 1,-2 2-41,-3 6 972,-6-6-778,-7 17 1,-2-14-68,-3 8 1,-8-5-109,-11 5 1,4-5-64,-4 5 0,4-5 48,2 5 0,-1-5-80,1 5 1,0-8-1017,0 3 489,-1-6-1038,1 7 605,0-7 0,7 10-1521,5-5 1661,5-5 1,2 8-64,5-10 1,-1 0 222,7 0 1,-6 0-439,6 0-719,0 0 1642,7 0 0,15-10 0,5-1 0</inkml:trace>
  <inkml:trace contextRef="#ctx0" brushRef="#br0" timeOffset="1458">2349 400 7591,'-12'0'0,"-1"0"0,3-2 294,-2-5 587,-4 4 139,6-6-666,-8 9 0,7 3 155,6 3 1,-3-1-64,1 9 0,1-7 506,6 7-613,0 1 0,0 6 356,0 0-388,8 0 1,3-3-77,7-4 1,0 3-234,0-11 0,6 1 80,0-7 0,9 0-261,-2 0 1,4 0-52,8 0 0,-2-9-261,7-5 1,-5-7 241,5-7 0,1 5-74,5-5 0,-1 5-8,-4 1 1,1 1 34,-7 0 1,-1 7 288,-5 1 0,-8 7-89,2-1 0,-9 5-178,2 2 0,-6 9-72,-5 5 0,3 5-192,-4 2 1,-2-7-15,3 0 1,-7-2-710,6 2 1265,0 5 0,-11-17 0,-2 8 0</inkml:trace>
  <inkml:trace contextRef="#ctx0" brushRef="#br0" timeOffset="1808">2803 547 7520,'0'21'-711,"7"10"1421,-1 4 0,1 4-151,0 4 1,-5 1-54,4 5 0,3-5-298,-4 6 0,1-5-239,-6-4 0,7-6-169,-1 1 0,1-21-923,0 0 283,-5-11 1,11-13 326,-6-5 0,5-14 513,-6-7 0,8-70 0,-9 43 0,0 0 0</inkml:trace>
  <inkml:trace contextRef="#ctx0" brushRef="#br0" timeOffset="1991">3113 400 7591,'0'14'17,"0"0"0,0 3 82,0 11 0,0 5 260,0 8 0,0 3 207,0 6 1,0-3-170,0 8 1,0 0-151,0 0 1,0-3-55,0-9 1,0-5-1,0-2 1,2-6-1639,4-9 698,-4-9 1,9-3 746,-6-9 0,-3-93 0,2 34 0,1 1 0</inkml:trace>
  <inkml:trace contextRef="#ctx0" brushRef="#br0" timeOffset="2450">3586 22 7590,'0'-12'1835,"0"3"-1445,0 9 1,0 2-32,0 5 0,7 12-24,-2 8 0,8 11-105,-7-2 0,6 3-206,-6 3 0,6 2 113,-6 5 0,6-5-542,-6 6 1,2-8-182,-1-7 0,-5 3-1477,4-11 2063,-5 1 0,-17-62 0,-4-15 0</inkml:trace>
  <inkml:trace contextRef="#ctx0" brushRef="#br0" timeOffset="2666">3441 274 7965,'0'-14'1169,"0"0"1,2 10-759,4-4 0,4-1 223,8 3 0,8-9-243,5 8 1,3-7-378,2 7 0,3-9-249,4 1 0,-5 4-239,5-3 1,-5 9 466,-2-1 7,-8 2 0,7-5 0,-7-2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1:13:10.314"/>
    </inkml:context>
    <inkml:brush xml:id="br0">
      <inkml:brushProperty name="width" value="0.13229" units="cm"/>
      <inkml:brushProperty name="height" value="0.13229" units="cm"/>
      <inkml:brushProperty name="color" value="#E71224"/>
    </inkml:brush>
  </inkml:definitions>
  <inkml:trace contextRef="#ctx0" brushRef="#br0">147 2337 5746,'-20'0'153,"2"0"-124,18 0 0,-5 0 109,-5 0 19,6 0-70,-14 0-15,18 0 98,0 0 127,-15 0-161,10 0 1,-10 0-144,15 0-6,0 0-221,-17 0 183,14 0-136,-14 0 107,17 0 1720,0 0-1557,0 16-59,0-10 1,5 10-9,7-16 1,-9 5-91,9 8 115,8-7-11,0 10-1,17 2 0,1-15-3,-3 10 1,-11 3 22,1-2-25,-2-1 1,14 1-47,0-1 1,-14 0-5,1-13 0,1 0-9,10 0 1,-3 3 40,-7 10 1,8-7 14,-8 7 1,7-10-22,3-3 46,2 0 1,-2 0-32,2 0 0,-2 0 4,2 0 1,0-14-26,-2 4 1,3-4 23,-4 14 0,4-13-39,-1 0 0,-2-3 30,2 2 1,-2 9-33,2-9 1,-9-2 20,9 3 1,-22-14-8,22 14 0,-10-11 7,11 11 1,-16-14-2,3 14 2,0-17 0,10 9 1,-3-19 14,-7 2 1,2 12-14,-14-1 1,11 14 39,-11-11 0,-1 10-27,-12-13-15,15 1-34,-10-12-9,10-2 19,-15 3-12,0-3 22,0 18-9,0-12 28,-15 28 0,8-10-12,-18 16 0,12 3 15,-11 10 1,16-2-4,-4 13 0,-3-11 4,2 14 7,-14 0 1,17 10 0,-12 3 1,12-16 14,-3 3 0,-2 0-25,3 10 0,0-10 72,12 0-65,0-1 1,-13 12-4,3 2-8,-2-19 0,12 14-5,0-8 0,2-11-26,11-3 1,-6 3-9,18-3 0,-13 6-42,13-6 1,-12-10 51,9 10 11,3-7 0,12-6-7,-2 0 0,-10 0 39,0 0 0,-3 0-16,15 0 1,-12 0 7,-2 0 1,2-6-1,12-7 0,-2 5 6,2-19 0,-12 14-45,-3-11 1,3 11 28,12-14 1,-2 14-4,2-14-2,-2 3 0,3-11-22,-4 8-19,4-7 0,-1 12-7,-2-18 1,2 16 50,-2-3 1,-10 6-1,0-6 1,-3-7 24,15 7 1,-12 6-51,-2-3 69,1-3 1,14-13-48,-3 2 94,-16 17-80,14-14 1,-23 17-1,12-6 1,-12-1-32,0 15-4,-5 4 16,-5-12 1,0 15 8,0-10-8,-15 7-2,-5-10 16,-17 16 1,5 6-5,7 4 3,-8-4 23,13 28 0,-12-12 3,10 18 0,-8-16 62,17 3-69,-14-1 72,22 12 0,-22 2-68,14 0 0,1-16 19,12 3 1,0-14-31,0 14 1,0-3-1,0 16 0,0-13 9,0-3-16,0 2 1,5 14-50,7-2 1,-4-12 55,17 1-43,-3-19 0,15 8 29,1-16 1,-4 0-65,4 0 0,-16 0 45,3 0 0,0 0 3,12 0 1,-2 0-15,2 0 1,-2-13-3,2 2 1,3-16 11,7 14 1,-4-14-6,4 14 1,-7-16 23,-3 2 0,-2 6-17,2-3 0,0-1 113,-2 1 0,2-8-62,-2 22 0,3-22 9,-4 5 0,4 6-4,-1-3 0,-15 13 1,3 0 1,0-8-31,10 6 0,-10-3 15,0 3 0,-13 7-60,10-7 0,-9-3 52,12 3 1,-18-3-232,6 2 170,7 9 0,-13-24-82,18 15 1,-18-5 30,6 9 47,-8 4 1,-3-15 81,11 8 0,-8 5-105,7-19 92,-9 19-61,-3-11 194,0 3-66,0 11-43,-15-11 1,7 16 8,-17 0-32,18 0 1,-23 3-39,20 10 30,-2-8 0,-1 17 19,1-9-28,-1-10 1,8 29 3,-5-19-17,5 16-7,-9-7 30,14 18-1,0-3 65,0 3-63,0-2 9,0 2 0,2-5-11,10-9 0,-4 4 20,17-17 1,-13 3-24,13-3 1,-15-7-1,15 7 0,0-10-32,10-3 0,2 0 31,0 0 1,-2 0-49,2 0 43,-2 0 1,5 0-18,10 0 0,-11-14 11,11 4 1,-10-22-17,-5 5 1,14 6 13,-1-3 0,1-3-1,-14-13 0,2 2 4,-2-2 0,3 14-1,-1 2 0,-2 2 36,2-5 1,-2-7-36,2 7 1,-5 6 45,-7-6 0,5 6-37,-5-3 1,-5-9-7,5 20 1,-13-11-2,13 11 1,-15-14-2,15 14-30,-18-17 0,11 22-44,-18-18-61,0 18 96,0-11 203,0 19-120,0 0 156,-18 0-117,16 0-44,-30 0-21,12 0 1,-5 13 4,0 1 0,12 2-30,-9-3 1,12-2 21,0 13 57,-10 2 0,10 14-62,-12-2 0,12-11 134,-2-1-136,9-2 1,3 16-5,0-2 1,0-12 3,0 1-17,0 0 1,3 10 7,9 3 1,-2-18 3,12-9 1,3-5-62,13 5 1,-11-10 52,10 10 0,-9-7-14,19-6 0,-7 0 17,-3 0 1,10-14-2,3 1 1,10-11 32,-11 11 1,3-14 77,-4 14 1,-4-17-105,16 4 1,-10-4 14,10 3 0,-16-7-11,4 7 1,4-8 16,-3-2 1,4 10-55,-6 0 1,-7 3 55,9-16 0,-9 14-4,-2 2 1,-4-3-33,4-13 0,-6 16 11,-10-3 0,11 0 17,-8-10 1,-6 10-7,6 1 0,-17 12 26,4-10-25,8 13 1,-15-10-51,7 8 24,-9 10 2,-3-16 88,0 19 266,0 0-284,-15 0-82,10 0 1,-15 0 91,8 0-81,9 0 2,-29 19 1,22-11-18,-12 19 1,12-14 27,0 11 0,-8-10-4,6 12 1,-3-12 133,3 10 0,7-11-68,-8 14 1,11-14-27,2 14 1,0-17 2,0 17 1,0-13-60,0 12 1,0-12 34,0 10 0,0-11-5,0 14 1,15-19-44,9 5-5,9 8 1,14-15-56,3 7 1,2-10 79,-5-3 1,10 0-10,15 0 1,-7-16-6,7-11 1,-20-8-3,21-5 0,-9 16 4,11-2 1,-16-1-3,1-11 1,-3-2 6,3 3 1,-3-3 1,-10 0 1,-2 16 51,15-3 1,-15 0-51,4-10 1,4-3 45,-6 3 0,0 10-36,-10 0 0,1 0 21,-4-10 1,-9 10-25,0 1 0,-12 12 0,9-10 1,-10 3-8,13-6 1,-17 6-25,4 7-42,-7 9 51,-5-11 117,0 16 107,0 0-156,-17 0-13,-3 0 0,-5 0 1,3 0-11,12 0 32,-23 16 1,26-11-12,-18 9 81,18 7 1,-13-13-95,7 19 0,11-14 111,-11 11 1,8-10-40,5 12 0,-5-12-30,-5 12 0,5-15-27,-7 16 0,7-14-82,5 14 1,0-14-33,0 11 101,17-13 1,3 18-91,18-15 0,-4-1 27,4-13 0,-3 13 50,2-2 1,10 2-22,3-13 0,10-2 9,-11-12 1,13 6-33,1-18 1,-9 12-4,8-12 1,-17 12 10,2-10 0,6-3 17,-6-13 1,3 16-3,-13-2 0,-15 12-10,3-12 0,0 4 33,10-2 0,-10-8-13,0 19 1,-5-17 15,2 4-10,10-9 0,-14-2 3,6-4 1,4 15 11,-16 2-21,16-3 0,-21-8 133,18 9-119,-18-9 81,11 32 6,-18-32 163,0 30-159,0-11-44,-18 32 0,11-8 13,-18 19 0,15-14 37,-15 14-46,18-3 0,-23 16-14,18 0 1,2-16-63,10 3 0,-13 0-3,1 10 0,-1-10-30,13-1 29,0-2 0,0 16-16,0 1 1,5-7-46,5-10 1,0 8 64,13-21-9,1 21 0,14-16 11,-3 11 0,14 2 3,-2-15 0,6-1 1,-4-13 0,-6 0 0,19 0 1,-17 0-23,2 0 0,5 0-1,-2 0 1,12-13 5,0-1 1,-7-15-7,7 2 0,-7 6-116,7-6 0,3 3 69,-18-16 1,12 5 8,-9 11 0,10-11 59,-13 9 1,8 4 2,-8-4 0,-7 4-14,10-4 0,-11-4 5,-4 17 1,2-14 83,1 14 0,-3-3-45,2 2 0,-2 9 101,2-6 0,-12 1-83,-3-1-29,3 6-16,12-30-12,-17 30 8,13-30-8,-31 13 0,15-2-103,-17-2 100,-17 18 1,10-16 181,-18 13 1,12 6-30,-9-9 255,12 12-14,-20 2-279,8 16 1,-11 5-31,11 19 0,-8-16-82,20 3 0,-15 0 59,13 10 1,0 3 63,12 0-151,-15-3 0,10 4 61,-8-4 1,11 3-92,2-3 0,0-10-17,0 0-61,15 0 0,5 7 42,17-10 0,-2-5-86,2-19 1,3 13 146,7-2 0,-5 2-22,5-13 0,11 0 57,1 0 1,-1-2-61,1-12 1,-2-4 135,3-6 0,10-11-39,-11 8 1,-1-8-26,1-5 0,-14 3-119,2-3 0,5 3 65,-2-4 0,-3 4 59,-9-3 0,-3 0-30,2 3 1,-15 2-1,3 8 0,-12-8-71,11 9 219,-16 10-55,7-19 0,-15 27 74,0-19-100,0 19 1,-3-11 46,-9 19 83,7-16-147,-27 11 0,24-11 2,-17 16 0,15 0-14,-15 0 1,13 0-1,-13 0 1,18 3 6,-6 10 1,-2-2-8,3 13 1,-13-11 43,13 14 0,-3-6 79,2 6 1,8 8 28,-7-11 0,-3 10-66,2 7 1,1-4-64,12 3 1,0 0 47,0-3 0,0-10-133,0 0 0,0-3 36,0 16 1,17-13-44,6-3 0,9-11-3,5 14 1,1-19-160,-3 5 0,2-7 24,-2-6 1,14 0 131,-1 0 0,16-6 68,-4-7 0,-3-3-63,3-11 0,-3-2 119,3 15 0,4-18-72,-14 8 0,10-10 19,-13-7 0,15 15-29,-15 2 0,6 2-1,-4-4 1,-9-9 33,7 8 1,-4 6-40,-9-6 59,4 19 1,-3-21-46,2 15 0,-12-4 25,-3 7 1,-9 6-13,11-9 0,-11 6 8,9-5 1,-12 5-21,3-19 1,-6 19-2,5-5 0,-9 5-85,9-6 76,-7 9-115,-5-11 98,0-3-55,0 17 75,0-17 11,-17 19 1,2 5 42,-10 9 0,-7-6 10,7 18 0,5-12 56,-2 10 1,9-3-90,-12 6 0,18 8 153,-5-9 0,-6 9-65,8 2 0,-15-10 33,13 0 1,-1-3-113,13 16 0,0 0-13,0-3 0,0-10 4,0 0 0,0-3-119,0 16 0,0-13 37,0-3 1,18-3 62,4 6 0,11 2-96,4-15 1,-2 4 33,2-4 0,0-12 13,-2 12 0,2-9 9,-2-5 0,5 0 4,10 0 1,-11 0 0,11 0 0,-10-19 1,-5-5 0,15 0 56,-3 0 1,3 11-45,-16-14 0,4 6 11,-4-6 1,4-8-10,-1 11 0,-2-8 60,2 8 0,-2-11-47,2 9 0,-12 4 0,-3-4 0,3 12-11,13-10 1,-18 11-10,-8-14 0,-5 19-112,6-5 94,-11-9 88,16 17-93,-18-11 59,-18 16 0,11 3 1,-18 10 1,13-8 7,-11 9 1,11 2 14,-13-3 1,12 14 9,-9-14 0,10 17 86,-13-4 0,17-4-69,-4 2 1,-5-11 80,7 14 1,-3 0-56,13 10 1,-12-10 12,-1-1 1,1-2-66,12 16 1,0-13-2,0-3 0,0 3-24,0 13 0,0-16-19,0 3 1,5-1-40,7 15 1,-4-17 77,17 2-116,-3-18 1,15 24 90,-2-21 1,15 2-112,-3-13 1,3 0 62,-15 0 0,14 0 24,-1 0 0,11 0-15,-9 0 0,2 0-2,-5 0 0,-2-2 15,17-12 0,-19 9-4,6-8 1,-9-3-18,-3 2 0,-2-4 29,3 7 0,-4 0-169,4-13 1,-13 11-6,-3-14 0,-2 14-21,5-14 1,2 16 138,-15-15 0,6 18-105,-6-6 279,-9-7-181,14 16 172,-17-11 0,0 10 66,0-7 202,0 10-163,0-16 1,-5 19 97,-7 0-148,9 0-68,-29 19 1,22-16 81,-12 10-12,12 9-205,-20-1 1,25 19 99,-8-3 1,-1-10 25,1 0 0,1-14 31,12 11 1,0-10 8,0 12 0,0 1-62,0 10 1,0-10 63,0 0-111,0-3 0,12 16 75,1 0 0,9-16-242,-10 3 0,16-6 52,-3 6 1,12 2-42,10-15 1,-7-1 4,10-13 0,-6 3 100,4 10 0,-4-8-52,16 9 1,-10-12 14,9-2 1,-11-2 64,14-12 1,-20 9-21,8-8 0,2-3-33,-5 2 0,3-13 9,-15 17 1,2-22-14,0 8 0,-14 0 9,2 0 0,-5 10 7,4-12 1,4 12 66,-16-10 16,1 13 142,-13-23-140,0 31 168,0-16-136,0 19 214,0 0-138,-18 0-64,16 0-68,-31 0-10,28 0 0,-14 0 86,6 0-50,11 0 38,-16 0 1,16 6-26,-11 7 127,8-10-103,-10 31 13,-2-12-18,12 18 1,-10 0-4,15-3 1,-12-10 32,-1 0 0,1-3 3,12 16-93,0-3 0,5 3 47,7 0 0,-4-2-99,17 2 0,-13-16 63,10 3 1,3-6-12,13 6 1,-4 2-22,4-16 1,1 6-100,11-5 1,-8-12 90,21 12 1,-16-9 10,13-5 1,-3 0 28,2 0 1,11-13-25,-10-1 1,4-15-149,-4 2 0,10-2 60,-11 2 1,-2-8 37,3 9 1,-15-4 64,2 3 0,-5-7-7,-7 7 1,5 6 78,10-3 0,-23 10-61,10-12 176,-9-1-175,9-11 1,-15 12 63,3-1-45,-17 19-16,9-27 13,-17 30-21,0-11 0,-5 16-13,-7 0 0,4 0 11,-17 0 0,15 0-14,-14 0 16,-1 0 1,-8 5 44,9 6 1,-4 0 34,16 13 35,-16 2 1,11 14-31,-5-2 1,2-11 111,7-1 1,8-2 5,-7 16 1,4 0-113,-4-2 1,10 2-16,-11-3 0,8 3 36,5-2 0,13 2-189,-1 0 0,15-16-17,-2 3 0,8-1-27,1 12 0,9-12 36,4 1 1,-2-19 23,14 6 0,-9-9 20,10-5 0,-1 0 4,13 0 0,-9 0-150,-4 0 0,-11-19 95,14-8 0,-8-7-140,9-4 1,-9-2-22,-4 3 1,-10-3-74,7 0 243,-5 2 0,-9-2 133,-11 3 0,8 10 109,-20 0-76,2 19 154,-12-26-167,-15 28 0,-5-10 200,-17 16 0,12 0-40,3 0 1,2 6 12,-5 4 0,-2 1-119,14 13 1,-16-11-111,6 14 0,3 0-19,-5 10 74,18 3 1,-23-2 26,18 2 1,2 3-49,10 10 0,0-10-5,0 7 0,0-4-34,0-9 1,0 3 8,0-2 0,10 15 3,2-2 0,18 2-96,-8-15 1,11-12-86,4 1 0,-2-3 35,2 16 0,10-18-114,3-9 1,15 3 46,-6-3 1,-1 1 46,1-14 1,-2 0 21,3 0 0,10-14-11,-11 1 0,-6-16-23,-6 2 0,-2-8 3,4-2 0,-9-3 95,7 2 1,-17-2-49,-7 0 1,-11 3 154,13-3 0,-18 16-123,6-3 149,-8 0 1,-10-7-55,-8 7 0,6-3 39,-18 17 0,13 0 21,-11 13 0,-2 0 138,-12 0 1,15 18-91,-3 9 1,0 8-61,-10 2 1,10 3 230,0-2 0,5 4-64,-4 12 0,-4-11-52,16 10 0,-1 3-117,13-5 1,-12 13-99,2-11 0,-2 4 77,12-7 1,2-2-104,11 16 0,6-15-125,19 4 1,-3-10 66,2-6 1,0 3-29,-2 0 0,5-16 37,9 3 1,-9-14 48,7 14 0,6-19 5,-4 5 0,11-10 13,-10-3 0,9 0 9,-11 0 0,1 0 6,-14 0 1,15-13-125,-3 2 1,3-16 60,-15 14 1,-3-16-78,-7 2 1,7 6 40,-7-6 1,-10 13 37,-2-10 0,1 11 39,-1-14 0,-1 14 164,-12-14-102,0 19 127,-15-8 0,-5 16 61,-17 0-182,0 0 1,2 0 93,-2 0 1,2 16-35,-2 11 1,2 8 100,-2 2 0,4 3-46,8 0 0,-7-2-46,10 2 1,-1 2 90,1 9 0,14-5-54,-4 4 1,7 6-178,5-5 0,0 16 91,0-16 0,0 2-76,0-15 0,5 2 48,7-3 0,8-2-157,15-9 1,2 9-11,-2-8 0,8-6 99,4 6 0,-7-19-40,9 5 0,-6-10 18,6-3 0,-9 0-62,10 0 1,2 0 58,-5 0 1,1-13-45,-11 2 1,0-16 51,-2 14 1,-10-16-168,0 2 1,-5 5 24,2-4 0,0-1 84,-12-10 0,-5 10 53,8 0 0,-11 14 7,-2-11 1,0 10 172,0-12-160,0 18 215,-15-11-103,-5 19 0,-17 13 69,2 1 1,10 20 51,0 7 0,13-4 54,-10 16 1,9 3 0,-12-5 0,18 5 60,-6-2 0,9 2-24,4 8 0,0 5-35,0-18 1,17 5-166,8-2 0,7-12 47,3 12 0,5-25-203,9-2 1,-4-16-22,15 15 0,-3-18-11,3 6 1,4-9-38,-16-5 1,14 0-113,-15 0 0,5-13-254,-5-1 303,-4-15 1,9 10 102,-17-5 1,-10-11 6,0 9 0,-18 4-31,5-4 0,-9 12-19,-3-10 84,0 14 0,0-12 1,0 9 139,-15 10 0,8-15-25,-18 18 0,12 0-93,-12 0 0,15 5 324,-14 8 0,11 3-103,-12 11 1,18 8 187,-6-9 1,-2 9-50,3 3 1,0 2 93,12-3 0,0 3-135,0-3 1,0 4-8,0-1 0,14 2-209,11 9 1,8-19 83,4 6 1,-2-12-301,2 1 1,15 2 109,8-15 1,-3-1-250,3-13 0,-3 0 30,3 0 1,9-13-82,-9-1 1,-8-15 116,-2 2 0,2-8-65,-5-5 0,1-10 115,-11-1 0,-5-2 29,-7 12 0,3 4 251,-16-3-223,0 3 849,-12-3-310,0 18 1,-12 9 215,0 26 1,-16 9-300,3 18 0,5-3-2,-4 3 0,11 11-144,-9 2 1,9 11 47,-12-10 0,18 2-288,-5-5 1,7-3 83,5 16 1,12-16-216,0 3 1,16-6 3,-3-8 1,19 3-47,4-2 0,14-11 41,-15-1 0,18-18-3,-6 6 1,11-12-73,2-2 0,0 0 67,0 0 1,-10 0 14,-2 0 0,-13-2 51,16-12 0,-21-2-78,8-10 1,-16-9 13,-9 8 1,3-8-188,-16-2 259,18-3 1,-28 0-115,11 2 294,-8-2-76,-23 3 0,-2 16 359,-14 7 1,-4 9-189,1 5 0,2 5 96,-2 9 1,-10-6-5,-3 18 0,3 4 77,9 21 1,6-6-10,10 6 0,-11-3 15,9 3 1,4-3-31,-5 16 1,17-3-114,-4 3 1,9 6-179,3-17 0,0 17 52,0-6 0,15-8-50,10-5 0,8-6-135,1-8 0,6-2-187,10-8 1,2-6 30,8-7 1,9-12-94,-9 12 1,10-9 16,2-5 0,0 0 59,0 0 1,-12-5 224,2-9 1,-7 12-78,7-12 0,2-5 127,-16 9 0,-1-17-61,-10 14 0,0-17 17,-2 4 1,-10 7-16,0 8 160,-18-13 1,13 16 89,-7-16-122,-11 13 1,16-10 129,-18 8 1,-5 10 118,-8-10-193,11 7-36,-31 6 1,26 0 68,-18 0 1,13 0 176,-13 0-113,17 0-24,-24 19 1,17 2-58,-10 17 1,-2 2-12,14 0 1,-11-3 57,11 3 0,1-2 165,12 2 1,-13-3-93,3 3 1,-2 0-233,12-2-129,0 2 0,12-3 74,-2 3 1,20-13-36,-8-3 0,11-11 47,4 14 1,10-19-87,3 6 1,15-9-21,-6-5 0,-1 0 11,1 0 0,1 0 33,15 0 0,-16-13 54,1-1 1,-10-13 54,9 14 1,-14-3 14,2 3 1,-2 5 6,2-19 1,-17 14-53,5-14 0,-10 16-78,0-15 1,7 12 92,-10-13 0,-4 14-523,-6-11 288,8-3 0,-17-13 16,9 3 1,-7 10 106,-5 0 204,0 3 0,0-2 180,0-1 0,0 14-49,0-11-18,0 13 1,-5-5-39,-7 16 1,4 0 121,-17 0 0,15 5-117,-15 6 0,13 0-149,-13 13 0,13 2 38,-11 14 1,11-2-39,-13 2 1,18-3 135,-6 3 0,-2 0-99,3-2 1,-1 2 3,13-3 1,0 17 14,0-4 1,0 4-46,0-17 1,3 3-24,9-2 1,8-12-147,18 1 1,-1-5 55,-2 4 1,2 4-110,-2-17 1,17 0-14,10-13 1,3 0 36,-6 0 1,9 0 170,-6 0 1,-8 0-79,9 0 0,-9-5 121,8-8 1,6 5-54,-6-19 0,-8 14 109,6-11 1,-10 10-35,10-13 0,-16 14-57,4-11 0,-6 11-97,-7-14 0,2 6 82,-2-6-47,2-8 0,-5 14 30,-7-19 0,-10 16 5,-15-3 0,13 14-9,-1-14 0,0 3 84,-12-16 35,0 2-79,-17 14 13,15-8 308,-31 27 1,23-14-118,-12 19 1,9 0 72,-11 0-263,16 19 1,-19 2-117,14 19 1,-12-16 103,13 3 0,-13 0-23,15 10 1,-7-2 17,4-8 1,11 7-14,-11-7 1,4 8 161,-1 2 0,5 3-37,-8-2 1,11-12 67,2 1 0,0 0-101,0 10 0,15-10-182,9 0 0,9-6 98,2 3 0,2-3-168,-2-7 0,7-9-198,5 9 0,-2-12 123,15-2 1,-1 0 18,16 0 1,-15-11 69,-1-2 1,1-6 211,15 6 1,-8-3-46,-8-11 0,11-7 71,-10 7 0,-8 6-75,-2-3 1,2-3-44,-5-13 0,3 5 5,-15 11 0,2-11 10,-2 9 0,-10-9-268,-1-5 223,-16 2 0,9-2-1,-17 3 0,0 10-8,0 0 151,0 3-44,0-16 101,0 19 1,-12 0 160,-1 7-59,1 9-131,-3-11 1,5 16-41,-12 0 1,9 13 10,-12 1 0,13 15-33,-13-2 1,15 7-11,-15 4 0,13 2 72,-13-3 0,18 3-1,-6-2 1,6 2 64,-6 0 1,8-3-63,-5 3 1,5-2-71,5 2 0,0 0 59,0-3 0,15-10-172,10 0 1,0-6-67,10 3 1,-5-3-111,17-7 0,5-9 48,-2 9 0,15 2-80,-6-3 1,6 0 95,-5-13 0,9-5 68,-9-6 0,9 6 200,4-8 0,-1 5-50,0-6 1,-13 9 47,4-9 1,-21 6 28,8-5 1,2 5 43,-5-19 0,3 19-199,-15-5 0,2-8-142,0-6 1,-2 6-53,2-3 1,-14 2 63,2-5 0,-13-7 158,13 7 1,-13-2-196,11 2 208,-13-8 9,5 14 0,-15-6 151,0 3 1,-5 13 119,-5 1 133,5 4-9,-28 6-297,13 0 0,-4 0-122,-1 0 1,15 14 87,-15-1-220,17 16 109,-24-7 1,22 18 21,-12-3 1,12-10-38,0 0-26,5-3 201,-12 16 1,14 0-11,-9-3-9,7-15 0,10 10-61,7-22 0,-4 17 73,16-14 1,-11 3-110,9-2 0,3-9-4,12 9 1,3 2 9,7-3 0,-2 0-24,15-13 1,-10 0-44,9 0 0,1 0 64,14 0 0,-14-13 43,0 0 1,0-12-51,14 12 0,-7-19 115,-7 8 1,10 3-38,-11-6 0,-2 0 11,3-10 1,-15 2-86,5 8 1,-23-7-12,-2 7 1,-5 6-73,2-6 0,8 3 64,-18-16 1,-2 13-222,-10 3 1,5 3-90,8-6 204,-8-8 1,10 27-121,-15-18 79,0 17 132,0-9 0,-5 18 347,-5 0-154,5 0-155,-13 0 0,8 5 50,-2 8 0,-1-4-47,13 17 0,-12-15-2,0 16 1,-1-14 45,13 14 0,-2-14 94,-11 11 0,8 3-71,-7 13 1,9-16 273,3 3-210,0-1 0,0 12-16,0 2 0,0-13-89,0-3 65,15 2 0,5 9-234,17-8 0,-2 2-16,3-16 1,-1 1-5,-2-14 0,4 0 13,11 0 1,-5 0-63,15 0 0,-13-19 1,15-5 1,-2-11 80,12-5 1,-12 3 135,2-3 1,-15-3-96,13-10 1,-16 10 100,6-8 0,2 6-14,-4 7 0,1-2 138,-14 3 1,-10-3-67,0 2 0,-18 12-13,6-1 1,2 14-50,-3-11 28,0 13-161,-12-24 118,-17 33 0,10-17-38,-16 19-11,13 0 0,-17 5-49,15 9-21,-16-12 1,18 30 61,-12-18 163,14 15 1,-14-8-85,12 19 0,5-16 208,-7 3 0,7-13 104,5 12 32,0-2-146,0 16-125,0-2 1,5-4-110,7-7 0,-4 5 58,16-21 1,1 2-183,10-13 0,2 0 28,-2 0 1,2 0-14,1 0 0,9 0 95,0 0 1,5 0 43,-2 0 1,-5-16-67,15-10 1,-13 4 1,15-5 1,-17 1-26,2-12 0,-7 12-1,-3-1 1,-14 3-160,1-16 1,-11 5 47,12 8 1,-18-5-14,6 6 107,-11-9 0,-4-5-8,-11 2 0,6 17 98,-18 8 0,12-6 412,-11 6-312,1 2 1,-14 11 74,2 0 1,10 11 286,0 2 0,18 19-149,-6-8 1,-2 11-23,3 5 0,0-3-96,12 3 1,0 0-109,0-2 20,0 2 0,0-3-130,0 3 1,2-2-67,11 2 1,4-13-182,8-1 0,7-18-59,-9 6 1,21-12 126,4-2 1,6 0-202,-7 0 1,-2 0 101,15 0 0,-10-2 235,9-12 1,-14 6 51,2-18 0,-2 12 208,2-13 0,-17 6-82,5-6 1,-5-7 39,5 10 1,-11 2-349,1-4 1,-15-1 77,15-11 0,-17 12 11,4-1 1,-2 6-4,0-6 46,-5-8-170,10 14 47,-15-17-517,0 17-710,0 2-1380,0 19 2793,0 0 0,-30-16 0,-12-5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5:40:37.782"/>
    </inkml:context>
    <inkml:brush xml:id="br0">
      <inkml:brushProperty name="width" value="0.1" units="cm"/>
      <inkml:brushProperty name="height" value="0.6" units="cm"/>
      <inkml:brushProperty name="color" value="#FFFFFF"/>
      <inkml:brushProperty name="inkEffects" value="pencil"/>
    </inkml:brush>
  </inkml:definitions>
  <inkml:trace contextRef="#ctx0" brushRef="#br0">1208 820 16383,'-37'0'0,"-14"0"0,-15 0 0,-17 0 0,-16 0 0,4 0 0,-4 0 0,8 0 0,11 0 0,6 0 0,14 0 0,10 0 0,13 0 0,-3 0 0,6 0 0,0 0 0,7 2 0,15 3 0,13-1 0,18-1 0,21-6 0,27-10 0,29-12 0,-35 7 0,4-2 0,8-2 0,4-2 0,9 0 0,2-2 0,6-2 0,-1-1 0,-4 2 0,-3 1 0,-4 1 0,-2 0 0,-5 1 0,0 0 0,9-1 0,1-1 0,-2-1 0,0 1 0,-2 0 0,-3 0 0,-7 4 0,-3 0 0,-12 4 0,-1 1 0,6-1 0,0 1 0,-3 2 0,-2 0 0,0-1 0,-2 0 0,41-9 0,-22 3 0,-21 4 0,-13 7 0,-12-1 0,-4 4 0,-7 0 0,-13 0 0,-13 4 0,-24 1 0,-17 3 0,-20 0 0,21 6 0,-3 3 0,-9 6 0,-4 5 0,-19 9 0,-6 5 0,22-5 0,-3 2 0,-2 1 0,-4 2 0,-2 1 0,0 1 0,-6 3 0,0 2 0,0 0 0,-1 0 0,0 0 0,3-1 0,12-5 0,1-2 0,2 1 0,7-4 0,1 0 0,2 0 0,-20 9 0,2-1 0,9-2 0,1 1 0,-6 4 0,0 1 0,8-4 0,3 0 0,7-5 0,2-1 0,6-3 0,3-1 0,-29 16 0,20-9 0,19-7 0,11-6 0,5-5 0,15-12 0,25-19 0,27-16 0,17-10 0,16-7 0,-38 23 0,1 1 0,9-4 0,3-1 0,13-7 0,3-1 0,6-3 0,1-1 0,-1 1 0,0 1 0,-3 1 0,-2 0 0,-4 3 0,-2 1 0,-1 0 0,-1 0 0,3-2 0,-1-1 0,-5 2 0,-3-1 0,-8 4 0,-3 0 0,29-21 0,-15 9 0,-13 11 0,-12 7 0,-11 6 0,-10 6 0,-4 2 0,2-1 0,1 3 0,-8 4 0,-1 2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5:40:39.348"/>
    </inkml:context>
    <inkml:brush xml:id="br0">
      <inkml:brushProperty name="width" value="0.1" units="cm"/>
      <inkml:brushProperty name="height" value="0.6" units="cm"/>
      <inkml:brushProperty name="color" value="#FFFFFF"/>
      <inkml:brushProperty name="inkEffects" value="pencil"/>
    </inkml:brush>
  </inkml:definitions>
  <inkml:trace contextRef="#ctx0" brushRef="#br0">2298 1164 16383,'-32'0'0,"-14"0"0,-37 0 0,27 1 0,-5 2 0,-15 1 0,-4 3 0,-12 5 0,-2 3 0,-3 3 0,-1 1 0,30-5 0,0 1 0,0 1 0,1 0 0,1 1 0,2-1 0,-22 3 0,4-2 0,8 0 0,4-1 0,10-2 0,3 0 0,5-4 0,1 0 0,-1 0 0,0 1 0,-37 8 0,20-6 0,16 1 0,9-3 0,3 0 0,4 1 0,8 3 0,6 1 0,6-1 0,3 1 0,2-4 0,3 0 0,4-1 0,2-5 0,5-5 0,9-10 0,5-4 0,6 1 0,5 0 0,-3 1 0,5-2 0,-1-7 0,8-2 0,15-11 0,9-10 0,16-10 0,-35 23 0,2-1 0,7-5 0,4-2 0,11-7 0,4-1 0,10-6 0,3-2 0,-17 13 0,3-1 0,0 0 0,3 0 0,1 0 0,1 2 0,-3 2 0,0 1 0,0 1 0,-3 0 0,0 1 0,-1 1 0,22-12 0,-3 3 0,-5 4 0,-3 2 0,-4 2 0,-3 2 0,-13 6 0,-3 2 0,34-14 0,-28 9 0,-18 11 0,-13 7 0,-11 4 0,-5 4 0,-2-2 0,-1 2 0,-1-3 0,-1 0 0,-1-1 0,-1 0 0,3 2 0,4-4 0,8-4 0,10-5 0,6-2 0,2 0 0,-4 6 0,-4 1 0,-5 4 0,-4 1 0,-1 1 0,-6 0 0,-3-2 0,-8 2 0,-8 2 0,-10 2 0,-9 4 0,-11 4 0,-10 5 0,-12 5 0,-11 3 0,-6 1 0,-19 1 0,3 0 0,5 1 0,9 0 0,22-4 0,8 2 0,11 3 0,18-11 0,6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5:41:00.920"/>
    </inkml:context>
    <inkml:brush xml:id="br0">
      <inkml:brushProperty name="width" value="0.35" units="cm"/>
      <inkml:brushProperty name="height" value="0.35" units="cm"/>
      <inkml:brushProperty name="color" value="#FFFFFF"/>
    </inkml:brush>
  </inkml:definitions>
  <inkml:trace contextRef="#ctx0" brushRef="#br0">0 1386 24575,'72'0'0,"-10"0"0,-13 0 0,8 0 0,18 0 0,7 0 0,3 0 0,-7 0 0,-7 0 0,-1 0 0,2 0 0,-2 0 0,-2 0 0,3 0 0,-7 0 0,-1 0 0,-8-2 0,-15-2 0,0-4 0,-8 0 0,-5-1 0,-5-2 0,-5 2 0,-3-2 0,-5-1 0,-5 0 0,-3-3 0,-1 0 0,0 1 0,0 1 0,0-1 0,0 0 0,3 2 0,-2 1 0,-5 4 0,-8-1 0,-11 1 0,-6-2 0,-1 1 0,0 3 0,1 2 0,-1 3 0,-3-3 0,2-2 0,1 1 0,1 0 0,-2 3 0,-3 1 0,0-1 0,-6 1 0,-5 0 0,-6 0 0,-10 0 0,0 0 0,5 0 0,-3 0 0,10 0 0,-1 0 0,-1 0 0,13 0 0,6 0 0,8 0 0,6 3 0,2 4 0,0 4 0,3 4 0,5 0 0,1 0 0,0-1 0,0-1 0,-3 0 0,1 1 0,-2-3 0,-4 0 0,0 0 0,0 1 0,-1 0 0,3 0 0,5-1 0,3 1 0,5 2 0,0 0 0,0 0 0,0-1 0,0 1 0,0 0 0,0 1 0,0 0 0,3 0 0,4 0 0,1 0 0,0 0 0,-3-2 0,1 1 0,2 0 0,2-3 0,1 0 0,1 0 0,2-3 0,-2 3 0,-1-4 0,0 0 0,0 4 0,2-3 0,1 2 0,-1-3 0,1-1 0,1 1 0,0-3 0,0 0 0,0-4 0,0 3 0,0 1 0,1 0 0,-1-1 0,0 1 0,-1 0 0,-1 0 0,0-1 0,0-3 0,2 3 0,0 0 0,4 4 0,1 1 0,4 0 0,4 0 0,-2 1 0,2-1 0,2 0 0,0 0 0,3-3 0,-3 2 0,-3-3 0,2 3 0,5 0 0,9-3 0,7 0 0,9 0 0,3 1 0,1 1 0,-1-2 0,-4-3 0,0-1 0,-6 0 0,-6 0 0,-7 0 0,-9 0 0,-2 0 0,-6 0 0,-4 0 0,-1 0 0,-3 0 0,1-2 0,1-5 0,-4-4 0,-3-3 0,-5-2 0,-3 1 0,-1 0 0,0-1 0,0 1 0,0 1 0,0 0 0,0 1 0,0 0 0,0-1 0,0-2 0,0-3 0,3-1 0,4-4 0,8-5 0,9 2 0,6-3 0,3 1 0,-3-1 0,-2 1 0,1 0 0,-5 5 0,1 5 0,-3-2 0,0 3 0,5-3 0,-1-3 0,3 1 0,1 1 0,0-3 0,4 3 0,0 0 0,1 1 0,-1 3 0,0 1 0,-5 0 0,-1 1 0,-6 2 0,0 0 0,2-1 0,-1 1 0,4-3 0,1 1 0,-2-1 0,3 1 0,0-1 0,-2 0 0,1 0 0,1 0 0,-3 1 0,3-4 0,-1-1 0,-4 2 0,1 1 0,-4 4 0,-3 0 0,2 1 0,-4 1 0,0 3 0,0 3 0,-3-1 0,-4-1 0,-11 0 0,-14 1 0,-11 4 0,-13 3 0,-8 0 0,2 0 0,0 0 0,1 0 0,3 0 0,1 3 0,2 5 0,10 2 0,0 1 0,7-3 0,3-1 0,-1 0 0,2 0 0,-9 0 0,-6 0 0,-6 5 0,-5-2 0,-1 2 0,-5 1 0,-1 2 0,-6 3 0,5 1 0,2-5 0,6-2 0,4-4 0,6-1 0,4 0 0,1 0 0,-1 1 0,-4 1 0,0-1 0,3-3 0,1 3 0,4-3 0,4 0 0,1-1 0,8-1 0,11 1 0,28 0 0,-1-4 0,22-3 0,-12-2 0,5 1 0,8-1 0,13-4 0,8-6 0,12-9-725,14-2 725,-46 12 0,1 0 0,4-2 0,1 0 0,0 2 0,-1 0 0,0 1 0,0-1 0,-4-1 0,0 0 0,39-10 0,-7-2 0,-9 0-158,-1 4 158,-4-4 0,-8 3 0,-6 0 0,-9 2 0,-4 3 718,-6 2-718,-4-1 165,-1 1-165,-5 1 0,0-4 0,3-1 0,-2 2 0,2-2 0,1 0 0,1-2 0,7-6 0,2 0 0,5 0 0,1-2 0,1 4 0,-1 3 0,-3-2 0,-3 3 0,-8 5 0,-1 1 0,-6 5 0,-4 3 0,-3 1 0,-6 2 0,-1 3 0,0-1 0,2 0 0,3 3 0,-1 1 0,0 0 0,0 0 0,0 0 0,1 0 0,0 0 0,4 0 0,0 0 0,-1 0 0,-1 2 0,-3 2 0,-2 3 0,-10 3 0,-12-1 0,-14-2 0,-7 0 0,-2 2 0,0 0 0,2 1 0,2 0 0,-1 1 0,-1 1 0,-2 1 0,-1-1 0,-1-2 0,4 2 0,1 0 0,4 0 0,1 1 0,-5-2 0,1 1 0,-5 1 0,-4 0 0,2-3 0,1 0 0,1 1 0,0 1 0,-5 1 0,-4 0 0,-2-3 0,4 3 0,0-1 0,9-2 0,6-1 0,5-5 0,5-3 0,9-1 0,35 0 0,-2 0 0,27 0 0,-20 0 0,-4 0 0,1 0 0,5 0 0,16 0 0,15 0 0,19 0 0,13 0-415,-46 0 0,2 0 415,4 0 0,1 0 0,-1 0 0,-1 0 0,1 0 0,-2 0 0,-5 0 0,-2 0 0,35 0 0,-16 0 0,-17 0 0,-8 0 0,-10-2 0,-11-1 0,-5-1 0,-4 0 0,2 0 830,1-1-830,0 1 0,-1-3 0,-3 0 0,-4-4 0,-1-3 0,-3 0 0,0 0 0,-1 0 0,-5-1 0,-6 5 0,-9 3 0,-13 4 0,-9 2 0,-9 1 0,-2-1 0,3 1 0,2 0 0,-2 0 0,-5 3 0,-4 6 0,-6 10 0,-6 5 0,-12 6-984,-7 5 734,11-5 250,6 0 0,15-5 0,8-4 0,1 1 0,11-4 0,7-1 0,5-3 0,11-5 0,6-2 0,7-3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5:41:10.190"/>
    </inkml:context>
    <inkml:brush xml:id="br0">
      <inkml:brushProperty name="width" value="0.35" units="cm"/>
      <inkml:brushProperty name="height" value="0.35" units="cm"/>
      <inkml:brushProperty name="color" value="#FFFFFF"/>
    </inkml:brush>
  </inkml:definitions>
  <inkml:trace contextRef="#ctx0" brushRef="#br0">1190 2193 24575,'-34'-41'0,"-6"-4"0,-13-11 0,-3-2 0,-1-7 0,3 1 0,8 6 0,-5-10 0,-5-4-556,4-1 556,4-3 0,4 6 0,6 7 0,4 8 137,5 7-137,2 1 0,2-3 0,-4-5 0,2 4 0,2-1 419,-2 1-419,3 3 0,0-2 0,1 3 0,5 5 0,-5-2 0,1 3 0,0 5 0,1 3 0,6 8 0,1 0 0,2-1 0,1 3 0,0 2 0,1 4 0,-2 2 0,4 3 0,3 0 0,1 1 0,4-3 0,0-1 0,0 2 0,0-1 0,-6 4 0,-2-1 0,-1 0 0,1-2 0,6-2 0,1 0 0,1 1 0,0 1 0,0 0 0,0-1 0,0-1 0,0-1 0,0 0 0,0 1 0,0 1 0,0 0 0,0 1 0,0-1 0,0 0 0,0-1 0,0 0 0,0 1 0,0 0 0,0 0 0,-3 0 0,-1 0 0,-3 3 0,0 1 0,3 0 0,11 44 0,3-21 0,9 38 0,-5-28 0,0-2 0,-2 1 0,-2-3 0,-1 0 0,-1-3 0,0 0 0,0 0 0,3 0 0,-3-1 0,3 1 0,0-5 0,-3 0 0,2-1 0,-1-1 0,0 4 0,2 1 0,0 0 0,0 2 0,2-1 0,1 1 0,-2-1 0,0 4 0,0 2 0,1 3 0,-1 1 0,0-4 0,0 2 0,-4-3 0,2-1 0,-3 1 0,-1-3 0,1 1 0,-2 1 0,2-3 0,-2 0 0,2-1 0,0 1 0,1 0 0,-1-1 0,1 1 0,0-1 0,-1 0 0,1 0 0,-1 0 0,1 0 0,-1-3 0,1-3 0,-2 0 0,1 1 0,0 1 0,0 1 0,0-1 0,1 1 0,-1 2 0,4 2 0,-2-1 0,1 0 0,-2 1 0,-4-1 0,0-1 0,-3-2 0,3-2 0,-1-1 0,3 1 0,-1 4 0,0 0 0,1-1 0,-2-1 0,1-1 0,1 1 0,-1 3 0,2-4 0,1 1 0,-4-1 0,3 0 0,-3 3 0,2-1 0,4 0 0,-3 0 0,3 2 0,1 1 0,-2-1 0,1 0 0,1 1 0,1-1 0,3 1 0,1 3 0,0 6 0,4 9 0,15 16 0,-8-8 0,14 11 0,-17-14 0,5 4 0,-3-2 0,-3-2 0,-1-6 0,-5-6 0,0-6 0,-1-4 0,0 0 0,-4-2 0,-1-3 0,-1-4 0,0-2 0,4-3 0,-1 4 0,1 3 0,1 1 0,1 8 0,0 1 0,4 4 0,0 0 0,5 1 0,-1 3 0,-3-5 0,1 0 0,-4-6 0,-1-3 0,0 1 0,-1-2 0,-3-2 0,-1-2 0,0-3 0,-4-6 0,-20-18 0,7 8 0,-18-13 0,15 16 0,0 0 0,0-1 0,0 2 0,1 0 0,-2 0 0,-1-4 0,-7-2 0,-10-7 0,-10-6 0,-11-6 0,-7-6 0,-2-1 0,0-4 0,-1-2 0,-1-5 0,1 0 0,0 0 0,9 5 0,4-1 0,8 3 0,5 5 0,2 0 0,6 6 0,2 0 0,4 2 0,0 3 0,5 4 0,4 1 0,1 8 0,3 1 0,1 1 0,-3 0 0,3-4 0,-2 2 0,-1-1 0,3 0 0,0 0 0,4-1 0,-1 0 0,-2 3 0,-1 1 0,0 0 0,0 0 0,2-2 0,-2 0 0,0-1 0,0-1 0,0-1 0,0 1 0,0-1 0,-3 0 0,2 1 0,1 0 0,0 0 0,4 1 0,0 0 0,0 1 0,0-1 0,0 0 0,0 0 0,0 0 0,0 0 0,0-3 0,0-1 0,0 0 0,0 1 0,0 1 0,0 0 0,0 1 0,0-1 0,-3 1 0,-2 1 0,1 0 0,-2 3 0,2 1 0,-3 3 0,-3-1 0,-2 0 0,2 1 0,0 0 0,3 0 0,0 1 0,0-1 0,-1 0 0,1-1 0,3-3 0,-2 3 0,2-2 0,0 0 0,1 0 0,-1-1 0,0 1 0,-1 0 0,-1 1 0,2-1 0,0 0 0,1-4 0,3-4 0,0 1 0,0 0 0,0 3 0,0 0 0,0 0 0,0 6 0,14 66 0,-11-42 0,12 47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5:41:13.009"/>
    </inkml:context>
    <inkml:brush xml:id="br0">
      <inkml:brushProperty name="width" value="0.35" units="cm"/>
      <inkml:brushProperty name="height" value="0.35" units="cm"/>
      <inkml:brushProperty name="color" value="#FFFFFF"/>
    </inkml:brush>
  </inkml:definitions>
  <inkml:trace contextRef="#ctx0" brushRef="#br0">1 1 24575,'0'0'0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5:41:27.783"/>
    </inkml:context>
    <inkml:brush xml:id="br0">
      <inkml:brushProperty name="width" value="0.35" units="cm"/>
      <inkml:brushProperty name="height" value="0.35" units="cm"/>
      <inkml:brushProperty name="color" value="#FFFFFF"/>
    </inkml:brush>
  </inkml:definitions>
  <inkml:trace contextRef="#ctx0" brushRef="#br0">313 948 24575,'0'-53'0,"0"-13"0,0-2 0,0-14 0,0-9 0,0 11 0,0 7 0,0 11 0,0 16 0,0 10 0,0 10 0,0 13 0,-21 62 0,0 11 0,2-6 0,-1 3 0,4-7 0,0 0 0,-1 3 0,2 0 0,2-4 0,0 1 0,2-1 0,2 0 0,-5 44 0,4-4-810,2 8 810,2-1 0,4-9 0,1-13-301,1-13 301,0-12 0,3-11 0,8-14 0,20-11 0,15-9 0,8-28 0,0-28 0,-11-32-379,-23 22 1,-3-3 378,1-7 0,-3-1 0,-2-4 0,-2-1 0,-1-1 0,-3 1 0,-2 6 0,-1 2 0,-1 4 0,-3 2-59,-3 7 1,-4 2 58,-20-38 0,-16 25 0,-13 22 0,-2 19 0,6 15 0,7 7 0,7 5 983,10 1-422,5 11-120,4 18-441,6 20 0,2 23 0,5 22-492,5-42 0,0 1 473,-1 1 0,3 0 19,3-2 0,4 0-190,4-3 1,2 0 189,3-2 0,3-2 0,25 42 0,-6-17 0,-6-19 0,-7-17 0,-7-10 0,-4-10 0,-1-7 0,-1-5 0,5-22 983,4-25-965,4-43-18,-12 33 0,-2-3-276,-1-4 1,-2-2 275,-2 0 0,-1 0 0,-2 7 0,-2 2 0,0-46 0,-2 26 0,0 24 0,-4 22 0,-7 15 0,-10 9 951,-5 6-951,-5 20 0,1 31 0,1 41-492,16-36 0,1 2 418,3 6 1,3 3-419,0 12 0,3 2 226,1-6 1,1-1 265,1 5 0,4-2 0,2-8 0,6-3 0,4-13 0,5-2 0,6 0 0,5-2-492,4-7 0,3-5 474,1-5 0,1-5 18,36 14 0,-10-15 0,-12-13 983,-10-6-983,-6-5 983,-4-10-454,-3-17 454,-3-20-795,-7-21-188,-9-13 0,-6-4 0,-6 4 0,-8 7 0,-15 10 0,-11 16 0,-7 16 0,2 15 0,10 9 0,5 4 0,5 0 0,6 3 0,4 10 0,4 14 0,3 19 0,0 18 0,1 9 0,12 2 0,16 3 0,19-4 0,19-3 0,2-8 0,-2-7 0,-8-12 0,-2 2 0,-20-19 0,1-1 0,-22-21 0,-4-14 0,-10-34 0,-14-27 0,-16-18-485,7 37 0,-4 0 485,-2 3 0,-3 1 0,0 0 0,-2 1 0,1 2 0,0 2 0,-24-23-544,4 13 544,11 16 0,13 12 0,5 5 0,11 18 0,3 20 943,8 20-943,17 12 0,12 4 571,13-13-571,8-9 0,1-7 0,4-12 0,-1-6 0,-7-6 0,-3-20 0,-7-24 0,-6-29 0,-16 23 0,-3-4 0,-3-4 0,-2-3-492,-2-5 0,-1 0 0,-1 3 0,-3 2 439,-3 7 1,-4 2 0,-22-33 52,-15 27 0,-6 15 0,2 18 0,5 15 0,4 13 0,2 27 0,9 51 0,17-23 0,4 6 65,2 17 1,3 4-66,1 0 0,1 0 0,1-7 0,0 0 0,0 2 0,0-2 0,-1-8 0,2-1 0,7 7 0,6-1-492,5-6 0,8-5 471,8-9 1,6-6 20,4-7 0,4-9 0,5-12 0,2-6 0,-5-4 0,0-3 0,44 2 0,-1-7 0,-19-5 0,1 0 0,-14-3 0,-19-4 0,-15-12 983,-12-6-138,-14-9 138,-16-6-775,-23-3-208,-23-7 0,-15 4 0,-7-1 0,7 11 0,8 7 0,12 8 0,13 5 0,7 4 0,7 4 0,10 3 0,10 3 0,18-26 0,2 0 0,2-37 0,-9-5 0,-3-10 0,-5-7-422,-15 4 422,1 37 0,-6 0 0,-4 3 0,-4 2 0,-2 3 0,-4 4 0,-34-26 0,12 24 0,7 7 0,15 10 0,11 10 0,3 6 0,7 12 422,6 12-422,4 20 0,9 31 0,16 19-455,-1-38 1,4-1 454,5-1 0,3-3 0,5-4 0,3-4 0,3-5 0,3-3 0,0-3 0,2-4 0,4 0 0,3-5 0,4-4 0,-1-5 0,43 5 0,-11-11 0,-14-20 0,-16-18 0,7-41 0,-37 28 0,-2-3 0,-5-2 0,-3-1 0,-5-3 0,-3 1 0,-2-40 0,-8 42 0,-6 0 0,-7 2 0,-8 4 0,-10 2 0,-9 6 0,-5 4 0,-4 6 0,-7 5 0,-4 6 0,0 3 0,-2 5 0,3 2 0,0 3 0,2 0 0,1 2 0,-40 2-115,17 0 115,10 0 0,10 0 0,16 7 0,15 16 0,15 26 0,7 28 0,4 21-237,6-42 0,6 3 237,9 5 0,8 2 0,10 4 0,6-1 0,6-1 0,5-5 0,0-7 0,1-5 0,-8-11 0,0-4 0,-4-7 0,-1-2 112,38 21-112,-15-9 0,-7-10 0,-17-14 0,-13-13 0,-11-23 0,-10-26 0,-24-36 0,-2 25 0,-8-2-329,-11-7 0,-9-1 329,6 17 0,-4 0 0,-3 2-328,-3-1 0,-3 2 0,-2 2 0,1 5 0,-2 2 0,-1 3-22,-28-15 0,0 5 350,7 11 0,1 4 0,4 3 0,2 2 0,6 4 0,3 3 0,11 4 0,2 4 0,-31-4 0,22 10 0,12 1 0,15 6 983,15 12-218,17 16-765,35 30 0,0-19 0,6 1 431,17 9 0,7 1-431,12 3 0,3-2 0,-3-7 0,0-4 0,1-3 0,0-5 0,-7-8 0,-2-5 0,-4-5 0,0-3-305,0-3 0,-1-2 305,-9-4 0,0-3 0,-3-1 0,-2-5 0,32-26 0,-23-35 0,-38 17 0,-6-5 0,-4-6 0,-6-3 0,-5-2 0,-8-1 0,-10 0 0,-9 2-492,-12-2 0,-8 4 354,-5 5 0,-4 4 138,2 9 0,0 6 0,3 6 0,0 4-324,-39-12 324,-2 5 0,4 8 0,13 12 983,16 6-114,18 13-250,18 13-619,23 23 983,22 20-763,3-18 0,6 1-220,7 7 0,4 2-492,8 7 0,2 0 0,-4-4 0,-1-1 0,-5-4 0,-1-2 0,-3-2 0,-1-2-492,27 31 404,0 0 580,-11-16 0,-12-17 0,-13-12 0,-12-14 0,-13-17 983,-15-19 0,-9-14 0,-8-13 0,-8-8 0,-3-7 0,-5-12-979,3 2-4,6 2 0,5 10 0,6 11 0,6 12 0,6 10 0,4 6 0,16 9 0,13 4 0,22 4 0,18 4 0,3 0 0,5 4 0,-8 0 0,-10 5 0,-12-1 0,-11-3 0,-6-1 0,-9-1 0,-2 1 0,0 0 0,1-1 0,18-3 0,17 0 0,19 0 0,32 0-492,-38 0 0,3 0 277,9 1 1,5-2-278,11-1 0,3 0 0,4-1 0,3-1 164,-27 1 0,2-2 0,0 1 0,3-2 0,0-1 0,1 1 174,3 1 0,0 0 1,1-1 153,-1 0 0,1-1 0,-2 1 0,-6 1 0,-2 0 0,-2 1 0,26-1 0,-4 1-245,-7-1 0,-3-2 245,-9 1 0,-2 0 0,-1 0 0,-2-1 0,-10 0 0,-2-1 0,32-7 983,-21 2-915,-18 0 915,-11 2-200,-13 3 200,-2 3 0,-4 0 0,-7 4-449,-76 1-534,8 0 0,-7 1 0,-7 1-492,4 3 0,-4 1 0,-20 2 0,-9 2 164,7-2 0,-7 1 0,-2 0 82,21-2 0,-2-1 0,-1 1 0,-2-2 0,-7 1 0,-2-1 0,-1 0 0,0-1 49,15-1 0,-1-1 1,-1 1-1,1-1 0,3-1-49,-10 1 0,2-2 0,1 1 0,-1-1 0,1 1 0,-1-1 0,1 1 0,2-1-82,-17 0 0,2 0 0,4 0 0,14 1 0,3 1 0,1 0 0,0 0 0,0 0 0,3 1-69,-17 2 1,7 0 396,17 1 0,4-1 491,11-2 1,5 0 491,-14 5-432,16-3 432,15-1 0,7 0 0,11-4 0,44 0-492,13-1 1,13 2-165,5 0 1,8 2 0,5 0-574,-1 0 0,4 1 0,3 1 0,1 0 0,4 0 0,1 0 0,1 1 0,3 1 49,-8-1 0,1 1 1,2 1-1,1 0 0,1 1 0,8 1 0,2 0 1,2 2-1,-1 0 0,1 0 33,-17-2 0,0 1 0,0 1 0,0-1 0,0 1 0,1 0 0,4 1 0,1 0 0,0 0 0,0 1 0,-1 0 0,-1 0-33,13 3 0,-1 0 1,-1 0-1,-1 1 0,-3-1-49,8 1 0,-4 0 0,-1 0 0,-1 0 0,-6-1 0,-1 0 0,-3 0 0,-1 0-82,12 2 0,-3 0 0,-4-2 0,-17-4 0,-3-1 0,-2 0 819,29 6 1,-6-2-188,-19-5 1,-6-2 678,23 3 0,-28-6 0,-27-6 0,-29 0 0,-42 0 0,-59-5-492,7-3 1,-10-2-188,20 1 0,-2-1 1,-4 0-633,-10-1 0,-3 1 0,-6 0 131,25 4 0,-4 1 1,-2 0-1,-1 1 0,1 0 0,0 1 0,0 1 1,0 0-1,-1 1 0,-1-1 0,-7 1 0,-1 1 1,0-1-1,0 1 0,3 0 0,6 0 0,0-1 1,2 1-1,2 0 0,3 0-49,-2 0 0,4 0 0,1 0 0,1 0-82,-24 0 0,1 0 0,4 0 0,16 0 0,2 0 0,2 0 33,3 0 1,2 0 0,3 0 294,-9 0 0,7 0 983,-23 0 0,36 0 0,21 0 0,24 0 0,64-6-492,17-3 1,16-3-748,2 4 1,10 0-1,6-1 256,-25 3 0,4-1 0,3 0 0,2 0 0,-1 1 0,6 0 0,0 1 0,2-1 0,0 2 0,1-1 0,-13 2 0,1 1 0,0 0 0,1 1 0,-1-1 0,1 1-164,-2-1 0,2 0 0,-1 0 0,0 1 0,-2 0 0,0 0-33,8 0 0,-2 1 1,0 0-1,-1 1 0,0-1 6,0 0 0,1 0 0,0 0 0,-2 0 0,-3 0-55,7 0 0,-2 0 0,-3-1 0,-1 2-75,16 0 1,-3 0 0,-1 2-8,-7-1 0,-2 2 0,-3 0 277,-15 1 1,-3 1-1,-2 0 542,23 3 1,-6 0-1,-20-1 1,-10 0 491,-8 4 0,-107-6-492,-23-3 1,-21-2-518,27 0 0,-7-1 0,-5 0 0,-2 0 26,4 0 0,-3 0 0,-3 0 0,0 0 0,1 0-197,-1 0 0,0 0 1,0 0-1,0 0 0,0 0 0,-2 0 0,-1 0 1,0 0-1,1 0 0,2 0 0,9 0 0,1 1 1,1-1-1,1 2 0,1 0-49,-16 1 0,2 1 0,1 1 0,0 1 236,2 0 0,1 0 0,1 1 0,2 2 10,10 0 0,2 1 0,0 1 0,1 0 0,-22 5 0,1 1 0,2-1-328,11-1 0,2 0 0,1 0 0,7 0 0,1 1 0,4-1 145,-15 4 0,7 0 674,15-4 1,5 0 491,-18 10-615,30-9 615,17-7 0,19-5-492,53-5 1,33-3-222,11-5 1,13-1-517,-17 3 0,9-1 0,6 0 0,0 0 168,-9-1 1,3 0-1,1-1 1,2 0-1,-1 0 78,3-1 0,1 1 0,0-1 0,1 1 0,0 0 0,-13 1 0,1 1 0,0-1 0,0 1 0,-1 0 0,-2 1-197,9-2 0,-2 1 1,-1 0-1,-2 0 0,-1 1-49,11-1 0,-3 1 0,-1 0 0,0 0 0,-6 1 0,0-1 0,-2 1 0,-4-1-82,10-1 1,-5 1 0,-2-1 654,-9 1 1,-2-1 0,-6 1 148,10-3 0,-11-2 507,13-12 0,-63-4 0,-62-12-683,-20 15 0,-18 3-457,0 2 1,-10 0 0,-6 1 156,21 6 0,-4 0 0,-3 1 0,-3 0 0,-1 0 0,4 1 0,-3 1 0,-2 0 0,-2 0 0,1 1 0,-1 0-164,-4 0 0,0 1 0,-1 0 0,0 0 0,0 1 0,-1 1 58,0 0 0,0 1 0,0 0 1,-1 1-1,1-1 0,0 2-58,2-1 0,-1 1 0,1 1 0,0-1 0,2 1 0,1 0-33,-9 0 0,2 1 1,1 0-1,2 0 0,0 1 124,7 0 0,1 0 0,2 0 0,1 2 0,3 0-173,-6 1 0,2 1 0,3 1 0,4 0 150,-5 3 1,5 1 0,2 1 422,8 0 1,2 1 0,5 0 9,-6 4 1,8-2 645,-19 7 0,39-3 0,53-1 0,74 1-656,-17-9 1,12 0 0,6 0-104,-2-1 0,6 1 1,4-1-1,5 0-224,-16-1 0,3 0 0,3-1 0,2 1 0,3 0 0,0 0-123,-11-1 0,2 0 0,2 1 0,2-1 0,-1 0 0,2 0 0,-2 0 0,0 0 0,-1 0 0,0 0 0,0 0 0,0 0 0,0 0 0,0 0 0,1 0 0,0 0 0,3 0 0,1 0 0,1 1 0,0-1 0,0 0 0,-1 1 0,-2-1 0,-3 0-41,17 2 0,-3-1 0,-1 1 0,-2-1 0,-2 1 0,-3-1-33,2 1 0,-3 0 1,-3 0-1,-1-1 0,0 1 0,-5 0 0,-1 0 1,-1-1-1,-2 1 0,-3-1-131,24 3 0,-6-1 0,-3-1 281,-9-1 0,-3-1 0,-5 0 538,11-1 1,-15-1 491,-16-3-243,-106-11-740,-30-1 0,-22-3 0,25 6 0,-8-1 0,-5-1 0,-2 1 0,1-1 0,-4-1 0,-4 0 0,-1 1 0,-2-1-63,20 4 0,-2-1 1,-2 0-1,-1 1 0,0 0 1,0 0-1,1 0 63,0 1 0,-1-1 0,1 1 0,0 1 0,-1-1 0,2 1 0,-1 0-164,-10-1 0,-1 1 0,1 0 0,1 1 0,1-1 0,3 2 39,-6 0 1,1 0-1,3 1 1,2 1-1,1 0-115,-6 0 0,2 1 0,2 1 1,1-1 239,6 1 0,1-1 0,1 1 0,3 0 0,-11 0 0,4 0 0,2-1 0,8 1 0,1 0 0,6 0 0,-13 0 0,10 0 0,-24 0 0,41 0 983,39-3 0,84-7-687,10 2 1,19-1-297,-25 3 0,9 0 0,6 0 0,4 0 0,0 1 0,-2-1 0,3 1 0,2 0 0,2 1 0,1-1 0,3 1 0,-3 0 0,3 0 0,1 1 0,2 0 0,0 0 0,0 0 0,-1 0 0,-12 1 0,1-1 0,0 1 0,-1 1 0,1-1 0,-2 0 0,0 1 0,-2 0-141,5 0 1,-1 0-1,0 1 1,-2-1-1,0 1 1,-2 0-1,1 0 38,7-1 0,0 1 1,-1 0-1,-1 0 1,-2-1-1,-3 1-94,2 0 0,-3 0 1,-2 0-1,-1 0 0,-1 0 40,13 0 0,-1-1 0,-3 1 0,-4 1 424,7 0 0,-6 1 1,-3 0-268,-11 0 0,-4 0 0,-4 1 491,7 1 1,-14 1 491,-22 5-317,-112-6-666,18-4 0,-10-1 0,-7-1 0,-3-1 0,-7 0 0,-4-1 0,-3 0 0,3 0 0,-4 0 0,-2 0 0,-1 0 0,0 1-147,-2-1 0,0 0 1,-1 0-1,0 1 1,0 0 146,15 1 0,-2 0 0,0 0 0,1 0 0,1 1 0,1 0-169,-7 0 1,2 0 0,0 1-1,2 0 1,1 0 168,-11-1 0,1 1 0,2 0 0,0 0-246,3 0 0,1 0 0,1 0 0,3 0 74,-12 0 0,4 0 1,3-1 498,4 1 1,3 0 0,4 0-108,-10 0 0,9 0-220,20 0 0,6 0 0,-13 0 983,29 0 0,20 0 0,64 0-899,17 0 1,16 0-144,-12 1 0,7 1 0,6 0 0,4 1 59,3 1 0,6 1 0,3 0 0,1 1 0,0 1-164,-13-2 0,0 1 0,1 0 0,1 1 0,1-1 0,0 2 136,7 0 0,1 1 0,1 0 0,0 1 0,-2 0 0,-2 0-169,7 0 0,-2 1 1,-2 0-1,-2 0 0,-1 0 94,-9-1 0,-3 0 0,0 0 0,-2 1 0,0-1-143,14 2 0,-1 1 0,-2-1 0,-5 0 150,2 0 1,-6 0 0,-2 0 586,25 4 1,-9-2-71,-28-5 0,-10-1-421,2 3 0,-118-19 0,-44-9 159,33 3 0,-3-2 0,-8-1-159,7 3 0,-7-1 0,-4 0 0,-1-1 0,2 0 0,3 0 0,0-1 0,0 1 0,-1-1 0,-1 1 0,-5 0 0,-2-1 0,-1 1 0,1 1 0,1 0 0,8 2 0,0 1 0,1 0 0,1 1 0,-1 1 0,-19-2 0,0 1 0,1 2 0,3 0 0,10 3 0,2 0 0,2 2 0,3 1 327,-8 1 1,4 2 0,1 0-75,4 0 0,1-1 0,5 1-253,-6 0 0,7 0 0,-26 0 983,37 0 0,58 0-701,83 11-282,-18-2 0,11 1 0,7 1-246,3-1 0,7 1 0,5-1 0,0 1 49,-13-1 0,3 0 1,0 1-1,2-1 0,0-1 139,6 1 0,2 0 0,0-1 0,-1-1 0,-1 1 58,-8-2 0,-2-1 0,0 0 0,-1 0 0,-2-1 0,11 1 0,-2-1 0,-2-1 0,0 0 0,-7-1 0,1 0 0,-4-1 0,-3 0 212,2-1 0,-4-1 1,-2 0-213,24 1 0,-9-2 983,4-11-499,-98-19-484,-47 1 0,-28 1-246,16 8 0,-8-1 0,-6 0 0,-3 0 49,0 2 0,-5 0 1,-3 1-1,-2-1 0,0 2 33,11 2 0,-1 0 0,-1 0 0,0 1 0,-2 1 0,0 1 0,-3 0 0,-2 1 0,0 0 0,0 2 0,-1 0 0,1 1 0,1 1 0,0 1 0,-1 1 0,1 0 0,0 1 0,1 0 113,3 1 0,-1 1 0,1 1 0,0 0 1,2 0-1,0 0 51,-10 1 0,0 0 0,2 0 0,2 0 0,2 1-246,-6-1 0,2 1 0,3 0 0,4-1 163,-11 1 0,3 0 0,6 0 410,16 1 1,4 1 0,2 0-9,-23 2 0,8 2 172,24 1 1,7 1 491,-8 10 0,32-4 0,35-2 0,58-5-492,2-5 1,13-1-358,2 0 1,8 0-1,6-1-134,-5 0 0,4 0 0,3 0 0,4 0-164,-24 0 0,4 0 0,0 0 0,2-1 0,0 2 0,0-1 0,-1 1 0,1-1 0,1 1 0,-1 0 0,0 0 0,1 1 0,0 0 0,1 1 0,-1-1 0,1 1 0,-1 0 0,0 0 0,-1 0 0,1 0 0,0 0 0,-1 0 0,-2 1 0,-3-1-33,4 0 0,-2 0 1,-2 1-1,-1-1 0,0 1-49,14-1 0,0 1 0,-3 0 0,-4-1-82,8 0 0,-5-1 0,-7 1 819,6 1 1,-6 0-455,-4-1 1,-6 0 945,21-3 0,-67-4 0,-66-14-717,-28-3 1,-18-1-38,1 1 0,-9-1 1,-3 0-230,15 4 0,-3 0 0,-2 1 0,-2 0-78,11 4 1,-2 0-1,-1 1 1,0 0-1,0 1 78,-1 1 0,-1 0 0,0 1 0,0 0 0,1 1 0,-18 0 0,1 0 0,0 1 0,2 1-246,8 1 0,0-1 0,2 2 0,3 0-82,-16 0 0,3 2 0,4 0 0,11 1 0,2 1 0,3 0 153,-19 0 0,5 0 666,9 0 1,6 0-12,20 0 1,7 0 502,-11 0 0,31 0-492,93 0 1,48 0-709,-41 0 1,4 0-1,8 0 217,-9 0 0,8 0 0,3 0 0,1 0 0,-3 0 0,17-1 0,-1-1 0,0 0 0,-2-1 0,-6 1 0,0 0 0,-3 0 0,0-1 0,-9 0 0,-1-1 0,-1 0 0,-1-1 0,20-2 0,-2 0 0,-5-1 0,-16 3 0,-4 0 0,-2 0 0,28-3 0,-7 2 0,-25 2 0,-7 0 983,12-3-174,-34-6 24,-37-6-833,-48-4 0,-1 9 0,-9 2-492,-26 0 0,-10 3 164,19 3 0,-3 1 0,-2 0 655,-10 2 1,-3 0 0,-1 1-184,21 1 1,-2 1 0,0 0 0,2-1-145,-21 1 0,2-1 0,1 2 0,2-1 0,1 2 0,3 2-328,9 2 0,2 1 0,3 3-43,-22 7 1,5 3 2,8 3 1,5 2 367,20-3 0,5 0 0,-21 6 983,26-7-28,26-7 28,31-2 0,73-3-492,5-6 1,18-1-738,-31-2 0,6 1 0,4-1 0,4 0 49,0 0 0,4 0 1,3 1-1,2-1 0,1-1 33,-8 0 0,3 0 0,1 0 0,0 0 0,1-1 0,-2 0 0,-1 0 0,-1 0 0,1-1 0,-1 0 0,-2 0 0,-1-1-33,6 0 0,-1 0 1,-1-1-1,-3 0 0,-2-1-49,7-1 0,-3-1 0,-2 0 0,-4 0-82,8-1 0,-5-1 0,-2 1 0,-13 1 0,-2 1 0,-2 0-164,24-2 0,-8 0 0,-27 4 0,-7-1 1475,17-2 0,-40 0-817,-85 2-166,-3 3 0,-10 2 327,2 0 1,-7 1 0,-2 0-1,-12-1 1,-3 1 0,-2 0-83,18 0 1,-2-1 0,-1 1 0,2 1 78,-24 1 1,1 1-1,1 2-324,6 1 0,2 2 0,1 2-328,9 1 0,1 2 0,3 2 251,-22 9 0,4 2 77,3-1 0,4 0 0,22-4 0,4-1-201,9-1 0,4-1 201,-15 12 983,22-6 0,14-2 0,19-4 0,13 0 0,55 6-492,9-3 1,16 1-672,-2-1 0,8 1 1,3 1 179,-14-4 0,2 0 0,1 1 0,2 0-246,9 2 0,1 1 0,1-1 0,-1 0 0,-7-2 0,-1-1 0,-1 0 0,-2-1 14,-4-1 1,-1-1 0,-2 0-1,0 0 232,19 5 0,-1-1 0,-5 0 0,-18-4 0,-4-1 0,-2 1 0,22 6 0,-8-1 0,-24-4 0,-7-1 0,7 4 0,-95-11 0,-24-6 0,-17-3-328,-4-2 0,-9-4 0,-5 1 82,14 1 0,-5 0 0,-1-1 0,-1 0 0,-7-1 0,-2-1 0,-1 0 0,1 1 0,4-1 0,1 0 0,0 0 0,2 2 58,8 1 0,1 1 1,1 0-1,1 1 235,2-1 1,1 0-1,1 1 1,2 1-48,-10 0 0,2 1 0,2-1-278,7 1 1,1 0 0,5 0 277,-15 0 0,9 0 491,20 0 1,10-1 491,16 1 0,69 5-492,18 0 1,13 1-165,-3 1 1,7 2 0,2 1-1,14 1 1,3 1 0,0 0-72,2 0 0,0 1 1,0-1-257,-5-2 0,0 1 0,-3-2-176,-8-1 1,-3 0 0,-2-2 175,18 2 0,-5-1-315,-9-3 1,-4 0 314,-20-1 0,-6 0 0,11-3 0,-33-8 983,-45-15-492,-34-9 1,-17-3-1,-17-5 1,-8 1-820,17 9 0,-4 2 0,-2 0 0,-8 1 0,-3 1 0,2 4 0,13 7 0,1 3 0,-1 1 0,-5 0 0,-1 0 0,1 3 185,7 2 0,1 2 0,2 1 143,-23 1 0,3 0 0,7 2 0,4-1-70,20 1 0,6 0 70,-24 0 0,32 3 0,27 4 983,14 3 0,22 11 0,46 9-492,-7-11 1,9-1-133,28 6 0,11-1-359,-18-7 0,5-1 0,6-1-246,-4-2 0,6-2 0,3 1 0,0-1 49,-15-1 0,1 0 1,1 0-1,-1-1 0,0-1 0,-3 0 0,0 0 1,-1-2-1,0 1 0,-2-1-49,16 1 0,-1-1 0,-2 0 0,-4-1-82,6 0 0,-4-1 0,-1-1 0,-7-1 0,-1-1 0,-2 1 0,-8-1 0,-1 0 0,-4 0 43,10-1 1,-9-2 284,23-5 983,-39-5 0,-31-4 0,-31-1 0,-53-3-492,1 8 1,-11 1-263,8 2 0,-6 0 0,-4 2-229,-16-1 0,-6 1 0,-2 0 0,19 3 0,-2 0 0,-2 1 0,0 1 0,-7-1 0,-1 2 0,-2 0 0,1 0 0,-4 1 0,0 0 0,0 1 0,1-1 0,4 1 0,1 0 0,1-1 0,2 1-246,9 0 0,2 0 0,2-1 0,2 2 190,-13 0 0,4 1 0,3 0 56,10 1 0,2 1 0,3 2 0,-20 4 0,4 3 0,7 1 0,4 1 0,16 0 0,5 1 0,-19 12 0,24-7 0,16 1 0,13-5 0,7 5 0,3 4 983,4 7 0,0 11 0,18 12 0,35 12-492,1-27 1,12-3-820,-9-8 0,6-3 0,2 0 205,11 1 1,4-3 0,4-1-124,-13-5 0,4-2 0,0-1 0,2-2 0,2 0 0,2-2 0,0-1 0,2-1 0,5 0 0,2 0 0,0-1 0,-1 0 0,-7-2 0,0 1 0,-2-1 0,-3 0 207,12 1 1,-4-1 0,-2 0 38,-9-2 0,-3 0 0,-4-2-166,14 1 0,-4-3 166,3 0 0,-2-2 0,-11 0 0,-4-4 0,20-18 0,-34-25 0,-47-31 0,-20 27 0,-13-1-492,-19-10 0,-12 2 164,4 16 0,-6 2 0,-3 1 307,-9-3 1,-4 2-1,-2 3-307,-3 1 0,-1 2 0,2 4 0,9 5 0,1 3 0,3 4 153,-24-2 0,3 6 666,-2 8 1,2 5-315,10 4 1,1 0-403,-3-1 1,1 2 224,11 4 0,5 6 491,18 5 1,4 8-311,-1 13 0,6 9-181,6 10 0,7 7 491,6 7 1,5 3-1,4 3 1,4 1-1,6-3 1,7 1-1,5 5 1,9 0-367,8-2 0,9-1-125,12 0 0,7-4 133,3-7 1,7-5-134,6-6 0,4-6 0,1-6 0,1-7 0,-4-8 0,0-6 0,2-3 0,0-8-63,-12-9 0,-2-10 63,-1-11 0,-3-13 0,4-29 0,-7-17-328,-21 15 0,-4-7 0,-4-4 0,1-14 0,-6-6 0,-2-2 158,-5 19 1,-3-3-1,-1 0 1,-4 0 169,-2 1 0,-3 1 0,-3-1 0,-4 1 0,-3-4 0,-4-1 0,-3 2 0,-5 1 0,-2 4 0,-5 2 0,-4 2 0,-3 2 0,-5 3 0,-4 3 0,-2 3 0,-2 3 0,-13-7 0,-2 6 0,0 5 0,5 11 0,0 5 0,1 5 0,-15-2 0,0 8 0,6 13 0,1 5 192,-1-2 1,1 5-193,9 5 0,1 7 0,-1 9 0,6 12 0,10 16 0,8 10 0,4 17 0,6 8-268,10-12 0,4 4 0,1 1 268,3 6 0,2 1 0,1 2 0,1 7 0,0 1 0,2 1 0,1 3 0,2 1 0,3-1 0,3-2 0,3 0 0,4-2 0,2-7 0,3-2 0,3-4 0,3-7 0,2-3 0,2-2-105,17 22 1,3-5 104,-4-14 0,0-6 0,-7-8 0,0-5 0,-2-10 0,1-7 983,27 4 0,-8-18 0,-3-29-143,-19-46-840,-20 4 0,-5-7 491,-1-19 1,-3-6-440,0-7 1,-5-2-53,-6 30 0,-4-2 0,-2 3 0,-10-24 0,-8 5 0,-7 6 0,-8 5 0,-7 9 0,-5 6 0,5 9 0,-5 5 0,-12 2 0,0 7 491,20 12 1,0 5-129,-8 1 0,2 5-363,-9 10 0,4 23 0,17 33 0,17 38-492,17-26 0,3 5 129,-1 9 0,6 3 363,6 3 0,8 0 0,11 2 0,11-3-285,14-2 0,11-7 285,-14-29 0,5-4 0,3-3 0,28 13 0,5-9-492,0-11 0,1-10 140,-5-7 0,-2-11 352,-4-12 0,-3-12 0,-10-6 0,-7-14 0,-5-30 0,-10-16 0,-16 10 0,-5-6 0,-4-3-328,-2-6 0,-3-2 0,-3-2 82,-2 16 0,-2-2 0,-2 0 0,-5 1 0,-4 2 0,-4 1 0,-4 0 0,-4 1 210,-3 1 0,-4 0 0,-3 1 0,-4 2 36,-4-1 0,-4 1 0,-3 3 0,-1 4 24,-15-11 0,-3 7 0,-2 4-24,3 9 0,-2 5 0,-1 6 0,-23-5 0,-1 10 0,9 13 0,0 8 0,8 8 0,4 12 421,14 21 1,9 14-422,9 20 0,10 13 0,5 22 0,8 7-160,4-30 0,3 2 1,1 0 159,1 2 0,2 2 0,4-1 0,2-3 0,5-1 0,4-1 0,5-2 0,5-1 0,6-2 0,8 4 0,5-2 0,6-4 0,5-6 0,6-4 0,3-5 0,3-3 0,4-5 0,2-5 0,0-5 0,2-5 0,0-4 0,-4-4 0,0-4 0,-1-6 0,-3-5 0,-1-6 0,-2-9 0,-4-12 0,-2-9 0,-5-7 0,-4-6 0,-4-8 0,-6-4 0,-3-13 0,-7-7 0,-5-1 0,-4-5 0,-6-1 0,-4 2 0,-5 11 0,-4 1 0,-1 2 0,-1-25 0,-3 4 0,-2 20 0,-3 4 491,-2 14 1,-3 3-1,-2 2 1,-2 1 491,-21-30-891,6 28-92,7 37 0,10 71 0,9-6 0,5 9-205,7 30 0,10 8 205,1-20 0,6 4 0,6-1-328,10 5 0,7-1 0,5-1 82,-7-18 0,3-1 0,3-1 0,2-2 87,3-4 0,4-1 0,0-3 0,1-4 325,11 7 1,0-6-1,4-3-166,7-5 0,3-3 0,-6-7 0,-3-1 0,-2-7 0,10-2 0,-7-6 144,-5-2-144,-13-7 983,-25-6-387,-44-2-596,-49-10 0,3 1 0,-8-2 491,-18-4 1,-7-3-165,25 5 1,-2-1 0,-1 0-281,-4 1 0,-1 1 0,2 0-47,-26-5 0,2 0 0,26 5 0,1 1 0,0-1 0,-22-6 0,3 1 0,10 2 0,1 2 0,1 0 0,4 1 491,16 4 1,2 1-277,0 0 0,0 1-215,-39-6 0,20 5 0,21 4 0,15 2 0,23-1 983,44 11 0,52 19-1475,-23-5 0,7 5 300,-8-1 1,3 4 0,2 1-137,9 6 0,3 3 0,2 1 82,-11-6 0,1 1 0,1 1 0,2 0 0,6 4 0,2 0 0,0 0 0,1 0 0,0 0 0,1 0 0,-1-1 0,1 0 0,0 0 0,0-1 0,-1-1 0,0 0 0,-2-3 0,-1-2 0,-1 0 0,-2-2-82,15 5 0,-3-2 0,0-3 0,-9-4 0,-1-3 0,-1-2 0,-6-3 0,-1-3 0,-3-2 436,20 4 0,-2-3-108,-4 0 0,-3-2 491,-17-3 1,-5-1 491,25 4 0,-23-2 0,-18-4 0,-12-5 0,-9-1 0,-3 0 0,-7 3 0,-4 5 0,-9 4 0,-10-4-734,-10 0-249,-8 1 0,3-1 0,0 1 0,4-2 0,3-2 0,1 0 0,5 0 0,0 0 0,2-1 0,-4-2 0,9-2 0,0-3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5:41:41.060"/>
    </inkml:context>
    <inkml:brush xml:id="br0">
      <inkml:brushProperty name="width" value="0.35" units="cm"/>
      <inkml:brushProperty name="height" value="0.35" units="cm"/>
      <inkml:brushProperty name="color" value="#FFFFFF"/>
    </inkml:brush>
  </inkml:definitions>
  <inkml:trace contextRef="#ctx0" brushRef="#br0">6600 801 24575,'-63'0'0,"-3"0"0,-4 0 0,9 0 0,-1 0 0,-15 0 0,0 0 0,16 0 0,4 0 0,-43 0 0,46 0 0,-1 0 0,0 0 0,1 0 0,-35 0 0,9 0 0,29 0 0,12 0 0,15 0 0,29 0 0,58 17 0,-15-4 0,6 2-492,23 8 0,6 2 29,6 2 1,3 0 134,-28-10 0,1 0 0,2-1 0,6 1 0,1 0 0,0-2 153,-4-2 0,-1 0 0,-1-1 175,28 5 0,-4 0-307,-17-4 1,-4-1 306,-16-2 0,-4-2 0,20 4 0,-25-7 983,-23-11-376,-14-14-607,-13-8 983,-22-13 0,-27-11-644,12 25 0,-4-1-480,-10-5 0,-3 1 141,0 1 0,-2 3 0,-1 3 0,-2 3 0,-1 4 0,0 3 0,1 5 0,0 3 0,-3 2 0,-1 2 0,2 1 0,2 2 0,4-1 0,3 1 0,-43 8 0,26 14 0,20 15 0,18 11 0,13 5 0,9 4 0,8 18 0,3 12-250,6-37 0,3 0 250,18 44 0,22-15 0,21-7 0,8-13 0,2-8 0,-7-14 983,-12-15-931,-14-11-52,-10-6 0,-10-8 0,-9-15 0,-7-27 0,-6-29 0,-10-21-414,-4 38 1,-6 0 413,-8-5 0,-8 2 0,-7-2 0,-7 1 0,-7 2 0,-5 4-492,-3 4 0,-5 5 125,-4 6 0,-3 6 367,-2 4 0,-2 6 0,4 4 0,1 6-414,4 5 0,3 3 414,6 2 0,3 2 0,4 1 0,3 1 0,-33 0 0,17 3 0,19 4 983,14 7-791,7 4 791,12 2-214,7-1 205,5 1-974,7 4 0,21 11 0,28 9 0,-11-19 0,4-2 0,5 1 0,2-3-363,3 0 1,2-2 362,-1-2 0,0 0-492,-6-3 0,-1-1-492,42 9 0,-22-12 0,-15-6 737,-10-4 247,-7-3 572,-13-3-572,-9-8 983,-10-5 0,-5-5 0,-12-4 0,-27-9-579,-44-10-404,21 21 0,-7 1-492,-15-3 0,-3 1 0,0 3 0,0 3 455,1 1 1,2 2 36,8 4 0,2 1 0,9 2 0,1 1-183,-1 2 0,1 0 183,9 0 0,3 1 0,-43-5 0,23 5 0,24 1 0,18 8 0,27 14 983,24 12 0,30 15-949,24 13-1018,6-4 763,-4-4-465,-8-11 686,4-10 0,9-4 0,11-3 0,-45-13 0,0-1 0,48 1 0,-11-5 0,-9-2 0,-12 0 0,-16-3 0,-9-5 0,-11-4 983,-9-7-413,-5-2 175,-8 3-745,-5-3 0,-3 4 0,0-2 0,0-3 0,0 1 0,-3-4 0,-7 0 0,-4 3 0,-2 1 0,4 5 0,7-1 0,1 2 0,3 0 0,4 4 0,6 1 0,12 0 0,14-6 0,11-6 0,9-1 0,6-5 0,2 3 0,7-6 0,10 1 0,9 3 0,7 1 0,-46 15 0,-1 1 0,44-10 0,0-1 0,-7 5 0,-8 2 0,-6 4 0,-13 2 0,-5-1 0,-11 4 0,-9-3 0,-4 4 0,-4-1 0,-5 1 0,-1 4 0,-4-1 0,-8 4 0,-16 12 0,-19 7 0,-27 13 0,-26 5 0,33-20 0,-3-2-492,-3 2 0,-3-1 467,-2-1 1,-1-2 24,0-1 0,0-1 0,-3 0 0,0 0 0,10-4 0,1 0 0,-40 5-52,20-6 52,9-4 0,6-3 0,14-2 0,12 1 0,13 1 983,7 5-936,14 4-47,38 6 0,31-1-492,-15-6 0,6 0 119,17 3 0,5 1-119,3 1 0,3 0 164,-24-4 0,2 0 0,0 0 205,1 0 1,0 1 0,-1-2 122,-3 0 0,-1-1 0,0 0 0,32 4 0,-3 1-492,-12-4 0,-4 0 413,-12-2 1,-4-2 17,-7-2 0,-3-2 61,32-1 983,-15-1-524,-9 0 524,-6 0 0,6-4-589,-8-4 589,-2-4-549,-7-4-270,-8 4-164,-1-1 0,-8 3 0,-5 5 0,-4 0 0,-2 4 0,-3-2 0,-8-1 0,-47-12 0,-7 1 0,-33-10 0,8 3 0,-8-5 0,-9-6-492,30 11 0,-4-1 401,0-2 1,0-1-402,-1-1 0,0 1 213,-2-1 0,1 1 279,10 2 0,3 2-439,-1 2 1,2 0 438,-39-17 0,15 6 0,7 6 0,7 2 0,8 5 0,12 2 983,7 3-947,6 5 947,2 1-412,4 1 412,3 1-955,3 2-28,8 2 0,73 3 0,-1 15 0,9-3 0,7 3-492,-7 6 0,1 4 96,13 5 1,3 1 67,-23-9 0,0 0 0,0 0-164,28 12 0,-2 0 332,-6-3 0,-2-2 160,-5-2 0,-2-2 0,-10-3 0,-2-1 0,-5-3 0,-3 0 0,33 12 0,-18-3 0,-35-15 0,1 1 0,-24-12 983,0-4-408,-4-6 408,-4-8 0,-11-13-444,-12-12-539,-16-10 0,-8-2 0,-7-4 0,-9-4 0,-9-3 0,28 27 0,-1 2 0,-1 3 0,0 1 0,-3-1 0,-2 1 0,-2 1 0,-1 2 0,0 3 0,0 1 0,-3 1 0,-1 3 0,1 4 0,0 2 0,2 3 0,1 1 0,-47-7 0,15 5 0,14 6 0,15 0 0,15 5 0,10 0 0,9 0 0,3 3 0,6 4 0,3 6 0,5 14 0,13 17 0,19 25 0,-2-23 0,5 2-492,7 6 0,4 2 196,6 7 1,1-1 295,-2-4 0,0-2 0,-6-6 0,-1-2 0,-1-2 0,0-2 0,-5-7 0,-1-1-117,0 1 1,-1 0 116,27 29 0,-15-17 0,-10-12 0,-8-14 0,-3-11 0,-5-6 0,4-5 983,0-1-411,0 0-319,0 0-253,0-7 0,-1-10 0,-4-9 0,-1-4 0,-5 1 0,-2-3 0,-4-7 0,-3-6 0,-3-3 0,-1-2 0,-1-2 0,-13-10 0,-27-10 0,-24-4-437,22 38 0,-3 3 437,0 3 0,-1 2 0,-32-17 0,3 10 0,16 10 0,9 7 0,8 7 0,14 4 0,2 3 0,10 7 0,5 13 874,5 19-874,4 29 0,16 24 0,2-35 0,5 2 0,9 3 0,4 0-492,4-1 0,3-2 213,3-1 0,1-1 279,-2-5 0,0-2 0,1-2 0,2-3-475,2 0 1,1-2 474,1-1 0,0-1 0,1-1 0,1-2 0,-2-4 0,-1-2-110,-2-3 1,-1-3 109,39 10 0,-5-10 0,-8-8 0,-12-5 0,-11-6 983,-13-1-519,-7-7 519,-4-10-953,-5-5 220,-4-3-250,-8 1 0,-5-1 0,-3-5 0,0-8 0,0-5 0,-11-8 0,-16-2 0,-15-1 0,-14 3 0,-2 1 0,0 4 0,0 7 0,1 5 0,6 11 0,11 5 0,9 9 0,9 5 0,4 4 0,1 0 0,3 3 0,4 4 0,6 8 0,12 19 0,10 8 0,16 15 0,13 5 0,6-3 0,3 5 0,-2-6 0,-3-2 0,-9-10 0,-4-11 0,-10-10 0,-5-9 0,-2-6 0,-4-6 0,-2-3 0,1-1 0,-3-7 0,2-13 0,-3-16 0,-1-13 0,0-5 0,-5-1 0,-1 2 0,-3 2 0,-2 4 0,0 4 0,-11 5 0,-14 6 0,-17 4 0,-17 3 0,-9 1 0,-8 8 0,-3 6 0,10 6 0,5 4 0,6 0 0,2 0 0,-2 0 0,9 0 0,9 0 0,12 2 0,5 5 0,9 5 0,5 2 0,5 1 0,3 0 0,1-1 0,0 0 0,2 0 0,8-1 0,8 2 0,10 0 0,1 2 0,-1-1 0,2 1 0,0 0 0,4-4 0,0-4 0,-1-5 0,0-4 0,0 0 0,0 0 0,1-3 0,1-4 0,1-5 0,-4-3 0,-5-1 0,-6 0 0,-3 0 0,-2 0 0,-1 1 0,-2-1 0,-2 0 0,-3 1 0,-4 0 0,-1 0 0,-3 2 0,0 0 0,0-1 0,0-4 0,0-2 0,0 0 0,0-3 0,0 1 0,0-2 0,-3-1 0,-5 0 0,-1 0 0,-2 5 0,3 0 0,2 7 0,-1-1 0,3 1 0,-2-1 0,0-1 0,2 0 0,-3 0 0,2-5 0,-3-4 0,0-2 0,3 1 0,1 1 0,3 3 0,1 1 0,3 5 0,3 8 0,5 4 0,3 2 0,1 1 0,5 0 0,9 0 0,16 4 0,6 6 0,8 10 0,0 6 0,-3 3 0,5 1 0,-8-5 0,-8-2 0,-12-6 0,-11 0 0,-5-2 0,2 0 0,2 1 0,4 1 0,4 0 0,1 0 0,3-1 0,-6-1 0,-2-1 0,-3 0 0,-4 0 0,1-2 0,-5 0 0,-2-1 0,-3 1 0,-4 3 0,-1 0 0,0 1 0,0 3 0,0 6 0,-1 0 0,-2 3 0,-1-5 0,0-4 0,0-1 0,0-5 0,0 2 0,0 0 0,0 0 0,0 0 0,0 0 0,-4 0 0,-3 0 0,-5 1 0,-3-1 0,-4 0 0,0-1 0,1-1 0,-2 1 0,2 0 0,-6 2 0,0-3 0,-1-1 0,-3 1 0,-2-3 0,-4-1 0,-5-5 0,-6-3 0,-6-1 0,-5 0 0,1 0 0,5-12 0,5-11 0,4-14 0,6-12 0,1-2 0,3-9 0,7-2 0,7-2 0,9 6 0,6 9 0,1 4 0,1 3 0,0 4 0,-1 8 0,1 10 0,0 4 0,4 5 0,2 3 0,4 5 0,3 3 0,0-3 0,2-1 0,4 0 0,4 1 0,10 2 0,6 1 0,2 0 0,3-1 0,-4 1 0,-1 0 0,-1 0 0,-10 0 0,-3 0 0,-3 0 0,-4 0 0,1 0 0,-3 0 0,-3 3 0,-4 11 0,-4 11 0,-4 14 0,-1 5 0,0 6 0,0 2 0,0-1 0,0-2 0,0-10 0,0-4 0,0-5 0,0-3 0,0 0 0,-2-2 0,-2-3 0,0-2 0,0-3 0,3-1 0,1 0 0,0 0 0,0-1 0,-1 4 0,1 5 0,0 5 0,0 4 0,0-3 0,0-1 0,0 4 0,0 2 0,0 1 0,0-1 0,0-8 0,0-4 0,0-3 0,0-3 0,0-2 0,3-4 0,4-7 0,4-8 0,5-9 0,4-11 0,7-10 0,8-7 0,7-13 0,6-4 0,1-3 0,-3-3 0,2 4 0,-7 5 0,-2 8 0,-8 7 0,-5 5 0,-2 2 0,-3 0 0,-2 3 0,-5 3 0,0 2 0,-2 3 0,0 0 0,-3 2 0,-1 3 0,0 0 0,-3 1 0,-2 1 0,-2-1 0,-1 1 0,3 2 0,-24 45 0,9-11 0,-24 45 0,11-20 0,-3 7 0,-1 3 0,5-1 0,-4 2 0,3 6 0,0-4 0,2-1 0,4-7 0,3-15 0,4-1 0,1-7 0,3-1 0,-1 2 0,1-4 0,2 1 0,1 2 0,4 1 0,1 1 0,-1-4 0,1-5 0,0-4 0,0-2 0,0 1 0,0-2 0,0-1 0,0 0 0,0 0 0,0 1 0,0 1 0,0 0 0,0 0 0,0 1 0,0-1 0,3-5 0,13-22 0,10-4 0,14-22 0,-1 10 0,0-2 0,0 0 0,0-1 0,-3 0 0,-1-2 0,-6-1 0,-1-2 0,2-2 0,-4 3 0,-2-1 0,-3 5 0,-3 0 0,-1 5 0,-1 5 0,0 1 0,-4 3 0,0-3 0,-4 0 0,-1-1 0,0-3 0,0-1 0,0-5 0,-1-3 0,-2 2 0,-2 1 0,1 3 0,1 5 0,0 1 0,3 8 0,-3 1 0,0 2 0,1-1 0,-2-5 0,1-1 0,2-2 0,2 0 0,0 2 0,3 3 0,-3 2 0,-4 1 0,2-1 0,-3-1 0,1-1 0,2 3 0,-2 1 0,0-1 0,3 2 0,0-2 0,5 0 0,2 3 0,-1-1 0,-2 5 0,-4 15 0,-3 22 0,-3 17 0,-1 11 0,0-6 0,0-11 0,-3-4 0,-1-5 0,0-3 0,0-5 0,3-5 0,0-4 0,1-2 0,0 0 0,0 4 0,0-5 0,2 5 0,4-7 0,4 2 0,4 1 0,-2-1 0,-1 0 0,-2 1 0,-1-4 0,3 0 0,0-5 0,4 1 0,-2 1 0,6-1 0,-1 1 0,1 0 0,3 0 0,-4-2 0,2 1 0,-1-3 0,-3-1 0,0 0 0,0-4 0,-1 0 0,1 0 0,-1 0 0,-2 0 0,1-5 0,-1-5 0,1-8 0,-1-4 0,-1-2 0,-3-4 0,1-1 0,-2-1 0,-2 0 0,-2 1 0,0-1 0,0 0 0,1 1 0,-2 0 0,-2 2 0,-1-1 0,0 4 0,0 3 0,0 0 0,0 0 0,0-1 0,0-3 0,0 0 0,-3 0 0,-5-1 0,-3 4 0,-5 2 0,0-1 0,1 0 0,-2-3 0,1-1 0,1 5 0,-6 2 0,5 4 0,-4 3 0,5 3 0,0 4 0,0 3 0,2 1 0,0 2 0,0 8 0,1 4 0,-1 8 0,0 2 0,0 1 0,-3-1 0,3 1 0,2 0 0,2-4 0,1-2 0,0-3 0,4-1 0,1-2 0,3 1 0,0 0 0,0 0 0,0 0 0,3 1 0,4 1 0,9 0 0,8 0 0,9 0 0,6 2 0,4 2 0,4 0 0,2 3 0,5 1 0,1 3 0,-3 1 0,1-4 0,-6 0 0,-5-6 0,-2 1 0,-8-2 0,-2 0 0,-4-1 0,-6-1 0,-1 0 0,-5-3 0,0-2 0,-1-4 0,1-2 0,0-1 0,1-1 0,0-2 0,0 0 0,-1 0 0,2 0 0,-4-3 0,-1-5 0,1-8 0,-4-2 0,3-4 0,-4 1 0,1-4 0,0-8 0,0-2 0,1-3 0,-1 6 0,0 3 0,-3-1 0,-1 3 0,-4 2 0,0 0 0,0 0 0,0 1 0,0-4 0,0-11 0,0 12 0,0-15 0,-2 20 0,-5-3 0,-4 0 0,-4 0 0,-1-3 0,-1 1 0,-3-2 0,-2-1 0,-3 4 0,0-4 0,3 2 0,4 4 0,4 1 0,0 9 0,3 3 0,0 0 0,2-1 0,0 0 0,1 6 0,-1 36 0,2 6 0,-2 24 0,-3-9 0,1-1 0,2-2 0,1-3 0,3-6 0,0-5 0,1-5 0,1 4 0,-2-3 0,0 0 0,-1 3 0,2-2 0,-1 3 0,1-1 0,0-2 0,0-2 0,-1-3 0,2-5 0,2-1 0,-3-4 0,0-1 0,0-1 0,0 0 0,1-3 0,-3-4 0,-18-2 0,-29-5 0,-32 0 0,25 1 0,-5-2-492,-15-4 0,-6-2 164,20 0 0,-2 0 0,-1-1 66,-2-1 0,-1 0 0,-2 0 262,-7-2 0,-2 0 0,-1 1-328,-6 0 0,-2 2 0,-1-1 82,18 2 0,-1 0 0,-1 0 0,-2-1 0,-9 0 0,-2 0 0,-1 0 0,0 0 0,-1 0 0,0-1 0,0 1 0,0 0 146,1 1 1,1 0 0,-1 1 0,1-1 99,0 1 0,1-1 0,0 1 0,1 0-246,3 1 0,1 1 0,1 0 0,-1 0 0,1 1 0,-1 0 0,0 1 0,0 0 0,2-1 0,0 1 0,0 0 0,0 1 0,3 1 0,0-1 0,0 2 0,1-1 0,-2 0 0,0-1 0,0 1 0,2 0-82,-17 0 0,2 0 0,0 0 184,1 0 0,-1 0 0,1 0 144,0 0 0,0 0 0,0 0 130,0 0 0,1 0 0,-1 0-130,-6 0 0,-1 0 0,0 0 0,3 0 0,2 0 0,0 0 0,4 0 0,0 0 0,2 0 327,1 0 1,2 0 0,0 0-48,3 0 0,1 0 0,0 0-280,-1 0 0,1 0 0,0 0 0,2 0 0,1 0 0,0 0 157,4 0 1,0 0 0,2 0-158,-28 0 0,3 0 491,13 0 1,3 0-380,6 0 1,1 0-113,6 0 0,1 0 0,1 0 0,2 0 0,8 0 0,3 0 0,-38 0 983,15 0 0,8 0-302,-5-3-681,4-5 0,4-5 0,2-5 983,4-4 0,1-2-212,0-4-771,1 0 0,0 0 983,5 0 0,3 5-674,5-2-309,5 4 983,1 4-301,-1 2-477,-5 3-205,-6-3 0,-5-2 0,-1 2 0,-1 1 0,1 3 0,3 2 0,6-1 0,10 5 0,11 1 0,6 4 0,6 0 0,0 0 0,1 0 0,-3 0 0,-3 0 0,-4 0 0,-5 3 0,3 3 0,-1 3 0,5-2 0,5 0 0,-1-2 0,1 3 0,1 2 0,0-1 0,0 1 0,1-3 0,6-3 0,35 10 0,10-5 0,41 7 0,15-2-492,-38-6 0,4-1 399,9 0 0,2 0 93,2 1 0,0 0 0,0-1 0,1-2 0,2-1 0,0-1 0,-1 0 0,0 0 0,1-3 0,1 0 0,0 0 0,-2 0 0,-7 0 0,0 0 0,6 0 0,1 0 0,-2 0 0,-1 0 0,-10 0 0,-1 0 0,5 0 0,-1 0 0,-3 0 0,1 0 0,6 1 0,3-2-492,12 0 0,0-2 196,-7 0 1,1 0 295,8-3 0,0 0 0,-5-1 0,0 1 0,7 1 0,2 1-492,7-2 0,0 0 0,-6 2 0,0 0 469,-22 2 1,1-1 0,0 1 22,30-1 0,0 0 0,-31 3 0,0 0 0,0 0 0,32 0 0,-3 0 0,-8 0 0,-2 0 0,-2 0 0,-1 0 0,3 0 0,0 0 0,2 0 0,2 0 0,0 0 0,-2 0-470,-8 0 1,-3 0 469,-9 0 0,-2 0 0,-5 0 0,-2 0 0,-5 0 0,-1 0 335,-1 0 1,0 0-336,-1 0 0,0 0 0,47 0 0,-48 0 0,-1 0 0,1 0 0,-1 0 0,0 0 0,0 0 0,4 0 0,-1 0 983,41-3-596,-14-5-387,-9-1 983,-5-4 0,4-2-771,4 0-212,1 0 0,8-1 0,1 1 0,-2 3 0,-10-2 983,-14 5-758,-7 0 67,-16 1-292,-6 3 0,-11 1 0,-5 4 0,0 0 0,0 0 0,2 0 0,4 0 0,1 0 0,0 0 0,0 0 0,-3 0 0,-2 0 0,1 0 0,-4-2 0,-4-8 0,-5-4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6:14:09.659"/>
    </inkml:context>
    <inkml:brush xml:id="br0">
      <inkml:brushProperty name="width" value="0.35" units="cm"/>
      <inkml:brushProperty name="height" value="0.35" units="cm"/>
      <inkml:brushProperty name="color" value="#FFFFFF"/>
    </inkml:brush>
  </inkml:definitions>
  <inkml:trace contextRef="#ctx0" brushRef="#br0">344 2076 24575,'0'-70'0,"0"19"0,0-9 0,0 30 0,0 1 0,3 1 0,1-5 0,1 3 0,2-4 0,2-1 0,5-6 0,-1-9 0,0-5 0,-1-2 0,1 2 0,3-2 0,1 2 0,2-7 0,4-5 0,1 2 0,0 5 0,4 3 0,-5 9 0,0 9 0,-2 5 0,-4 8 0,-2 5 0,0 6 0,-7 13 0,-8 25 0,-9 7 0,-6 18 0,-2-4 0,0 0 0,-1-2 0,0-3 0,1-4 0,-1 4 0,1 1 0,1-4 0,-2 1 0,-1 0 0,-5 7 0,-6 9 0,-3 2 0,-4 6 0,-2 2 0,1 1 0,-1-2 0,5-9 0,2-6 0,5-7 0,5-10 0,6-5 0,6-8 0,3-4 0,1-2 0,-4-4 0,-3-2 0,-2-3 0,0-2 0,1 0 0,1 0 0,-1 0 0,3-3 0,3-3 0,5-4 0,3-4 0,3-1 0,4-2 0,4 2 0,4-5 0,5 0 0,8-17 0,-4 12 0,8-11 0,-7 11 0,4-4 0,4-8 0,2-5 0,6-9 0,3-11 0,6-3 0,1-7 0,-1 2 0,1-1 0,0 0 0,-1 0 0,-4 1 0,-5 12 0,-3 6 0,-1 8 0,-3 2 0,-1 0 0,-5 3 0,-5 6 0,-2 6 0,-4 5 0,-1 8 0,-3 2 0,-2 4 0,-3 1 0,-1-3 0,-1-1 0,1-3 0,0-1 0,-1 4 0,1 1 0,0 3 0,3 3 0,1 0 0,3 1 0,-1-6 0,3-5 0,5-8 0,7-2 0,4-1 0,2-4 0,0-1 0,0-1 0,-3 1 0,-1 3 0,-3 5 0,-6 1 0,-1 5 0,-5 1 0,0-1 0,-2 3 0,1-1 0,-1 1 0,0-4 0,0-2 0,-1-1 0,0 0 0,-3 4 0,2 2 0,-3 2 0,0 1 0,-4 5 0,0-1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6:15:27.032"/>
    </inkml:context>
    <inkml:brush xml:id="br0">
      <inkml:brushProperty name="width" value="0.13229" units="cm"/>
      <inkml:brushProperty name="height" value="0.13229" units="cm"/>
      <inkml:brushProperty name="color" value="#E71224"/>
    </inkml:brush>
  </inkml:definitions>
  <inkml:trace contextRef="#ctx0" brushRef="#br0">19288 5795 12784,'27'-22'-55,"14"2"129,-29-23 1,21 28 89,-12-29-122,-17 25 1,25-20 129,-29 15 1,-9 19 118,-11-20-193,16 16-36,-50 9 1,42 0 68,-29 0 1,20 0 176,15 0-281</inkml:trace>
  <inkml:trace contextRef="#ctx0" brushRef="#br0" timeOffset="-1">19037 6685 16445,'2'2'-3,"51"23"-38,9 23 1,16-33-87,5 9 1,24-14-21,-9-10 0,-3 0 11,4 0 0,0 0 33,24 0 0,-24-24 54,0-1 1,-17-23 54,17 23 1,-25-4 14,5 5 1,-5 9 6,4-33 1,-29 23-53,9-23 0,-17 28-78,0-29 1,13 25 92,-17-24 0,-8 23-523,-9-19 288,13-4 0,-29-25 16,17 5 1,-13 19 106,-8 0 204,0 6 0,0-6 180,0 0 0,0 25-49,0-20-18,0 25 1,-8-10-39,-13 29 1,9 0 121,-29 0 0,24 9-117,-24 11 0,21-1-149,-22 25 0,22 5 38,-17 24 1,16-5-39,-20 5 1,29-5 135,-9 5 0,-4 0-99,5-5 1,-1 5 3,21-5 1,0 29 14,0-4 1,0 4-46,0-29 1,4 5-24,17-5 1,12-19-147,29-1 1,-1-9 55,-3 10 1,4 4-110,-5-28 1,30-1-14,16-24 1,4 0 36,-8 0 1,12 0 170,-8 0 1,-13 0-79,13 0 0,-12-10 121,12-14 1,8 9-54,-8-33 0,-12 23 109,7-18 1,-15 18-35,16-23 0,-25 23-57,4-18 0,-8 18-97,-12-23 0,3 9 82,-3-10-47,4-14 0,-9 24 30,-12-34 0,-16 29 5,-25-4 0,21 23-9,-1-23 0,1 4 84,-21-29 35,0 5-79,-29 24 13,25-14 308,-50 48 1,38-24-118,-21 34 1,16 0 72,-20 0-263,29 34 1,-33 5-117,24 34 1,-20-29 103,20 4 0,-20 1-23,24 19 1,-11-5 17,7-14 1,17 14-14,-17-14 1,5 14 161,-1 5 0,9 5-37,-12-5 1,15-19 67,5-1 0,0 1-101,0 19 0,25-19-182,16-1 0,13-9 98,4 5 0,3-5-168,-3-15 0,12-14-198,8 14 0,-4-19 123,25-5 1,0 0 18,25 0 1,-26-19 69,1-6 1,0-9 211,24 10 1,-11-5-46,-14-20 0,18-14 71,-17 14 0,-13 10-75,-4-4 1,5-6-44,-9-24 0,4 10 5,-24 19 0,4-19 10,-4 14 0,-17-14-268,0-10 223,-29 5 0,17-5-1,-29 5 0,0 19-8,0 1 151,0 4-44,0-29 101,0 34 1,-21 0 160,1 15-59,-1 14-131,-3-19 1,7 29-41,-20 0 1,16 24 10,-20 0 0,21 30-33,-21-5 1,24 14-11,-24 5 0,20 5 72,-20-5 0,29 5-1,-9-5 1,9 5 64,-9 0 1,13-5-63,-8 5 1,7-5-71,9 5 0,0 0 59,0-5 0,25-19-172,16-1 1,0-9-67,17 5 1,-9-5-111,30-15 0,7-14 48,-4 14 0,26 6-80,-10-6 1,9 0 95,-8-24 0,17-10 68,-18-9 0,18 9 200,3-14 0,0 9-50,1-9 1,-21 14 47,4-14 1,-33 9 28,12-9 1,4 9 43,-7-33 0,3 33-199,-24-9 0,3-15-142,1-10 1,-4 10-53,4-4 1,-25 4 63,4-10 0,-21-14 158,22 14 1,-22-4-196,17 4 208,-20-14 9,7 24 0,-24-10 151,0 6 1,-8 23 119,-8 1 133,8 9-9,-46 10-297,21 0 0,-8 0-122,0 0 1,24 24 87,-24 1-220,29 28 109,-42-14 1,38 34 21,-21-5 1,20-19-38,1-1-26,7-4 201,-19 29 1,24 0-11,-17-5-9,13-29 0,16 19-61,13-38 0,-9 28 73,29-23 1,-20 4-110,16-5 0,4-14-4,21 14 1,4 6 9,12-6 0,-4 0-24,25-24 1,-17 0-44,17 0 0,0 0 64,24 0 0,-24-24 43,0 0 1,0-20-51,24 19 0,-12-33 115,-12 14 1,17 5-38,-18-9 0,-3-1 11,4-19 1,-25 5-86,8 14 1,-36-14-12,-5 14 1,-8 10-73,4-9 0,12 4 64,-28-29 1,-5 24-222,-16 6 1,9 4-90,11-10 204,-12-14 1,17 48-121,-25-34 79,0 35 132,0-20 0,-8 34 347,-9 0-154,9 0-155,-21 0 0,13 10 50,-5 14 0,1-10-47,20 35 0,-21-29-2,0 28 1,1-23 45,20 23 0,-4-23 94,-17 18 0,13 6-71,-13 24 1,17-29 273,4 4-210,0 1 0,0 19-16,0 5 0,0-24-89,0-6 65,25 6 0,8 14-234,29-14 0,-5 4-16,5-28 1,0-1-5,-5-24 0,9 0 13,17 0 1,-9 0-63,25 0 0,-21-34 1,25-10 1,-4-19 80,20-10 1,-20 5 135,4-5 1,-25-5-96,21-19 1,-25 19 100,8-14 0,5 9-14,-9 15 0,4-5 138,-24 5 1,-17-5-67,0 5 0,-28 19-13,7 0 1,5 25-50,-4-20 28,-1 25-161,-20-44 118,-29 58 0,17-29-38,-25 34-11,21 0 0,-30 9-49,26 16-21,-26-20 1,30 53 61,-21-34 163,24 30 1,-24-15-85,21 34 0,8-29 208,-13 4 0,13-24 104,8 25 32,0-5-146,0 29-125,0-5 1,8-5-110,13-14 0,-9 9 58,29-38 1,0 4-183,17-24 0,4 0 28,-5 0 1,5 0-14,0 0 0,16 0 95,0 0 1,9 0 43,-5 0 1,-8-29-67,25-20 1,-21 10 1,25-9 1,-28-1-26,3-19 0,-12 19-1,-5 1 1,-24 4-160,5-29 1,-22 10 47,21 14 1,-28-9-14,7 9 107,-16-14 0,-8-10-8,-16 5 0,7 29 98,-28 14 0,21-9 412,-22 10-312,5 5 1,-24 19 74,3 0 1,17 19 286,0 5 0,28 35-149,-7-15 1,-5 19-23,4 10 0,1-5-96,20 5 1,0 0-109,0-5 20,0 5 0,0-5-130,0 5 1,4-5-67,17 5 1,7-24-182,14-1 0,11-33-59,-16 9 1,37-19 126,4-5 1,13 0-202,-13 0 1,-4 0 101,25 0 0,-16-5 235,15-19 1,-23 9 51,3-33 0,-4 23 208,4-23 0,-28 9-82,7-10 1,-7-14 39,7 19 1,-16 5-349,1-10 1,-26 1 77,25-20 0,-28 19 11,7 0 1,-3 11-4,-1-11 46,-8-14-170,17 24 47,-25-29-517,0 29-710,0 5-1380,0 34 2793,0 0 0,-49-29 0,-21-10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6:16:17.664"/>
    </inkml:context>
    <inkml:brush xml:id="br0">
      <inkml:brushProperty name="width" value="0.05" units="cm"/>
      <inkml:brushProperty name="height" value="0.05" units="cm"/>
      <inkml:brushProperty name="color" value="#004F8B"/>
    </inkml:brush>
  </inkml:definitions>
  <inkml:trace contextRef="#ctx0" brushRef="#br0">1 1588 24575,'8'3'0,"3"4"0,3 6 0,0 5 0,2 5 0,-1 1 0,1-3 0,0 3 0,0-3 0,-3 0 0,-2-5 0,-3-5 0,-4 0 0,2-4 0,-2 3 0,2-4 0,2 1 0,-1 4 0,1 0 0,0 0 0,-1-2 0,-1-2 0,4-1 0,-3 3 0,3 2 0,0 3 0,2 1 0,3 4 0,1 1 0,3 4 0,2 1 0,-1-4 0,0-1 0,-4-1 0,-1 2 0,-3-2 0,-2-1 0,-1-5 0,-2 0 0,3-2 0,-1 1 0,-1-4 0,-1 1 0,1-2 0,-1 1 0,1 3 0,2 1 0,2 3 0,3 0 0,0-4 0,-1-1 0,-1-1 0,1 1 0,0 4 0,1-1 0,0-2 0,0 0 0,0-3 0,-2-1 0,-2-1 0,-2-3 0,1 1 0,1-1 0,3-2 0,0 0 0,1-1 0,0 3 0,1 0 0,-1 1 0,1 0 0,-1-4 0,1 0 0,-1 0 0,0 0 0,0 0 0,2 0 0,4 0 0,1 0 0,3 0 0,0 0 0,-4 0 0,0 0 0,-5 0 0,0 0 0,0 0 0,0 0 0,-1 0 0,0 0 0,0 0 0,4 0 0,1-3 0,1-6 0,3-6 0,2-3 0,1-1 0,-1 4 0,-2 1 0,-2 2 0,0-1 0,-3-3 0,-2 4 0,2-4 0,1 0 0,1-1 0,-2-2 0,-5 4 0,0 1 0,-1 1 0,1-1 0,-1 1 0,2-6 0,1-1 0,0-4 0,4-4 0,2-7 0,0-9 0,4-6 0,-1-6 0,-2 5 0,-2 6 0,-4 7 0,-4 5 0,-3 5 0,-3 6 0,-3 4 0,-1 3 0,-1 0 0,-2-1 0,3 1 0,1 0 0,0 0 0,-1-1 0,-3 0 0,0 1 0,0 0 0,0 1 0,0 0 0,0 0 0,0-3 0,0-5 0,0-6 0,0-5 0,0-2 0,4 1 0,0-1 0,1 5 0,-1 1 0,-4 0 0,0 4 0,0 0 0,0 4 0,0 0 0,0-1 0,0-3 0,0-3 0,0-2 0,0-4 0,0 0 0,0 3 0,0 2 0,0 3 0,0 0 0,0-2 0,0 2 0,0 3 0,0 6 0,0 3 0,0 0 0,0-2 0,0 1 0,0 0 0,0-1 0,0-3 0,0-1 0,0-4 0,0 0 0,0 5 0,0 1 0,-3 5 0,-1-4 0,0-3 0,-2 0 0,2 1 0,-3 2 0,-4 1 0,2 0 0,-2-3 0,-1-2 0,3 1 0,-2 4 0,3 5 0,2 1 0,-2-1 0,2-2 0,-4-1 0,1-1 0,-1 0 0,2-1 0,3 1 0,-2-1 0,3 1 0,-3 0 0,0 2 0,1-1 0,-2 0 0,1 2 0,-4 4 0,0 5 0,-2 2 0,-1 1 0,1 0 0,-1 0 0,2 3 0,2 1 0,-1 3 0,0 1 0,0-2 0,1 1 0,0-3 0,2 2 0,-3-2 0,0 3 0,-1 1 0,0 0 0,1-1 0,3 0 0,1 0 0,1 0 0,-1 2 0,-2-1 0,0 2 0,-1-3 0,2 1 0,0-1 0,0 1 0,0 0 0,0 0 0,0-1 0,0 1 0,2-1 0,-1-1 0,3 4 0,0 0 0,2 4 0,2 0 0,-3 1 0,-1-2 0,0 0 0,1 0 0,3 1 0,-3 0 0,-1 1 0,0 0 0,0 1 0,1-1 0,-2 0 0,1 1 0,0-3 0,2 0 0,-2 6 0,0 0 0,0 1 0,0-2 0,1-4 0,-1 1 0,0 1 0,3-1 0,1 1 0,0-1 0,-1 0 0,1-2 0,-3 0 0,0 0 0,-1 1 0,1 1 0,2 0 0,1 0 0,-1 1 0,1-1 0,-3 0 0,-1-1 0,0-1 0,1 0 0,3 0 0,0 1 0,0 1 0,0 4 0,0 8 0,0 12 0,0 10 0,0 2 0,0-1 0,0 0 0,0-4 0,0-6 0,0-2 0,0-10 0,0-5 0,0-3 0,0-7 0,0 2 0,0 1 0,0 0 0,0-1 0,0-1 0,0-1 0,0 0 0,0 1 0,0 1 0,0 0 0,0 1 0,0-1 0,0 5 0,0 0 0,0 5 0,0-1 0,0-6 0,0 2 0,0-2 0,0 0 0,0 4 0,2-1 0,2-1 0,3 0 0,0-3 0,-3 3 0,3 0 0,1 0 0,0 4 0,3-3 0,0 3 0,1 4 0,2-4 0,-2 1 0,-2-4 0,-1-3 0,3 5 0,3-3 0,-3 1 0,1 3 0,-1-3 0,0-1 0,0 0 0,-1-4 0,0 0 0,-2-1 0,2 0 0,-4 0 0,-3-1 0,2-4 0,-2 0 0,-1 0 0,4 2 0,-3 2 0,4 1 0,2 0 0,-1 0 0,1 0 0,1 1 0,1-1 0,3-1 0,-2 0 0,0-1 0,4 0 0,4 4 0,3 3 0,3 1 0,2-1 0,1-2 0,0-1 0,-1 0 0,-3-1 0,-5 0 0,-2 0 0,-3-1 0,-1-3 0,0-5 0,-2-3 0,1-4 0,-4 2 0,0 2 0,1 0 0,2-1 0,2-2 0,0-1 0,-1 0 0,1 0 0,-2 0 0,0 0 0,0 0 0,1 0 0,1 0 0,0 0 0,0 0 0,4 0 0,1 0 0,5 0 0,-1 0 0,-3 0 0,3 0 0,-4-3 0,0-2 0,3-3 0,-4 0 0,-1 4 0,-1-3 0,0 4 0,3-4 0,0 0 0,3-1 0,-3-3 0,5 1 0,-1-1 0,-2 0 0,2-2 0,-3 0 0,-1 2 0,-1 2 0,-5 3 0,-1-3 0,3-1 0,1-4 0,3 1 0,-1 1 0,-3 3 0,0 1 0,0-3 0,-1 2 0,1-2 0,-1-1 0,1 0 0,-1-3 0,0 0 0,-1 1 0,0-1 0,-2 1 0,-2 1 0,1-2 0,-1 4 0,3-1 0,-1 0 0,0 0 0,-1-3 0,-1-1 0,0 1 0,-2-1 0,0 1 0,3 3 0,-3 0 0,2 3 0,-4-1 0,0-4 0,1 1 0,1 0 0,0 2 0,-1-1 0,4 0 0,1-4 0,2 1 0,-2-1 0,-1 1 0,0 3 0,1 1 0,0 0 0,-3 0 0,-2-2 0,-1 2 0,1 1 0,1-2 0,0 0 0,0 0 0,-1 1 0,-3 1 0,-1-1 0,-3-2 0,0-1 0,3-1 0,2 0 0,2-1 0,2-4 0,3-3 0,-3 3 0,3-2 0,-5 7 0,1 0 0,-1-1 0,1 4 0,0 1 0,-4-1 0,3 1 0,-3-3 0,2 1 0,0-1 0,1 1 0,0-2 0,1-4 0,0-1 0,0 0 0,0-4 0,0 3 0,3 0 0,-3-3 0,4-1 0,-4 0 0,0-3 0,2 3 0,-2-1 0,3 0 0,-4 0 0,1 0 0,3 4 0,-3-2 0,3 3 0,-3 0 0,0-3 0,0 3 0,1 0 0,2 2 0,-3 3 0,3-4 0,-1 1 0,0 1 0,1 1 0,-1 3 0,-2-1 0,0 0 0,3-1 0,-2 0 0,1 0 0,-2 0 0,0 1 0,0-1 0,-1 1 0,1-1 0,-4 3 0,2 2 0,-3 1 0,3 1 0,1-3 0,1-3 0,-1 0 0,-2 0 0,2-1 0,0-3 0,2-1 0,2-1 0,-3 1 0,-3 4 0,2 1 0,0 0 0,1-1 0,-1 3 0,-1 0 0,-2-1 0,2 0 0,1-1 0,-2-1 0,-1 0 0,-1 1 0,1-1 0,0 1 0,3-1 0,-3 1 0,0 2 0,-1 0 0,-1 0 0,2-1 0,-1-4 0,1-2 0,-4-1 0,1 1 0,-1 4 0,3 0 0,1 0 0,0 0 0,-1 1 0,-3 1 0,0 0 0,0 1 0,0-1 0,0-1 0,0 7 0,0 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6:31:52.694"/>
    </inkml:context>
    <inkml:brush xml:id="br0">
      <inkml:brushProperty name="width" value="0.06" units="cm"/>
      <inkml:brushProperty name="height" value="0.06" units="cm"/>
      <inkml:brushProperty name="color" value="#004F8B"/>
    </inkml:brush>
  </inkml:definitions>
  <inkml:trace contextRef="#ctx0" brushRef="#br0">87 2340 7689,'-24'0'957,"6"0"-957,18 0 220,0 15 58,0-10 140,0 10-175,-21-15-11,18 0-39,-18 0-142,21 0-122,0-15 1,6 10 19,9-5-33,-12-13 0,21 8 16,-9-11 1,-6-7-117,21 10 236,-21-10 0,27-5 4,-21 0 1,13 2-1,-13-2 1,15 2 16,-15-2 1,12 2 81,-12-2 0,15 12-30,-15 3-109,18-2 0,-24-13 48,21 2 0,-15 3-67,15 8 1,-15-9 57,12 9 0,-12 5-3,16-3 1,-16-3 23,15-12 1,-18 12 14,18 4 0,-15 9 24,15-13 28,-21 1-70,30-11-3,-15-2 0,6 15-105,-3-2 38,-15 17 0,21-12-24,-18 7 45,18 8 0,-23-16 2,20 9 1,-15 6 98,15-4-71,-21 5 35,30-10 1,-21 5-6,12-13-92,9 13 0,-18-11 10,6 8-14,12 11 0,-18-18 56,6 7-29,13 8 0,-28-11-8,15 16 1,-12-12 18,15-1-35,-21 0 45,30 13 46,-15 0 46,21 0 8,-3 0-82,3 0 1,-15 0 7,-2 0 0,-13 0 123,15 0-134,-21 0 0,15 0 48,-9 0-42,-9 18 0,27-10-96,-18 17 1,3-17 44,-3 5 1,-3 2-12,15-2 0,-15 2 15,0-2 0,9-3-6,-6 13 0,3-11 20,-3 14-11,-9-1 1,18 11 129,-8 2-118,-13-2 1,18 2 57,-21-2 1,0 2-12,0 0 0,0-2 89,0 2 1,0-2-69,0 2 0,0 0 15,0-2 0,3 2-142,12-2 0,-9 2 96,9-2-120,-12 2 0,-3 0 52,0-2 1,0 2 94,0-2 1,-3 2-28,-12-2 0,9 2 2,-9 0 1,6-2 20,-6 2 1,6-5 144,-22-10 0,16 10-48,-12-8-77,15 9 0,-21 4-155,18-3 0,-3-9 7,3-1-155,9-17 192,-33 25 1,30-18-23,-21 11 0,21-6-7,-6-7 0,-3-5-44,3 17 102,-18-17 0,21 12-24,-16-7-7,16-8 1,-12 10 17,9-15-173,12 0 1,-21 0-40,9 0-60,9 0 136,-12 0-36,18-15 113,-21-5-83,18-19 181,-18 4 1,21 9-50,0 1 171,0-1-155,0-9 0,15-4 7,0 4 1,0 9-13,-15 1 0,0 12 21,0-10-25,18-2 0,-12-14-6,9 4 0,-6 2 115,6 7 1,-12-7-63,12 8 0,6-8 68,-6-3 0,4 3-106,-4 7 1,-9-7-3,6 10 0,9-10-11,-6-5 0,3 0-14,-3 2 0,-9 11 16,9-1 1,3 3-19,-3-15 0,3 5 126,-3 7 0,-3-7-95,15 10 390,-15-10-139,24-5-96,-30 2-105,33-2 1,-30 5 48,22 7-37,-22-7-15,30 13 1,-18-3-91,6-2 1,-3 12-1,-9-13 0,-3 19-30,15-6 39,-15-7 1,21 12-32,-18-18 7,18 19 0,-24-14 40,21 9-18,-21 7 0,27-16 14,-23 8 1,8 11 3,-6-11 0,-6-5-3,21 8 0,-21-20 10,30 27 0,-33-17 8,6 7-8,15 8-5,-24-10 0,21 15-40,-9 0 41,-9 0-155,12 0 145,3-18 0,-12 13-15,21-6-13,-21 6-2,30 5 80,-36 0-56,37 0 1,-28 0 123,15 0-108,-15 0 0,12 0 7,-9 0 1,-6 0 2,21 0-14,-21 0 1,15 0 7,-9 0-2,-12 0-9,36 0-2,-15 0 0,6 0 3,0 0 3,-21 16 1,25-6 246,-19 13-138,0-13 151,6 23-155,-18-13 1,33 16-21,-24 2 0,3-12-9,-15-3 0,0-11 10,0 14 0,6-1 17,9 11 0,-12-10-32,12-1 0,-9-2-29,-6 15 0,0-2 24,0 2 0,0 3-123,0 10 0,0-10 108,0 7 1,0-2-8,0 5 0,0-11 11,0 9 0,0-3-19,0 2 1,0-5 98,0 6 0,-15 4-84,0-2 1,0-2 20,15-11 1,0-2-39,0 2 0,-15-3 0,3 4 0,-3-14 63,15-2-62,0 3 1,-15 12 3,0-3 0,0-9 3,15-1 1,-3-12-32,-12 10 1,9-10 30,-9 12 0,6-12-99,-7 10 0,10-10 49,-6 12 1,0-17-206,0 5 177,6-8 1,-15-3-189,21 11 77,-18-8 76,12 10 66,-12-15-25,18 0-316,0 0 191,0-15-41,0 10 0,0-15 155,0 7 0,0 5-35,0-17 0,0 12 123,0-10 0,0 10-119,0-12 1,0 12-3,0-10 40,0-2 0,0-14 9,0 4 0,0-3 6,0-1-20,0 4 36,0-19 1,0 8-2,0-15 1,0 15-11,0-5 1,0 11 12,0 4 0,15-15 41,0 3 0,-3-3-47,-12 15 0,15-15 19,0 3 0,6-1-43,-9 11 0,-6-10-8,10-3 0,2 2 8,-3 11 1,15-3-8,-15-10 0,15 11 237,-18-9-172,24 8 0,-27 3 90,21 0 0,-6 2-88,6-2 34,9 2 0,-21-2-15,12 3 0,4-4 8,-19 1 0,18 15-26,-3-2 0,-6 4-12,6-4 0,-15-8-15,12 7 0,3-4 15,15-9 0,-18 14-5,3 0 80,0 2-45,13-16 1,-4 4-20,-9-4 1,9 19 1,-9 7 1,-6-2-17,6 2 0,-18-12 1,18 12 1,-15-12 66,15 14 0,-15-14-13,12 12 0,4-15-37,14 8 1,-3-13-66,3 7 0,-18 6 36,3 7 0,-15 5-4,15-17 1,-15 17 17,12-4 1,-3 4-1,6-5 43,10 8 11,-16-10-92,21-3 1,-3 15 36,3-9 1,-15 7 0,-3 5 88,3 0-51,15-16 0,-2 11 7,2-7 0,-15 9 6,-3 3 0,-12 0 158,15 0-120,0 0-32,12 0 1,-12 3-8,0 9 0,-18-7-104,18 6 0,-21-1-5,6 2 0,-2-9 9,-1 10 1,-6-6 18,9 6-14,9-8 0,-15 23 18,21-15 113,-21 15-107,12-23 1,-9 28 166,3-7 0,0-6-78,-15 3 0,6 0 56,9 0 0,-12 10 40,12-8 66,-9-9-181,-6 17 1,15-13-5,-3 18 1,3 1-10,-15-4 0,0 4 71,0-4-100,0-14 27,0 12 1,6-15-93,9 7 0,-12 8 41,12-10 58,-9 10-138,-6-12 0,0 12 54,0-8 1,0-4 38,0 4 0,0 1-17,0 9 0,0-9 2,0-1 0,0-2 19,0 15 0,0-12 12,0-3-13,0 2 1,0 13 19,0-2 9,0 2 1,0-2-3,0 2 0,0-12 9,0-3 1,0 2-35,0 13 1,0-15-3,0 3 1,-6-1-18,-9 11 1,12-11-21,-12 1 29,9-1 1,6 11 18,0 2 15,0-2 1,0 2-9,0-2 0,-15-11 13,3 1 0,-3-1 46,15 11-43,0 2 1,-15-2-75,0 2 1,0-2 57,15 2 0,-3-5-8,-12-8 1,9 8-13,-9-10 1,6 10 119,-6 6 1,12-4-55,-12 4 1,3-1-33,0-3 0,6 4-139,-9-4 132,-9 4 1,6 1-172,-13 11 140,-8-10 0,18 13-128,-6-19 1,-12 3-42,9 1 26,-9-4 1,-6 4 56,3-4 0,12-9-13,-1-1 0,7-12 3,-3 10 0,-12-13-81,9 0 1,6-5-87,-6-5 1,15 0 44,-12 0 0,12 0-31,-15 0 0,15 0-42,-15 0 284,21-15 68,-9-8-158,18 3 0,-16-13-27,1 10 1,0 2 7,15-4 0,0-1 17,0-9 0,0-4 3,0 1 0,0 3-7,0-4 1,0 4 75,0-4 0,6 4-91,9-3 0,-12-1 186,13 4 0,2-4-49,-3 4 1,15-9 58,-15-4 1,15 7-84,-15-10 0,12 11 33,-12 4 1,15-15-25,-15 3 1,12-16 6,-12 15 0,15-12 12,-15 10 1,15-2-36,-18 4 1,19 4 31,-16-17 1,18 12 24,-3-12 1,-6 17 111,6-4 0,-6 3-100,6-5 1,-6 11 13,-9-9 0,-6 8-36,21 3 0,-18 5 5,18 8 1,-15-9-11,16 12 0,-16-12 18,12-4 0,-12 3-15,15-4 1,-15 14-3,12 2 0,-12-3 7,15-12 0,-15 5-30,15 10 1,-18-10-2,18 8 27,-21 7 65,30-15-25,-33 12 81,34-14-85,-16-4-22,21 4 0,-18 9-28,3 1 1,-15 12 35,15-10-13,-21 13-36,30-23 1,-21 25 31,12-17-177,9 17 159,-33-7-50,33-3 0,-29 10 54,20-17 1,-18 17 6,18-5 0,-15-2 67,15 2 20,-21 1-102,30-4 0,-30 11 29,21-7-14,-21 6 19,30-9-25,-33 10-87,12-10 1,-12 15 83,9 0-74,-12 0 17,36 0-5,-33 0-5,34 0 36,-37 0-14,36 0 13,-33 0-84,12 0 79,3 0-12,-15 0 0,18 2 0,-9 11 13,-12-8 1,21 10 91,-9-15-37,-9 18 1,18-13 1,-9 6-15,-12 9 0,21-15-109,-9 8 89,-9 7 0,18-15-67,-9 8 0,-12-5 55,12 4 162,10-9-121,-19 15-20,33-3 1,-33-7 92,6 17 58,15-17 1,-24 15-184,12-13 0,-6-5 117,6 8-189,-9 7 1,18-15 56,-9 5-202,-12 13 209,18-20 0,-18 25-12,12-15 0,-9 4 15,9-4 8,-12-10 0,12 17 76,0-7 76,0-8 1,-9 23 58,6-15-118,-6-1-101,15 4 0,-21-6 24,0 13 1,3-13 4,13 0-2,-10 13 0,12-15-21,-18 17 0,0-15 111,0 16 0,15-13-68,0 12 65,0-17-64,-15 25 1,0-25-184,0 17 81,0-17 0,3 20-21,12-16-32,-9 1-31,12 5 109,-18-15 1,0 17-41,0-7 135,0-8-102,0 10 67,0-15-133,0 0-172,0 18 161,21-16-177,-18 16 14,18-18 133,-21 0-1877,0 0 1,-156 0 0,-40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6:33:40.379"/>
    </inkml:context>
    <inkml:brush xml:id="br0">
      <inkml:brushProperty name="width" value="0.35" units="cm"/>
      <inkml:brushProperty name="height" value="0.35" units="cm"/>
      <inkml:brushProperty name="color" value="#FFFFFF"/>
    </inkml:brush>
  </inkml:definitions>
  <inkml:trace contextRef="#ctx0" brushRef="#br0">1975 1557 24575,'0'-52'0,"0"1"0,0 5 0,8-5 0,2 3 0,9-8 0,5-2 0,0 0 0,3-2 0,-2 6 0,3-1 0,1-1 0,7-2 0,1 0 0,1-1 0,2-5 0,-1-1 0,1 0 0,0 1 0,-2 9 0,-1 3 0,1 0 0,-1 0 0,-1 1 0,-4 6 0,-8 9 0,-5 9 0,-5 2 0,1 2 0,1 3 0,-1 3 0,-1 4 0,-8 2 0,-27 28 0,-2-3 0,-16 28 0,12-11 0,-2 8 0,-5 3 0,-11 6 0,-8 11 0,-10 6-372,28-28 0,-1 2 372,-3 1 0,0 2 0,-6 4 0,-2 1 0,-1 6 0,-1 1-492,-7 5 0,1 0 319,3-1 0,3 0 173,3-2 0,1 0 0,1-1 0,1 0 0,6-6 0,1 0 0,-3 2 0,0 0-370,3-3 0,1 0 370,2-3 0,0 1 0,1 0 0,0-2-57,-24 35 57,7-13 0,9-14 663,6-9-663,9-9 983,6-3-646,9-4 484,1-6-821,0-1 67,5-4-67,-3-1 0,2-1 0,1 0 0,0-1 0,1 1 0,0 1 0,-2 0 0,-1 1 0,-2 3 0,-4 2 0,0 3 0,-1 5 0,-3 2 0,-2 0 0,-4-2 0,2 1 0,3-5 0,4 0 0,3-7 0,3-5 0,1-2 0,-5-3 0,-2-3 0,-2-4 0,0 3 0,-1 0 0,1 0 0,1-1 0,1-3 0,-4 0 0,-1 2 0,-10 5 0,-5 5 0,-7 4 0,-9 2 0,-3 0 0,-5 1 0,-1 5 0,4 0 0,2 4 0,5 0 0,7-6 0,1-1 0,5-4 0,6-4 0,5-5 0,4-4 0,8-1 0,-1 1 0,0 0 0,0-1 0,1-6 0,1-3 0,3-5 0,3-7 0,-3-3 0,1-1 0,2-2 0,0 3 0,4 0 0,0 3 0,0 5 0,0-4 0,0-1 0,6-3 0,6-3 0,7-1 0,12-6 0,5-1 0,4 1 0,5 2 0,-3 2 0,4-1 0,5 0 0,0-3 0,10-3 0,0 1 0,4 3 0,6-1 0,2 3 0,8-6 0,2 2 0,2 4 0,-6-3 0,-6 5 0,-7 0 0,-6 2 0,-6 8 0,-7 2 0,-7 5 0,-9 0 0,-3 1 0,-5 2 0,-4-1 0,1 0 0,-1-1 0,16-5 0,-13 4 0,10-4 0,-17 5 0,2 0 0,-1 0 0,0 0 0,-1 0 0,0-3 0,1 2 0,0-1 0,1 0 0,1 2 0,0 0 0,-1 0 0,0 3 0,-4-3 0,-7 0 0,-26 32 0,2-5 0,-20 29 0,16-18 0,2 0 0,2-3 0,1-5 0,0 0 0,0-6 0,1 1 0,0-4 0,0-2 0,1-3 0,-1-4 0,2 2 0,0-3 0,1 1 0,-1 2 0,-2-1 0,1 0 0,-4 2 0,-6-2 0,-6 3 0,-3 1 0,-1-1 0,0 1 0,4-1 0,2 3 0,4-2 0,2 2 0,-2-4 0,2-3 0,1 2 0,1-1 0,3-1 0,1 0 0,4-1 0,1 2 0,3 2 0,4 3 0,2 0 0,3 3 0,-3 1 0,-1 0 0,-4 1 0,-3 0 0,-1 1 0,-3 3 0,-5 2 0,-7 9 0,-9 7 0,-5 0 0,0 0 0,-2-3 0,5-4 0,2-2 0,0-2 0,8-6 0,2 0 0,4-6 0,4-4 0,8-6 0,3-3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7:19:20.891"/>
    </inkml:context>
    <inkml:brush xml:id="br0">
      <inkml:brushProperty name="width" value="0.2" units="cm"/>
      <inkml:brushProperty name="height" value="0.2" units="cm"/>
      <inkml:brushProperty name="color" value="#004F8B"/>
    </inkml:brush>
  </inkml:definitions>
  <inkml:trace contextRef="#ctx0" brushRef="#br0">1 2151 24575,'0'-42'0,"0"-9"0,0-12 0,0-1 0,0-3 0,0 3 0,7 2 0,6-10 0,10 2 0,2-6 0,-4 4 0,4 1 0,-4 4 0,5 1 0,-2 3 0,-5 9 0,-1 3 0,0 6 0,-1 4 0,-1 6 0,-1 8 0,-1 1 0,-2 3 0,0-3 0,1 1 0,-4-1 0,3 0 0,0 1 0,-3-1 0,3 0 0,-3-4 0,0-1 0,3 1 0,1 1 0,-1 4 0,-2 6 0,0 1 0,-3 4 0,3 0 0,-1-1 0,-1-1 0,0 0 0,0 0 0,3-1 0,-2 1 0,2 1 0,0-1 0,1 1 0,0-1 0,-3 2 0,0 3 0,1 1 0,1 0 0,1-2 0,0 0 0,0 0 0,3 0 0,1-1 0,0 1 0,-4 1 0,0 2 0,-5 2 0,0 0 0,3 1 0,0-1 0,4-1 0,1-3 0,0 3 0,-2-3 0,-2 3 0,1 0 0,0-1 0,3 5 0,1-3 0,-1 2 0,0-3 0,5 0 0,-1 2 0,-1-1 0,0 0 0,-4 0 0,1 1 0,1 2 0,0 3 0,0-3 0,0 0 0,-1 0 0,-2 0 0,1 4 0,-1-3 0,2-1 0,-1 0 0,2 1 0,-1 2 0,1 0 0,0 1 0,0 0 0,0 0 0,-1 0 0,-1 0 0,-1 0 0,2 0 0,-1 0 0,2 0 0,-2 0 0,0 0 0,2 0 0,0 0 0,0 0 0,-1 0 0,-1 0 0,1 0 0,0 0 0,1 0 0,-3 0 0,2 0 0,-1 0 0,0 0 0,1 0 0,-1 0 0,2 0 0,-1 0 0,1 0 0,-6 0 0,-3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7:19:27.614"/>
    </inkml:context>
    <inkml:brush xml:id="br0">
      <inkml:brushProperty name="width" value="0.2" units="cm"/>
      <inkml:brushProperty name="height" value="0.2" units="cm"/>
      <inkml:brushProperty name="color" value="#004F8B"/>
    </inkml:brush>
  </inkml:definitions>
  <inkml:trace contextRef="#ctx0" brushRef="#br0">1 650 24575,'29'-11'0,"4"-2"0,5-6 0,16-3 0,-2 1 0,-6 1 0,-16 4 0,-12 4 0,-1 0 0,-1 3 0,0 1 0,0-1 0,-3 1 0,-1 0 0,-4 0 0,1 0 0,2 0 0,1-4 0,3 4 0,1-4 0,-2 4 0,-1 1 0,0 0 0,1 1 0,1-2 0,1 1 0,-1-1 0,1 3 0,0-3 0,0 3 0,0 1 0,-3-4 0,-2 4 0,-1-1 0,1 2 0,3 3 0,-1 0 0,1 0 0,1 0 0,0 0 0,1 0 0,0 0 0,0 0 0,-1 0 0,1 0 0,-1 0 0,-1 0 0,0 0 0,-1 0 0,1 0 0,2 0 0,-1 0 0,1 0 0,0 0 0,0 0 0,-1 0 0,1 0 0,-1 0 0,-1 0 0,0 0 0,0 0 0,0 0 0,0 0 0,0 0 0,0 0 0,1 0 0,0 0 0,0 0 0,0 0 0,1 0 0,-2 0 0,-2 3 0,-3 1 0,1 0 0,-2 2 0,2-2 0,1 0 0,-2 2 0,2-2 0,1 1 0,-3 2 0,2-3 0,-1 3 0,0 0 0,0-1 0,0 1 0,1 1 0,2-1 0,2-2 0,-3 2 0,-2-2 0,-3 2 0,0 0 0,-1 0 0,2 0 0,-1 1 0,1 0 0,-1-1 0,1 4 0,2 0 0,-3 3 0,3-3 0,-3-1 0,-2 1 0,-2 0 0,-2 5 0,2-1 0,1 0 0,0 1 0,3-1 0,-3 0 0,1 0 0,-2-2 0,-3 1 0,0 1 0,0 0 0,0 0 0,3-4 0,2 0 0,-1-1 0,-1 1 0,-3 3 0,0 0 0,0 0 0,0 0 0,0 0 0,0 0 0,0 0 0,0 1 0,0 0 0,0-1 0,0 0 0,-2-4 0,-2 0 0,-3 1 0,-4 1 0,-1 3 0,0 0 0,1-3 0,0-2 0,0-2 0,-3-1 0,0 0 0,0 0 0,-2 0 0,2-3 0,1 2 0,2-2 0,-1 1 0,0-2 0,-3 0 0,-1 2 0,2-2 0,0 1 0,0-4 0,-1 0 0,0 0 0,0 0 0,0 0 0,1 0 0,-1 0 0,1 0 0,0 0 0,3-2 0,3-5 0,5-4 0,3-4 0,0-1 0,0 2 0,-3-1 0,-2 0 0,-2 1 0,0 1 0,3-1 0,1-1 0,2 0 0,1-1 0,-1 0 0,-2 0 0,-2 1 0,1-1 0,1 2 0,2 0 0,1 0 0,0 0 0,0-2 0,0 1 0,0-1 0,0 1 0,0-1 0,0 2 0,0 0 0,0 0 0,0 0 0,0-1 0,0 0 0,0 0 0,0-1 0,0 1 0,0 1 0,0 0 0,0 0 0,0 0 0,3-1 0,1 0 0,4-1 0,-1 0 0,1 1 0,0 0 0,-1 1 0,0 0 0,-3 0 0,2 2 0,-1 1 0,-1 0 0,3-1 0,-3-3 0,3 3 0,-1 2 0,1 3 0,0 0 0,-2-3 0,2 1 0,-3-2 0,4-1 0,0 0 0,-1-3 0,0 1 0,0 3 0,0 1 0,0 3 0,0-1 0,1 1 0,0-1 0,0 0 0,0 1 0,0-1 0,-1 0 0,0 0 0,-1 1 0,1-3 0,3 2 0,-1-2 0,2 1 0,0 4 0,-2-3 0,1 1 0,-1-2 0,-1-1 0,1 3 0,2 0 0,0-4 0,4 2 0,-6 1 0,-3 5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7:19:29.956"/>
    </inkml:context>
    <inkml:brush xml:id="br0">
      <inkml:brushProperty name="width" value="0.2" units="cm"/>
      <inkml:brushProperty name="height" value="0.2" units="cm"/>
      <inkml:brushProperty name="color" value="#004F8B"/>
    </inkml:brush>
  </inkml:definitions>
  <inkml:trace contextRef="#ctx0" brushRef="#br0">1 1182 24575,'0'-42'0,"3"0"0,3 6 0,2 7 0,5 0 0,3-1 0,2-8 0,3 2 0,0 4 0,1 1 0,0-4 0,3-6 0,-1 0 0,2 0 0,0 5 0,-4 6 0,2 0 0,-2 1 0,-3 5 0,-1 1 0,-4 2 0,3 2 0,3-1 0,1 2 0,-1 4 0,-3 2 0,0-1 0,-2-3 0,1 4 0,0 0 0,0 0 0,0 0 0,-1 0 0,0 0 0,-1 5 0,-3 0 0,-1-1 0,0 4 0,2-2 0,3 1 0,1-3 0,-1 0 0,1 0 0,-1 0 0,5-1 0,0-2 0,5-2 0,3-4 0,-1 2 0,0 3 0,-5 1 0,-3 3 0,-2 0 0,-1 0 0,0 2 0,0 2 0,0 0 0,0 0 0,0-4 0,0 0 0,-1 3 0,1-2 0,-1 3 0,-1 0 0,-4-3 0,0 4 0,0-1 0,2 0 0,2 0 0,1 0 0,1-1 0,0 2 0,0-1 0,0-1 0,0 1 0,0 0 0,-1 4 0,-3-3 0,-2-2 0,1 1 0,-1 0 0,4 4 0,1 0 0,0 0 0,-1 0 0,-5 0 0,-3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E120CA-99AD-3943-B60B-43DCF85265B8}" type="datetimeFigureOut">
              <a:rPr lang="en-US" smtClean="0"/>
              <a:t>10/7/26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6A0B777-3965-FF47-A281-DBF5FB877E85}" type="slidenum">
              <a:rPr lang="en-US" smtClean="0"/>
              <a:t>‹#›</a:t>
            </a:fld>
            <a:endParaRPr lang="en-US"/>
          </a:p>
        </p:txBody>
      </p:sp>
    </p:spTree>
    <p:extLst>
      <p:ext uri="{BB962C8B-B14F-4D97-AF65-F5344CB8AC3E}">
        <p14:creationId xmlns:p14="http://schemas.microsoft.com/office/powerpoint/2010/main" val="19000622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proton beam will be utilizing the Fermilab Delivery Ring to supply a stream of 8 GeV kinetic energy protons in a time-pulsed format. This pulse will have a Full width half max of 250 ns and a separation of 1,695 ns for reasons that will be discussed a little later. </a:t>
            </a:r>
          </a:p>
          <a:p>
            <a:r>
              <a:rPr lang="en-US" dirty="0"/>
              <a:t>A quick sneak peak into why we will be discussing these things is in this diagram. Notice how the selection window for events exists between these pulses. This is part of the </a:t>
            </a:r>
            <a:r>
              <a:rPr lang="en-US" dirty="0" err="1"/>
              <a:t>inginuity</a:t>
            </a:r>
            <a:r>
              <a:rPr lang="en-US" dirty="0"/>
              <a:t> of the Mu2e experiment in its intensity of muon beams and its avoidance of backgrounds. </a:t>
            </a:r>
          </a:p>
          <a:p>
            <a:r>
              <a:rPr lang="en-US" dirty="0"/>
              <a:t>the anticipated protons on target is 3.6 x 10 to the 20</a:t>
            </a:r>
          </a:p>
        </p:txBody>
      </p:sp>
      <p:sp>
        <p:nvSpPr>
          <p:cNvPr id="4" name="Slide Number Placeholder 3"/>
          <p:cNvSpPr>
            <a:spLocks noGrp="1"/>
          </p:cNvSpPr>
          <p:nvPr>
            <p:ph type="sldNum" sz="quarter" idx="5"/>
          </p:nvPr>
        </p:nvSpPr>
        <p:spPr/>
        <p:txBody>
          <a:bodyPr/>
          <a:lstStyle/>
          <a:p>
            <a:fld id="{5FBA8C5B-1EA6-824C-9815-9E09DEFC71FC}" type="slidenum">
              <a:rPr lang="en-US" smtClean="0"/>
              <a:t>46</a:t>
            </a:fld>
            <a:endParaRPr lang="en-US"/>
          </a:p>
        </p:txBody>
      </p:sp>
    </p:spTree>
    <p:extLst>
      <p:ext uri="{BB962C8B-B14F-4D97-AF65-F5344CB8AC3E}">
        <p14:creationId xmlns:p14="http://schemas.microsoft.com/office/powerpoint/2010/main" val="39288818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step in our step is the... production target resting in the production solenoid. </a:t>
            </a:r>
          </a:p>
        </p:txBody>
      </p:sp>
      <p:sp>
        <p:nvSpPr>
          <p:cNvPr id="4" name="Slide Number Placeholder 3"/>
          <p:cNvSpPr>
            <a:spLocks noGrp="1"/>
          </p:cNvSpPr>
          <p:nvPr>
            <p:ph type="sldNum" sz="quarter" idx="5"/>
          </p:nvPr>
        </p:nvSpPr>
        <p:spPr/>
        <p:txBody>
          <a:bodyPr/>
          <a:lstStyle/>
          <a:p>
            <a:fld id="{5FBA8C5B-1EA6-824C-9815-9E09DEFC71FC}" type="slidenum">
              <a:rPr lang="en-US" smtClean="0"/>
              <a:t>47</a:t>
            </a:fld>
            <a:endParaRPr lang="en-US"/>
          </a:p>
        </p:txBody>
      </p:sp>
    </p:spTree>
    <p:extLst>
      <p:ext uri="{BB962C8B-B14F-4D97-AF65-F5344CB8AC3E}">
        <p14:creationId xmlns:p14="http://schemas.microsoft.com/office/powerpoint/2010/main" val="25344900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production target is a radiatively cooled solid tungsten target. </a:t>
            </a:r>
          </a:p>
          <a:p>
            <a:r>
              <a:rPr lang="en-US" dirty="0"/>
              <a:t>upon collision with the target, the protons cause a process to produce pions that scatter backwards and begin to travel further down the experimental path</a:t>
            </a:r>
          </a:p>
          <a:p>
            <a:r>
              <a:rPr lang="en-US" dirty="0"/>
              <a:t>all types of pions can be scattered, and specifically the pions of interest are the negative ones. pions decay into muons and neutrinos according to the diagrams below and these are what will propagate into the next component</a:t>
            </a:r>
          </a:p>
          <a:p>
            <a:r>
              <a:rPr lang="en-US" dirty="0"/>
              <a:t>here is an image of the magnetic field density of the solenoid and the flux along the field axis from the Production Solenoid conceptual design</a:t>
            </a:r>
          </a:p>
        </p:txBody>
      </p:sp>
      <p:sp>
        <p:nvSpPr>
          <p:cNvPr id="4" name="Slide Number Placeholder 3"/>
          <p:cNvSpPr>
            <a:spLocks noGrp="1"/>
          </p:cNvSpPr>
          <p:nvPr>
            <p:ph type="sldNum" sz="quarter" idx="5"/>
          </p:nvPr>
        </p:nvSpPr>
        <p:spPr/>
        <p:txBody>
          <a:bodyPr/>
          <a:lstStyle/>
          <a:p>
            <a:fld id="{5FBA8C5B-1EA6-824C-9815-9E09DEFC71FC}" type="slidenum">
              <a:rPr lang="en-US" smtClean="0"/>
              <a:t>48</a:t>
            </a:fld>
            <a:endParaRPr lang="en-US"/>
          </a:p>
        </p:txBody>
      </p:sp>
    </p:spTree>
    <p:extLst>
      <p:ext uri="{BB962C8B-B14F-4D97-AF65-F5344CB8AC3E}">
        <p14:creationId xmlns:p14="http://schemas.microsoft.com/office/powerpoint/2010/main" val="1723313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production target, the back scattered pions then travel into what is called the transport solenoid, this s shaped component. It is important to note that on account of the charge of the particles, we do have the formation of helical paths that they will take</a:t>
            </a:r>
          </a:p>
        </p:txBody>
      </p:sp>
      <p:sp>
        <p:nvSpPr>
          <p:cNvPr id="4" name="Slide Number Placeholder 3"/>
          <p:cNvSpPr>
            <a:spLocks noGrp="1"/>
          </p:cNvSpPr>
          <p:nvPr>
            <p:ph type="sldNum" sz="quarter" idx="5"/>
          </p:nvPr>
        </p:nvSpPr>
        <p:spPr/>
        <p:txBody>
          <a:bodyPr/>
          <a:lstStyle/>
          <a:p>
            <a:fld id="{5FBA8C5B-1EA6-824C-9815-9E09DEFC71FC}" type="slidenum">
              <a:rPr lang="en-US" smtClean="0"/>
              <a:t>49</a:t>
            </a:fld>
            <a:endParaRPr lang="en-US"/>
          </a:p>
        </p:txBody>
      </p:sp>
    </p:spTree>
    <p:extLst>
      <p:ext uri="{BB962C8B-B14F-4D97-AF65-F5344CB8AC3E}">
        <p14:creationId xmlns:p14="http://schemas.microsoft.com/office/powerpoint/2010/main" val="31936936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reason for this S shape? there are in fact three major functions</a:t>
            </a:r>
          </a:p>
          <a:p>
            <a:r>
              <a:rPr lang="en-US" dirty="0"/>
              <a:t>the first is that it allows for selection of muon vs anti muon going in the direction of the detector</a:t>
            </a:r>
          </a:p>
          <a:p>
            <a:r>
              <a:rPr lang="en-US" dirty="0"/>
              <a:t>vertical deviation from the path differs between positive and negative charges and there is a vertical deviation from the path on account of particle drift in the solenoidal field, something that is mentioned in a problem in Jacksons classical electromagnetism text</a:t>
            </a:r>
          </a:p>
          <a:p>
            <a:r>
              <a:rPr lang="en-US" dirty="0"/>
              <a:t>Next is that is prevents the accumulation of energetic photons that may alter the signals or cause undue firings of photomultipliers -- since they are uncharged they do not bend in the presence of a magnetic field and go directly into the wall of the solenoid at the bend</a:t>
            </a:r>
          </a:p>
          <a:p>
            <a:r>
              <a:rPr lang="en-US" dirty="0"/>
              <a:t>Finally, it acts a momentum selector (of sorts), as particles with too large a momentum will hit the solenoid walls and not make it into the  detector system. this is due to the increase of perpendicular component of momentum adjusting the radial motion of the particle in the magnetic field (radius of gyration)</a:t>
            </a:r>
          </a:p>
          <a:p>
            <a:endParaRPr lang="en-US" dirty="0"/>
          </a:p>
          <a:p>
            <a:r>
              <a:rPr lang="en-US" dirty="0"/>
              <a:t>Here is a recent image of the fully installed transport solenoid in the Mu2e pit at Fermilab</a:t>
            </a:r>
          </a:p>
        </p:txBody>
      </p:sp>
      <p:sp>
        <p:nvSpPr>
          <p:cNvPr id="4" name="Slide Number Placeholder 3"/>
          <p:cNvSpPr>
            <a:spLocks noGrp="1"/>
          </p:cNvSpPr>
          <p:nvPr>
            <p:ph type="sldNum" sz="quarter" idx="5"/>
          </p:nvPr>
        </p:nvSpPr>
        <p:spPr/>
        <p:txBody>
          <a:bodyPr/>
          <a:lstStyle/>
          <a:p>
            <a:fld id="{5FBA8C5B-1EA6-824C-9815-9E09DEFC71FC}" type="slidenum">
              <a:rPr lang="en-US" smtClean="0"/>
              <a:t>50</a:t>
            </a:fld>
            <a:endParaRPr lang="en-US"/>
          </a:p>
        </p:txBody>
      </p:sp>
    </p:spTree>
    <p:extLst>
      <p:ext uri="{BB962C8B-B14F-4D97-AF65-F5344CB8AC3E}">
        <p14:creationId xmlns:p14="http://schemas.microsoft.com/office/powerpoint/2010/main" val="42601634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transfer solenoid (approximately), the pions decay into muons. Where these go is to what is called the muon stopping target</a:t>
            </a:r>
          </a:p>
        </p:txBody>
      </p:sp>
      <p:sp>
        <p:nvSpPr>
          <p:cNvPr id="4" name="Slide Number Placeholder 3"/>
          <p:cNvSpPr>
            <a:spLocks noGrp="1"/>
          </p:cNvSpPr>
          <p:nvPr>
            <p:ph type="sldNum" sz="quarter" idx="5"/>
          </p:nvPr>
        </p:nvSpPr>
        <p:spPr/>
        <p:txBody>
          <a:bodyPr/>
          <a:lstStyle/>
          <a:p>
            <a:fld id="{5FBA8C5B-1EA6-824C-9815-9E09DEFC71FC}" type="slidenum">
              <a:rPr lang="en-US" smtClean="0"/>
              <a:t>51</a:t>
            </a:fld>
            <a:endParaRPr lang="en-US"/>
          </a:p>
        </p:txBody>
      </p:sp>
    </p:spTree>
    <p:extLst>
      <p:ext uri="{BB962C8B-B14F-4D97-AF65-F5344CB8AC3E}">
        <p14:creationId xmlns:p14="http://schemas.microsoft.com/office/powerpoint/2010/main" val="23684923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muon travels and kicks out an electron bound to the aluminum atom and finds rest inside the n=1 or K shell. The K shell, not having any orbitals except the single s orbital can only hold two spin 1/2 particles. An interesting calculation one could do here is look at what would happen to the Bohr radius at the ground level of the hydrogen atom in this situation. It happens that the </a:t>
            </a:r>
            <a:r>
              <a:rPr lang="en-US" dirty="0" err="1"/>
              <a:t>Borh</a:t>
            </a:r>
            <a:r>
              <a:rPr lang="en-US" dirty="0"/>
              <a:t> radius could actually have a probability of overlapping with the nuclear radius itself.</a:t>
            </a:r>
          </a:p>
          <a:p>
            <a:r>
              <a:rPr lang="en-US" dirty="0"/>
              <a:t>The Aluminum is much larger than a hydrogen atom sitting at a Z of 13, and neutrons included to boot, but this aluminum is well equipped to help us stud the effects we are looking for, being 168 grams, its lightweight and can be suspended and it has an annular construction so as to minimize the damage of the stopping targets as products pass to the beam dump</a:t>
            </a:r>
          </a:p>
          <a:p>
            <a:endParaRPr lang="en-US" dirty="0"/>
          </a:p>
          <a:p>
            <a:r>
              <a:rPr lang="en-US" dirty="0"/>
              <a:t>this is an image of electron origin positions plotted using ROOT from mixed process Geant4 Simulation files utilizing the Mu2e geometry. The shaded region with high frequency is the stopping target.</a:t>
            </a:r>
          </a:p>
          <a:p>
            <a:endParaRPr lang="en-US" dirty="0"/>
          </a:p>
          <a:p>
            <a:r>
              <a:rPr lang="en-US" dirty="0"/>
              <a:t>muons in the potential of the aluminum nucleus have a much shorter lifetime, sitting at only </a:t>
            </a:r>
            <a:r>
              <a:rPr lang="en-US" dirty="0" err="1"/>
              <a:t>aroud</a:t>
            </a:r>
            <a:r>
              <a:rPr lang="en-US" dirty="0"/>
              <a:t> 864 ns compared to the 2.2 microsecond for a free muon. Further, electrons produced by this reaction (called conversion electrons) are monoenergetic, producing a signature of 104.973 MeV</a:t>
            </a:r>
          </a:p>
        </p:txBody>
      </p:sp>
      <p:sp>
        <p:nvSpPr>
          <p:cNvPr id="4" name="Slide Number Placeholder 3"/>
          <p:cNvSpPr>
            <a:spLocks noGrp="1"/>
          </p:cNvSpPr>
          <p:nvPr>
            <p:ph type="sldNum" sz="quarter" idx="5"/>
          </p:nvPr>
        </p:nvSpPr>
        <p:spPr/>
        <p:txBody>
          <a:bodyPr/>
          <a:lstStyle/>
          <a:p>
            <a:fld id="{5FBA8C5B-1EA6-824C-9815-9E09DEFC71FC}" type="slidenum">
              <a:rPr lang="en-US" smtClean="0"/>
              <a:t>52</a:t>
            </a:fld>
            <a:endParaRPr lang="en-US"/>
          </a:p>
        </p:txBody>
      </p:sp>
    </p:spTree>
    <p:extLst>
      <p:ext uri="{BB962C8B-B14F-4D97-AF65-F5344CB8AC3E}">
        <p14:creationId xmlns:p14="http://schemas.microsoft.com/office/powerpoint/2010/main" val="31700338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process of conversion of electrons is then analyzed by the next stage of the detector system, the tracker</a:t>
            </a:r>
          </a:p>
        </p:txBody>
      </p:sp>
      <p:sp>
        <p:nvSpPr>
          <p:cNvPr id="4" name="Slide Number Placeholder 3"/>
          <p:cNvSpPr>
            <a:spLocks noGrp="1"/>
          </p:cNvSpPr>
          <p:nvPr>
            <p:ph type="sldNum" sz="quarter" idx="5"/>
          </p:nvPr>
        </p:nvSpPr>
        <p:spPr/>
        <p:txBody>
          <a:bodyPr/>
          <a:lstStyle/>
          <a:p>
            <a:fld id="{5FBA8C5B-1EA6-824C-9815-9E09DEFC71FC}" type="slidenum">
              <a:rPr lang="en-US" smtClean="0"/>
              <a:t>53</a:t>
            </a:fld>
            <a:endParaRPr lang="en-US"/>
          </a:p>
        </p:txBody>
      </p:sp>
    </p:spTree>
    <p:extLst>
      <p:ext uri="{BB962C8B-B14F-4D97-AF65-F5344CB8AC3E}">
        <p14:creationId xmlns:p14="http://schemas.microsoft.com/office/powerpoint/2010/main" val="12188529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tracker is comprised of 18 separate tiers each with 2 planes offset by an angle of 30 degrees containing a number of straw tubes. </a:t>
            </a:r>
          </a:p>
          <a:p>
            <a:r>
              <a:rPr lang="en-US" dirty="0"/>
              <a:t>These straw tubes function by the ionization of an inert gas (argon and CO2 mixture) which then sends a signal to the electronics of the system letting the system know a particle has now passed through it. After passing through the system the trajectories can be determined by coincidence of signals from the various straws. This allows us to reconstruct the path and analyze it, along with the next component</a:t>
            </a:r>
          </a:p>
          <a:p>
            <a:r>
              <a:rPr lang="en-US" dirty="0"/>
              <a:t>Small energy resolution and minimum losses allow us to decrease the effect of a particularly detrimental background called Decay in Orbit (DIO) which we will come back to</a:t>
            </a:r>
          </a:p>
          <a:p>
            <a:endParaRPr lang="en-US" dirty="0"/>
          </a:p>
          <a:p>
            <a:r>
              <a:rPr lang="en-US" dirty="0"/>
              <a:t>here is an image that shows that detector plates construction with some acceptance regions shown for various momenta electrons passing through. Note how the </a:t>
            </a:r>
            <a:r>
              <a:rPr lang="en-US" dirty="0" err="1"/>
              <a:t>michel</a:t>
            </a:r>
            <a:r>
              <a:rPr lang="en-US" dirty="0"/>
              <a:t> electrons (those that go like the Standard Model decay, are not incident on the straws, while the green circle shows the conversion electrons are) </a:t>
            </a:r>
          </a:p>
        </p:txBody>
      </p:sp>
      <p:sp>
        <p:nvSpPr>
          <p:cNvPr id="4" name="Slide Number Placeholder 3"/>
          <p:cNvSpPr>
            <a:spLocks noGrp="1"/>
          </p:cNvSpPr>
          <p:nvPr>
            <p:ph type="sldNum" sz="quarter" idx="5"/>
          </p:nvPr>
        </p:nvSpPr>
        <p:spPr/>
        <p:txBody>
          <a:bodyPr/>
          <a:lstStyle/>
          <a:p>
            <a:fld id="{5FBA8C5B-1EA6-824C-9815-9E09DEFC71FC}" type="slidenum">
              <a:rPr lang="en-US" smtClean="0"/>
              <a:t>54</a:t>
            </a:fld>
            <a:endParaRPr lang="en-US"/>
          </a:p>
        </p:txBody>
      </p:sp>
    </p:spTree>
    <p:extLst>
      <p:ext uri="{BB962C8B-B14F-4D97-AF65-F5344CB8AC3E}">
        <p14:creationId xmlns:p14="http://schemas.microsoft.com/office/powerpoint/2010/main" val="3049618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have reached the last major component in our detector system, the calorimeter</a:t>
            </a:r>
          </a:p>
        </p:txBody>
      </p:sp>
      <p:sp>
        <p:nvSpPr>
          <p:cNvPr id="4" name="Slide Number Placeholder 3"/>
          <p:cNvSpPr>
            <a:spLocks noGrp="1"/>
          </p:cNvSpPr>
          <p:nvPr>
            <p:ph type="sldNum" sz="quarter" idx="5"/>
          </p:nvPr>
        </p:nvSpPr>
        <p:spPr/>
        <p:txBody>
          <a:bodyPr/>
          <a:lstStyle/>
          <a:p>
            <a:fld id="{5FBA8C5B-1EA6-824C-9815-9E09DEFC71FC}" type="slidenum">
              <a:rPr lang="en-US" smtClean="0"/>
              <a:t>55</a:t>
            </a:fld>
            <a:endParaRPr lang="en-US"/>
          </a:p>
        </p:txBody>
      </p:sp>
    </p:spTree>
    <p:extLst>
      <p:ext uri="{BB962C8B-B14F-4D97-AF65-F5344CB8AC3E}">
        <p14:creationId xmlns:p14="http://schemas.microsoft.com/office/powerpoint/2010/main" val="13603953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calo is constructed from undoped cesium iodide crystals which are a very prominent scintillating material in particle physics on account of its wavelength and versatility. Light from the scintillators is taken in and amplified by the Silicon photomultiplier tubes and then converted to a signal read in from DAQ.</a:t>
            </a:r>
          </a:p>
          <a:p>
            <a:r>
              <a:rPr lang="en-US" dirty="0"/>
              <a:t>The two disk system with spacing of about one half helix wavelength allows us to make sure the </a:t>
            </a:r>
            <a:r>
              <a:rPr lang="en-US" dirty="0" err="1"/>
              <a:t>helicies</a:t>
            </a:r>
            <a:r>
              <a:rPr lang="en-US" dirty="0"/>
              <a:t> do not miss one of the plates before heading to the beam dump</a:t>
            </a:r>
          </a:p>
          <a:p>
            <a:r>
              <a:rPr lang="en-US" dirty="0"/>
              <a:t>This purpose is three-fold. First for identification of particles on account of the radiative showering difference between electrons and muons (and other particle). Next is the improvement of track reconstruction. If we want to decrease the computational power needed, its easiest to start where the electron ended and work backwards to give us our fits. Thirdly it allows us to have an energy trigger which is very important for this specific reaction.</a:t>
            </a:r>
          </a:p>
          <a:p>
            <a:endParaRPr lang="en-US" dirty="0"/>
          </a:p>
          <a:p>
            <a:r>
              <a:rPr lang="en-US" dirty="0"/>
              <a:t>here is an image of the calorimeter in its mockup diagram</a:t>
            </a:r>
          </a:p>
        </p:txBody>
      </p:sp>
      <p:sp>
        <p:nvSpPr>
          <p:cNvPr id="4" name="Slide Number Placeholder 3"/>
          <p:cNvSpPr>
            <a:spLocks noGrp="1"/>
          </p:cNvSpPr>
          <p:nvPr>
            <p:ph type="sldNum" sz="quarter" idx="5"/>
          </p:nvPr>
        </p:nvSpPr>
        <p:spPr/>
        <p:txBody>
          <a:bodyPr/>
          <a:lstStyle/>
          <a:p>
            <a:fld id="{5FBA8C5B-1EA6-824C-9815-9E09DEFC71FC}" type="slidenum">
              <a:rPr lang="en-US" smtClean="0"/>
              <a:t>56</a:t>
            </a:fld>
            <a:endParaRPr lang="en-US"/>
          </a:p>
        </p:txBody>
      </p:sp>
    </p:spTree>
    <p:extLst>
      <p:ext uri="{BB962C8B-B14F-4D97-AF65-F5344CB8AC3E}">
        <p14:creationId xmlns:p14="http://schemas.microsoft.com/office/powerpoint/2010/main" val="19243777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EADA29-8318-D603-C004-805D298F992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32A94F2-EC83-4C3F-DCB0-100AD663392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631A2A0-8D99-3250-8423-FE121BE79D8A}"/>
              </a:ext>
            </a:extLst>
          </p:cNvPr>
          <p:cNvSpPr>
            <a:spLocks noGrp="1"/>
          </p:cNvSpPr>
          <p:nvPr>
            <p:ph type="dt" sz="half" idx="10"/>
          </p:nvPr>
        </p:nvSpPr>
        <p:spPr/>
        <p:txBody>
          <a:bodyPr/>
          <a:lstStyle/>
          <a:p>
            <a:fld id="{B105E061-EB09-174B-A0D5-FC5974A2AFFB}" type="datetime1">
              <a:rPr lang="en-US" smtClean="0"/>
              <a:t>10/7/26</a:t>
            </a:fld>
            <a:endParaRPr lang="en-US"/>
          </a:p>
        </p:txBody>
      </p:sp>
      <p:sp>
        <p:nvSpPr>
          <p:cNvPr id="5" name="Footer Placeholder 4">
            <a:extLst>
              <a:ext uri="{FF2B5EF4-FFF2-40B4-BE49-F238E27FC236}">
                <a16:creationId xmlns:a16="http://schemas.microsoft.com/office/drawing/2014/main" id="{EF6EF34E-7A6C-AA45-3955-F58A9CB51DE9}"/>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4831AE82-0854-D175-78E4-7539A0CBCD73}"/>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20154128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A1545-32A9-92AE-8C11-B53C28832B1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C518CC5-0922-C12A-EC37-B5A8F49F122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DF778F3-70D8-98D5-CD36-548AD17B2662}"/>
              </a:ext>
            </a:extLst>
          </p:cNvPr>
          <p:cNvSpPr>
            <a:spLocks noGrp="1"/>
          </p:cNvSpPr>
          <p:nvPr>
            <p:ph type="dt" sz="half" idx="10"/>
          </p:nvPr>
        </p:nvSpPr>
        <p:spPr/>
        <p:txBody>
          <a:bodyPr/>
          <a:lstStyle/>
          <a:p>
            <a:fld id="{63944F94-749A-F843-B6E1-57F25A03E432}" type="datetime1">
              <a:rPr lang="en-US" smtClean="0"/>
              <a:t>10/7/26</a:t>
            </a:fld>
            <a:endParaRPr lang="en-US"/>
          </a:p>
        </p:txBody>
      </p:sp>
      <p:sp>
        <p:nvSpPr>
          <p:cNvPr id="5" name="Footer Placeholder 4">
            <a:extLst>
              <a:ext uri="{FF2B5EF4-FFF2-40B4-BE49-F238E27FC236}">
                <a16:creationId xmlns:a16="http://schemas.microsoft.com/office/drawing/2014/main" id="{0F6CA82D-ED6B-97B2-FF50-206219D2BDDB}"/>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1151FD3E-17D8-54B5-0BD4-7D8692DD0301}"/>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158372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BB855-F25B-400C-7D5F-8999C8F9012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68629FF-0C01-B418-3274-696BE94CBB3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5C9E23A-4E3D-F2F6-8F39-20E5EBF8CFAA}"/>
              </a:ext>
            </a:extLst>
          </p:cNvPr>
          <p:cNvSpPr>
            <a:spLocks noGrp="1"/>
          </p:cNvSpPr>
          <p:nvPr>
            <p:ph type="dt" sz="half" idx="10"/>
          </p:nvPr>
        </p:nvSpPr>
        <p:spPr/>
        <p:txBody>
          <a:bodyPr/>
          <a:lstStyle/>
          <a:p>
            <a:fld id="{993C7A3E-56A5-C84D-976C-B35F3FE89F79}" type="datetime1">
              <a:rPr lang="en-US" smtClean="0"/>
              <a:t>10/7/26</a:t>
            </a:fld>
            <a:endParaRPr lang="en-US"/>
          </a:p>
        </p:txBody>
      </p:sp>
      <p:sp>
        <p:nvSpPr>
          <p:cNvPr id="5" name="Footer Placeholder 4">
            <a:extLst>
              <a:ext uri="{FF2B5EF4-FFF2-40B4-BE49-F238E27FC236}">
                <a16:creationId xmlns:a16="http://schemas.microsoft.com/office/drawing/2014/main" id="{90284ECD-DE36-80D2-6F00-F7BF71298615}"/>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FBBB1E7C-6380-0684-385D-03DF96DAEBBF}"/>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3459503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CE43F-1CDC-9EE8-8197-3AF30A2AAA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628F771-AA18-152C-86C0-1C811F57386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B3D804A-BB03-1F77-8EAC-8CF5258F4B6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39C417A-09EF-BB79-76F5-BF1F1CF27DFC}"/>
              </a:ext>
            </a:extLst>
          </p:cNvPr>
          <p:cNvSpPr>
            <a:spLocks noGrp="1"/>
          </p:cNvSpPr>
          <p:nvPr>
            <p:ph type="dt" sz="half" idx="10"/>
          </p:nvPr>
        </p:nvSpPr>
        <p:spPr/>
        <p:txBody>
          <a:bodyPr/>
          <a:lstStyle/>
          <a:p>
            <a:fld id="{F4B52015-7C28-484D-B145-D28E2A08F900}" type="datetime1">
              <a:rPr lang="en-US" smtClean="0"/>
              <a:t>10/7/26</a:t>
            </a:fld>
            <a:endParaRPr lang="en-US"/>
          </a:p>
        </p:txBody>
      </p:sp>
      <p:sp>
        <p:nvSpPr>
          <p:cNvPr id="6" name="Footer Placeholder 5">
            <a:extLst>
              <a:ext uri="{FF2B5EF4-FFF2-40B4-BE49-F238E27FC236}">
                <a16:creationId xmlns:a16="http://schemas.microsoft.com/office/drawing/2014/main" id="{2A881ECD-3BB8-17D5-565B-FA6D33C95267}"/>
              </a:ext>
            </a:extLst>
          </p:cNvPr>
          <p:cNvSpPr>
            <a:spLocks noGrp="1"/>
          </p:cNvSpPr>
          <p:nvPr>
            <p:ph type="ftr" sz="quarter" idx="11"/>
          </p:nvPr>
        </p:nvSpPr>
        <p:spPr/>
        <p:txBody>
          <a:bodyPr/>
          <a:lstStyle/>
          <a:p>
            <a:r>
              <a:rPr lang="en-US"/>
              <a:t>Boldy Sensitivity Study Mu2e</a:t>
            </a:r>
          </a:p>
        </p:txBody>
      </p:sp>
      <p:sp>
        <p:nvSpPr>
          <p:cNvPr id="7" name="Slide Number Placeholder 6">
            <a:extLst>
              <a:ext uri="{FF2B5EF4-FFF2-40B4-BE49-F238E27FC236}">
                <a16:creationId xmlns:a16="http://schemas.microsoft.com/office/drawing/2014/main" id="{9A326F01-EF2A-0337-6EFB-1314DC45C060}"/>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22546330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58B6-FDD6-8EDB-FF38-A3CDB7632D5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EC8457C-29F1-E8B4-6CB4-662BEBF38A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2A20BFC-CE81-0B82-5A50-D80BAD50129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54CD25A-B1EF-B90E-DEB9-B4108F9E435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81B69B2-2D6B-FA04-892B-9AC82BC8FD5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D27A68-ECD1-D102-8FCE-CA188D178F4D}"/>
              </a:ext>
            </a:extLst>
          </p:cNvPr>
          <p:cNvSpPr>
            <a:spLocks noGrp="1"/>
          </p:cNvSpPr>
          <p:nvPr>
            <p:ph type="dt" sz="half" idx="10"/>
          </p:nvPr>
        </p:nvSpPr>
        <p:spPr/>
        <p:txBody>
          <a:bodyPr/>
          <a:lstStyle/>
          <a:p>
            <a:fld id="{FCA991B3-1372-E242-8B38-E6436435C338}" type="datetime1">
              <a:rPr lang="en-US" smtClean="0"/>
              <a:t>10/7/26</a:t>
            </a:fld>
            <a:endParaRPr lang="en-US"/>
          </a:p>
        </p:txBody>
      </p:sp>
      <p:sp>
        <p:nvSpPr>
          <p:cNvPr id="8" name="Footer Placeholder 7">
            <a:extLst>
              <a:ext uri="{FF2B5EF4-FFF2-40B4-BE49-F238E27FC236}">
                <a16:creationId xmlns:a16="http://schemas.microsoft.com/office/drawing/2014/main" id="{DAC61A33-2E33-2E18-5A1F-3D2E95070857}"/>
              </a:ext>
            </a:extLst>
          </p:cNvPr>
          <p:cNvSpPr>
            <a:spLocks noGrp="1"/>
          </p:cNvSpPr>
          <p:nvPr>
            <p:ph type="ftr" sz="quarter" idx="11"/>
          </p:nvPr>
        </p:nvSpPr>
        <p:spPr/>
        <p:txBody>
          <a:bodyPr/>
          <a:lstStyle/>
          <a:p>
            <a:r>
              <a:rPr lang="en-US"/>
              <a:t>Boldy Sensitivity Study Mu2e</a:t>
            </a:r>
          </a:p>
        </p:txBody>
      </p:sp>
      <p:sp>
        <p:nvSpPr>
          <p:cNvPr id="9" name="Slide Number Placeholder 8">
            <a:extLst>
              <a:ext uri="{FF2B5EF4-FFF2-40B4-BE49-F238E27FC236}">
                <a16:creationId xmlns:a16="http://schemas.microsoft.com/office/drawing/2014/main" id="{4E463CCE-4474-633D-865F-B028B40EAB82}"/>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14081741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9070C-76D2-B19E-7C9A-995DA816E7D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D740FC2-1268-D46B-4D32-92B7F5D9A041}"/>
              </a:ext>
            </a:extLst>
          </p:cNvPr>
          <p:cNvSpPr>
            <a:spLocks noGrp="1"/>
          </p:cNvSpPr>
          <p:nvPr>
            <p:ph type="dt" sz="half" idx="10"/>
          </p:nvPr>
        </p:nvSpPr>
        <p:spPr/>
        <p:txBody>
          <a:bodyPr/>
          <a:lstStyle/>
          <a:p>
            <a:fld id="{919EF1DF-064D-3A44-9645-D74AED0CCD60}" type="datetime1">
              <a:rPr lang="en-US" smtClean="0"/>
              <a:t>10/7/26</a:t>
            </a:fld>
            <a:endParaRPr lang="en-US"/>
          </a:p>
        </p:txBody>
      </p:sp>
      <p:sp>
        <p:nvSpPr>
          <p:cNvPr id="4" name="Footer Placeholder 3">
            <a:extLst>
              <a:ext uri="{FF2B5EF4-FFF2-40B4-BE49-F238E27FC236}">
                <a16:creationId xmlns:a16="http://schemas.microsoft.com/office/drawing/2014/main" id="{D4B86468-5152-1449-7F77-9048D686CF95}"/>
              </a:ext>
            </a:extLst>
          </p:cNvPr>
          <p:cNvSpPr>
            <a:spLocks noGrp="1"/>
          </p:cNvSpPr>
          <p:nvPr>
            <p:ph type="ftr" sz="quarter" idx="11"/>
          </p:nvPr>
        </p:nvSpPr>
        <p:spPr/>
        <p:txBody>
          <a:bodyPr/>
          <a:lstStyle/>
          <a:p>
            <a:r>
              <a:rPr lang="en-US"/>
              <a:t>Boldy Sensitivity Study Mu2e</a:t>
            </a:r>
          </a:p>
        </p:txBody>
      </p:sp>
      <p:sp>
        <p:nvSpPr>
          <p:cNvPr id="5" name="Slide Number Placeholder 4">
            <a:extLst>
              <a:ext uri="{FF2B5EF4-FFF2-40B4-BE49-F238E27FC236}">
                <a16:creationId xmlns:a16="http://schemas.microsoft.com/office/drawing/2014/main" id="{C2A93AE3-896E-250D-6C2C-150223120FB9}"/>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14138230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88AAAA5-0822-1283-0082-D8E3150FDC5B}"/>
              </a:ext>
            </a:extLst>
          </p:cNvPr>
          <p:cNvSpPr>
            <a:spLocks noGrp="1"/>
          </p:cNvSpPr>
          <p:nvPr>
            <p:ph type="dt" sz="half" idx="10"/>
          </p:nvPr>
        </p:nvSpPr>
        <p:spPr/>
        <p:txBody>
          <a:bodyPr/>
          <a:lstStyle/>
          <a:p>
            <a:fld id="{7802D0E8-747A-794C-8F8A-E949892A428B}" type="datetime1">
              <a:rPr lang="en-US" smtClean="0"/>
              <a:t>10/7/26</a:t>
            </a:fld>
            <a:endParaRPr lang="en-US"/>
          </a:p>
        </p:txBody>
      </p:sp>
      <p:sp>
        <p:nvSpPr>
          <p:cNvPr id="3" name="Footer Placeholder 2">
            <a:extLst>
              <a:ext uri="{FF2B5EF4-FFF2-40B4-BE49-F238E27FC236}">
                <a16:creationId xmlns:a16="http://schemas.microsoft.com/office/drawing/2014/main" id="{9A32AF4E-3556-4F00-DD61-2AC81EE22FDB}"/>
              </a:ext>
            </a:extLst>
          </p:cNvPr>
          <p:cNvSpPr>
            <a:spLocks noGrp="1"/>
          </p:cNvSpPr>
          <p:nvPr>
            <p:ph type="ftr" sz="quarter" idx="11"/>
          </p:nvPr>
        </p:nvSpPr>
        <p:spPr/>
        <p:txBody>
          <a:bodyPr/>
          <a:lstStyle/>
          <a:p>
            <a:r>
              <a:rPr lang="en-US"/>
              <a:t>Boldy Sensitivity Study Mu2e</a:t>
            </a:r>
          </a:p>
        </p:txBody>
      </p:sp>
      <p:sp>
        <p:nvSpPr>
          <p:cNvPr id="4" name="Slide Number Placeholder 3">
            <a:extLst>
              <a:ext uri="{FF2B5EF4-FFF2-40B4-BE49-F238E27FC236}">
                <a16:creationId xmlns:a16="http://schemas.microsoft.com/office/drawing/2014/main" id="{32BC4183-63DD-779F-6A3F-299DB1D8DD7B}"/>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28046244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BB275-0A8F-E65C-081D-4DF0F555C14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888DBB0-C3D2-9177-E075-377E767F7F4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6B20C18-FF8F-0C9A-8AA2-5A126ABFE8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DBDA23-993B-4DF8-4934-DD3BBEF8DCF5}"/>
              </a:ext>
            </a:extLst>
          </p:cNvPr>
          <p:cNvSpPr>
            <a:spLocks noGrp="1"/>
          </p:cNvSpPr>
          <p:nvPr>
            <p:ph type="dt" sz="half" idx="10"/>
          </p:nvPr>
        </p:nvSpPr>
        <p:spPr/>
        <p:txBody>
          <a:bodyPr/>
          <a:lstStyle/>
          <a:p>
            <a:fld id="{6369CB82-7A51-6E4C-81E6-424375AAB724}" type="datetime1">
              <a:rPr lang="en-US" smtClean="0"/>
              <a:t>10/7/26</a:t>
            </a:fld>
            <a:endParaRPr lang="en-US"/>
          </a:p>
        </p:txBody>
      </p:sp>
      <p:sp>
        <p:nvSpPr>
          <p:cNvPr id="6" name="Footer Placeholder 5">
            <a:extLst>
              <a:ext uri="{FF2B5EF4-FFF2-40B4-BE49-F238E27FC236}">
                <a16:creationId xmlns:a16="http://schemas.microsoft.com/office/drawing/2014/main" id="{B91420B8-2B43-3A5C-8934-7D7B644692DE}"/>
              </a:ext>
            </a:extLst>
          </p:cNvPr>
          <p:cNvSpPr>
            <a:spLocks noGrp="1"/>
          </p:cNvSpPr>
          <p:nvPr>
            <p:ph type="ftr" sz="quarter" idx="11"/>
          </p:nvPr>
        </p:nvSpPr>
        <p:spPr/>
        <p:txBody>
          <a:bodyPr/>
          <a:lstStyle/>
          <a:p>
            <a:r>
              <a:rPr lang="en-US"/>
              <a:t>Boldy Sensitivity Study Mu2e</a:t>
            </a:r>
          </a:p>
        </p:txBody>
      </p:sp>
      <p:sp>
        <p:nvSpPr>
          <p:cNvPr id="7" name="Slide Number Placeholder 6">
            <a:extLst>
              <a:ext uri="{FF2B5EF4-FFF2-40B4-BE49-F238E27FC236}">
                <a16:creationId xmlns:a16="http://schemas.microsoft.com/office/drawing/2014/main" id="{A69884AC-DBA9-11A1-5518-26454E5A5796}"/>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33369597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FF0E1-1502-CF12-D7A4-AA697564EC0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51E79F3-9E9A-3747-5CA7-7185A4023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800B97D-AF0C-3B9C-2470-6DC0464CE6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2D5494-E5EC-0C28-39BA-C3E3754153D1}"/>
              </a:ext>
            </a:extLst>
          </p:cNvPr>
          <p:cNvSpPr>
            <a:spLocks noGrp="1"/>
          </p:cNvSpPr>
          <p:nvPr>
            <p:ph type="dt" sz="half" idx="10"/>
          </p:nvPr>
        </p:nvSpPr>
        <p:spPr/>
        <p:txBody>
          <a:bodyPr/>
          <a:lstStyle/>
          <a:p>
            <a:fld id="{88931E28-5FD3-854B-AAE6-645D4F1C2615}" type="datetime1">
              <a:rPr lang="en-US" smtClean="0"/>
              <a:t>10/7/26</a:t>
            </a:fld>
            <a:endParaRPr lang="en-US"/>
          </a:p>
        </p:txBody>
      </p:sp>
      <p:sp>
        <p:nvSpPr>
          <p:cNvPr id="6" name="Footer Placeholder 5">
            <a:extLst>
              <a:ext uri="{FF2B5EF4-FFF2-40B4-BE49-F238E27FC236}">
                <a16:creationId xmlns:a16="http://schemas.microsoft.com/office/drawing/2014/main" id="{7E17C0F3-E093-D65F-D919-ACBD228062AA}"/>
              </a:ext>
            </a:extLst>
          </p:cNvPr>
          <p:cNvSpPr>
            <a:spLocks noGrp="1"/>
          </p:cNvSpPr>
          <p:nvPr>
            <p:ph type="ftr" sz="quarter" idx="11"/>
          </p:nvPr>
        </p:nvSpPr>
        <p:spPr/>
        <p:txBody>
          <a:bodyPr/>
          <a:lstStyle/>
          <a:p>
            <a:r>
              <a:rPr lang="en-US"/>
              <a:t>Boldy Sensitivity Study Mu2e</a:t>
            </a:r>
          </a:p>
        </p:txBody>
      </p:sp>
      <p:sp>
        <p:nvSpPr>
          <p:cNvPr id="7" name="Slide Number Placeholder 6">
            <a:extLst>
              <a:ext uri="{FF2B5EF4-FFF2-40B4-BE49-F238E27FC236}">
                <a16:creationId xmlns:a16="http://schemas.microsoft.com/office/drawing/2014/main" id="{84303B56-8556-1770-EB25-B1B8F5904B48}"/>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26499474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F4E46-F0AB-A681-8740-BC69960319D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977255F-086B-6814-3097-EE9AE078FEA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71FCB7-85C2-E789-7804-C3212CBA0A67}"/>
              </a:ext>
            </a:extLst>
          </p:cNvPr>
          <p:cNvSpPr>
            <a:spLocks noGrp="1"/>
          </p:cNvSpPr>
          <p:nvPr>
            <p:ph type="dt" sz="half" idx="10"/>
          </p:nvPr>
        </p:nvSpPr>
        <p:spPr/>
        <p:txBody>
          <a:bodyPr/>
          <a:lstStyle/>
          <a:p>
            <a:fld id="{621252E1-B88E-3342-B0A7-CCAE0CA75BBB}" type="datetime1">
              <a:rPr lang="en-US" smtClean="0"/>
              <a:t>10/7/26</a:t>
            </a:fld>
            <a:endParaRPr lang="en-US"/>
          </a:p>
        </p:txBody>
      </p:sp>
      <p:sp>
        <p:nvSpPr>
          <p:cNvPr id="5" name="Footer Placeholder 4">
            <a:extLst>
              <a:ext uri="{FF2B5EF4-FFF2-40B4-BE49-F238E27FC236}">
                <a16:creationId xmlns:a16="http://schemas.microsoft.com/office/drawing/2014/main" id="{A0C080F1-DCEE-028C-8BCD-A61DBEBF1E87}"/>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0ECACD8E-E67A-21F3-1966-28066381F18D}"/>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37556896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DB89AF7-ADF5-FF00-7906-AE0C3BF7B5D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0F2BA14-D59C-CEE6-6CDC-F3B8415F11A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23281CF-D204-4125-D555-B6A3DF4D00F0}"/>
              </a:ext>
            </a:extLst>
          </p:cNvPr>
          <p:cNvSpPr>
            <a:spLocks noGrp="1"/>
          </p:cNvSpPr>
          <p:nvPr>
            <p:ph type="dt" sz="half" idx="10"/>
          </p:nvPr>
        </p:nvSpPr>
        <p:spPr/>
        <p:txBody>
          <a:bodyPr/>
          <a:lstStyle/>
          <a:p>
            <a:fld id="{EACE6763-50BE-5B49-B87C-4D19468B7C96}" type="datetime1">
              <a:rPr lang="en-US" smtClean="0"/>
              <a:t>10/7/26</a:t>
            </a:fld>
            <a:endParaRPr lang="en-US"/>
          </a:p>
        </p:txBody>
      </p:sp>
      <p:sp>
        <p:nvSpPr>
          <p:cNvPr id="5" name="Footer Placeholder 4">
            <a:extLst>
              <a:ext uri="{FF2B5EF4-FFF2-40B4-BE49-F238E27FC236}">
                <a16:creationId xmlns:a16="http://schemas.microsoft.com/office/drawing/2014/main" id="{808A5483-71F5-7BE0-D7A1-5B94D55CC637}"/>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0D0DAAD7-3A7E-9795-99F8-AFED8D624D8D}"/>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28243762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465E2F0-FE44-AEF6-4BFF-76387632B0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7AAB237-5922-E195-C483-96835DC317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77F3D14-F1C7-4D21-886C-479CEA2091B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3B6B83F-07D0-CF48-A32E-56605F2D4971}" type="datetime1">
              <a:rPr lang="en-US" smtClean="0"/>
              <a:t>10/7/26</a:t>
            </a:fld>
            <a:endParaRPr lang="en-US"/>
          </a:p>
        </p:txBody>
      </p:sp>
      <p:sp>
        <p:nvSpPr>
          <p:cNvPr id="5" name="Footer Placeholder 4">
            <a:extLst>
              <a:ext uri="{FF2B5EF4-FFF2-40B4-BE49-F238E27FC236}">
                <a16:creationId xmlns:a16="http://schemas.microsoft.com/office/drawing/2014/main" id="{42F4CCB5-7F79-D7A1-91BC-CB6F8883604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Boldy Sensitivity Study Mu2e</a:t>
            </a:r>
          </a:p>
        </p:txBody>
      </p:sp>
      <p:sp>
        <p:nvSpPr>
          <p:cNvPr id="6" name="Slide Number Placeholder 5">
            <a:extLst>
              <a:ext uri="{FF2B5EF4-FFF2-40B4-BE49-F238E27FC236}">
                <a16:creationId xmlns:a16="http://schemas.microsoft.com/office/drawing/2014/main" id="{2E50930F-328B-7149-6776-6033535770C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E0CB54-3DBF-E947-906E-85E307CF7971}" type="slidenum">
              <a:rPr lang="en-US" smtClean="0"/>
              <a:t>‹#›</a:t>
            </a:fld>
            <a:endParaRPr lang="en-US"/>
          </a:p>
        </p:txBody>
      </p:sp>
    </p:spTree>
    <p:extLst>
      <p:ext uri="{BB962C8B-B14F-4D97-AF65-F5344CB8AC3E}">
        <p14:creationId xmlns:p14="http://schemas.microsoft.com/office/powerpoint/2010/main" val="3673974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141.png"/><Relationship Id="rId18" Type="http://schemas.openxmlformats.org/officeDocument/2006/relationships/customXml" Target="../ink/ink7.xml"/><Relationship Id="rId3" Type="http://schemas.openxmlformats.org/officeDocument/2006/relationships/image" Target="../media/image80.png"/><Relationship Id="rId21" Type="http://schemas.openxmlformats.org/officeDocument/2006/relationships/image" Target="../media/image190.png"/><Relationship Id="rId7" Type="http://schemas.openxmlformats.org/officeDocument/2006/relationships/image" Target="../media/image100.png"/><Relationship Id="rId12" Type="http://schemas.openxmlformats.org/officeDocument/2006/relationships/customXml" Target="../ink/ink4.xml"/><Relationship Id="rId17" Type="http://schemas.openxmlformats.org/officeDocument/2006/relationships/image" Target="../media/image160.png"/><Relationship Id="rId2" Type="http://schemas.openxmlformats.org/officeDocument/2006/relationships/image" Target="../media/image70.png"/><Relationship Id="rId16" Type="http://schemas.openxmlformats.org/officeDocument/2006/relationships/customXml" Target="../ink/ink6.xml"/><Relationship Id="rId20" Type="http://schemas.openxmlformats.org/officeDocument/2006/relationships/image" Target="../media/image180.png"/><Relationship Id="rId1" Type="http://schemas.openxmlformats.org/officeDocument/2006/relationships/slideLayout" Target="../slideLayouts/slideLayout2.xml"/><Relationship Id="rId6" Type="http://schemas.openxmlformats.org/officeDocument/2006/relationships/customXml" Target="../ink/ink2.xml"/><Relationship Id="rId11" Type="http://schemas.openxmlformats.org/officeDocument/2006/relationships/image" Target="../media/image131.png"/><Relationship Id="rId24" Type="http://schemas.openxmlformats.org/officeDocument/2006/relationships/image" Target="../media/image22.png"/><Relationship Id="rId5" Type="http://schemas.openxmlformats.org/officeDocument/2006/relationships/image" Target="../media/image90.png"/><Relationship Id="rId15" Type="http://schemas.openxmlformats.org/officeDocument/2006/relationships/image" Target="../media/image151.png"/><Relationship Id="rId23" Type="http://schemas.openxmlformats.org/officeDocument/2006/relationships/image" Target="../media/image21.png"/><Relationship Id="rId10" Type="http://schemas.openxmlformats.org/officeDocument/2006/relationships/image" Target="../media/image120.png"/><Relationship Id="rId19" Type="http://schemas.openxmlformats.org/officeDocument/2006/relationships/image" Target="../media/image171.png"/><Relationship Id="rId4" Type="http://schemas.openxmlformats.org/officeDocument/2006/relationships/customXml" Target="../ink/ink1.xml"/><Relationship Id="rId9" Type="http://schemas.openxmlformats.org/officeDocument/2006/relationships/image" Target="../media/image110.png"/><Relationship Id="rId14" Type="http://schemas.openxmlformats.org/officeDocument/2006/relationships/customXml" Target="../ink/ink5.xml"/><Relationship Id="rId22"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240.png"/><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4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47.xml.rels><?xml version="1.0" encoding="UTF-8" standalone="yes"?>
<Relationships xmlns="http://schemas.openxmlformats.org/package/2006/relationships"><Relationship Id="rId8" Type="http://schemas.openxmlformats.org/officeDocument/2006/relationships/customXml" Target="../ink/ink10.xml"/><Relationship Id="rId13" Type="http://schemas.openxmlformats.org/officeDocument/2006/relationships/image" Target="../media/image170.png"/><Relationship Id="rId3" Type="http://schemas.openxmlformats.org/officeDocument/2006/relationships/image" Target="../media/image47.png"/><Relationship Id="rId7" Type="http://schemas.openxmlformats.org/officeDocument/2006/relationships/image" Target="../media/image140.png"/><Relationship Id="rId12" Type="http://schemas.openxmlformats.org/officeDocument/2006/relationships/customXml" Target="../ink/ink12.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customXml" Target="../ink/ink9.xml"/><Relationship Id="rId11" Type="http://schemas.openxmlformats.org/officeDocument/2006/relationships/image" Target="../media/image172.png"/><Relationship Id="rId5" Type="http://schemas.openxmlformats.org/officeDocument/2006/relationships/image" Target="../media/image130.png"/><Relationship Id="rId15" Type="http://schemas.openxmlformats.org/officeDocument/2006/relationships/image" Target="../media/image181.png"/><Relationship Id="rId10" Type="http://schemas.openxmlformats.org/officeDocument/2006/relationships/customXml" Target="../ink/ink11.xml"/><Relationship Id="rId4" Type="http://schemas.openxmlformats.org/officeDocument/2006/relationships/customXml" Target="../ink/ink8.xml"/><Relationship Id="rId9" Type="http://schemas.openxmlformats.org/officeDocument/2006/relationships/image" Target="../media/image150.png"/><Relationship Id="rId14" Type="http://schemas.openxmlformats.org/officeDocument/2006/relationships/customXml" Target="../ink/ink13.xml"/></Relationships>
</file>

<file path=ppt/slides/_rels/slide4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49.xml.rels><?xml version="1.0" encoding="UTF-8" standalone="yes"?>
<Relationships xmlns="http://schemas.openxmlformats.org/package/2006/relationships"><Relationship Id="rId8" Type="http://schemas.openxmlformats.org/officeDocument/2006/relationships/customXml" Target="../ink/ink16.xml"/><Relationship Id="rId13" Type="http://schemas.openxmlformats.org/officeDocument/2006/relationships/image" Target="../media/image250.png"/><Relationship Id="rId18" Type="http://schemas.openxmlformats.org/officeDocument/2006/relationships/customXml" Target="../ink/ink21.xml"/><Relationship Id="rId3" Type="http://schemas.openxmlformats.org/officeDocument/2006/relationships/image" Target="../media/image47.png"/><Relationship Id="rId7" Type="http://schemas.openxmlformats.org/officeDocument/2006/relationships/image" Target="../media/image220.png"/><Relationship Id="rId12" Type="http://schemas.openxmlformats.org/officeDocument/2006/relationships/customXml" Target="../ink/ink18.xml"/><Relationship Id="rId17" Type="http://schemas.openxmlformats.org/officeDocument/2006/relationships/image" Target="../media/image270.png"/><Relationship Id="rId2" Type="http://schemas.openxmlformats.org/officeDocument/2006/relationships/notesSlide" Target="../notesSlides/notesSlide4.xml"/><Relationship Id="rId16" Type="http://schemas.openxmlformats.org/officeDocument/2006/relationships/customXml" Target="../ink/ink20.xml"/><Relationship Id="rId1" Type="http://schemas.openxmlformats.org/officeDocument/2006/relationships/slideLayout" Target="../slideLayouts/slideLayout2.xml"/><Relationship Id="rId6" Type="http://schemas.openxmlformats.org/officeDocument/2006/relationships/customXml" Target="../ink/ink15.xml"/><Relationship Id="rId11" Type="http://schemas.openxmlformats.org/officeDocument/2006/relationships/image" Target="../media/image241.png"/><Relationship Id="rId5" Type="http://schemas.openxmlformats.org/officeDocument/2006/relationships/image" Target="../media/image210.png"/><Relationship Id="rId15" Type="http://schemas.openxmlformats.org/officeDocument/2006/relationships/image" Target="../media/image260.png"/><Relationship Id="rId10" Type="http://schemas.openxmlformats.org/officeDocument/2006/relationships/customXml" Target="../ink/ink17.xml"/><Relationship Id="rId19" Type="http://schemas.openxmlformats.org/officeDocument/2006/relationships/image" Target="../media/image280.png"/><Relationship Id="rId4" Type="http://schemas.openxmlformats.org/officeDocument/2006/relationships/customXml" Target="../ink/ink14.xml"/><Relationship Id="rId9" Type="http://schemas.openxmlformats.org/officeDocument/2006/relationships/image" Target="../media/image231.png"/><Relationship Id="rId14" Type="http://schemas.openxmlformats.org/officeDocument/2006/relationships/customXml" Target="../ink/ink19.xml"/></Relationships>
</file>

<file path=ppt/slides/_rels/slide5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00.png"/></Relationships>
</file>

<file path=ppt/slides/_rels/slide51.xml.rels><?xml version="1.0" encoding="UTF-8" standalone="yes"?>
<Relationships xmlns="http://schemas.openxmlformats.org/package/2006/relationships"><Relationship Id="rId8" Type="http://schemas.openxmlformats.org/officeDocument/2006/relationships/customXml" Target="../ink/ink24.xml"/><Relationship Id="rId3" Type="http://schemas.openxmlformats.org/officeDocument/2006/relationships/image" Target="../media/image47.png"/><Relationship Id="rId7" Type="http://schemas.openxmlformats.org/officeDocument/2006/relationships/image" Target="../media/image32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customXml" Target="../ink/ink23.xml"/><Relationship Id="rId11" Type="http://schemas.openxmlformats.org/officeDocument/2006/relationships/image" Target="../media/image350.png"/><Relationship Id="rId5" Type="http://schemas.openxmlformats.org/officeDocument/2006/relationships/image" Target="../media/image310.png"/><Relationship Id="rId10" Type="http://schemas.openxmlformats.org/officeDocument/2006/relationships/image" Target="../media/image340.png"/><Relationship Id="rId4" Type="http://schemas.openxmlformats.org/officeDocument/2006/relationships/customXml" Target="../ink/ink22.xml"/><Relationship Id="rId9" Type="http://schemas.openxmlformats.org/officeDocument/2006/relationships/image" Target="../media/image330.png"/></Relationships>
</file>

<file path=ppt/slides/_rels/slide5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60.png"/></Relationships>
</file>

<file path=ppt/slides/_rels/slide53.xml.rels><?xml version="1.0" encoding="UTF-8" standalone="yes"?>
<Relationships xmlns="http://schemas.openxmlformats.org/package/2006/relationships"><Relationship Id="rId8" Type="http://schemas.openxmlformats.org/officeDocument/2006/relationships/image" Target="../media/image400.png"/><Relationship Id="rId3" Type="http://schemas.openxmlformats.org/officeDocument/2006/relationships/image" Target="../media/image47.png"/><Relationship Id="rId7" Type="http://schemas.openxmlformats.org/officeDocument/2006/relationships/customXml" Target="../ink/ink26.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90.png"/><Relationship Id="rId5" Type="http://schemas.openxmlformats.org/officeDocument/2006/relationships/image" Target="../media/image380.png"/><Relationship Id="rId4" Type="http://schemas.openxmlformats.org/officeDocument/2006/relationships/customXml" Target="../ink/ink25.xml"/></Relationships>
</file>

<file path=ppt/slides/_rels/slide5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customXml" Target="../ink/ink29.xml"/><Relationship Id="rId3" Type="http://schemas.openxmlformats.org/officeDocument/2006/relationships/image" Target="../media/image47.png"/><Relationship Id="rId7" Type="http://schemas.openxmlformats.org/officeDocument/2006/relationships/image" Target="../media/image430.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customXml" Target="../ink/ink28.xml"/><Relationship Id="rId5" Type="http://schemas.openxmlformats.org/officeDocument/2006/relationships/image" Target="../media/image420.png"/><Relationship Id="rId10" Type="http://schemas.openxmlformats.org/officeDocument/2006/relationships/image" Target="../media/image450.png"/><Relationship Id="rId4" Type="http://schemas.openxmlformats.org/officeDocument/2006/relationships/customXml" Target="../ink/ink27.xml"/><Relationship Id="rId9" Type="http://schemas.openxmlformats.org/officeDocument/2006/relationships/image" Target="../media/image440.png"/></Relationships>
</file>

<file path=ppt/slides/_rels/slide5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42B63DFC-B388-D9E6-02A1-3DE95E8C2AEF}"/>
                  </a:ext>
                </a:extLst>
              </p:cNvPr>
              <p:cNvSpPr>
                <a:spLocks noGrp="1"/>
              </p:cNvSpPr>
              <p:nvPr>
                <p:ph type="ctrTitle"/>
              </p:nvPr>
            </p:nvSpPr>
            <p:spPr>
              <a:xfrm>
                <a:off x="1524000" y="609998"/>
                <a:ext cx="9144000" cy="1400312"/>
              </a:xfrm>
            </p:spPr>
            <p:txBody>
              <a:bodyPr>
                <a:normAutofit/>
              </a:bodyPr>
              <a:lstStyle/>
              <a:p>
                <a:r>
                  <a:rPr lang="en-US" sz="4400" dirty="0"/>
                  <a:t>A Sensitivity Study of the </a:t>
                </a:r>
                <a14:m>
                  <m:oMath xmlns:m="http://schemas.openxmlformats.org/officeDocument/2006/math">
                    <m:sSup>
                      <m:sSupPr>
                        <m:ctrlPr>
                          <a:rPr lang="en-US" sz="4400" i="1" smtClean="0">
                            <a:latin typeface="Cambria Math" panose="02040503050406030204" pitchFamily="18" charset="0"/>
                            <a:ea typeface="Cambria Math" panose="02040503050406030204" pitchFamily="18" charset="0"/>
                          </a:rPr>
                        </m:ctrlPr>
                      </m:sSupPr>
                      <m:e>
                        <m:r>
                          <a:rPr lang="en-US" sz="4400" i="1" smtClean="0">
                            <a:latin typeface="Cambria Math" panose="02040503050406030204" pitchFamily="18" charset="0"/>
                            <a:ea typeface="Cambria Math" panose="02040503050406030204" pitchFamily="18" charset="0"/>
                          </a:rPr>
                          <m:t>𝜇</m:t>
                        </m:r>
                      </m:e>
                      <m:sup>
                        <m:r>
                          <a:rPr lang="en-US" sz="4400" b="0" i="1" smtClean="0">
                            <a:latin typeface="Cambria Math" panose="02040503050406030204" pitchFamily="18" charset="0"/>
                          </a:rPr>
                          <m:t>−</m:t>
                        </m:r>
                      </m:sup>
                    </m:sSup>
                    <m:sSup>
                      <m:sSupPr>
                        <m:ctrlPr>
                          <a:rPr lang="en-US" sz="4400" b="0" i="1" smtClean="0">
                            <a:latin typeface="Cambria Math" panose="02040503050406030204" pitchFamily="18" charset="0"/>
                          </a:rPr>
                        </m:ctrlPr>
                      </m:sSupPr>
                      <m:e>
                        <m:r>
                          <a:rPr lang="en-US" sz="4400" b="0" i="1" smtClean="0">
                            <a:latin typeface="Cambria Math" panose="02040503050406030204" pitchFamily="18" charset="0"/>
                          </a:rPr>
                          <m:t>𝑒</m:t>
                        </m:r>
                      </m:e>
                      <m:sup>
                        <m:r>
                          <a:rPr lang="en-US" sz="4400" b="0" i="1" smtClean="0">
                            <a:latin typeface="Cambria Math" panose="02040503050406030204" pitchFamily="18" charset="0"/>
                          </a:rPr>
                          <m:t>−</m:t>
                        </m:r>
                      </m:sup>
                    </m:sSup>
                    <m:r>
                      <a:rPr lang="en-US" sz="4400" i="1" smtClean="0">
                        <a:latin typeface="Cambria Math" panose="02040503050406030204" pitchFamily="18" charset="0"/>
                        <a:ea typeface="Cambria Math" panose="02040503050406030204" pitchFamily="18" charset="0"/>
                      </a:rPr>
                      <m:t>→</m:t>
                    </m:r>
                    <m:sSup>
                      <m:sSupPr>
                        <m:ctrlPr>
                          <a:rPr lang="en-US" sz="4400" b="0" i="1" smtClean="0">
                            <a:latin typeface="Cambria Math" panose="02040503050406030204" pitchFamily="18" charset="0"/>
                            <a:ea typeface="Cambria Math" panose="02040503050406030204" pitchFamily="18" charset="0"/>
                          </a:rPr>
                        </m:ctrlPr>
                      </m:sSupPr>
                      <m:e>
                        <m:r>
                          <a:rPr lang="en-US" sz="4400" b="0" i="1" smtClean="0">
                            <a:latin typeface="Cambria Math" panose="02040503050406030204" pitchFamily="18" charset="0"/>
                            <a:ea typeface="Cambria Math" panose="02040503050406030204" pitchFamily="18" charset="0"/>
                          </a:rPr>
                          <m:t>𝑒</m:t>
                        </m:r>
                      </m:e>
                      <m:sup>
                        <m:r>
                          <a:rPr lang="en-US" sz="4400" b="0" i="1" smtClean="0">
                            <a:latin typeface="Cambria Math" panose="02040503050406030204" pitchFamily="18" charset="0"/>
                            <a:ea typeface="Cambria Math" panose="02040503050406030204" pitchFamily="18" charset="0"/>
                          </a:rPr>
                          <m:t>−</m:t>
                        </m:r>
                      </m:sup>
                    </m:sSup>
                    <m:sSup>
                      <m:sSupPr>
                        <m:ctrlPr>
                          <a:rPr lang="en-US" sz="4400" b="0" i="1" smtClean="0">
                            <a:latin typeface="Cambria Math" panose="02040503050406030204" pitchFamily="18" charset="0"/>
                            <a:ea typeface="Cambria Math" panose="02040503050406030204" pitchFamily="18" charset="0"/>
                          </a:rPr>
                        </m:ctrlPr>
                      </m:sSupPr>
                      <m:e>
                        <m:r>
                          <a:rPr lang="en-US" sz="4400" b="0" i="1" smtClean="0">
                            <a:latin typeface="Cambria Math" panose="02040503050406030204" pitchFamily="18" charset="0"/>
                            <a:ea typeface="Cambria Math" panose="02040503050406030204" pitchFamily="18" charset="0"/>
                          </a:rPr>
                          <m:t>𝑒</m:t>
                        </m:r>
                      </m:e>
                      <m:sup>
                        <m:r>
                          <a:rPr lang="en-US" sz="4400" b="0" i="1" smtClean="0">
                            <a:latin typeface="Cambria Math" panose="02040503050406030204" pitchFamily="18" charset="0"/>
                            <a:ea typeface="Cambria Math" panose="02040503050406030204" pitchFamily="18" charset="0"/>
                          </a:rPr>
                          <m:t>−</m:t>
                        </m:r>
                      </m:sup>
                    </m:sSup>
                  </m:oMath>
                </a14:m>
                <a:r>
                  <a:rPr lang="en-US" sz="4400" dirty="0"/>
                  <a:t> Process in the Mu2e Experiment</a:t>
                </a:r>
              </a:p>
            </p:txBody>
          </p:sp>
        </mc:Choice>
        <mc:Fallback xmlns="">
          <p:sp>
            <p:nvSpPr>
              <p:cNvPr id="2" name="Title 1">
                <a:extLst>
                  <a:ext uri="{FF2B5EF4-FFF2-40B4-BE49-F238E27FC236}">
                    <a16:creationId xmlns:a16="http://schemas.microsoft.com/office/drawing/2014/main" id="{42B63DFC-B388-D9E6-02A1-3DE95E8C2AEF}"/>
                  </a:ext>
                </a:extLst>
              </p:cNvPr>
              <p:cNvSpPr>
                <a:spLocks noGrp="1" noRot="1" noChangeAspect="1" noMove="1" noResize="1" noEditPoints="1" noAdjustHandles="1" noChangeArrowheads="1" noChangeShapeType="1" noTextEdit="1"/>
              </p:cNvSpPr>
              <p:nvPr>
                <p:ph type="ctrTitle"/>
              </p:nvPr>
            </p:nvSpPr>
            <p:spPr>
              <a:xfrm>
                <a:off x="1524000" y="609998"/>
                <a:ext cx="9144000" cy="1400312"/>
              </a:xfrm>
              <a:blipFill>
                <a:blip r:embed="rId2"/>
                <a:stretch>
                  <a:fillRect l="-2635" t="-7207" b="-19820"/>
                </a:stretch>
              </a:blipFill>
            </p:spPr>
            <p:txBody>
              <a:bodyPr/>
              <a:lstStyle/>
              <a:p>
                <a:r>
                  <a:rPr lang="en-US">
                    <a:noFill/>
                  </a:rPr>
                  <a:t> </a:t>
                </a:r>
              </a:p>
            </p:txBody>
          </p:sp>
        </mc:Fallback>
      </mc:AlternateContent>
      <p:sp>
        <p:nvSpPr>
          <p:cNvPr id="3" name="Subtitle 2">
            <a:extLst>
              <a:ext uri="{FF2B5EF4-FFF2-40B4-BE49-F238E27FC236}">
                <a16:creationId xmlns:a16="http://schemas.microsoft.com/office/drawing/2014/main" id="{DCE78075-FA41-9743-1AAA-482CF7452162}"/>
              </a:ext>
            </a:extLst>
          </p:cNvPr>
          <p:cNvSpPr>
            <a:spLocks noGrp="1"/>
          </p:cNvSpPr>
          <p:nvPr>
            <p:ph type="subTitle" idx="1"/>
          </p:nvPr>
        </p:nvSpPr>
        <p:spPr>
          <a:xfrm>
            <a:off x="1524000" y="1995557"/>
            <a:ext cx="9144000" cy="2644681"/>
          </a:xfrm>
        </p:spPr>
        <p:txBody>
          <a:bodyPr>
            <a:normAutofit lnSpcReduction="10000"/>
          </a:bodyPr>
          <a:lstStyle/>
          <a:p>
            <a:r>
              <a:rPr lang="en-US" dirty="0"/>
              <a:t>Andrew Boldy</a:t>
            </a:r>
          </a:p>
          <a:p>
            <a:r>
              <a:rPr lang="en-US" dirty="0"/>
              <a:t>Major Professor: Dr. Dave Tedeschi</a:t>
            </a:r>
          </a:p>
          <a:p>
            <a:r>
              <a:rPr lang="en-US" dirty="0"/>
              <a:t>USC Committee Members: Dr. Alexey Petrov, Dr. Matthias Schindler</a:t>
            </a:r>
          </a:p>
          <a:p>
            <a:r>
              <a:rPr lang="en-US" dirty="0"/>
              <a:t>External Committee Member: Dr. Bertrand </a:t>
            </a:r>
            <a:r>
              <a:rPr lang="en-US" dirty="0" err="1"/>
              <a:t>Echenard</a:t>
            </a:r>
            <a:r>
              <a:rPr lang="en-US" dirty="0"/>
              <a:t> (Cal Tech)</a:t>
            </a:r>
          </a:p>
          <a:p>
            <a:r>
              <a:rPr lang="en-US" dirty="0"/>
              <a:t>University of South Carolina</a:t>
            </a:r>
          </a:p>
          <a:p>
            <a:r>
              <a:rPr lang="en-US" dirty="0"/>
              <a:t>October 8</a:t>
            </a:r>
            <a:r>
              <a:rPr lang="en-US" baseline="30000" dirty="0"/>
              <a:t>th</a:t>
            </a:r>
            <a:r>
              <a:rPr lang="en-US" dirty="0"/>
              <a:t>, 2026</a:t>
            </a:r>
          </a:p>
        </p:txBody>
      </p:sp>
      <p:pic>
        <p:nvPicPr>
          <p:cNvPr id="4" name="Picture 3" descr="A diagram of a sphere with arrows&#10;&#10;AI-generated content may be incorrect.">
            <a:extLst>
              <a:ext uri="{FF2B5EF4-FFF2-40B4-BE49-F238E27FC236}">
                <a16:creationId xmlns:a16="http://schemas.microsoft.com/office/drawing/2014/main" id="{B8237D6A-5730-CB52-B6FF-A8B91ECEC5B4}"/>
              </a:ext>
            </a:extLst>
          </p:cNvPr>
          <p:cNvPicPr>
            <a:picLocks noChangeAspect="1"/>
          </p:cNvPicPr>
          <p:nvPr/>
        </p:nvPicPr>
        <p:blipFill>
          <a:blip r:embed="rId3"/>
          <a:stretch>
            <a:fillRect/>
          </a:stretch>
        </p:blipFill>
        <p:spPr>
          <a:xfrm>
            <a:off x="8462735" y="4429919"/>
            <a:ext cx="3416300" cy="2108200"/>
          </a:xfrm>
          <a:prstGeom prst="rect">
            <a:avLst/>
          </a:prstGeom>
        </p:spPr>
      </p:pic>
      <p:pic>
        <p:nvPicPr>
          <p:cNvPr id="5" name="Picture 4" descr="A black background with red text&#10;&#10;AI-generated content may be incorrect.">
            <a:extLst>
              <a:ext uri="{FF2B5EF4-FFF2-40B4-BE49-F238E27FC236}">
                <a16:creationId xmlns:a16="http://schemas.microsoft.com/office/drawing/2014/main" id="{53E7FD38-B46A-5A15-CE39-05E1609BC364}"/>
              </a:ext>
            </a:extLst>
          </p:cNvPr>
          <p:cNvPicPr>
            <a:picLocks noChangeAspect="1"/>
          </p:cNvPicPr>
          <p:nvPr/>
        </p:nvPicPr>
        <p:blipFill>
          <a:blip r:embed="rId4"/>
          <a:stretch>
            <a:fillRect/>
          </a:stretch>
        </p:blipFill>
        <p:spPr>
          <a:xfrm>
            <a:off x="312965" y="5223271"/>
            <a:ext cx="4791700" cy="1024731"/>
          </a:xfrm>
          <a:prstGeom prst="rect">
            <a:avLst/>
          </a:prstGeom>
        </p:spPr>
      </p:pic>
    </p:spTree>
    <p:extLst>
      <p:ext uri="{BB962C8B-B14F-4D97-AF65-F5344CB8AC3E}">
        <p14:creationId xmlns:p14="http://schemas.microsoft.com/office/powerpoint/2010/main" val="2831427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7E240D51-45A8-459A-B603-3EC7C26A245C}"/>
              </a:ext>
            </a:extLst>
          </p:cNvPr>
          <p:cNvSpPr/>
          <p:nvPr/>
        </p:nvSpPr>
        <p:spPr>
          <a:xfrm>
            <a:off x="9507166" y="2369439"/>
            <a:ext cx="2405975" cy="2127115"/>
          </a:xfrm>
          <a:prstGeom prst="rect">
            <a:avLst/>
          </a:prstGeom>
          <a:solidFill>
            <a:srgbClr val="C00000">
              <a:alpha val="81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22" name="Rectangle 21">
            <a:extLst>
              <a:ext uri="{FF2B5EF4-FFF2-40B4-BE49-F238E27FC236}">
                <a16:creationId xmlns:a16="http://schemas.microsoft.com/office/drawing/2014/main" id="{04FAB3C5-75FC-F07A-F40F-CA4E71BF142B}"/>
              </a:ext>
            </a:extLst>
          </p:cNvPr>
          <p:cNvSpPr/>
          <p:nvPr/>
        </p:nvSpPr>
        <p:spPr>
          <a:xfrm>
            <a:off x="6452681" y="2373548"/>
            <a:ext cx="2405975" cy="2127115"/>
          </a:xfrm>
          <a:prstGeom prst="rect">
            <a:avLst/>
          </a:prstGeom>
          <a:solidFill>
            <a:srgbClr val="C00000">
              <a:alpha val="81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3" name="Footer Placeholder 2">
            <a:extLst>
              <a:ext uri="{FF2B5EF4-FFF2-40B4-BE49-F238E27FC236}">
                <a16:creationId xmlns:a16="http://schemas.microsoft.com/office/drawing/2014/main" id="{DFFCE30B-C459-F1E9-0CEE-902D02BCAD57}"/>
              </a:ext>
            </a:extLst>
          </p:cNvPr>
          <p:cNvSpPr>
            <a:spLocks noGrp="1"/>
          </p:cNvSpPr>
          <p:nvPr>
            <p:ph type="ftr" sz="quarter" idx="11"/>
          </p:nvPr>
        </p:nvSpPr>
        <p:spPr/>
        <p:txBody>
          <a:bodyPr/>
          <a:lstStyle/>
          <a:p>
            <a:r>
              <a:rPr lang="en-US"/>
              <a:t>Boldy Sensitivity Study Mu2e</a:t>
            </a:r>
          </a:p>
        </p:txBody>
      </p:sp>
      <p:sp>
        <p:nvSpPr>
          <p:cNvPr id="4" name="Slide Number Placeholder 3">
            <a:extLst>
              <a:ext uri="{FF2B5EF4-FFF2-40B4-BE49-F238E27FC236}">
                <a16:creationId xmlns:a16="http://schemas.microsoft.com/office/drawing/2014/main" id="{832BDAE6-3D9B-2423-9D14-5CD024751C17}"/>
              </a:ext>
            </a:extLst>
          </p:cNvPr>
          <p:cNvSpPr>
            <a:spLocks noGrp="1"/>
          </p:cNvSpPr>
          <p:nvPr>
            <p:ph type="sldNum" sz="quarter" idx="12"/>
          </p:nvPr>
        </p:nvSpPr>
        <p:spPr/>
        <p:txBody>
          <a:bodyPr/>
          <a:lstStyle/>
          <a:p>
            <a:fld id="{C0E0CB54-3DBF-E947-906E-85E307CF7971}" type="slidenum">
              <a:rPr lang="en-US" smtClean="0"/>
              <a:t>2</a:t>
            </a:fld>
            <a:endParaRPr lang="en-US"/>
          </a:p>
        </p:txBody>
      </p:sp>
      <p:sp>
        <p:nvSpPr>
          <p:cNvPr id="5" name="Title 1">
            <a:extLst>
              <a:ext uri="{FF2B5EF4-FFF2-40B4-BE49-F238E27FC236}">
                <a16:creationId xmlns:a16="http://schemas.microsoft.com/office/drawing/2014/main" id="{A0F55108-FB1E-DFDC-2832-16C17D5EDA5D}"/>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Presentation Roadmap</a:t>
            </a:r>
          </a:p>
        </p:txBody>
      </p:sp>
      <p:sp>
        <p:nvSpPr>
          <p:cNvPr id="6" name="Rectangle 5">
            <a:extLst>
              <a:ext uri="{FF2B5EF4-FFF2-40B4-BE49-F238E27FC236}">
                <a16:creationId xmlns:a16="http://schemas.microsoft.com/office/drawing/2014/main" id="{D8326E16-A94F-7712-600A-3B7F3FAF7637}"/>
              </a:ext>
            </a:extLst>
          </p:cNvPr>
          <p:cNvSpPr/>
          <p:nvPr/>
        </p:nvSpPr>
        <p:spPr>
          <a:xfrm>
            <a:off x="278859" y="2373548"/>
            <a:ext cx="2405975" cy="2127115"/>
          </a:xfrm>
          <a:prstGeom prst="rect">
            <a:avLst/>
          </a:prstGeom>
          <a:solidFill>
            <a:srgbClr val="C00000">
              <a:alpha val="81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dirty="0"/>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AF1A2A48-71C1-C80E-07BF-D5A9613209BC}"/>
                  </a:ext>
                </a:extLst>
              </p:cNvPr>
              <p:cNvSpPr txBox="1"/>
              <p:nvPr/>
            </p:nvSpPr>
            <p:spPr>
              <a:xfrm>
                <a:off x="363166" y="754099"/>
                <a:ext cx="11465668" cy="954107"/>
              </a:xfrm>
              <a:prstGeom prst="rect">
                <a:avLst/>
              </a:prstGeom>
              <a:noFill/>
              <a:ln>
                <a:solidFill>
                  <a:schemeClr val="tx1"/>
                </a:solidFill>
              </a:ln>
            </p:spPr>
            <p:txBody>
              <a:bodyPr wrap="square" rtlCol="0">
                <a:spAutoFit/>
              </a:bodyPr>
              <a:lstStyle/>
              <a:p>
                <a:pPr algn="ctr"/>
                <a:r>
                  <a:rPr lang="en-US" sz="2800" b="1" dirty="0"/>
                  <a:t>Dissertation Goal: </a:t>
                </a:r>
                <a:r>
                  <a:rPr lang="en-US" sz="2800" dirty="0"/>
                  <a:t>Develop and apply reconstruction-level sensitivity study for the </a:t>
                </a:r>
                <a14:m>
                  <m:oMath xmlns:m="http://schemas.openxmlformats.org/officeDocument/2006/math">
                    <m:sSup>
                      <m:sSupPr>
                        <m:ctrlPr>
                          <a:rPr lang="en-US" sz="2800" i="1" smtClean="0">
                            <a:latin typeface="Cambria Math" panose="02040503050406030204" pitchFamily="18" charset="0"/>
                          </a:rPr>
                        </m:ctrlPr>
                      </m:sSupPr>
                      <m:e>
                        <m:r>
                          <a:rPr lang="en-US" sz="2800" i="1" smtClean="0">
                            <a:latin typeface="Cambria Math" panose="02040503050406030204" pitchFamily="18" charset="0"/>
                            <a:ea typeface="Cambria Math" panose="02040503050406030204" pitchFamily="18" charset="0"/>
                          </a:rPr>
                          <m:t>𝜇</m:t>
                        </m:r>
                      </m:e>
                      <m:sup>
                        <m:r>
                          <a:rPr lang="en-US" sz="2800" b="0" i="1" smtClean="0">
                            <a:latin typeface="Cambria Math" panose="02040503050406030204" pitchFamily="18" charset="0"/>
                          </a:rPr>
                          <m:t>−</m:t>
                        </m:r>
                      </m:sup>
                    </m:sSup>
                    <m:sSup>
                      <m:sSupPr>
                        <m:ctrlPr>
                          <a:rPr lang="en-US" sz="2800" i="1" smtClean="0">
                            <a:latin typeface="Cambria Math" panose="02040503050406030204" pitchFamily="18" charset="0"/>
                          </a:rPr>
                        </m:ctrlPr>
                      </m:sSupPr>
                      <m:e>
                        <m:r>
                          <a:rPr lang="en-US" sz="2800" b="0" i="1" smtClean="0">
                            <a:latin typeface="Cambria Math" panose="02040503050406030204" pitchFamily="18" charset="0"/>
                          </a:rPr>
                          <m:t>𝑒</m:t>
                        </m:r>
                      </m:e>
                      <m:sup>
                        <m:r>
                          <a:rPr lang="en-US" sz="2800" b="0" i="1" smtClean="0">
                            <a:latin typeface="Cambria Math" panose="02040503050406030204" pitchFamily="18" charset="0"/>
                          </a:rPr>
                          <m:t>−</m:t>
                        </m:r>
                      </m:sup>
                    </m:sSup>
                    <m:r>
                      <a:rPr lang="en-US" sz="2800" i="1" smtClean="0">
                        <a:latin typeface="Cambria Math" panose="02040503050406030204" pitchFamily="18" charset="0"/>
                        <a:ea typeface="Cambria Math" panose="02040503050406030204" pitchFamily="18" charset="0"/>
                      </a:rPr>
                      <m:t>→</m:t>
                    </m:r>
                    <m:sSup>
                      <m:sSupPr>
                        <m:ctrlPr>
                          <a:rPr lang="en-US" sz="2800" i="1" smtClean="0">
                            <a:latin typeface="Cambria Math" panose="02040503050406030204" pitchFamily="18" charset="0"/>
                            <a:ea typeface="Cambria Math" panose="02040503050406030204" pitchFamily="18" charset="0"/>
                          </a:rPr>
                        </m:ctrlPr>
                      </m:sSupPr>
                      <m:e>
                        <m:r>
                          <a:rPr lang="en-US" sz="2800" b="0" i="1" smtClean="0">
                            <a:latin typeface="Cambria Math" panose="02040503050406030204" pitchFamily="18" charset="0"/>
                            <a:ea typeface="Cambria Math" panose="02040503050406030204" pitchFamily="18" charset="0"/>
                          </a:rPr>
                          <m:t>𝑒</m:t>
                        </m:r>
                      </m:e>
                      <m:sup>
                        <m:r>
                          <a:rPr lang="en-US" sz="2800" b="0" i="1" smtClean="0">
                            <a:latin typeface="Cambria Math" panose="02040503050406030204" pitchFamily="18" charset="0"/>
                            <a:ea typeface="Cambria Math" panose="02040503050406030204" pitchFamily="18" charset="0"/>
                          </a:rPr>
                          <m:t>−</m:t>
                        </m:r>
                      </m:sup>
                    </m:sSup>
                    <m:sSup>
                      <m:sSupPr>
                        <m:ctrlPr>
                          <a:rPr lang="en-US" sz="2800" i="1" smtClean="0">
                            <a:latin typeface="Cambria Math" panose="02040503050406030204" pitchFamily="18" charset="0"/>
                            <a:ea typeface="Cambria Math" panose="02040503050406030204" pitchFamily="18" charset="0"/>
                          </a:rPr>
                        </m:ctrlPr>
                      </m:sSupPr>
                      <m:e>
                        <m:r>
                          <a:rPr lang="en-US" sz="2800" b="0" i="1" smtClean="0">
                            <a:latin typeface="Cambria Math" panose="02040503050406030204" pitchFamily="18" charset="0"/>
                            <a:ea typeface="Cambria Math" panose="02040503050406030204" pitchFamily="18" charset="0"/>
                          </a:rPr>
                          <m:t>𝑒</m:t>
                        </m:r>
                      </m:e>
                      <m:sup>
                        <m:r>
                          <a:rPr lang="en-US" sz="2800" b="0" i="1" smtClean="0">
                            <a:latin typeface="Cambria Math" panose="02040503050406030204" pitchFamily="18" charset="0"/>
                            <a:ea typeface="Cambria Math" panose="02040503050406030204" pitchFamily="18" charset="0"/>
                          </a:rPr>
                          <m:t>−</m:t>
                        </m:r>
                      </m:sup>
                    </m:sSup>
                  </m:oMath>
                </a14:m>
                <a:r>
                  <a:rPr lang="en-US" sz="2800" b="1" dirty="0"/>
                  <a:t> </a:t>
                </a:r>
                <a:r>
                  <a:rPr lang="en-US" sz="2800" dirty="0"/>
                  <a:t>process in Mu2e.</a:t>
                </a:r>
                <a:endParaRPr lang="en-US" sz="2800" b="1" dirty="0"/>
              </a:p>
            </p:txBody>
          </p:sp>
        </mc:Choice>
        <mc:Fallback>
          <p:sp>
            <p:nvSpPr>
              <p:cNvPr id="16" name="TextBox 15">
                <a:extLst>
                  <a:ext uri="{FF2B5EF4-FFF2-40B4-BE49-F238E27FC236}">
                    <a16:creationId xmlns:a16="http://schemas.microsoft.com/office/drawing/2014/main" id="{AF1A2A48-71C1-C80E-07BF-D5A9613209BC}"/>
                  </a:ext>
                </a:extLst>
              </p:cNvPr>
              <p:cNvSpPr txBox="1">
                <a:spLocks noRot="1" noChangeAspect="1" noMove="1" noResize="1" noEditPoints="1" noAdjustHandles="1" noChangeArrowheads="1" noChangeShapeType="1" noTextEdit="1"/>
              </p:cNvSpPr>
              <p:nvPr/>
            </p:nvSpPr>
            <p:spPr>
              <a:xfrm>
                <a:off x="363166" y="754099"/>
                <a:ext cx="11465668" cy="954107"/>
              </a:xfrm>
              <a:prstGeom prst="rect">
                <a:avLst/>
              </a:prstGeom>
              <a:blipFill>
                <a:blip r:embed="rId2"/>
                <a:stretch>
                  <a:fillRect t="-6579" b="-18421"/>
                </a:stretch>
              </a:blipFill>
              <a:ln>
                <a:solidFill>
                  <a:schemeClr val="tx1"/>
                </a:solidFill>
              </a:ln>
            </p:spPr>
            <p:txBody>
              <a:bodyPr/>
              <a:lstStyle/>
              <a:p>
                <a:r>
                  <a:rPr lang="en-US">
                    <a:noFill/>
                  </a:rPr>
                  <a:t> </a:t>
                </a:r>
              </a:p>
            </p:txBody>
          </p:sp>
        </mc:Fallback>
      </mc:AlternateContent>
      <p:sp>
        <p:nvSpPr>
          <p:cNvPr id="17" name="TextBox 16">
            <a:extLst>
              <a:ext uri="{FF2B5EF4-FFF2-40B4-BE49-F238E27FC236}">
                <a16:creationId xmlns:a16="http://schemas.microsoft.com/office/drawing/2014/main" id="{F6FBA1E8-0AB6-15B0-DFFA-22B3483BCF98}"/>
              </a:ext>
            </a:extLst>
          </p:cNvPr>
          <p:cNvSpPr txBox="1"/>
          <p:nvPr/>
        </p:nvSpPr>
        <p:spPr>
          <a:xfrm>
            <a:off x="278859" y="2527900"/>
            <a:ext cx="2405975" cy="1815882"/>
          </a:xfrm>
          <a:prstGeom prst="rect">
            <a:avLst/>
          </a:prstGeom>
          <a:noFill/>
        </p:spPr>
        <p:txBody>
          <a:bodyPr wrap="square" rtlCol="0">
            <a:spAutoFit/>
          </a:bodyPr>
          <a:lstStyle/>
          <a:p>
            <a:pPr algn="ctr"/>
            <a:r>
              <a:rPr lang="en-US" sz="2800" dirty="0">
                <a:ln>
                  <a:solidFill>
                    <a:schemeClr val="accent1">
                      <a:shade val="15000"/>
                    </a:schemeClr>
                  </a:solidFill>
                </a:ln>
                <a:solidFill>
                  <a:schemeClr val="bg1"/>
                </a:solidFill>
              </a:rPr>
              <a:t>Theoretical Motivation and Physics Arguments</a:t>
            </a:r>
          </a:p>
        </p:txBody>
      </p:sp>
      <p:sp>
        <p:nvSpPr>
          <p:cNvPr id="21" name="Rectangle 20">
            <a:extLst>
              <a:ext uri="{FF2B5EF4-FFF2-40B4-BE49-F238E27FC236}">
                <a16:creationId xmlns:a16="http://schemas.microsoft.com/office/drawing/2014/main" id="{619B08DD-7755-7151-F15A-5ADC1D9D7174}"/>
              </a:ext>
            </a:extLst>
          </p:cNvPr>
          <p:cNvSpPr/>
          <p:nvPr/>
        </p:nvSpPr>
        <p:spPr>
          <a:xfrm>
            <a:off x="3333343" y="2373548"/>
            <a:ext cx="2405975" cy="2127115"/>
          </a:xfrm>
          <a:prstGeom prst="rect">
            <a:avLst/>
          </a:prstGeom>
          <a:solidFill>
            <a:srgbClr val="C00000">
              <a:alpha val="81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18" name="TextBox 17">
            <a:extLst>
              <a:ext uri="{FF2B5EF4-FFF2-40B4-BE49-F238E27FC236}">
                <a16:creationId xmlns:a16="http://schemas.microsoft.com/office/drawing/2014/main" id="{CC67A585-F0B1-BFE2-071E-D20F2A2CAE62}"/>
              </a:ext>
            </a:extLst>
          </p:cNvPr>
          <p:cNvSpPr txBox="1"/>
          <p:nvPr/>
        </p:nvSpPr>
        <p:spPr>
          <a:xfrm>
            <a:off x="3333343" y="2521415"/>
            <a:ext cx="2405975" cy="1815882"/>
          </a:xfrm>
          <a:prstGeom prst="rect">
            <a:avLst/>
          </a:prstGeom>
          <a:noFill/>
        </p:spPr>
        <p:txBody>
          <a:bodyPr wrap="square" rtlCol="0">
            <a:spAutoFit/>
          </a:bodyPr>
          <a:lstStyle/>
          <a:p>
            <a:pPr algn="ctr"/>
            <a:r>
              <a:rPr lang="en-US" sz="2800" dirty="0">
                <a:ln>
                  <a:solidFill>
                    <a:schemeClr val="accent1">
                      <a:shade val="15000"/>
                    </a:schemeClr>
                  </a:solidFill>
                </a:ln>
                <a:solidFill>
                  <a:schemeClr val="bg1"/>
                </a:solidFill>
              </a:rPr>
              <a:t>Mu2e Experiment and Opportunity</a:t>
            </a:r>
          </a:p>
        </p:txBody>
      </p:sp>
      <p:sp>
        <p:nvSpPr>
          <p:cNvPr id="19" name="TextBox 18">
            <a:extLst>
              <a:ext uri="{FF2B5EF4-FFF2-40B4-BE49-F238E27FC236}">
                <a16:creationId xmlns:a16="http://schemas.microsoft.com/office/drawing/2014/main" id="{280BA80C-8A45-C97A-C385-1818D3034334}"/>
              </a:ext>
            </a:extLst>
          </p:cNvPr>
          <p:cNvSpPr txBox="1"/>
          <p:nvPr/>
        </p:nvSpPr>
        <p:spPr>
          <a:xfrm>
            <a:off x="6452682" y="2741907"/>
            <a:ext cx="2405974" cy="1384995"/>
          </a:xfrm>
          <a:prstGeom prst="rect">
            <a:avLst/>
          </a:prstGeom>
          <a:noFill/>
        </p:spPr>
        <p:txBody>
          <a:bodyPr wrap="square" rtlCol="0">
            <a:spAutoFit/>
          </a:bodyPr>
          <a:lstStyle/>
          <a:p>
            <a:pPr algn="ctr"/>
            <a:r>
              <a:rPr lang="en-US" sz="2800" dirty="0">
                <a:ln>
                  <a:solidFill>
                    <a:schemeClr val="accent1">
                      <a:shade val="15000"/>
                    </a:schemeClr>
                  </a:solidFill>
                </a:ln>
                <a:solidFill>
                  <a:schemeClr val="bg1"/>
                </a:solidFill>
              </a:rPr>
              <a:t>Initial Investigation Progress</a:t>
            </a:r>
          </a:p>
        </p:txBody>
      </p:sp>
      <p:sp>
        <p:nvSpPr>
          <p:cNvPr id="20" name="TextBox 19">
            <a:extLst>
              <a:ext uri="{FF2B5EF4-FFF2-40B4-BE49-F238E27FC236}">
                <a16:creationId xmlns:a16="http://schemas.microsoft.com/office/drawing/2014/main" id="{AC454151-2760-C681-EF06-9F05AE0696B3}"/>
              </a:ext>
            </a:extLst>
          </p:cNvPr>
          <p:cNvSpPr txBox="1"/>
          <p:nvPr/>
        </p:nvSpPr>
        <p:spPr>
          <a:xfrm>
            <a:off x="9507166" y="2738296"/>
            <a:ext cx="2405974" cy="1384995"/>
          </a:xfrm>
          <a:prstGeom prst="rect">
            <a:avLst/>
          </a:prstGeom>
          <a:noFill/>
        </p:spPr>
        <p:txBody>
          <a:bodyPr wrap="square" rtlCol="0">
            <a:spAutoFit/>
          </a:bodyPr>
          <a:lstStyle/>
          <a:p>
            <a:pPr algn="ctr"/>
            <a:r>
              <a:rPr lang="en-US" sz="2800" dirty="0">
                <a:ln>
                  <a:solidFill>
                    <a:schemeClr val="accent1">
                      <a:shade val="15000"/>
                    </a:schemeClr>
                  </a:solidFill>
                </a:ln>
                <a:solidFill>
                  <a:schemeClr val="bg1"/>
                </a:solidFill>
              </a:rPr>
              <a:t>Dissertation Plan and Feasibility</a:t>
            </a:r>
          </a:p>
        </p:txBody>
      </p:sp>
      <p:sp>
        <p:nvSpPr>
          <p:cNvPr id="26" name="Right Arrow 25">
            <a:extLst>
              <a:ext uri="{FF2B5EF4-FFF2-40B4-BE49-F238E27FC236}">
                <a16:creationId xmlns:a16="http://schemas.microsoft.com/office/drawing/2014/main" id="{5ECB8989-19DA-6673-C060-AB8B1C606D1D}"/>
              </a:ext>
            </a:extLst>
          </p:cNvPr>
          <p:cNvSpPr/>
          <p:nvPr/>
        </p:nvSpPr>
        <p:spPr>
          <a:xfrm>
            <a:off x="2717260" y="3288501"/>
            <a:ext cx="577172" cy="280998"/>
          </a:xfrm>
          <a:prstGeom prst="right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ight Arrow 29">
            <a:extLst>
              <a:ext uri="{FF2B5EF4-FFF2-40B4-BE49-F238E27FC236}">
                <a16:creationId xmlns:a16="http://schemas.microsoft.com/office/drawing/2014/main" id="{4049F844-722E-172D-A515-EDA70D68F238}"/>
              </a:ext>
            </a:extLst>
          </p:cNvPr>
          <p:cNvSpPr/>
          <p:nvPr/>
        </p:nvSpPr>
        <p:spPr>
          <a:xfrm>
            <a:off x="5810655" y="3288501"/>
            <a:ext cx="577172" cy="280998"/>
          </a:xfrm>
          <a:prstGeom prst="right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ight Arrow 30">
            <a:extLst>
              <a:ext uri="{FF2B5EF4-FFF2-40B4-BE49-F238E27FC236}">
                <a16:creationId xmlns:a16="http://schemas.microsoft.com/office/drawing/2014/main" id="{7FA953D4-5116-0666-0EC2-74D141633B3D}"/>
              </a:ext>
            </a:extLst>
          </p:cNvPr>
          <p:cNvSpPr/>
          <p:nvPr/>
        </p:nvSpPr>
        <p:spPr>
          <a:xfrm>
            <a:off x="8897568" y="3295342"/>
            <a:ext cx="577172" cy="280998"/>
          </a:xfrm>
          <a:prstGeom prst="right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983290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CCA332-8AD9-D920-5DDD-DB6A3CFB3F35}"/>
              </a:ext>
            </a:extLst>
          </p:cNvPr>
          <p:cNvSpPr>
            <a:spLocks noGrp="1"/>
          </p:cNvSpPr>
          <p:nvPr>
            <p:ph type="title"/>
          </p:nvPr>
        </p:nvSpPr>
        <p:spPr/>
        <p:txBody>
          <a:bodyPr/>
          <a:lstStyle/>
          <a:p>
            <a:r>
              <a:rPr lang="en-US" dirty="0"/>
              <a:t>Theoretical Motivation</a:t>
            </a:r>
          </a:p>
        </p:txBody>
      </p:sp>
      <p:sp>
        <p:nvSpPr>
          <p:cNvPr id="3" name="Text Placeholder 2">
            <a:extLst>
              <a:ext uri="{FF2B5EF4-FFF2-40B4-BE49-F238E27FC236}">
                <a16:creationId xmlns:a16="http://schemas.microsoft.com/office/drawing/2014/main" id="{5DD99F40-0606-45BC-B3FF-4A6F5EFB4DEA}"/>
              </a:ext>
            </a:extLst>
          </p:cNvPr>
          <p:cNvSpPr>
            <a:spLocks noGrp="1"/>
          </p:cNvSpPr>
          <p:nvPr>
            <p:ph type="body" idx="1"/>
          </p:nvPr>
        </p:nvSpPr>
        <p:spPr/>
        <p:txBody>
          <a:bodyPr/>
          <a:lstStyle/>
          <a:p>
            <a:endParaRPr lang="en-US" dirty="0"/>
          </a:p>
        </p:txBody>
      </p:sp>
      <p:sp>
        <p:nvSpPr>
          <p:cNvPr id="5" name="Footer Placeholder 4">
            <a:extLst>
              <a:ext uri="{FF2B5EF4-FFF2-40B4-BE49-F238E27FC236}">
                <a16:creationId xmlns:a16="http://schemas.microsoft.com/office/drawing/2014/main" id="{F03599A0-AD5C-762A-1521-8A1BBCA31A5F}"/>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08814B3D-D399-16FE-F903-639EFF7B7335}"/>
              </a:ext>
            </a:extLst>
          </p:cNvPr>
          <p:cNvSpPr>
            <a:spLocks noGrp="1"/>
          </p:cNvSpPr>
          <p:nvPr>
            <p:ph type="sldNum" sz="quarter" idx="12"/>
          </p:nvPr>
        </p:nvSpPr>
        <p:spPr/>
        <p:txBody>
          <a:bodyPr/>
          <a:lstStyle/>
          <a:p>
            <a:fld id="{C0E0CB54-3DBF-E947-906E-85E307CF7971}" type="slidenum">
              <a:rPr lang="en-US" smtClean="0"/>
              <a:t>3</a:t>
            </a:fld>
            <a:endParaRPr lang="en-US"/>
          </a:p>
        </p:txBody>
      </p:sp>
    </p:spTree>
    <p:extLst>
      <p:ext uri="{BB962C8B-B14F-4D97-AF65-F5344CB8AC3E}">
        <p14:creationId xmlns:p14="http://schemas.microsoft.com/office/powerpoint/2010/main" val="3071422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26209EC7-1D2D-AD08-833B-AE136434F90D}"/>
              </a:ext>
            </a:extLst>
          </p:cNvPr>
          <p:cNvPicPr>
            <a:picLocks noGrp="1" noChangeAspect="1"/>
          </p:cNvPicPr>
          <p:nvPr>
            <p:ph idx="1"/>
          </p:nvPr>
        </p:nvPicPr>
        <p:blipFill>
          <a:blip r:embed="rId2"/>
          <a:stretch>
            <a:fillRect/>
          </a:stretch>
        </p:blipFill>
        <p:spPr>
          <a:xfrm>
            <a:off x="-4549" y="424543"/>
            <a:ext cx="6011989" cy="5753100"/>
          </a:xfrm>
          <a:prstGeom prst="rect">
            <a:avLst/>
          </a:prstGeom>
        </p:spPr>
      </p:pic>
      <p:sp>
        <p:nvSpPr>
          <p:cNvPr id="5" name="Footer Placeholder 4">
            <a:extLst>
              <a:ext uri="{FF2B5EF4-FFF2-40B4-BE49-F238E27FC236}">
                <a16:creationId xmlns:a16="http://schemas.microsoft.com/office/drawing/2014/main" id="{1F356C43-9187-1D95-38CE-90813B843A4F}"/>
              </a:ext>
            </a:extLst>
          </p:cNvPr>
          <p:cNvSpPr>
            <a:spLocks noGrp="1"/>
          </p:cNvSpPr>
          <p:nvPr>
            <p:ph type="ftr" sz="quarter" idx="11"/>
          </p:nvPr>
        </p:nvSpPr>
        <p:spPr>
          <a:xfrm>
            <a:off x="4038600" y="6492875"/>
            <a:ext cx="4114800" cy="365125"/>
          </a:xfrm>
        </p:spPr>
        <p:txBody>
          <a:bodyPr/>
          <a:lstStyle/>
          <a:p>
            <a:r>
              <a:rPr lang="en-US" dirty="0"/>
              <a:t>Boldy Sensitivity Study Mu2e</a:t>
            </a:r>
          </a:p>
        </p:txBody>
      </p:sp>
      <p:sp>
        <p:nvSpPr>
          <p:cNvPr id="6" name="Slide Number Placeholder 5">
            <a:extLst>
              <a:ext uri="{FF2B5EF4-FFF2-40B4-BE49-F238E27FC236}">
                <a16:creationId xmlns:a16="http://schemas.microsoft.com/office/drawing/2014/main" id="{D86C6CBE-50E4-BD42-75A7-63B22C87132A}"/>
              </a:ext>
            </a:extLst>
          </p:cNvPr>
          <p:cNvSpPr>
            <a:spLocks noGrp="1"/>
          </p:cNvSpPr>
          <p:nvPr>
            <p:ph type="sldNum" sz="quarter" idx="12"/>
          </p:nvPr>
        </p:nvSpPr>
        <p:spPr/>
        <p:txBody>
          <a:bodyPr/>
          <a:lstStyle/>
          <a:p>
            <a:fld id="{C0E0CB54-3DBF-E947-906E-85E307CF7971}" type="slidenum">
              <a:rPr lang="en-US" smtClean="0"/>
              <a:t>4</a:t>
            </a:fld>
            <a:endParaRPr lang="en-US"/>
          </a:p>
        </p:txBody>
      </p:sp>
      <p:sp>
        <p:nvSpPr>
          <p:cNvPr id="8" name="Title 1">
            <a:extLst>
              <a:ext uri="{FF2B5EF4-FFF2-40B4-BE49-F238E27FC236}">
                <a16:creationId xmlns:a16="http://schemas.microsoft.com/office/drawing/2014/main" id="{ACC302B8-E003-5FBF-8535-6F8D3B2E6A23}"/>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The Standard Model of Particle Physics</a:t>
            </a:r>
          </a:p>
        </p:txBody>
      </p:sp>
      <p:sp>
        <p:nvSpPr>
          <p:cNvPr id="7" name="TextBox 6">
            <a:extLst>
              <a:ext uri="{FF2B5EF4-FFF2-40B4-BE49-F238E27FC236}">
                <a16:creationId xmlns:a16="http://schemas.microsoft.com/office/drawing/2014/main" id="{99905CEC-1FD0-51BE-F2D3-E8DE82709A78}"/>
              </a:ext>
            </a:extLst>
          </p:cNvPr>
          <p:cNvSpPr txBox="1"/>
          <p:nvPr/>
        </p:nvSpPr>
        <p:spPr>
          <a:xfrm>
            <a:off x="6160004" y="0"/>
            <a:ext cx="5663821" cy="6740307"/>
          </a:xfrm>
          <a:prstGeom prst="rect">
            <a:avLst/>
          </a:prstGeom>
          <a:noFill/>
        </p:spPr>
        <p:txBody>
          <a:bodyPr wrap="square" rtlCol="0">
            <a:spAutoFit/>
          </a:bodyPr>
          <a:lstStyle/>
          <a:p>
            <a:pPr marL="285750" indent="-285750">
              <a:buFont typeface="Arial" panose="020B0604020202020204" pitchFamily="34" charset="0"/>
              <a:buChar char="•"/>
            </a:pPr>
            <a:r>
              <a:rPr lang="en-US" dirty="0"/>
              <a:t>Matter Particles: fermions</a:t>
            </a:r>
          </a:p>
          <a:p>
            <a:pPr marL="742950" lvl="1" indent="-285750">
              <a:buFont typeface="Arial" panose="020B0604020202020204" pitchFamily="34" charset="0"/>
              <a:buChar char="•"/>
            </a:pPr>
            <a:r>
              <a:rPr lang="en-US" dirty="0"/>
              <a:t>Quarks (positively and negatively charged)</a:t>
            </a:r>
          </a:p>
          <a:p>
            <a:pPr marL="742950" lvl="1" indent="-285750">
              <a:buFont typeface="Arial" panose="020B0604020202020204" pitchFamily="34" charset="0"/>
              <a:buChar char="•"/>
            </a:pPr>
            <a:r>
              <a:rPr lang="en-US" dirty="0"/>
              <a:t>Leptons (charged and uncharged)</a:t>
            </a:r>
          </a:p>
          <a:p>
            <a:pPr marL="285750" indent="-285750">
              <a:buFont typeface="Arial" panose="020B0604020202020204" pitchFamily="34" charset="0"/>
              <a:buChar char="•"/>
            </a:pPr>
            <a:r>
              <a:rPr lang="en-US" dirty="0"/>
              <a:t>Interaction Particles: bosons</a:t>
            </a:r>
          </a:p>
          <a:p>
            <a:pPr marL="742950" lvl="1" indent="-285750">
              <a:buFont typeface="Arial" panose="020B0604020202020204" pitchFamily="34" charset="0"/>
              <a:buChar char="•"/>
            </a:pPr>
            <a:r>
              <a:rPr lang="en-US" dirty="0"/>
              <a:t>Gluons</a:t>
            </a:r>
          </a:p>
          <a:p>
            <a:pPr marL="742950" lvl="1" indent="-285750">
              <a:buFont typeface="Arial" panose="020B0604020202020204" pitchFamily="34" charset="0"/>
              <a:buChar char="•"/>
            </a:pPr>
            <a:r>
              <a:rPr lang="en-US" dirty="0"/>
              <a:t>Photon</a:t>
            </a:r>
          </a:p>
          <a:p>
            <a:pPr marL="742950" lvl="1" indent="-285750">
              <a:buFont typeface="Arial" panose="020B0604020202020204" pitchFamily="34" charset="0"/>
              <a:buChar char="•"/>
            </a:pPr>
            <a:r>
              <a:rPr lang="en-US" dirty="0"/>
              <a:t>Z boson</a:t>
            </a:r>
          </a:p>
          <a:p>
            <a:pPr marL="742950" lvl="1" indent="-285750">
              <a:buFont typeface="Arial" panose="020B0604020202020204" pitchFamily="34" charset="0"/>
              <a:buChar char="•"/>
            </a:pPr>
            <a:r>
              <a:rPr lang="en-US" dirty="0"/>
              <a:t>W bosons</a:t>
            </a:r>
          </a:p>
          <a:p>
            <a:pPr marL="285750" indent="-285750">
              <a:buFont typeface="Arial" panose="020B0604020202020204" pitchFamily="34" charset="0"/>
              <a:buChar char="•"/>
            </a:pPr>
            <a:r>
              <a:rPr lang="en-US" dirty="0"/>
              <a:t>Higgs Boson (responsible for masses)</a:t>
            </a:r>
          </a:p>
          <a:p>
            <a:endParaRPr lang="en-US" dirty="0"/>
          </a:p>
          <a:p>
            <a:pPr marL="285750" indent="-285750">
              <a:buFont typeface="Arial" panose="020B0604020202020204" pitchFamily="34" charset="0"/>
              <a:buChar char="•"/>
            </a:pPr>
            <a:r>
              <a:rPr lang="en-US" dirty="0"/>
              <a:t>Matter particles have flavor (distinguishing quantum numbers)</a:t>
            </a:r>
          </a:p>
          <a:p>
            <a:pPr marL="742950" lvl="1" indent="-285750">
              <a:buFont typeface="Arial" panose="020B0604020202020204" pitchFamily="34" charset="0"/>
              <a:buChar char="•"/>
            </a:pPr>
            <a:r>
              <a:rPr lang="en-US" dirty="0"/>
              <a:t>Quark flavors: up, charm, and  top (+ charge), down, strange, and bottom (- charge)</a:t>
            </a:r>
          </a:p>
          <a:p>
            <a:pPr marL="742950" lvl="1" indent="-285750">
              <a:buFont typeface="Arial" panose="020B0604020202020204" pitchFamily="34" charset="0"/>
              <a:buChar char="•"/>
            </a:pPr>
            <a:r>
              <a:rPr lang="en-US" dirty="0"/>
              <a:t>Charged Lepton flavors: electron, muon, tau</a:t>
            </a:r>
          </a:p>
          <a:p>
            <a:pPr marL="742950" lvl="1" indent="-285750">
              <a:buFont typeface="Arial" panose="020B0604020202020204" pitchFamily="34" charset="0"/>
              <a:buChar char="•"/>
            </a:pPr>
            <a:r>
              <a:rPr lang="en-US" dirty="0"/>
              <a:t>Uncharged Lepton flavors: electron neutrino, muon neutrino, tau neutrino</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Fundamental symmetries of Standard Model: gauge group symmetries</a:t>
            </a:r>
          </a:p>
          <a:p>
            <a:pPr marL="285750" indent="-285750">
              <a:buFont typeface="Arial" panose="020B0604020202020204" pitchFamily="34" charset="0"/>
              <a:buChar char="•"/>
            </a:pPr>
            <a:r>
              <a:rPr lang="en-US" dirty="0"/>
              <a:t>Boson number, lepton number, and lepton flavor number considered to be “accidental” symmetry not required by the fundamental group structure </a:t>
            </a:r>
          </a:p>
          <a:p>
            <a:pPr marL="742950" lvl="1" indent="-285750">
              <a:buFont typeface="Arial" panose="020B0604020202020204" pitchFamily="34" charset="0"/>
              <a:buChar char="•"/>
            </a:pPr>
            <a:endParaRPr lang="en-US" dirty="0"/>
          </a:p>
        </p:txBody>
      </p:sp>
      <p:pic>
        <p:nvPicPr>
          <p:cNvPr id="9" name="Picture 8">
            <a:extLst>
              <a:ext uri="{FF2B5EF4-FFF2-40B4-BE49-F238E27FC236}">
                <a16:creationId xmlns:a16="http://schemas.microsoft.com/office/drawing/2014/main" id="{4F0340E1-21BE-68F7-BEDB-0DBFC95C15E2}"/>
              </a:ext>
            </a:extLst>
          </p:cNvPr>
          <p:cNvPicPr>
            <a:picLocks noChangeAspect="1"/>
          </p:cNvPicPr>
          <p:nvPr/>
        </p:nvPicPr>
        <p:blipFill>
          <a:blip r:embed="rId3"/>
          <a:stretch>
            <a:fillRect/>
          </a:stretch>
        </p:blipFill>
        <p:spPr>
          <a:xfrm>
            <a:off x="8406137" y="5290958"/>
            <a:ext cx="3570252" cy="229948"/>
          </a:xfrm>
          <a:prstGeom prst="rect">
            <a:avLst/>
          </a:prstGeom>
        </p:spPr>
      </p:pic>
      <p:sp>
        <p:nvSpPr>
          <p:cNvPr id="10" name="Rectangle 9">
            <a:extLst>
              <a:ext uri="{FF2B5EF4-FFF2-40B4-BE49-F238E27FC236}">
                <a16:creationId xmlns:a16="http://schemas.microsoft.com/office/drawing/2014/main" id="{63566328-0143-B62C-994C-4478F1C47740}"/>
              </a:ext>
            </a:extLst>
          </p:cNvPr>
          <p:cNvSpPr/>
          <p:nvPr/>
        </p:nvSpPr>
        <p:spPr>
          <a:xfrm>
            <a:off x="308090" y="3766786"/>
            <a:ext cx="3384645" cy="1173708"/>
          </a:xfrm>
          <a:prstGeom prst="rect">
            <a:avLst/>
          </a:prstGeom>
          <a:noFill/>
          <a:ln w="889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48536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1BBE8-426E-39A4-D6B8-3472AD7EF8A2}"/>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B192C68E-C936-9A15-754E-2DF27318AC25}"/>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FCD2FAC0-6B29-7EAE-2E5E-B78AD921B7E6}"/>
              </a:ext>
            </a:extLst>
          </p:cNvPr>
          <p:cNvSpPr>
            <a:spLocks noGrp="1"/>
          </p:cNvSpPr>
          <p:nvPr>
            <p:ph type="sldNum" sz="quarter" idx="12"/>
          </p:nvPr>
        </p:nvSpPr>
        <p:spPr/>
        <p:txBody>
          <a:bodyPr/>
          <a:lstStyle/>
          <a:p>
            <a:fld id="{C0E0CB54-3DBF-E947-906E-85E307CF7971}" type="slidenum">
              <a:rPr lang="en-US" smtClean="0"/>
              <a:t>5</a:t>
            </a:fld>
            <a:endParaRPr lang="en-US"/>
          </a:p>
        </p:txBody>
      </p:sp>
      <p:sp>
        <p:nvSpPr>
          <p:cNvPr id="4" name="Title 1">
            <a:extLst>
              <a:ext uri="{FF2B5EF4-FFF2-40B4-BE49-F238E27FC236}">
                <a16:creationId xmlns:a16="http://schemas.microsoft.com/office/drawing/2014/main" id="{10B722E4-0316-7361-9CD2-ACD71F653C86}"/>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Effective Field Theory and Description of Approaches</a:t>
            </a:r>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9DF9A49E-9D1D-4DFA-95BF-84D85AC554A8}"/>
                  </a:ext>
                </a:extLst>
              </p:cNvPr>
              <p:cNvSpPr txBox="1"/>
              <p:nvPr/>
            </p:nvSpPr>
            <p:spPr>
              <a:xfrm>
                <a:off x="304801" y="487272"/>
                <a:ext cx="11835319" cy="5355312"/>
              </a:xfrm>
              <a:prstGeom prst="rect">
                <a:avLst/>
              </a:prstGeom>
              <a:noFill/>
            </p:spPr>
            <p:txBody>
              <a:bodyPr wrap="square" rtlCol="0">
                <a:spAutoFit/>
              </a:bodyPr>
              <a:lstStyle/>
              <a:p>
                <a:r>
                  <a:rPr lang="en-US" dirty="0"/>
                  <a:t>Effective field theory (EFT) provides a model-independent description of low-energy charged-lepton-flavor violation without specifying the underlying high-energy BSM theory.</a:t>
                </a:r>
              </a:p>
              <a:p>
                <a:r>
                  <a:rPr lang="en-US" dirty="0"/>
                  <a:t>•The Standard Model is treated as the low-energy leading description of known particle interactions.</a:t>
                </a:r>
              </a:p>
              <a:p>
                <a:r>
                  <a:rPr lang="en-US" dirty="0"/>
                  <a:t>• Effective field theory extends this description by adding higher-dimension operators that represent the low-energy effects of unknown physics beyond the Standard Model.</a:t>
                </a:r>
              </a:p>
              <a:p>
                <a:r>
                  <a:rPr lang="en-US" dirty="0"/>
                  <a:t>• The effective Lagrangian is written as</a:t>
                </a:r>
              </a:p>
              <a:p>
                <a:endParaRPr lang="en-US" dirty="0"/>
              </a:p>
              <a:p>
                <a:r>
                  <a:rPr lang="en-US" dirty="0"/>
                  <a:t>where </a:t>
                </a:r>
                <a14:m>
                  <m:oMath xmlns:m="http://schemas.openxmlformats.org/officeDocument/2006/math">
                    <m:sSub>
                      <m:sSubPr>
                        <m:ctrlPr>
                          <a:rPr lang="en-US"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𝒪</m:t>
                        </m:r>
                      </m:e>
                      <m:sub>
                        <m:r>
                          <a:rPr lang="en-US" b="0" i="1" smtClean="0">
                            <a:latin typeface="Cambria Math" panose="02040503050406030204" pitchFamily="18" charset="0"/>
                            <a:ea typeface="Cambria Math" panose="02040503050406030204" pitchFamily="18" charset="0"/>
                          </a:rPr>
                          <m:t>𝑖</m:t>
                        </m:r>
                      </m:sub>
                    </m:sSub>
                  </m:oMath>
                </a14:m>
                <a:r>
                  <a:rPr lang="en-US" dirty="0"/>
                  <a:t> are allowed operators preserving symmetry,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oMath>
                </a14:m>
                <a:r>
                  <a:rPr lang="en-US" dirty="0"/>
                  <a:t> are dimensionless Wilson coefficients, and </a:t>
                </a:r>
                <a14:m>
                  <m:oMath xmlns:m="http://schemas.openxmlformats.org/officeDocument/2006/math">
                    <m:r>
                      <m:rPr>
                        <m:sty m:val="p"/>
                      </m:rPr>
                      <a:rPr lang="el-GR" i="1" smtClean="0">
                        <a:latin typeface="Cambria Math" panose="02040503050406030204" pitchFamily="18" charset="0"/>
                        <a:ea typeface="Cambria Math" panose="02040503050406030204" pitchFamily="18" charset="0"/>
                      </a:rPr>
                      <m:t>Λ</m:t>
                    </m:r>
                  </m:oMath>
                </a14:m>
                <a:r>
                  <a:rPr lang="el-GR" dirty="0"/>
                  <a:t> </a:t>
                </a:r>
                <a:r>
                  <a:rPr lang="en-US" dirty="0"/>
                  <a:t>is the scale of new physics.</a:t>
                </a:r>
              </a:p>
              <a:p>
                <a:r>
                  <a:rPr lang="en-US" dirty="0"/>
                  <a:t>• Higher-dimension operators are suppressed by powers of </a:t>
                </a:r>
                <a14:m>
                  <m:oMath xmlns:m="http://schemas.openxmlformats.org/officeDocument/2006/math">
                    <m:r>
                      <m:rPr>
                        <m:sty m:val="p"/>
                      </m:rPr>
                      <a:rPr lang="el-GR" i="1">
                        <a:latin typeface="Cambria Math" panose="02040503050406030204" pitchFamily="18" charset="0"/>
                        <a:ea typeface="Cambria Math" panose="02040503050406030204" pitchFamily="18" charset="0"/>
                      </a:rPr>
                      <m:t>Λ</m:t>
                    </m:r>
                  </m:oMath>
                </a14:m>
                <a:r>
                  <a:rPr lang="el-GR" dirty="0"/>
                  <a:t>, </a:t>
                </a:r>
                <a:r>
                  <a:rPr lang="en-US" dirty="0"/>
                  <a:t>so their effects are expected to be small at energies well below the new-physics scale.</a:t>
                </a:r>
              </a:p>
              <a:p>
                <a:r>
                  <a:rPr lang="en-US" dirty="0"/>
                  <a:t>• The operator basis is constrained by the symmetries imposed on the theory, while the Wilson coefficients encode the possible strength and structure of new interactions.</a:t>
                </a:r>
              </a:p>
              <a:p>
                <a:r>
                  <a:rPr lang="en-US" dirty="0"/>
                  <a:t>• EFT allows many possible BSM models to be studied within one common, model-independent framework.</a:t>
                </a:r>
              </a:p>
              <a:p>
                <a:r>
                  <a:rPr lang="en-US" dirty="0"/>
                  <a:t>• For </a:t>
                </a:r>
                <a:r>
                  <a:rPr lang="el-GR" dirty="0"/>
                  <a:t>μ⁻</a:t>
                </a:r>
                <a:r>
                  <a:rPr lang="en-US" dirty="0"/>
                  <a:t>e⁻ → </a:t>
                </a:r>
                <a:r>
                  <a:rPr lang="en-US" dirty="0" err="1"/>
                  <a:t>e⁻e</a:t>
                </a:r>
                <a:r>
                  <a:rPr lang="en-US" dirty="0"/>
                  <a:t>⁻, EFT introduces CLFV photonic dipole and four-lepton contact operators that are absent from the renormalizable Standard Model.</a:t>
                </a:r>
              </a:p>
              <a:p>
                <a:r>
                  <a:rPr lang="en-US" dirty="0"/>
                  <a:t>• Implication for Mu2e: a sensitivity limit on this process can be interpreted as a constraint on the corresponding CLFV Wilson coefficients and, through them, on broad classes of BSM physics.</a:t>
                </a:r>
              </a:p>
              <a:p>
                <a:endParaRPr lang="en-US" dirty="0"/>
              </a:p>
            </p:txBody>
          </p:sp>
        </mc:Choice>
        <mc:Fallback>
          <p:sp>
            <p:nvSpPr>
              <p:cNvPr id="15" name="TextBox 14">
                <a:extLst>
                  <a:ext uri="{FF2B5EF4-FFF2-40B4-BE49-F238E27FC236}">
                    <a16:creationId xmlns:a16="http://schemas.microsoft.com/office/drawing/2014/main" id="{9DF9A49E-9D1D-4DFA-95BF-84D85AC554A8}"/>
                  </a:ext>
                </a:extLst>
              </p:cNvPr>
              <p:cNvSpPr txBox="1">
                <a:spLocks noRot="1" noChangeAspect="1" noMove="1" noResize="1" noEditPoints="1" noAdjustHandles="1" noChangeArrowheads="1" noChangeShapeType="1" noTextEdit="1"/>
              </p:cNvSpPr>
              <p:nvPr/>
            </p:nvSpPr>
            <p:spPr>
              <a:xfrm>
                <a:off x="304801" y="487272"/>
                <a:ext cx="11835319" cy="5355312"/>
              </a:xfrm>
              <a:prstGeom prst="rect">
                <a:avLst/>
              </a:prstGeom>
              <a:blipFill>
                <a:blip r:embed="rId2"/>
                <a:stretch>
                  <a:fillRect l="-429" t="-474" r="-215"/>
                </a:stretch>
              </a:blipFill>
            </p:spPr>
            <p:txBody>
              <a:bodyPr/>
              <a:lstStyle/>
              <a:p>
                <a:r>
                  <a:rPr lang="en-US">
                    <a:noFill/>
                  </a:rPr>
                  <a:t> </a:t>
                </a:r>
              </a:p>
            </p:txBody>
          </p:sp>
        </mc:Fallback>
      </mc:AlternateContent>
      <p:pic>
        <p:nvPicPr>
          <p:cNvPr id="14" name="Picture 13">
            <a:extLst>
              <a:ext uri="{FF2B5EF4-FFF2-40B4-BE49-F238E27FC236}">
                <a16:creationId xmlns:a16="http://schemas.microsoft.com/office/drawing/2014/main" id="{82718413-757A-3CF1-62D2-C72C756FD5F2}"/>
              </a:ext>
            </a:extLst>
          </p:cNvPr>
          <p:cNvPicPr>
            <a:picLocks noChangeAspect="1"/>
          </p:cNvPicPr>
          <p:nvPr/>
        </p:nvPicPr>
        <p:blipFill>
          <a:blip r:embed="rId3"/>
          <a:stretch>
            <a:fillRect/>
          </a:stretch>
        </p:blipFill>
        <p:spPr>
          <a:xfrm>
            <a:off x="4452025" y="1844817"/>
            <a:ext cx="6901775" cy="521508"/>
          </a:xfrm>
          <a:prstGeom prst="rect">
            <a:avLst/>
          </a:prstGeom>
        </p:spPr>
      </p:pic>
    </p:spTree>
    <p:extLst>
      <p:ext uri="{BB962C8B-B14F-4D97-AF65-F5344CB8AC3E}">
        <p14:creationId xmlns:p14="http://schemas.microsoft.com/office/powerpoint/2010/main" val="29745854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4AB05C-D1ED-58F5-BF6C-BFA57B0D0030}"/>
              </a:ext>
            </a:extLst>
          </p:cNvPr>
          <p:cNvSpPr>
            <a:spLocks noGrp="1"/>
          </p:cNvSpPr>
          <p:nvPr>
            <p:ph idx="1"/>
          </p:nvPr>
        </p:nvSpPr>
        <p:spPr>
          <a:xfrm>
            <a:off x="0" y="424543"/>
            <a:ext cx="12192000" cy="1170794"/>
          </a:xfrm>
        </p:spPr>
        <p:txBody>
          <a:bodyPr/>
          <a:lstStyle/>
          <a:p>
            <a:r>
              <a:rPr lang="en-US" dirty="0"/>
              <a:t>Lepton flavor conservation </a:t>
            </a:r>
            <a:r>
              <a:rPr lang="en-US" dirty="0">
                <a:sym typeface="Wingdings" pitchFamily="2" charset="2"/>
              </a:rPr>
              <a:t> “Accidental symmetry” (not required by the gauge symmetries of the SM</a:t>
            </a:r>
          </a:p>
        </p:txBody>
      </p:sp>
      <p:sp>
        <p:nvSpPr>
          <p:cNvPr id="5" name="Footer Placeholder 4">
            <a:extLst>
              <a:ext uri="{FF2B5EF4-FFF2-40B4-BE49-F238E27FC236}">
                <a16:creationId xmlns:a16="http://schemas.microsoft.com/office/drawing/2014/main" id="{A980BACF-2A07-8166-205D-A9011A2593D2}"/>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89171392-E5AC-CE2F-5495-5F8534D2ECF6}"/>
              </a:ext>
            </a:extLst>
          </p:cNvPr>
          <p:cNvSpPr>
            <a:spLocks noGrp="1"/>
          </p:cNvSpPr>
          <p:nvPr>
            <p:ph type="sldNum" sz="quarter" idx="12"/>
          </p:nvPr>
        </p:nvSpPr>
        <p:spPr/>
        <p:txBody>
          <a:bodyPr/>
          <a:lstStyle/>
          <a:p>
            <a:fld id="{C0E0CB54-3DBF-E947-906E-85E307CF7971}" type="slidenum">
              <a:rPr lang="en-US" smtClean="0"/>
              <a:t>6</a:t>
            </a:fld>
            <a:endParaRPr lang="en-US"/>
          </a:p>
        </p:txBody>
      </p:sp>
      <p:sp>
        <p:nvSpPr>
          <p:cNvPr id="4" name="Title 1">
            <a:extLst>
              <a:ext uri="{FF2B5EF4-FFF2-40B4-BE49-F238E27FC236}">
                <a16:creationId xmlns:a16="http://schemas.microsoft.com/office/drawing/2014/main" id="{9A9F52FC-1594-13EE-16BA-2E65C360A677}"/>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Flavor, Leptons, and Charged Lepton Flavor Violation</a:t>
            </a:r>
          </a:p>
        </p:txBody>
      </p:sp>
      <p:pic>
        <p:nvPicPr>
          <p:cNvPr id="11" name="Picture 10" descr="A green circle with black text and black letters&#10;&#10;AI-generated content may be incorrect.">
            <a:extLst>
              <a:ext uri="{FF2B5EF4-FFF2-40B4-BE49-F238E27FC236}">
                <a16:creationId xmlns:a16="http://schemas.microsoft.com/office/drawing/2014/main" id="{61D25FA3-18E9-9BA8-2EE2-1F7F583F5CE6}"/>
              </a:ext>
            </a:extLst>
          </p:cNvPr>
          <p:cNvPicPr>
            <a:picLocks noChangeAspect="1"/>
          </p:cNvPicPr>
          <p:nvPr/>
        </p:nvPicPr>
        <p:blipFill>
          <a:blip r:embed="rId2"/>
          <a:stretch>
            <a:fillRect/>
          </a:stretch>
        </p:blipFill>
        <p:spPr>
          <a:xfrm>
            <a:off x="8511567" y="4086486"/>
            <a:ext cx="2889250" cy="942022"/>
          </a:xfrm>
          <a:prstGeom prst="rect">
            <a:avLst/>
          </a:prstGeom>
        </p:spPr>
      </p:pic>
      <p:pic>
        <p:nvPicPr>
          <p:cNvPr id="12" name="Picture 11" descr="A green and black circle with black text&#10;&#10;AI-generated content may be incorrect.">
            <a:extLst>
              <a:ext uri="{FF2B5EF4-FFF2-40B4-BE49-F238E27FC236}">
                <a16:creationId xmlns:a16="http://schemas.microsoft.com/office/drawing/2014/main" id="{6221359F-0C8C-4615-B3DF-413874E4785F}"/>
              </a:ext>
            </a:extLst>
          </p:cNvPr>
          <p:cNvPicPr>
            <a:picLocks noChangeAspect="1"/>
          </p:cNvPicPr>
          <p:nvPr/>
        </p:nvPicPr>
        <p:blipFill>
          <a:blip r:embed="rId3"/>
          <a:stretch>
            <a:fillRect/>
          </a:stretch>
        </p:blipFill>
        <p:spPr>
          <a:xfrm>
            <a:off x="791183" y="4086486"/>
            <a:ext cx="2889250" cy="966897"/>
          </a:xfrm>
          <a:prstGeom prst="rect">
            <a:avLst/>
          </a:prstGeom>
        </p:spPr>
      </p:pic>
      <p:sp>
        <p:nvSpPr>
          <p:cNvPr id="13" name="TextBox 12">
            <a:extLst>
              <a:ext uri="{FF2B5EF4-FFF2-40B4-BE49-F238E27FC236}">
                <a16:creationId xmlns:a16="http://schemas.microsoft.com/office/drawing/2014/main" id="{AA3E3807-A91D-642C-03D8-E3C8CEE3A23B}"/>
              </a:ext>
            </a:extLst>
          </p:cNvPr>
          <p:cNvSpPr txBox="1"/>
          <p:nvPr/>
        </p:nvSpPr>
        <p:spPr>
          <a:xfrm>
            <a:off x="355127" y="3105834"/>
            <a:ext cx="3761362" cy="646331"/>
          </a:xfrm>
          <a:prstGeom prst="rect">
            <a:avLst/>
          </a:prstGeom>
          <a:noFill/>
        </p:spPr>
        <p:txBody>
          <a:bodyPr wrap="square" rtlCol="0">
            <a:spAutoFit/>
          </a:bodyPr>
          <a:lstStyle/>
          <a:p>
            <a:r>
              <a:rPr lang="en-US" dirty="0"/>
              <a:t>Uncharged Lepton Flavor violation: Seen in Neutrino Oscillations</a:t>
            </a:r>
          </a:p>
        </p:txBody>
      </p:sp>
      <p:sp>
        <p:nvSpPr>
          <p:cNvPr id="14" name="TextBox 13">
            <a:extLst>
              <a:ext uri="{FF2B5EF4-FFF2-40B4-BE49-F238E27FC236}">
                <a16:creationId xmlns:a16="http://schemas.microsoft.com/office/drawing/2014/main" id="{E69A0046-650B-9457-83B1-94FF75B503EE}"/>
              </a:ext>
            </a:extLst>
          </p:cNvPr>
          <p:cNvSpPr txBox="1"/>
          <p:nvPr/>
        </p:nvSpPr>
        <p:spPr>
          <a:xfrm>
            <a:off x="8246236" y="3173869"/>
            <a:ext cx="3419911" cy="646331"/>
          </a:xfrm>
          <a:prstGeom prst="rect">
            <a:avLst/>
          </a:prstGeom>
          <a:noFill/>
        </p:spPr>
        <p:txBody>
          <a:bodyPr wrap="none" rtlCol="0">
            <a:spAutoFit/>
          </a:bodyPr>
          <a:lstStyle/>
          <a:p>
            <a:r>
              <a:rPr lang="en-US" dirty="0"/>
              <a:t>Charged Lepton Flavor Violation:</a:t>
            </a:r>
          </a:p>
          <a:p>
            <a:r>
              <a:rPr lang="en-US" dirty="0"/>
              <a:t>Not Seen in experiments thus far</a:t>
            </a:r>
          </a:p>
        </p:txBody>
      </p:sp>
    </p:spTree>
    <p:extLst>
      <p:ext uri="{BB962C8B-B14F-4D97-AF65-F5344CB8AC3E}">
        <p14:creationId xmlns:p14="http://schemas.microsoft.com/office/powerpoint/2010/main" val="6698704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descr="A diagram of a mathematical equation&#10;&#10;AI-generated content may be incorrect.">
            <a:extLst>
              <a:ext uri="{FF2B5EF4-FFF2-40B4-BE49-F238E27FC236}">
                <a16:creationId xmlns:a16="http://schemas.microsoft.com/office/drawing/2014/main" id="{DAC76081-EEC6-66E5-6E2E-142868FA2DD0}"/>
              </a:ext>
            </a:extLst>
          </p:cNvPr>
          <p:cNvPicPr>
            <a:picLocks noGrp="1" noChangeAspect="1"/>
          </p:cNvPicPr>
          <p:nvPr>
            <p:ph idx="1"/>
          </p:nvPr>
        </p:nvPicPr>
        <p:blipFill>
          <a:blip r:embed="rId2"/>
          <a:srcRect l="66864"/>
          <a:stretch>
            <a:fillRect/>
          </a:stretch>
        </p:blipFill>
        <p:spPr>
          <a:xfrm>
            <a:off x="8138107" y="4230733"/>
            <a:ext cx="3185674" cy="2413000"/>
          </a:xfrm>
        </p:spPr>
      </p:pic>
      <p:pic>
        <p:nvPicPr>
          <p:cNvPr id="13" name="Content Placeholder 5" descr="A diagram of a mathematical equation&#10;&#10;AI-generated content may be incorrect.">
            <a:extLst>
              <a:ext uri="{FF2B5EF4-FFF2-40B4-BE49-F238E27FC236}">
                <a16:creationId xmlns:a16="http://schemas.microsoft.com/office/drawing/2014/main" id="{5C752C79-7200-42FF-1E3C-EA0BECE6BCD1}"/>
              </a:ext>
            </a:extLst>
          </p:cNvPr>
          <p:cNvPicPr>
            <a:picLocks noChangeAspect="1"/>
          </p:cNvPicPr>
          <p:nvPr/>
        </p:nvPicPr>
        <p:blipFill>
          <a:blip r:embed="rId2"/>
          <a:srcRect r="34721"/>
          <a:stretch>
            <a:fillRect/>
          </a:stretch>
        </p:blipFill>
        <p:spPr>
          <a:xfrm>
            <a:off x="5703788" y="1723277"/>
            <a:ext cx="6275826" cy="2413000"/>
          </a:xfrm>
          <a:prstGeom prst="rect">
            <a:avLst/>
          </a:prstGeom>
        </p:spPr>
      </p:pic>
      <p:sp>
        <p:nvSpPr>
          <p:cNvPr id="8" name="Footer Placeholder 7">
            <a:extLst>
              <a:ext uri="{FF2B5EF4-FFF2-40B4-BE49-F238E27FC236}">
                <a16:creationId xmlns:a16="http://schemas.microsoft.com/office/drawing/2014/main" id="{FF4D8BF8-E238-E659-656D-A7C11364FD47}"/>
              </a:ext>
            </a:extLst>
          </p:cNvPr>
          <p:cNvSpPr>
            <a:spLocks noGrp="1"/>
          </p:cNvSpPr>
          <p:nvPr>
            <p:ph type="ftr" sz="quarter" idx="11"/>
          </p:nvPr>
        </p:nvSpPr>
        <p:spPr/>
        <p:txBody>
          <a:bodyPr/>
          <a:lstStyle/>
          <a:p>
            <a:r>
              <a:rPr lang="en-US"/>
              <a:t>Boldy Sensitivity Study Mu2e</a:t>
            </a:r>
          </a:p>
        </p:txBody>
      </p:sp>
      <p:sp>
        <p:nvSpPr>
          <p:cNvPr id="9" name="Slide Number Placeholder 8">
            <a:extLst>
              <a:ext uri="{FF2B5EF4-FFF2-40B4-BE49-F238E27FC236}">
                <a16:creationId xmlns:a16="http://schemas.microsoft.com/office/drawing/2014/main" id="{457C9535-E36D-A180-D48C-5426F9A356D9}"/>
              </a:ext>
            </a:extLst>
          </p:cNvPr>
          <p:cNvSpPr>
            <a:spLocks noGrp="1"/>
          </p:cNvSpPr>
          <p:nvPr>
            <p:ph type="sldNum" sz="quarter" idx="12"/>
          </p:nvPr>
        </p:nvSpPr>
        <p:spPr/>
        <p:txBody>
          <a:bodyPr/>
          <a:lstStyle/>
          <a:p>
            <a:fld id="{C0E0CB54-3DBF-E947-906E-85E307CF7971}" type="slidenum">
              <a:rPr lang="en-US" smtClean="0"/>
              <a:t>7</a:t>
            </a:fld>
            <a:endParaRPr lang="en-US"/>
          </a:p>
        </p:txBody>
      </p:sp>
      <mc:AlternateContent xmlns:mc="http://schemas.openxmlformats.org/markup-compatibility/2006">
        <mc:Choice xmlns:a14="http://schemas.microsoft.com/office/drawing/2010/main" Requires="a14">
          <p:sp>
            <p:nvSpPr>
              <p:cNvPr id="3" name="Title 1">
                <a:extLst>
                  <a:ext uri="{FF2B5EF4-FFF2-40B4-BE49-F238E27FC236}">
                    <a16:creationId xmlns:a16="http://schemas.microsoft.com/office/drawing/2014/main" id="{1B63A3F8-35E4-0EB8-CA33-64A1F6989F63}"/>
                  </a:ext>
                </a:extLst>
              </p:cNvPr>
              <p:cNvSpPr txBox="1">
                <a:spLocks/>
              </p:cNvSpPr>
              <p:nvPr/>
            </p:nvSpPr>
            <p:spPr>
              <a:xfrm>
                <a:off x="0" y="0"/>
                <a:ext cx="10515600" cy="59663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Effective Lagrangian Description of the  </a:t>
                </a:r>
                <a14:m>
                  <m:oMath xmlns:m="http://schemas.openxmlformats.org/officeDocument/2006/math">
                    <m:sSup>
                      <m:sSupPr>
                        <m:ctrlPr>
                          <a:rPr lang="en-US" sz="2800" i="1" smtClean="0">
                            <a:solidFill>
                              <a:srgbClr val="C00000"/>
                            </a:solidFill>
                            <a:latin typeface="Cambria Math" panose="02040503050406030204" pitchFamily="18" charset="0"/>
                            <a:ea typeface="Cambria Math" panose="02040503050406030204" pitchFamily="18" charset="0"/>
                          </a:rPr>
                        </m:ctrlPr>
                      </m:sSupPr>
                      <m:e>
                        <m:r>
                          <a:rPr lang="en-US" sz="2800" i="1" smtClean="0">
                            <a:solidFill>
                              <a:srgbClr val="C00000"/>
                            </a:solidFill>
                            <a:latin typeface="Cambria Math" panose="02040503050406030204" pitchFamily="18" charset="0"/>
                            <a:ea typeface="Cambria Math" panose="02040503050406030204" pitchFamily="18" charset="0"/>
                          </a:rPr>
                          <m:t>𝜇</m:t>
                        </m:r>
                      </m:e>
                      <m:sup>
                        <m:r>
                          <a:rPr lang="en-US" sz="2800" b="0" i="1" smtClean="0">
                            <a:solidFill>
                              <a:srgbClr val="C00000"/>
                            </a:solidFill>
                            <a:latin typeface="Cambria Math" panose="02040503050406030204" pitchFamily="18" charset="0"/>
                          </a:rPr>
                          <m:t>−</m:t>
                        </m:r>
                      </m:sup>
                    </m:sSup>
                    <m:sSup>
                      <m:sSupPr>
                        <m:ctrlPr>
                          <a:rPr lang="en-US" sz="2800" b="0" i="1" smtClean="0">
                            <a:solidFill>
                              <a:srgbClr val="C00000"/>
                            </a:solidFill>
                            <a:latin typeface="Cambria Math" panose="02040503050406030204" pitchFamily="18" charset="0"/>
                          </a:rPr>
                        </m:ctrlPr>
                      </m:sSupPr>
                      <m:e>
                        <m:r>
                          <a:rPr lang="en-US" sz="2800" b="0" i="1" smtClean="0">
                            <a:solidFill>
                              <a:srgbClr val="C00000"/>
                            </a:solidFill>
                            <a:latin typeface="Cambria Math" panose="02040503050406030204" pitchFamily="18" charset="0"/>
                          </a:rPr>
                          <m:t>𝑒</m:t>
                        </m:r>
                      </m:e>
                      <m:sup>
                        <m:r>
                          <a:rPr lang="en-US" sz="2800" b="0" i="1" smtClean="0">
                            <a:solidFill>
                              <a:srgbClr val="C00000"/>
                            </a:solidFill>
                            <a:latin typeface="Cambria Math" panose="02040503050406030204" pitchFamily="18" charset="0"/>
                          </a:rPr>
                          <m:t>−</m:t>
                        </m:r>
                      </m:sup>
                    </m:sSup>
                    <m:r>
                      <a:rPr lang="en-US" sz="2800" i="1" smtClean="0">
                        <a:solidFill>
                          <a:srgbClr val="C00000"/>
                        </a:solidFill>
                        <a:latin typeface="Cambria Math" panose="02040503050406030204" pitchFamily="18" charset="0"/>
                        <a:ea typeface="Cambria Math" panose="02040503050406030204" pitchFamily="18" charset="0"/>
                      </a:rPr>
                      <m:t>→</m:t>
                    </m:r>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oMath>
                </a14:m>
                <a:r>
                  <a:rPr lang="en-US" sz="2800" dirty="0">
                    <a:solidFill>
                      <a:srgbClr val="C00000"/>
                    </a:solidFill>
                  </a:rPr>
                  <a:t> Process</a:t>
                </a:r>
              </a:p>
            </p:txBody>
          </p:sp>
        </mc:Choice>
        <mc:Fallback>
          <p:sp>
            <p:nvSpPr>
              <p:cNvPr id="3" name="Title 1">
                <a:extLst>
                  <a:ext uri="{FF2B5EF4-FFF2-40B4-BE49-F238E27FC236}">
                    <a16:creationId xmlns:a16="http://schemas.microsoft.com/office/drawing/2014/main" id="{1B63A3F8-35E4-0EB8-CA33-64A1F6989F63}"/>
                  </a:ext>
                </a:extLst>
              </p:cNvPr>
              <p:cNvSpPr txBox="1">
                <a:spLocks noRot="1" noChangeAspect="1" noMove="1" noResize="1" noEditPoints="1" noAdjustHandles="1" noChangeArrowheads="1" noChangeShapeType="1" noTextEdit="1"/>
              </p:cNvSpPr>
              <p:nvPr/>
            </p:nvSpPr>
            <p:spPr>
              <a:xfrm>
                <a:off x="0" y="0"/>
                <a:ext cx="10515600" cy="596630"/>
              </a:xfrm>
              <a:prstGeom prst="rect">
                <a:avLst/>
              </a:prstGeom>
              <a:blipFill>
                <a:blip r:embed="rId3"/>
                <a:stretch>
                  <a:fillRect l="-1206" t="-6250" b="-14583"/>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B5D27E49-6FFB-42F1-53F5-D09DD74DD048}"/>
              </a:ext>
            </a:extLst>
          </p:cNvPr>
          <p:cNvSpPr txBox="1"/>
          <p:nvPr/>
        </p:nvSpPr>
        <p:spPr>
          <a:xfrm>
            <a:off x="279586" y="1657285"/>
            <a:ext cx="11204812" cy="372361"/>
          </a:xfrm>
          <a:prstGeom prst="rect">
            <a:avLst/>
          </a:prstGeom>
          <a:noFill/>
        </p:spPr>
        <p:txBody>
          <a:bodyPr wrap="square" rtlCol="0">
            <a:spAutoFit/>
          </a:bodyPr>
          <a:lstStyle/>
          <a:p>
            <a:r>
              <a:rPr lang="en-US" dirty="0"/>
              <a:t>Photonic Lagrangian: tensor vertex coupled with photonic field with distinct chiral structures</a:t>
            </a:r>
          </a:p>
        </p:txBody>
      </p:sp>
      <p:sp>
        <p:nvSpPr>
          <p:cNvPr id="5" name="TextBox 4">
            <a:extLst>
              <a:ext uri="{FF2B5EF4-FFF2-40B4-BE49-F238E27FC236}">
                <a16:creationId xmlns:a16="http://schemas.microsoft.com/office/drawing/2014/main" id="{58715DCF-31E4-AE9E-B9FB-F82433789B44}"/>
              </a:ext>
            </a:extLst>
          </p:cNvPr>
          <p:cNvSpPr txBox="1"/>
          <p:nvPr/>
        </p:nvSpPr>
        <p:spPr>
          <a:xfrm>
            <a:off x="-77906" y="4167762"/>
            <a:ext cx="10671412" cy="369332"/>
          </a:xfrm>
          <a:prstGeom prst="rect">
            <a:avLst/>
          </a:prstGeom>
          <a:noFill/>
        </p:spPr>
        <p:txBody>
          <a:bodyPr wrap="square" rtlCol="0">
            <a:spAutoFit/>
          </a:bodyPr>
          <a:lstStyle/>
          <a:p>
            <a:r>
              <a:rPr lang="en-US" dirty="0"/>
              <a:t>Contact Lagrangian: scalar and vector structures, four-point interaction with distinct chiral structures</a:t>
            </a:r>
          </a:p>
        </p:txBody>
      </p:sp>
      <p:pic>
        <p:nvPicPr>
          <p:cNvPr id="7" name="Picture 6">
            <a:extLst>
              <a:ext uri="{FF2B5EF4-FFF2-40B4-BE49-F238E27FC236}">
                <a16:creationId xmlns:a16="http://schemas.microsoft.com/office/drawing/2014/main" id="{E7363DAB-F955-EF43-21E1-413D125E6D9F}"/>
              </a:ext>
            </a:extLst>
          </p:cNvPr>
          <p:cNvPicPr>
            <a:picLocks noChangeAspect="1"/>
          </p:cNvPicPr>
          <p:nvPr/>
        </p:nvPicPr>
        <p:blipFill>
          <a:blip r:embed="rId4"/>
          <a:stretch>
            <a:fillRect/>
          </a:stretch>
        </p:blipFill>
        <p:spPr>
          <a:xfrm>
            <a:off x="3484649" y="1037593"/>
            <a:ext cx="4950157" cy="619692"/>
          </a:xfrm>
          <a:prstGeom prst="rect">
            <a:avLst/>
          </a:prstGeom>
        </p:spPr>
      </p:pic>
      <p:sp>
        <p:nvSpPr>
          <p:cNvPr id="11" name="TextBox 10">
            <a:extLst>
              <a:ext uri="{FF2B5EF4-FFF2-40B4-BE49-F238E27FC236}">
                <a16:creationId xmlns:a16="http://schemas.microsoft.com/office/drawing/2014/main" id="{84704F4B-3AC6-652D-4DA4-D36D549CC4ED}"/>
              </a:ext>
            </a:extLst>
          </p:cNvPr>
          <p:cNvSpPr txBox="1"/>
          <p:nvPr/>
        </p:nvSpPr>
        <p:spPr>
          <a:xfrm>
            <a:off x="171769" y="517941"/>
            <a:ext cx="11692648" cy="646331"/>
          </a:xfrm>
          <a:prstGeom prst="rect">
            <a:avLst/>
          </a:prstGeom>
          <a:noFill/>
        </p:spPr>
        <p:txBody>
          <a:bodyPr wrap="square" rtlCol="0">
            <a:spAutoFit/>
          </a:bodyPr>
          <a:lstStyle/>
          <a:p>
            <a:r>
              <a:rPr lang="en-US" dirty="0"/>
              <a:t>The low energy CLFV interaction can be parameterized by dimension-six effective Lagrangian containing photonic dipole terms and four-lepton contact terms.</a:t>
            </a:r>
          </a:p>
        </p:txBody>
      </p:sp>
      <p:pic>
        <p:nvPicPr>
          <p:cNvPr id="12" name="Picture 11">
            <a:extLst>
              <a:ext uri="{FF2B5EF4-FFF2-40B4-BE49-F238E27FC236}">
                <a16:creationId xmlns:a16="http://schemas.microsoft.com/office/drawing/2014/main" id="{D104A82A-CD2D-1496-3799-8251CA6845F3}"/>
              </a:ext>
            </a:extLst>
          </p:cNvPr>
          <p:cNvPicPr>
            <a:picLocks noChangeAspect="1"/>
          </p:cNvPicPr>
          <p:nvPr/>
        </p:nvPicPr>
        <p:blipFill>
          <a:blip r:embed="rId5"/>
          <a:stretch>
            <a:fillRect/>
          </a:stretch>
        </p:blipFill>
        <p:spPr>
          <a:xfrm>
            <a:off x="279586" y="4929250"/>
            <a:ext cx="7772400" cy="1120739"/>
          </a:xfrm>
          <a:prstGeom prst="rect">
            <a:avLst/>
          </a:prstGeom>
        </p:spPr>
      </p:pic>
      <p:pic>
        <p:nvPicPr>
          <p:cNvPr id="15" name="Picture 14">
            <a:extLst>
              <a:ext uri="{FF2B5EF4-FFF2-40B4-BE49-F238E27FC236}">
                <a16:creationId xmlns:a16="http://schemas.microsoft.com/office/drawing/2014/main" id="{52F12BA1-8CF4-4CDC-0EA6-92FB54C58F0E}"/>
              </a:ext>
            </a:extLst>
          </p:cNvPr>
          <p:cNvPicPr>
            <a:picLocks noChangeAspect="1"/>
          </p:cNvPicPr>
          <p:nvPr/>
        </p:nvPicPr>
        <p:blipFill>
          <a:blip r:embed="rId6"/>
          <a:stretch>
            <a:fillRect/>
          </a:stretch>
        </p:blipFill>
        <p:spPr>
          <a:xfrm>
            <a:off x="279586" y="2717334"/>
            <a:ext cx="5377774" cy="731255"/>
          </a:xfrm>
          <a:prstGeom prst="rect">
            <a:avLst/>
          </a:prstGeom>
        </p:spPr>
      </p:pic>
    </p:spTree>
    <p:extLst>
      <p:ext uri="{BB962C8B-B14F-4D97-AF65-F5344CB8AC3E}">
        <p14:creationId xmlns:p14="http://schemas.microsoft.com/office/powerpoint/2010/main" val="27073453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CA330-B227-1F59-FB43-0557765B5A95}"/>
            </a:ext>
          </a:extLst>
        </p:cNvPr>
        <p:cNvGrpSpPr/>
        <p:nvPr/>
      </p:nvGrpSpPr>
      <p:grpSpPr>
        <a:xfrm>
          <a:off x="0" y="0"/>
          <a:ext cx="0" cy="0"/>
          <a:chOff x="0" y="0"/>
          <a:chExt cx="0" cy="0"/>
        </a:xfrm>
      </p:grpSpPr>
      <p:sp>
        <p:nvSpPr>
          <p:cNvPr id="8" name="Footer Placeholder 7">
            <a:extLst>
              <a:ext uri="{FF2B5EF4-FFF2-40B4-BE49-F238E27FC236}">
                <a16:creationId xmlns:a16="http://schemas.microsoft.com/office/drawing/2014/main" id="{FC27471D-1DD6-C12C-A8D7-C1780F4C155A}"/>
              </a:ext>
            </a:extLst>
          </p:cNvPr>
          <p:cNvSpPr>
            <a:spLocks noGrp="1"/>
          </p:cNvSpPr>
          <p:nvPr>
            <p:ph type="ftr" sz="quarter" idx="11"/>
          </p:nvPr>
        </p:nvSpPr>
        <p:spPr/>
        <p:txBody>
          <a:bodyPr/>
          <a:lstStyle/>
          <a:p>
            <a:r>
              <a:rPr lang="en-US"/>
              <a:t>Boldy Sensitivity Study Mu2e</a:t>
            </a:r>
          </a:p>
        </p:txBody>
      </p:sp>
      <p:sp>
        <p:nvSpPr>
          <p:cNvPr id="9" name="Slide Number Placeholder 8">
            <a:extLst>
              <a:ext uri="{FF2B5EF4-FFF2-40B4-BE49-F238E27FC236}">
                <a16:creationId xmlns:a16="http://schemas.microsoft.com/office/drawing/2014/main" id="{FA8AF92D-F45C-E89A-3F69-96444737B27F}"/>
              </a:ext>
            </a:extLst>
          </p:cNvPr>
          <p:cNvSpPr>
            <a:spLocks noGrp="1"/>
          </p:cNvSpPr>
          <p:nvPr>
            <p:ph type="sldNum" sz="quarter" idx="12"/>
          </p:nvPr>
        </p:nvSpPr>
        <p:spPr/>
        <p:txBody>
          <a:bodyPr/>
          <a:lstStyle/>
          <a:p>
            <a:fld id="{C0E0CB54-3DBF-E947-906E-85E307CF7971}" type="slidenum">
              <a:rPr lang="en-US" smtClean="0"/>
              <a:t>8</a:t>
            </a:fld>
            <a:endParaRPr lang="en-US"/>
          </a:p>
        </p:txBody>
      </p:sp>
      <mc:AlternateContent xmlns:mc="http://schemas.openxmlformats.org/markup-compatibility/2006">
        <mc:Choice xmlns:a14="http://schemas.microsoft.com/office/drawing/2010/main" Requires="a14">
          <p:sp>
            <p:nvSpPr>
              <p:cNvPr id="3" name="Title 1">
                <a:extLst>
                  <a:ext uri="{FF2B5EF4-FFF2-40B4-BE49-F238E27FC236}">
                    <a16:creationId xmlns:a16="http://schemas.microsoft.com/office/drawing/2014/main" id="{D682056C-96F8-428A-E8C4-611298D67999}"/>
                  </a:ext>
                </a:extLst>
              </p:cNvPr>
              <p:cNvSpPr txBox="1">
                <a:spLocks/>
              </p:cNvSpPr>
              <p:nvPr/>
            </p:nvSpPr>
            <p:spPr>
              <a:xfrm>
                <a:off x="0" y="0"/>
                <a:ext cx="10515600" cy="59663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The </a:t>
                </a:r>
                <a14:m>
                  <m:oMath xmlns:m="http://schemas.openxmlformats.org/officeDocument/2006/math">
                    <m:sSup>
                      <m:sSupPr>
                        <m:ctrlPr>
                          <a:rPr lang="en-US" sz="2800" i="1" smtClean="0">
                            <a:solidFill>
                              <a:srgbClr val="C00000"/>
                            </a:solidFill>
                            <a:latin typeface="Cambria Math" panose="02040503050406030204" pitchFamily="18" charset="0"/>
                            <a:ea typeface="Cambria Math" panose="02040503050406030204" pitchFamily="18" charset="0"/>
                          </a:rPr>
                        </m:ctrlPr>
                      </m:sSupPr>
                      <m:e>
                        <m:r>
                          <a:rPr lang="en-US" sz="2800" i="1" smtClean="0">
                            <a:solidFill>
                              <a:srgbClr val="C00000"/>
                            </a:solidFill>
                            <a:latin typeface="Cambria Math" panose="02040503050406030204" pitchFamily="18" charset="0"/>
                            <a:ea typeface="Cambria Math" panose="02040503050406030204" pitchFamily="18" charset="0"/>
                          </a:rPr>
                          <m:t>𝜇</m:t>
                        </m:r>
                      </m:e>
                      <m:sup>
                        <m:r>
                          <a:rPr lang="en-US" sz="2800" b="0" i="1" smtClean="0">
                            <a:solidFill>
                              <a:srgbClr val="C00000"/>
                            </a:solidFill>
                            <a:latin typeface="Cambria Math" panose="02040503050406030204" pitchFamily="18" charset="0"/>
                          </a:rPr>
                          <m:t>−</m:t>
                        </m:r>
                      </m:sup>
                    </m:sSup>
                    <m:sSup>
                      <m:sSupPr>
                        <m:ctrlPr>
                          <a:rPr lang="en-US" sz="2800" b="0" i="1" smtClean="0">
                            <a:solidFill>
                              <a:srgbClr val="C00000"/>
                            </a:solidFill>
                            <a:latin typeface="Cambria Math" panose="02040503050406030204" pitchFamily="18" charset="0"/>
                          </a:rPr>
                        </m:ctrlPr>
                      </m:sSupPr>
                      <m:e>
                        <m:r>
                          <a:rPr lang="en-US" sz="2800" b="0" i="1" smtClean="0">
                            <a:solidFill>
                              <a:srgbClr val="C00000"/>
                            </a:solidFill>
                            <a:latin typeface="Cambria Math" panose="02040503050406030204" pitchFamily="18" charset="0"/>
                          </a:rPr>
                          <m:t>𝑒</m:t>
                        </m:r>
                      </m:e>
                      <m:sup>
                        <m:r>
                          <a:rPr lang="en-US" sz="2800" b="0" i="1" smtClean="0">
                            <a:solidFill>
                              <a:srgbClr val="C00000"/>
                            </a:solidFill>
                            <a:latin typeface="Cambria Math" panose="02040503050406030204" pitchFamily="18" charset="0"/>
                          </a:rPr>
                          <m:t>−</m:t>
                        </m:r>
                      </m:sup>
                    </m:sSup>
                    <m:r>
                      <a:rPr lang="en-US" sz="2800" i="1" smtClean="0">
                        <a:solidFill>
                          <a:srgbClr val="C00000"/>
                        </a:solidFill>
                        <a:latin typeface="Cambria Math" panose="02040503050406030204" pitchFamily="18" charset="0"/>
                        <a:ea typeface="Cambria Math" panose="02040503050406030204" pitchFamily="18" charset="0"/>
                      </a:rPr>
                      <m:t>→</m:t>
                    </m:r>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oMath>
                </a14:m>
                <a:r>
                  <a:rPr lang="en-US" sz="2800" dirty="0">
                    <a:solidFill>
                      <a:srgbClr val="C00000"/>
                    </a:solidFill>
                  </a:rPr>
                  <a:t> Process Physically</a:t>
                </a:r>
              </a:p>
            </p:txBody>
          </p:sp>
        </mc:Choice>
        <mc:Fallback>
          <p:sp>
            <p:nvSpPr>
              <p:cNvPr id="3" name="Title 1">
                <a:extLst>
                  <a:ext uri="{FF2B5EF4-FFF2-40B4-BE49-F238E27FC236}">
                    <a16:creationId xmlns:a16="http://schemas.microsoft.com/office/drawing/2014/main" id="{D682056C-96F8-428A-E8C4-611298D67999}"/>
                  </a:ext>
                </a:extLst>
              </p:cNvPr>
              <p:cNvSpPr txBox="1">
                <a:spLocks noRot="1" noChangeAspect="1" noMove="1" noResize="1" noEditPoints="1" noAdjustHandles="1" noChangeArrowheads="1" noChangeShapeType="1" noTextEdit="1"/>
              </p:cNvSpPr>
              <p:nvPr/>
            </p:nvSpPr>
            <p:spPr>
              <a:xfrm>
                <a:off x="0" y="0"/>
                <a:ext cx="10515600" cy="596630"/>
              </a:xfrm>
              <a:prstGeom prst="rect">
                <a:avLst/>
              </a:prstGeom>
              <a:blipFill>
                <a:blip r:embed="rId2"/>
                <a:stretch>
                  <a:fillRect l="-1206" t="-6250" b="-14583"/>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D50657A1-C3AB-4C29-E7E0-A556B4C04CDC}"/>
              </a:ext>
            </a:extLst>
          </p:cNvPr>
          <p:cNvSpPr txBox="1"/>
          <p:nvPr/>
        </p:nvSpPr>
        <p:spPr>
          <a:xfrm>
            <a:off x="525294" y="596630"/>
            <a:ext cx="10719880" cy="646331"/>
          </a:xfrm>
          <a:prstGeom prst="rect">
            <a:avLst/>
          </a:prstGeom>
          <a:noFill/>
        </p:spPr>
        <p:txBody>
          <a:bodyPr wrap="square" rtlCol="0">
            <a:spAutoFit/>
          </a:bodyPr>
          <a:lstStyle/>
          <a:p>
            <a:r>
              <a:rPr lang="en-US" dirty="0"/>
              <a:t>Main idea: a stopped muon in a muonic atom and a bound electron interact and produce two electrons in the final state.</a:t>
            </a:r>
          </a:p>
        </p:txBody>
      </p:sp>
      <p:sp>
        <p:nvSpPr>
          <p:cNvPr id="12" name="Content Placeholder 11">
            <a:extLst>
              <a:ext uri="{FF2B5EF4-FFF2-40B4-BE49-F238E27FC236}">
                <a16:creationId xmlns:a16="http://schemas.microsoft.com/office/drawing/2014/main" id="{9261255D-3528-C0A2-A31C-60CF2610439E}"/>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5555055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B6284-865F-7FCA-44DA-321387F386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50C361-A9AE-BCC8-1264-7086894B55F1}"/>
              </a:ext>
            </a:extLst>
          </p:cNvPr>
          <p:cNvSpPr>
            <a:spLocks noGrp="1"/>
          </p:cNvSpPr>
          <p:nvPr>
            <p:ph type="title"/>
          </p:nvPr>
        </p:nvSpPr>
        <p:spPr>
          <a:xfrm>
            <a:off x="0" y="6351"/>
            <a:ext cx="10515600" cy="674686"/>
          </a:xfrm>
        </p:spPr>
        <p:txBody>
          <a:bodyPr>
            <a:normAutofit/>
          </a:bodyPr>
          <a:lstStyle/>
          <a:p>
            <a:r>
              <a:rPr lang="en-US" sz="2500" u="sng" dirty="0">
                <a:solidFill>
                  <a:srgbClr val="C00000"/>
                </a:solidFill>
              </a:rPr>
              <a:t>Current Limits Placed as Stated by Calibbi</a:t>
            </a:r>
          </a:p>
        </p:txBody>
      </p:sp>
      <p:sp>
        <p:nvSpPr>
          <p:cNvPr id="5" name="Slide Number Placeholder 4">
            <a:extLst>
              <a:ext uri="{FF2B5EF4-FFF2-40B4-BE49-F238E27FC236}">
                <a16:creationId xmlns:a16="http://schemas.microsoft.com/office/drawing/2014/main" id="{FE5311B3-97AD-015A-1C94-D75997613816}"/>
              </a:ext>
            </a:extLst>
          </p:cNvPr>
          <p:cNvSpPr>
            <a:spLocks noGrp="1"/>
          </p:cNvSpPr>
          <p:nvPr>
            <p:ph type="sldNum" sz="quarter" idx="12"/>
          </p:nvPr>
        </p:nvSpPr>
        <p:spPr/>
        <p:txBody>
          <a:bodyPr/>
          <a:lstStyle/>
          <a:p>
            <a:fld id="{97E93708-6877-FF41-B53F-E17832C2698B}" type="slidenum">
              <a:rPr lang="en-US" smtClean="0"/>
              <a:t>9</a:t>
            </a:fld>
            <a:endParaRPr lang="en-US"/>
          </a:p>
        </p:txBody>
      </p:sp>
      <p:sp>
        <p:nvSpPr>
          <p:cNvPr id="6" name="Footer Placeholder 4">
            <a:extLst>
              <a:ext uri="{FF2B5EF4-FFF2-40B4-BE49-F238E27FC236}">
                <a16:creationId xmlns:a16="http://schemas.microsoft.com/office/drawing/2014/main" id="{BAB989D2-737E-E13D-244D-0FDCE7F260A2}"/>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sp>
        <p:nvSpPr>
          <p:cNvPr id="12" name="TextBox 11">
            <a:extLst>
              <a:ext uri="{FF2B5EF4-FFF2-40B4-BE49-F238E27FC236}">
                <a16:creationId xmlns:a16="http://schemas.microsoft.com/office/drawing/2014/main" id="{B459740F-9E55-1567-748B-0BCEBAD13B1C}"/>
              </a:ext>
            </a:extLst>
          </p:cNvPr>
          <p:cNvSpPr txBox="1"/>
          <p:nvPr/>
        </p:nvSpPr>
        <p:spPr>
          <a:xfrm>
            <a:off x="611449" y="6291609"/>
            <a:ext cx="10969101" cy="369332"/>
          </a:xfrm>
          <a:prstGeom prst="rect">
            <a:avLst/>
          </a:prstGeom>
          <a:noFill/>
        </p:spPr>
        <p:txBody>
          <a:bodyPr wrap="square" rtlCol="0">
            <a:spAutoFit/>
          </a:bodyPr>
          <a:lstStyle/>
          <a:p>
            <a:pPr algn="ctr"/>
            <a:r>
              <a:rPr lang="en-US" dirty="0"/>
              <a:t>Detailed list of all current limits placed by different experiments as of the Calibbi publication</a:t>
            </a:r>
          </a:p>
        </p:txBody>
      </p:sp>
      <p:pic>
        <p:nvPicPr>
          <p:cNvPr id="9" name="Content Placeholder 8" descr="A table of math equations&#10;&#10;AI-generated content may be incorrect.">
            <a:extLst>
              <a:ext uri="{FF2B5EF4-FFF2-40B4-BE49-F238E27FC236}">
                <a16:creationId xmlns:a16="http://schemas.microsoft.com/office/drawing/2014/main" id="{3AB44A87-8B88-FBE9-16F6-3ED03EF34F77}"/>
              </a:ext>
            </a:extLst>
          </p:cNvPr>
          <p:cNvPicPr>
            <a:picLocks noGrp="1" noChangeAspect="1"/>
          </p:cNvPicPr>
          <p:nvPr>
            <p:ph idx="1"/>
          </p:nvPr>
        </p:nvPicPr>
        <p:blipFill>
          <a:blip r:embed="rId2"/>
          <a:srcRect b="62439"/>
          <a:stretch>
            <a:fillRect/>
          </a:stretch>
        </p:blipFill>
        <p:spPr>
          <a:xfrm>
            <a:off x="0" y="681037"/>
            <a:ext cx="6096000" cy="3030645"/>
          </a:xfrm>
        </p:spPr>
      </p:pic>
      <p:pic>
        <p:nvPicPr>
          <p:cNvPr id="13" name="Picture 12" descr="A table of math equations&#10;&#10;AI-generated content may be incorrect.">
            <a:extLst>
              <a:ext uri="{FF2B5EF4-FFF2-40B4-BE49-F238E27FC236}">
                <a16:creationId xmlns:a16="http://schemas.microsoft.com/office/drawing/2014/main" id="{F7F3EB63-4DF9-C322-E8A6-105B1443681C}"/>
              </a:ext>
            </a:extLst>
          </p:cNvPr>
          <p:cNvPicPr>
            <a:picLocks noChangeAspect="1"/>
          </p:cNvPicPr>
          <p:nvPr/>
        </p:nvPicPr>
        <p:blipFill>
          <a:blip r:embed="rId2"/>
          <a:srcRect t="37830" b="26511"/>
          <a:stretch>
            <a:fillRect/>
          </a:stretch>
        </p:blipFill>
        <p:spPr>
          <a:xfrm>
            <a:off x="5903104" y="745778"/>
            <a:ext cx="6283985" cy="2965904"/>
          </a:xfrm>
          <a:prstGeom prst="rect">
            <a:avLst/>
          </a:prstGeom>
        </p:spPr>
      </p:pic>
      <p:pic>
        <p:nvPicPr>
          <p:cNvPr id="15" name="Picture 14" descr="A table of math equations&#10;&#10;AI-generated content may be incorrect.">
            <a:extLst>
              <a:ext uri="{FF2B5EF4-FFF2-40B4-BE49-F238E27FC236}">
                <a16:creationId xmlns:a16="http://schemas.microsoft.com/office/drawing/2014/main" id="{33A6F342-1C5C-E272-2811-13EAFA4B460D}"/>
              </a:ext>
            </a:extLst>
          </p:cNvPr>
          <p:cNvPicPr>
            <a:picLocks noChangeAspect="1"/>
          </p:cNvPicPr>
          <p:nvPr/>
        </p:nvPicPr>
        <p:blipFill>
          <a:blip r:embed="rId2"/>
          <a:srcRect t="73489"/>
          <a:stretch>
            <a:fillRect/>
          </a:stretch>
        </p:blipFill>
        <p:spPr>
          <a:xfrm>
            <a:off x="2855104" y="3776423"/>
            <a:ext cx="6096000" cy="2139119"/>
          </a:xfrm>
          <a:prstGeom prst="rect">
            <a:avLst/>
          </a:prstGeom>
        </p:spPr>
      </p:pic>
    </p:spTree>
    <p:extLst>
      <p:ext uri="{BB962C8B-B14F-4D97-AF65-F5344CB8AC3E}">
        <p14:creationId xmlns:p14="http://schemas.microsoft.com/office/powerpoint/2010/main" val="42217994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Slide Background">
            <a:extLst>
              <a:ext uri="{FF2B5EF4-FFF2-40B4-BE49-F238E27FC236}">
                <a16:creationId xmlns:a16="http://schemas.microsoft.com/office/drawing/2014/main" id="{B50D074C-5457-4294-A181-6B67F41468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4" name="Rectangle 13">
            <a:extLst>
              <a:ext uri="{FF2B5EF4-FFF2-40B4-BE49-F238E27FC236}">
                <a16:creationId xmlns:a16="http://schemas.microsoft.com/office/drawing/2014/main" id="{F489C2E0-4895-4B72-85EA-7EE9FAFFDC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5129836"/>
            <a:ext cx="12192000" cy="1720199"/>
          </a:xfrm>
          <a:prstGeom prst="rect">
            <a:avLst/>
          </a:prstGeom>
          <a:ln>
            <a:noFill/>
          </a:ln>
          <a:effectLst>
            <a:outerShdw blurRad="254000" dist="127000" dir="5460000" sx="92000" sy="92000" algn="t" rotWithShape="0">
              <a:srgbClr val="000000">
                <a:alpha val="3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63131C8-0D61-FAC3-E34D-35B6966BBC4B}"/>
              </a:ext>
            </a:extLst>
          </p:cNvPr>
          <p:cNvSpPr>
            <a:spLocks noGrp="1"/>
          </p:cNvSpPr>
          <p:nvPr>
            <p:ph type="title"/>
          </p:nvPr>
        </p:nvSpPr>
        <p:spPr>
          <a:xfrm>
            <a:off x="589558" y="5429992"/>
            <a:ext cx="6973355" cy="1119887"/>
          </a:xfrm>
        </p:spPr>
        <p:txBody>
          <a:bodyPr vert="horz" lIns="91440" tIns="45720" rIns="91440" bIns="45720" rtlCol="0" anchor="ctr">
            <a:normAutofit/>
          </a:bodyPr>
          <a:lstStyle/>
          <a:p>
            <a:r>
              <a:rPr lang="en-US" sz="4000" kern="1200" dirty="0">
                <a:solidFill>
                  <a:schemeClr val="tx1"/>
                </a:solidFill>
                <a:latin typeface="+mj-lt"/>
                <a:ea typeface="+mj-ea"/>
                <a:cs typeface="+mj-cs"/>
              </a:rPr>
              <a:t>The Mu2e Experiment</a:t>
            </a:r>
          </a:p>
        </p:txBody>
      </p:sp>
      <p:sp>
        <p:nvSpPr>
          <p:cNvPr id="3" name="Text Placeholder 2">
            <a:extLst>
              <a:ext uri="{FF2B5EF4-FFF2-40B4-BE49-F238E27FC236}">
                <a16:creationId xmlns:a16="http://schemas.microsoft.com/office/drawing/2014/main" id="{92CE8180-E664-79B1-AC71-9C5770AD78B9}"/>
              </a:ext>
            </a:extLst>
          </p:cNvPr>
          <p:cNvSpPr>
            <a:spLocks noGrp="1"/>
          </p:cNvSpPr>
          <p:nvPr>
            <p:ph type="body" idx="1"/>
          </p:nvPr>
        </p:nvSpPr>
        <p:spPr>
          <a:xfrm>
            <a:off x="7562912" y="5429992"/>
            <a:ext cx="4156945" cy="1119887"/>
          </a:xfrm>
        </p:spPr>
        <p:txBody>
          <a:bodyPr vert="horz" lIns="91440" tIns="45720" rIns="91440" bIns="45720" rtlCol="0" anchor="ctr">
            <a:normAutofit/>
          </a:bodyPr>
          <a:lstStyle/>
          <a:p>
            <a:pPr algn="r"/>
            <a:endParaRPr lang="en-US" sz="2000" kern="1200" dirty="0">
              <a:solidFill>
                <a:schemeClr val="tx1"/>
              </a:solidFill>
              <a:latin typeface="+mn-lt"/>
              <a:ea typeface="+mn-ea"/>
              <a:cs typeface="+mn-cs"/>
            </a:endParaRPr>
          </a:p>
        </p:txBody>
      </p:sp>
      <p:pic>
        <p:nvPicPr>
          <p:cNvPr id="7" name="Picture 6" descr="A diagram of a conveyor belt&#10;&#10;AI-generated content may be incorrect.">
            <a:extLst>
              <a:ext uri="{FF2B5EF4-FFF2-40B4-BE49-F238E27FC236}">
                <a16:creationId xmlns:a16="http://schemas.microsoft.com/office/drawing/2014/main" id="{D51957EA-005B-971C-C108-0057B33448B9}"/>
              </a:ext>
            </a:extLst>
          </p:cNvPr>
          <p:cNvPicPr>
            <a:picLocks noChangeAspect="1"/>
          </p:cNvPicPr>
          <p:nvPr/>
        </p:nvPicPr>
        <p:blipFill>
          <a:blip r:embed="rId2"/>
          <a:stretch>
            <a:fillRect/>
          </a:stretch>
        </p:blipFill>
        <p:spPr>
          <a:xfrm>
            <a:off x="1135114" y="522149"/>
            <a:ext cx="10584743" cy="4048664"/>
          </a:xfrm>
          <a:prstGeom prst="rect">
            <a:avLst/>
          </a:prstGeom>
          <a:effectLst/>
        </p:spPr>
      </p:pic>
      <p:sp>
        <p:nvSpPr>
          <p:cNvPr id="5" name="Footer Placeholder 4">
            <a:extLst>
              <a:ext uri="{FF2B5EF4-FFF2-40B4-BE49-F238E27FC236}">
                <a16:creationId xmlns:a16="http://schemas.microsoft.com/office/drawing/2014/main" id="{4A80378D-63BD-7C4B-A77A-B3EEC2B282E2}"/>
              </a:ext>
            </a:extLst>
          </p:cNvPr>
          <p:cNvSpPr>
            <a:spLocks noGrp="1"/>
          </p:cNvSpPr>
          <p:nvPr>
            <p:ph type="ftr" sz="quarter" idx="11"/>
          </p:nvPr>
        </p:nvSpPr>
        <p:spPr>
          <a:xfrm>
            <a:off x="4038600" y="6356350"/>
            <a:ext cx="4114800" cy="365125"/>
          </a:xfrm>
        </p:spPr>
        <p:txBody>
          <a:bodyPr vert="horz" lIns="91440" tIns="45720" rIns="91440" bIns="45720" rtlCol="0" anchor="ctr">
            <a:normAutofit/>
          </a:bodyPr>
          <a:lstStyle/>
          <a:p>
            <a:pPr>
              <a:spcAft>
                <a:spcPts val="600"/>
              </a:spcAft>
            </a:pPr>
            <a:r>
              <a:rPr lang="en-US" kern="1200">
                <a:solidFill>
                  <a:schemeClr val="tx1"/>
                </a:solidFill>
                <a:latin typeface="+mn-lt"/>
                <a:ea typeface="+mn-ea"/>
                <a:cs typeface="+mn-cs"/>
              </a:rPr>
              <a:t>Boldy Sensitivity Study Mu2e</a:t>
            </a:r>
          </a:p>
        </p:txBody>
      </p:sp>
      <p:sp>
        <p:nvSpPr>
          <p:cNvPr id="6" name="Slide Number Placeholder 5">
            <a:extLst>
              <a:ext uri="{FF2B5EF4-FFF2-40B4-BE49-F238E27FC236}">
                <a16:creationId xmlns:a16="http://schemas.microsoft.com/office/drawing/2014/main" id="{13BA0451-3DAD-69CF-AC45-A9C1AFB59090}"/>
              </a:ext>
            </a:extLst>
          </p:cNvPr>
          <p:cNvSpPr>
            <a:spLocks noGrp="1"/>
          </p:cNvSpPr>
          <p:nvPr>
            <p:ph type="sldNum" sz="quarter" idx="12"/>
          </p:nvPr>
        </p:nvSpPr>
        <p:spPr>
          <a:xfrm>
            <a:off x="8732520" y="6356350"/>
            <a:ext cx="3199387" cy="365125"/>
          </a:xfrm>
        </p:spPr>
        <p:txBody>
          <a:bodyPr vert="horz" lIns="91440" tIns="45720" rIns="91440" bIns="45720" rtlCol="0" anchor="ctr">
            <a:normAutofit/>
          </a:bodyPr>
          <a:lstStyle/>
          <a:p>
            <a:pPr>
              <a:spcAft>
                <a:spcPts val="600"/>
              </a:spcAft>
            </a:pPr>
            <a:fld id="{C0E0CB54-3DBF-E947-906E-85E307CF7971}" type="slidenum">
              <a:rPr lang="en-US">
                <a:solidFill>
                  <a:schemeClr val="tx1"/>
                </a:solidFill>
              </a:rPr>
              <a:pPr>
                <a:spcAft>
                  <a:spcPts val="600"/>
                </a:spcAft>
              </a:pPr>
              <a:t>10</a:t>
            </a:fld>
            <a:endParaRPr lang="en-US">
              <a:solidFill>
                <a:schemeClr val="tx1"/>
              </a:solidFill>
            </a:endParaRPr>
          </a:p>
        </p:txBody>
      </p:sp>
    </p:spTree>
    <p:extLst>
      <p:ext uri="{BB962C8B-B14F-4D97-AF65-F5344CB8AC3E}">
        <p14:creationId xmlns:p14="http://schemas.microsoft.com/office/powerpoint/2010/main" val="7082569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27986AA-BB7E-80A3-D709-9E275171FF74}"/>
              </a:ext>
            </a:extLst>
          </p:cNvPr>
          <p:cNvSpPr>
            <a:spLocks noGrp="1"/>
          </p:cNvSpPr>
          <p:nvPr>
            <p:ph idx="1"/>
          </p:nvPr>
        </p:nvSpPr>
        <p:spPr>
          <a:xfrm>
            <a:off x="0" y="424542"/>
            <a:ext cx="12192000" cy="5931807"/>
          </a:xfrm>
        </p:spPr>
        <p:txBody>
          <a:bodyPr/>
          <a:lstStyle/>
          <a:p>
            <a:r>
              <a:rPr lang="en-US" dirty="0"/>
              <a:t>Detection of the coherent conversion of </a:t>
            </a:r>
          </a:p>
          <a:p>
            <a:r>
              <a:rPr lang="en-US" dirty="0"/>
              <a:t>K-shell conversion</a:t>
            </a:r>
          </a:p>
          <a:p>
            <a:r>
              <a:rPr lang="en-US" dirty="0"/>
              <a:t>Monoenergetic (104.973 MeV) single electron signature</a:t>
            </a:r>
          </a:p>
        </p:txBody>
      </p:sp>
      <p:pic>
        <p:nvPicPr>
          <p:cNvPr id="4" name="Picture 3">
            <a:extLst>
              <a:ext uri="{FF2B5EF4-FFF2-40B4-BE49-F238E27FC236}">
                <a16:creationId xmlns:a16="http://schemas.microsoft.com/office/drawing/2014/main" id="{31230D72-72D5-3941-CD0B-1865EB1E4A6B}"/>
              </a:ext>
            </a:extLst>
          </p:cNvPr>
          <p:cNvPicPr>
            <a:picLocks noChangeAspect="1"/>
          </p:cNvPicPr>
          <p:nvPr/>
        </p:nvPicPr>
        <p:blipFill>
          <a:blip r:embed="rId2"/>
          <a:stretch>
            <a:fillRect/>
          </a:stretch>
        </p:blipFill>
        <p:spPr>
          <a:xfrm>
            <a:off x="8917659" y="1511862"/>
            <a:ext cx="1991541" cy="317492"/>
          </a:xfrm>
          <a:prstGeom prst="rect">
            <a:avLst/>
          </a:prstGeom>
        </p:spPr>
      </p:pic>
      <p:sp>
        <p:nvSpPr>
          <p:cNvPr id="6" name="Footer Placeholder 5">
            <a:extLst>
              <a:ext uri="{FF2B5EF4-FFF2-40B4-BE49-F238E27FC236}">
                <a16:creationId xmlns:a16="http://schemas.microsoft.com/office/drawing/2014/main" id="{5BA811A3-D9FD-DD4F-0F3B-68964BD9C22B}"/>
              </a:ext>
            </a:extLst>
          </p:cNvPr>
          <p:cNvSpPr>
            <a:spLocks noGrp="1"/>
          </p:cNvSpPr>
          <p:nvPr>
            <p:ph type="ftr" sz="quarter" idx="11"/>
          </p:nvPr>
        </p:nvSpPr>
        <p:spPr/>
        <p:txBody>
          <a:bodyPr/>
          <a:lstStyle/>
          <a:p>
            <a:r>
              <a:rPr lang="en-US"/>
              <a:t>Boldy Sensitivity Study Mu2e</a:t>
            </a:r>
          </a:p>
        </p:txBody>
      </p:sp>
      <p:sp>
        <p:nvSpPr>
          <p:cNvPr id="7" name="Slide Number Placeholder 6">
            <a:extLst>
              <a:ext uri="{FF2B5EF4-FFF2-40B4-BE49-F238E27FC236}">
                <a16:creationId xmlns:a16="http://schemas.microsoft.com/office/drawing/2014/main" id="{2A1E8DE2-014F-63F7-AB4F-A3B6F3963F70}"/>
              </a:ext>
            </a:extLst>
          </p:cNvPr>
          <p:cNvSpPr>
            <a:spLocks noGrp="1"/>
          </p:cNvSpPr>
          <p:nvPr>
            <p:ph type="sldNum" sz="quarter" idx="12"/>
          </p:nvPr>
        </p:nvSpPr>
        <p:spPr/>
        <p:txBody>
          <a:bodyPr/>
          <a:lstStyle/>
          <a:p>
            <a:fld id="{C0E0CB54-3DBF-E947-906E-85E307CF7971}" type="slidenum">
              <a:rPr lang="en-US" smtClean="0"/>
              <a:t>11</a:t>
            </a:fld>
            <a:endParaRPr lang="en-US"/>
          </a:p>
        </p:txBody>
      </p:sp>
      <p:sp>
        <p:nvSpPr>
          <p:cNvPr id="5" name="Title 1">
            <a:extLst>
              <a:ext uri="{FF2B5EF4-FFF2-40B4-BE49-F238E27FC236}">
                <a16:creationId xmlns:a16="http://schemas.microsoft.com/office/drawing/2014/main" id="{0DE701D7-7C9B-664B-8E22-BF0C39792433}"/>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Primary Experimental Goals of the Mu2e Experiment</a:t>
            </a:r>
          </a:p>
        </p:txBody>
      </p:sp>
    </p:spTree>
    <p:extLst>
      <p:ext uri="{BB962C8B-B14F-4D97-AF65-F5344CB8AC3E}">
        <p14:creationId xmlns:p14="http://schemas.microsoft.com/office/powerpoint/2010/main" val="7183074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AF68DE-F940-1E30-B16B-4A91096C4320}"/>
              </a:ext>
            </a:extLst>
          </p:cNvPr>
          <p:cNvSpPr>
            <a:spLocks noGrp="1"/>
          </p:cNvSpPr>
          <p:nvPr>
            <p:ph idx="1"/>
          </p:nvPr>
        </p:nvSpPr>
        <p:spPr>
          <a:xfrm>
            <a:off x="0" y="603930"/>
            <a:ext cx="12192000" cy="5752420"/>
          </a:xfrm>
        </p:spPr>
        <p:txBody>
          <a:bodyPr/>
          <a:lstStyle/>
          <a:p>
            <a:r>
              <a:rPr lang="en-US" dirty="0"/>
              <a:t>Production</a:t>
            </a:r>
          </a:p>
          <a:p>
            <a:r>
              <a:rPr lang="en-US" dirty="0"/>
              <a:t>Transport</a:t>
            </a:r>
          </a:p>
          <a:p>
            <a:r>
              <a:rPr lang="en-US" dirty="0"/>
              <a:t>Detector</a:t>
            </a:r>
          </a:p>
          <a:p>
            <a:pPr lvl="1"/>
            <a:r>
              <a:rPr lang="en-US" dirty="0"/>
              <a:t>Tracker</a:t>
            </a:r>
          </a:p>
          <a:p>
            <a:pPr lvl="1"/>
            <a:r>
              <a:rPr lang="en-US" dirty="0"/>
              <a:t>Calorimeter</a:t>
            </a:r>
          </a:p>
          <a:p>
            <a:pPr lvl="1"/>
            <a:r>
              <a:rPr lang="en-US" dirty="0"/>
              <a:t>Detector Solenoid</a:t>
            </a:r>
          </a:p>
          <a:p>
            <a:r>
              <a:rPr lang="en-US" dirty="0"/>
              <a:t>Computing</a:t>
            </a:r>
          </a:p>
          <a:p>
            <a:pPr lvl="1"/>
            <a:r>
              <a:rPr lang="en-US" dirty="0"/>
              <a:t>Trigger</a:t>
            </a:r>
          </a:p>
          <a:p>
            <a:pPr lvl="1"/>
            <a:r>
              <a:rPr lang="en-US" dirty="0"/>
              <a:t>DAQ and DQM</a:t>
            </a:r>
          </a:p>
        </p:txBody>
      </p:sp>
      <p:sp>
        <p:nvSpPr>
          <p:cNvPr id="5" name="Footer Placeholder 4">
            <a:extLst>
              <a:ext uri="{FF2B5EF4-FFF2-40B4-BE49-F238E27FC236}">
                <a16:creationId xmlns:a16="http://schemas.microsoft.com/office/drawing/2014/main" id="{3314C16F-256D-43FC-74CC-ACCC7641CC97}"/>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3B8E0276-1DD3-A3CD-7377-30DD6DE7D9EC}"/>
              </a:ext>
            </a:extLst>
          </p:cNvPr>
          <p:cNvSpPr>
            <a:spLocks noGrp="1"/>
          </p:cNvSpPr>
          <p:nvPr>
            <p:ph type="sldNum" sz="quarter" idx="12"/>
          </p:nvPr>
        </p:nvSpPr>
        <p:spPr/>
        <p:txBody>
          <a:bodyPr/>
          <a:lstStyle/>
          <a:p>
            <a:fld id="{C0E0CB54-3DBF-E947-906E-85E307CF7971}" type="slidenum">
              <a:rPr lang="en-US" smtClean="0"/>
              <a:t>12</a:t>
            </a:fld>
            <a:endParaRPr lang="en-US"/>
          </a:p>
        </p:txBody>
      </p:sp>
      <p:sp>
        <p:nvSpPr>
          <p:cNvPr id="4" name="Title 1">
            <a:extLst>
              <a:ext uri="{FF2B5EF4-FFF2-40B4-BE49-F238E27FC236}">
                <a16:creationId xmlns:a16="http://schemas.microsoft.com/office/drawing/2014/main" id="{DEBBD662-1FFB-2DE5-3313-B60C630AB3F0}"/>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Mu2e Experiment Design</a:t>
            </a:r>
          </a:p>
        </p:txBody>
      </p:sp>
    </p:spTree>
    <p:extLst>
      <p:ext uri="{BB962C8B-B14F-4D97-AF65-F5344CB8AC3E}">
        <p14:creationId xmlns:p14="http://schemas.microsoft.com/office/powerpoint/2010/main" val="10852788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D7683-6D47-BCC4-B9B0-A0A36F4CBD90}"/>
              </a:ext>
            </a:extLst>
          </p:cNvPr>
          <p:cNvSpPr>
            <a:spLocks noGrp="1"/>
          </p:cNvSpPr>
          <p:nvPr>
            <p:ph type="title"/>
          </p:nvPr>
        </p:nvSpPr>
        <p:spPr/>
        <p:txBody>
          <a:bodyPr/>
          <a:lstStyle/>
          <a:p>
            <a:r>
              <a:rPr lang="en-US" dirty="0"/>
              <a:t>Relevant Backgrounds and Mitigation </a:t>
            </a:r>
          </a:p>
        </p:txBody>
      </p:sp>
      <p:sp>
        <p:nvSpPr>
          <p:cNvPr id="3" name="Content Placeholder 2">
            <a:extLst>
              <a:ext uri="{FF2B5EF4-FFF2-40B4-BE49-F238E27FC236}">
                <a16:creationId xmlns:a16="http://schemas.microsoft.com/office/drawing/2014/main" id="{7CF2567C-C18A-9A04-B0E1-F7AAD309938A}"/>
              </a:ext>
            </a:extLst>
          </p:cNvPr>
          <p:cNvSpPr>
            <a:spLocks noGrp="1"/>
          </p:cNvSpPr>
          <p:nvPr>
            <p:ph idx="1"/>
          </p:nvPr>
        </p:nvSpPr>
        <p:spPr/>
        <p:txBody>
          <a:bodyPr/>
          <a:lstStyle/>
          <a:p>
            <a:r>
              <a:rPr lang="en-US" dirty="0"/>
              <a:t>Muon Decay-in-Orbit</a:t>
            </a:r>
          </a:p>
          <a:p>
            <a:r>
              <a:rPr lang="en-US" dirty="0"/>
              <a:t>Radiative Muon Capture (RMC)</a:t>
            </a:r>
          </a:p>
          <a:p>
            <a:r>
              <a:rPr lang="en-US" dirty="0"/>
              <a:t>Radiative Pion Capture (RPC)</a:t>
            </a:r>
          </a:p>
          <a:p>
            <a:r>
              <a:rPr lang="en-US" dirty="0"/>
              <a:t>Electromagnetic Production Processes</a:t>
            </a:r>
          </a:p>
          <a:p>
            <a:r>
              <a:rPr lang="en-US" dirty="0"/>
              <a:t>Beam Flash</a:t>
            </a:r>
          </a:p>
          <a:p>
            <a:r>
              <a:rPr lang="en-US" dirty="0"/>
              <a:t>Cosmic Ray Muons and Byproducts</a:t>
            </a:r>
          </a:p>
          <a:p>
            <a:r>
              <a:rPr lang="en-US" dirty="0"/>
              <a:t>Reconstruction Error</a:t>
            </a:r>
          </a:p>
        </p:txBody>
      </p:sp>
      <p:sp>
        <p:nvSpPr>
          <p:cNvPr id="5" name="Footer Placeholder 4">
            <a:extLst>
              <a:ext uri="{FF2B5EF4-FFF2-40B4-BE49-F238E27FC236}">
                <a16:creationId xmlns:a16="http://schemas.microsoft.com/office/drawing/2014/main" id="{19790F6C-CC2F-1A6E-8CE5-D3E3540FBEB2}"/>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3688C638-A98D-1870-B400-BD16FF2710F3}"/>
              </a:ext>
            </a:extLst>
          </p:cNvPr>
          <p:cNvSpPr>
            <a:spLocks noGrp="1"/>
          </p:cNvSpPr>
          <p:nvPr>
            <p:ph type="sldNum" sz="quarter" idx="12"/>
          </p:nvPr>
        </p:nvSpPr>
        <p:spPr/>
        <p:txBody>
          <a:bodyPr/>
          <a:lstStyle/>
          <a:p>
            <a:fld id="{C0E0CB54-3DBF-E947-906E-85E307CF7971}" type="slidenum">
              <a:rPr lang="en-US" smtClean="0"/>
              <a:t>13</a:t>
            </a:fld>
            <a:endParaRPr lang="en-US"/>
          </a:p>
        </p:txBody>
      </p:sp>
      <p:sp>
        <p:nvSpPr>
          <p:cNvPr id="4" name="Title 1">
            <a:extLst>
              <a:ext uri="{FF2B5EF4-FFF2-40B4-BE49-F238E27FC236}">
                <a16:creationId xmlns:a16="http://schemas.microsoft.com/office/drawing/2014/main" id="{6AF30B85-8622-FF04-2703-3943E8517E76}"/>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Relevant Backgrounds and Mitigation Techniques</a:t>
            </a:r>
          </a:p>
        </p:txBody>
      </p:sp>
    </p:spTree>
    <p:extLst>
      <p:ext uri="{BB962C8B-B14F-4D97-AF65-F5344CB8AC3E}">
        <p14:creationId xmlns:p14="http://schemas.microsoft.com/office/powerpoint/2010/main" val="3865290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AD05EE-5BCF-1E62-4B49-C064E4A516FA}"/>
              </a:ext>
            </a:extLst>
          </p:cNvPr>
          <p:cNvSpPr>
            <a:spLocks noGrp="1"/>
          </p:cNvSpPr>
          <p:nvPr>
            <p:ph type="title"/>
          </p:nvPr>
        </p:nvSpPr>
        <p:spPr/>
        <p:txBody>
          <a:bodyPr/>
          <a:lstStyle/>
          <a:p>
            <a:r>
              <a:rPr lang="en-US" dirty="0"/>
              <a:t>Event Identification and Signal</a:t>
            </a:r>
          </a:p>
        </p:txBody>
      </p:sp>
      <p:sp>
        <p:nvSpPr>
          <p:cNvPr id="3" name="Text Placeholder 2">
            <a:extLst>
              <a:ext uri="{FF2B5EF4-FFF2-40B4-BE49-F238E27FC236}">
                <a16:creationId xmlns:a16="http://schemas.microsoft.com/office/drawing/2014/main" id="{4D9F4BFB-56E8-774D-5516-22DB6A66247B}"/>
              </a:ext>
            </a:extLst>
          </p:cNvPr>
          <p:cNvSpPr>
            <a:spLocks noGrp="1"/>
          </p:cNvSpPr>
          <p:nvPr>
            <p:ph type="body" idx="1"/>
          </p:nvPr>
        </p:nvSpPr>
        <p:spPr/>
        <p:txBody>
          <a:bodyPr/>
          <a:lstStyle/>
          <a:p>
            <a:endParaRPr lang="en-US"/>
          </a:p>
        </p:txBody>
      </p:sp>
      <p:sp>
        <p:nvSpPr>
          <p:cNvPr id="5" name="Footer Placeholder 4">
            <a:extLst>
              <a:ext uri="{FF2B5EF4-FFF2-40B4-BE49-F238E27FC236}">
                <a16:creationId xmlns:a16="http://schemas.microsoft.com/office/drawing/2014/main" id="{244B29F7-58E5-025E-5FDE-D10103046087}"/>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6552385C-1898-9FB8-690C-00E0D306D983}"/>
              </a:ext>
            </a:extLst>
          </p:cNvPr>
          <p:cNvSpPr>
            <a:spLocks noGrp="1"/>
          </p:cNvSpPr>
          <p:nvPr>
            <p:ph type="sldNum" sz="quarter" idx="12"/>
          </p:nvPr>
        </p:nvSpPr>
        <p:spPr/>
        <p:txBody>
          <a:bodyPr/>
          <a:lstStyle/>
          <a:p>
            <a:fld id="{C0E0CB54-3DBF-E947-906E-85E307CF7971}" type="slidenum">
              <a:rPr lang="en-US" smtClean="0"/>
              <a:t>14</a:t>
            </a:fld>
            <a:endParaRPr lang="en-US"/>
          </a:p>
        </p:txBody>
      </p:sp>
    </p:spTree>
    <p:extLst>
      <p:ext uri="{BB962C8B-B14F-4D97-AF65-F5344CB8AC3E}">
        <p14:creationId xmlns:p14="http://schemas.microsoft.com/office/powerpoint/2010/main" val="27477971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1804ECB-C4A6-72A2-F12A-F24CB69D7524}"/>
                  </a:ext>
                </a:extLst>
              </p:cNvPr>
              <p:cNvSpPr>
                <a:spLocks noGrp="1"/>
              </p:cNvSpPr>
              <p:nvPr>
                <p:ph idx="1"/>
              </p:nvPr>
            </p:nvSpPr>
            <p:spPr>
              <a:xfrm>
                <a:off x="0" y="700391"/>
                <a:ext cx="12192000" cy="5476572"/>
              </a:xfrm>
            </p:spPr>
            <p:txBody>
              <a:bodyPr/>
              <a:lstStyle/>
              <a:p>
                <a:r>
                  <a:rPr lang="en-US" dirty="0"/>
                  <a:t>Two electron tracks reconstructed</a:t>
                </a:r>
              </a:p>
              <a:p>
                <a:r>
                  <a:rPr lang="en-US" dirty="0"/>
                  <a:t>Invariant energy of the final state should be roughly equal to the mass of the muon</a:t>
                </a:r>
              </a:p>
              <a:p>
                <a:pPr lvl="1"/>
                <a:r>
                  <a:rPr lang="en-US" dirty="0"/>
                  <a:t>Single electron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sup>
                        </m:sSup>
                      </m:sub>
                    </m:sSub>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52.8</m:t>
                    </m:r>
                  </m:oMath>
                </a14:m>
                <a:r>
                  <a:rPr lang="en-US" dirty="0"/>
                  <a:t> MeV (inside peak of Michel spectrum)</a:t>
                </a:r>
              </a:p>
              <a:p>
                <a:r>
                  <a:rPr lang="en-US" dirty="0"/>
                  <a:t>Approximately back-to-back distribution (opening angle </a:t>
                </a:r>
                <a14:m>
                  <m:oMath xmlns:m="http://schemas.openxmlformats.org/officeDocument/2006/math">
                    <m:r>
                      <a:rPr lang="en-US" i="1" smtClean="0">
                        <a:latin typeface="Cambria Math" panose="02040503050406030204" pitchFamily="18" charset="0"/>
                        <a:ea typeface="Cambria Math" panose="02040503050406030204" pitchFamily="18" charset="0"/>
                      </a:rPr>
                      <m:t>𝜃</m:t>
                    </m:r>
                    <m:r>
                      <a:rPr lang="en-US" i="1" smtClean="0">
                        <a:latin typeface="Cambria Math" panose="02040503050406030204" pitchFamily="18" charset="0"/>
                        <a:ea typeface="Cambria Math" panose="02040503050406030204" pitchFamily="18" charset="0"/>
                      </a:rPr>
                      <m:t>≈180°</m:t>
                    </m:r>
                  </m:oMath>
                </a14:m>
                <a:r>
                  <a:rPr lang="en-US" dirty="0"/>
                  <a:t>)</a:t>
                </a:r>
              </a:p>
              <a:p>
                <a:r>
                  <a:rPr lang="en-US" dirty="0"/>
                  <a:t>Common origin position and time</a:t>
                </a:r>
              </a:p>
            </p:txBody>
          </p:sp>
        </mc:Choice>
        <mc:Fallback>
          <p:sp>
            <p:nvSpPr>
              <p:cNvPr id="3" name="Content Placeholder 2">
                <a:extLst>
                  <a:ext uri="{FF2B5EF4-FFF2-40B4-BE49-F238E27FC236}">
                    <a16:creationId xmlns:a16="http://schemas.microsoft.com/office/drawing/2014/main" id="{51804ECB-C4A6-72A2-F12A-F24CB69D7524}"/>
                  </a:ext>
                </a:extLst>
              </p:cNvPr>
              <p:cNvSpPr>
                <a:spLocks noGrp="1" noRot="1" noChangeAspect="1" noMove="1" noResize="1" noEditPoints="1" noAdjustHandles="1" noChangeArrowheads="1" noChangeShapeType="1" noTextEdit="1"/>
              </p:cNvSpPr>
              <p:nvPr>
                <p:ph idx="1"/>
              </p:nvPr>
            </p:nvSpPr>
            <p:spPr>
              <a:xfrm>
                <a:off x="0" y="700391"/>
                <a:ext cx="12192000" cy="5476572"/>
              </a:xfrm>
              <a:blipFill>
                <a:blip r:embed="rId2"/>
                <a:stretch>
                  <a:fillRect l="-937" t="-1852"/>
                </a:stretch>
              </a:blipFill>
            </p:spPr>
            <p:txBody>
              <a:bodyPr/>
              <a:lstStyle/>
              <a:p>
                <a:r>
                  <a:rPr lang="en-US">
                    <a:noFill/>
                  </a:rPr>
                  <a:t> </a:t>
                </a:r>
              </a:p>
            </p:txBody>
          </p:sp>
        </mc:Fallback>
      </mc:AlternateContent>
      <p:sp>
        <p:nvSpPr>
          <p:cNvPr id="5" name="Footer Placeholder 4">
            <a:extLst>
              <a:ext uri="{FF2B5EF4-FFF2-40B4-BE49-F238E27FC236}">
                <a16:creationId xmlns:a16="http://schemas.microsoft.com/office/drawing/2014/main" id="{268409CA-E789-935D-E265-27ED72C52E54}"/>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2F223A33-DB1A-BC63-1827-24224DB4DA5C}"/>
              </a:ext>
            </a:extLst>
          </p:cNvPr>
          <p:cNvSpPr>
            <a:spLocks noGrp="1"/>
          </p:cNvSpPr>
          <p:nvPr>
            <p:ph type="sldNum" sz="quarter" idx="12"/>
          </p:nvPr>
        </p:nvSpPr>
        <p:spPr/>
        <p:txBody>
          <a:bodyPr/>
          <a:lstStyle/>
          <a:p>
            <a:fld id="{C0E0CB54-3DBF-E947-906E-85E307CF7971}" type="slidenum">
              <a:rPr lang="en-US" smtClean="0"/>
              <a:t>15</a:t>
            </a:fld>
            <a:endParaRPr lang="en-US"/>
          </a:p>
        </p:txBody>
      </p:sp>
      <mc:AlternateContent xmlns:mc="http://schemas.openxmlformats.org/markup-compatibility/2006" xmlns:a14="http://schemas.microsoft.com/office/drawing/2010/main">
        <mc:Choice Requires="a14">
          <p:sp>
            <p:nvSpPr>
              <p:cNvPr id="4" name="Title 1">
                <a:extLst>
                  <a:ext uri="{FF2B5EF4-FFF2-40B4-BE49-F238E27FC236}">
                    <a16:creationId xmlns:a16="http://schemas.microsoft.com/office/drawing/2014/main" id="{F4D19819-A4B6-C926-3895-93903E2D5D1C}"/>
                  </a:ext>
                </a:extLst>
              </p:cNvPr>
              <p:cNvSpPr txBox="1">
                <a:spLocks/>
              </p:cNvSpPr>
              <p:nvPr/>
            </p:nvSpPr>
            <p:spPr>
              <a:xfrm>
                <a:off x="0" y="0"/>
                <a:ext cx="10515600" cy="57068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14:m>
                  <m:oMath xmlns:m="http://schemas.openxmlformats.org/officeDocument/2006/math">
                    <m:sSup>
                      <m:sSupPr>
                        <m:ctrlPr>
                          <a:rPr lang="en-US" sz="2800" i="1" smtClean="0">
                            <a:solidFill>
                              <a:srgbClr val="C00000"/>
                            </a:solidFill>
                            <a:latin typeface="Cambria Math" panose="02040503050406030204" pitchFamily="18" charset="0"/>
                            <a:ea typeface="Cambria Math" panose="02040503050406030204" pitchFamily="18" charset="0"/>
                          </a:rPr>
                        </m:ctrlPr>
                      </m:sSupPr>
                      <m:e>
                        <m:r>
                          <a:rPr lang="en-US" sz="2800" i="1" smtClean="0">
                            <a:solidFill>
                              <a:srgbClr val="C00000"/>
                            </a:solidFill>
                            <a:latin typeface="Cambria Math" panose="02040503050406030204" pitchFamily="18" charset="0"/>
                            <a:ea typeface="Cambria Math" panose="02040503050406030204" pitchFamily="18" charset="0"/>
                          </a:rPr>
                          <m:t>𝜇</m:t>
                        </m:r>
                      </m:e>
                      <m:sup>
                        <m:r>
                          <a:rPr lang="en-US" sz="2800" b="0" i="1" smtClean="0">
                            <a:solidFill>
                              <a:srgbClr val="C00000"/>
                            </a:solidFill>
                            <a:latin typeface="Cambria Math" panose="02040503050406030204" pitchFamily="18" charset="0"/>
                          </a:rPr>
                          <m:t>−</m:t>
                        </m:r>
                      </m:sup>
                    </m:sSup>
                    <m:sSup>
                      <m:sSupPr>
                        <m:ctrlPr>
                          <a:rPr lang="en-US" sz="2800" b="0" i="1" smtClean="0">
                            <a:solidFill>
                              <a:srgbClr val="C00000"/>
                            </a:solidFill>
                            <a:latin typeface="Cambria Math" panose="02040503050406030204" pitchFamily="18" charset="0"/>
                          </a:rPr>
                        </m:ctrlPr>
                      </m:sSupPr>
                      <m:e>
                        <m:r>
                          <a:rPr lang="en-US" sz="2800" b="0" i="1" smtClean="0">
                            <a:solidFill>
                              <a:srgbClr val="C00000"/>
                            </a:solidFill>
                            <a:latin typeface="Cambria Math" panose="02040503050406030204" pitchFamily="18" charset="0"/>
                          </a:rPr>
                          <m:t>𝑒</m:t>
                        </m:r>
                      </m:e>
                      <m:sup>
                        <m:r>
                          <a:rPr lang="en-US" sz="2800" b="0" i="1" smtClean="0">
                            <a:solidFill>
                              <a:srgbClr val="C00000"/>
                            </a:solidFill>
                            <a:latin typeface="Cambria Math" panose="02040503050406030204" pitchFamily="18" charset="0"/>
                          </a:rPr>
                          <m:t>−</m:t>
                        </m:r>
                      </m:sup>
                    </m:sSup>
                    <m:r>
                      <a:rPr lang="en-US" sz="2800" i="1" smtClean="0">
                        <a:solidFill>
                          <a:srgbClr val="C00000"/>
                        </a:solidFill>
                        <a:latin typeface="Cambria Math" panose="02040503050406030204" pitchFamily="18" charset="0"/>
                        <a:ea typeface="Cambria Math" panose="02040503050406030204" pitchFamily="18" charset="0"/>
                      </a:rPr>
                      <m:t>→</m:t>
                    </m:r>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oMath>
                </a14:m>
                <a:r>
                  <a:rPr lang="en-US" sz="2800" dirty="0">
                    <a:solidFill>
                      <a:srgbClr val="C00000"/>
                    </a:solidFill>
                  </a:rPr>
                  <a:t> Process Signal Characteristics</a:t>
                </a:r>
              </a:p>
            </p:txBody>
          </p:sp>
        </mc:Choice>
        <mc:Fallback xmlns="">
          <p:sp>
            <p:nvSpPr>
              <p:cNvPr id="4" name="Title 1">
                <a:extLst>
                  <a:ext uri="{FF2B5EF4-FFF2-40B4-BE49-F238E27FC236}">
                    <a16:creationId xmlns:a16="http://schemas.microsoft.com/office/drawing/2014/main" id="{F4D19819-A4B6-C926-3895-93903E2D5D1C}"/>
                  </a:ext>
                </a:extLst>
              </p:cNvPr>
              <p:cNvSpPr txBox="1">
                <a:spLocks noRot="1" noChangeAspect="1" noMove="1" noResize="1" noEditPoints="1" noAdjustHandles="1" noChangeArrowheads="1" noChangeShapeType="1" noTextEdit="1"/>
              </p:cNvSpPr>
              <p:nvPr/>
            </p:nvSpPr>
            <p:spPr>
              <a:xfrm>
                <a:off x="0" y="0"/>
                <a:ext cx="10515600" cy="570689"/>
              </a:xfrm>
              <a:prstGeom prst="rect">
                <a:avLst/>
              </a:prstGeom>
              <a:blipFill>
                <a:blip r:embed="rId4"/>
                <a:stretch>
                  <a:fillRect l="-241" t="-8696" b="-17391"/>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250CE790-7E29-BB94-AEAB-6FF64FB69CB9}"/>
              </a:ext>
            </a:extLst>
          </p:cNvPr>
          <p:cNvSpPr txBox="1"/>
          <p:nvPr/>
        </p:nvSpPr>
        <p:spPr>
          <a:xfrm>
            <a:off x="4714672" y="4494179"/>
            <a:ext cx="3101811" cy="369332"/>
          </a:xfrm>
          <a:prstGeom prst="rect">
            <a:avLst/>
          </a:prstGeom>
          <a:noFill/>
        </p:spPr>
        <p:txBody>
          <a:bodyPr wrap="none" rtlCol="0">
            <a:spAutoFit/>
          </a:bodyPr>
          <a:lstStyle/>
          <a:p>
            <a:r>
              <a:rPr lang="en-US" dirty="0"/>
              <a:t>Drawn Image of Back to back </a:t>
            </a:r>
          </a:p>
        </p:txBody>
      </p:sp>
    </p:spTree>
    <p:extLst>
      <p:ext uri="{BB962C8B-B14F-4D97-AF65-F5344CB8AC3E}">
        <p14:creationId xmlns:p14="http://schemas.microsoft.com/office/powerpoint/2010/main" val="9363900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28EC396-957A-9948-E447-80C5532EC520}"/>
              </a:ext>
            </a:extLst>
          </p:cNvPr>
          <p:cNvSpPr>
            <a:spLocks noGrp="1"/>
          </p:cNvSpPr>
          <p:nvPr>
            <p:ph idx="1"/>
          </p:nvPr>
        </p:nvSpPr>
        <p:spPr>
          <a:xfrm>
            <a:off x="0" y="901430"/>
            <a:ext cx="12192000" cy="5454919"/>
          </a:xfrm>
        </p:spPr>
        <p:txBody>
          <a:bodyPr/>
          <a:lstStyle/>
          <a:p>
            <a:r>
              <a:rPr lang="en-US" dirty="0"/>
              <a:t>Half strength magnetic field in the DS solenoid</a:t>
            </a:r>
          </a:p>
          <a:p>
            <a:r>
              <a:rPr lang="en-US" dirty="0"/>
              <a:t>Reduction in proton beam power (reduction of POTs)</a:t>
            </a:r>
          </a:p>
          <a:p>
            <a:r>
              <a:rPr lang="en-US" dirty="0"/>
              <a:t>Multi-track trigger</a:t>
            </a:r>
          </a:p>
        </p:txBody>
      </p:sp>
      <p:sp>
        <p:nvSpPr>
          <p:cNvPr id="5" name="Footer Placeholder 4">
            <a:extLst>
              <a:ext uri="{FF2B5EF4-FFF2-40B4-BE49-F238E27FC236}">
                <a16:creationId xmlns:a16="http://schemas.microsoft.com/office/drawing/2014/main" id="{1DCDA664-D779-E7A0-EDB9-037F424783CB}"/>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9D6FF232-F424-E5D7-321D-747FBE6C93E1}"/>
              </a:ext>
            </a:extLst>
          </p:cNvPr>
          <p:cNvSpPr>
            <a:spLocks noGrp="1"/>
          </p:cNvSpPr>
          <p:nvPr>
            <p:ph type="sldNum" sz="quarter" idx="12"/>
          </p:nvPr>
        </p:nvSpPr>
        <p:spPr/>
        <p:txBody>
          <a:bodyPr/>
          <a:lstStyle/>
          <a:p>
            <a:fld id="{C0E0CB54-3DBF-E947-906E-85E307CF7971}" type="slidenum">
              <a:rPr lang="en-US" smtClean="0"/>
              <a:t>16</a:t>
            </a:fld>
            <a:endParaRPr lang="en-US"/>
          </a:p>
        </p:txBody>
      </p:sp>
      <p:sp>
        <p:nvSpPr>
          <p:cNvPr id="4" name="Title 1">
            <a:extLst>
              <a:ext uri="{FF2B5EF4-FFF2-40B4-BE49-F238E27FC236}">
                <a16:creationId xmlns:a16="http://schemas.microsoft.com/office/drawing/2014/main" id="{F6792DCE-6A75-7027-6A53-3DF0F89D04F0}"/>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Experimental Configuration Requirements</a:t>
            </a:r>
          </a:p>
        </p:txBody>
      </p:sp>
    </p:spTree>
    <p:extLst>
      <p:ext uri="{BB962C8B-B14F-4D97-AF65-F5344CB8AC3E}">
        <p14:creationId xmlns:p14="http://schemas.microsoft.com/office/powerpoint/2010/main" val="25069876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C082BC7-D665-4282-10FB-7CD5404EA439}"/>
              </a:ext>
            </a:extLst>
          </p:cNvPr>
          <p:cNvSpPr>
            <a:spLocks noGrp="1"/>
          </p:cNvSpPr>
          <p:nvPr>
            <p:ph idx="1"/>
          </p:nvPr>
        </p:nvSpPr>
        <p:spPr>
          <a:xfrm>
            <a:off x="0" y="424542"/>
            <a:ext cx="12192000" cy="5931807"/>
          </a:xfrm>
        </p:spPr>
        <p:txBody>
          <a:bodyPr/>
          <a:lstStyle/>
          <a:p>
            <a:r>
              <a:rPr lang="en-US" dirty="0"/>
              <a:t>Parameterization of track reconstructions</a:t>
            </a:r>
          </a:p>
          <a:p>
            <a:endParaRPr lang="en-US" dirty="0"/>
          </a:p>
        </p:txBody>
      </p:sp>
      <p:sp>
        <p:nvSpPr>
          <p:cNvPr id="5" name="Footer Placeholder 4">
            <a:extLst>
              <a:ext uri="{FF2B5EF4-FFF2-40B4-BE49-F238E27FC236}">
                <a16:creationId xmlns:a16="http://schemas.microsoft.com/office/drawing/2014/main" id="{6731B301-098C-B82B-44C0-C13B4F081D5F}"/>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04AD17FC-75C4-917B-3FEE-4954D614710B}"/>
              </a:ext>
            </a:extLst>
          </p:cNvPr>
          <p:cNvSpPr>
            <a:spLocks noGrp="1"/>
          </p:cNvSpPr>
          <p:nvPr>
            <p:ph type="sldNum" sz="quarter" idx="12"/>
          </p:nvPr>
        </p:nvSpPr>
        <p:spPr/>
        <p:txBody>
          <a:bodyPr/>
          <a:lstStyle/>
          <a:p>
            <a:fld id="{C0E0CB54-3DBF-E947-906E-85E307CF7971}" type="slidenum">
              <a:rPr lang="en-US" smtClean="0"/>
              <a:t>17</a:t>
            </a:fld>
            <a:endParaRPr lang="en-US"/>
          </a:p>
        </p:txBody>
      </p:sp>
      <p:sp>
        <p:nvSpPr>
          <p:cNvPr id="4" name="Title 1">
            <a:extLst>
              <a:ext uri="{FF2B5EF4-FFF2-40B4-BE49-F238E27FC236}">
                <a16:creationId xmlns:a16="http://schemas.microsoft.com/office/drawing/2014/main" id="{600B18C0-31B9-1095-3934-6600F13D2C5E}"/>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Vertexing Procedure for Finding a Common Origin Position (Part 1)</a:t>
            </a:r>
          </a:p>
        </p:txBody>
      </p:sp>
    </p:spTree>
    <p:extLst>
      <p:ext uri="{BB962C8B-B14F-4D97-AF65-F5344CB8AC3E}">
        <p14:creationId xmlns:p14="http://schemas.microsoft.com/office/powerpoint/2010/main" val="25997098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940ED4D-C33E-E5F8-CA97-18BC365760D1}"/>
              </a:ext>
            </a:extLst>
          </p:cNvPr>
          <p:cNvSpPr>
            <a:spLocks noGrp="1"/>
          </p:cNvSpPr>
          <p:nvPr>
            <p:ph idx="1"/>
          </p:nvPr>
        </p:nvSpPr>
        <p:spPr>
          <a:xfrm>
            <a:off x="0" y="424542"/>
            <a:ext cx="12192000" cy="5931807"/>
          </a:xfrm>
        </p:spPr>
        <p:txBody>
          <a:bodyPr/>
          <a:lstStyle/>
          <a:p>
            <a:endParaRPr lang="en-US" dirty="0"/>
          </a:p>
        </p:txBody>
      </p:sp>
      <p:sp>
        <p:nvSpPr>
          <p:cNvPr id="4" name="Footer Placeholder 3">
            <a:extLst>
              <a:ext uri="{FF2B5EF4-FFF2-40B4-BE49-F238E27FC236}">
                <a16:creationId xmlns:a16="http://schemas.microsoft.com/office/drawing/2014/main" id="{2914EE09-88E0-1DF0-128C-9477717F7403}"/>
              </a:ext>
            </a:extLst>
          </p:cNvPr>
          <p:cNvSpPr>
            <a:spLocks noGrp="1"/>
          </p:cNvSpPr>
          <p:nvPr>
            <p:ph type="ftr" sz="quarter" idx="11"/>
          </p:nvPr>
        </p:nvSpPr>
        <p:spPr/>
        <p:txBody>
          <a:bodyPr/>
          <a:lstStyle/>
          <a:p>
            <a:r>
              <a:rPr lang="en-US"/>
              <a:t>Boldy Sensitivity Study Mu2e</a:t>
            </a:r>
          </a:p>
        </p:txBody>
      </p:sp>
      <p:sp>
        <p:nvSpPr>
          <p:cNvPr id="5" name="Slide Number Placeholder 4">
            <a:extLst>
              <a:ext uri="{FF2B5EF4-FFF2-40B4-BE49-F238E27FC236}">
                <a16:creationId xmlns:a16="http://schemas.microsoft.com/office/drawing/2014/main" id="{7966E375-625A-8CD1-030C-51B6D6984DD7}"/>
              </a:ext>
            </a:extLst>
          </p:cNvPr>
          <p:cNvSpPr>
            <a:spLocks noGrp="1"/>
          </p:cNvSpPr>
          <p:nvPr>
            <p:ph type="sldNum" sz="quarter" idx="12"/>
          </p:nvPr>
        </p:nvSpPr>
        <p:spPr/>
        <p:txBody>
          <a:bodyPr/>
          <a:lstStyle/>
          <a:p>
            <a:fld id="{C0E0CB54-3DBF-E947-906E-85E307CF7971}" type="slidenum">
              <a:rPr lang="en-US" smtClean="0"/>
              <a:t>18</a:t>
            </a:fld>
            <a:endParaRPr lang="en-US"/>
          </a:p>
        </p:txBody>
      </p:sp>
      <p:sp>
        <p:nvSpPr>
          <p:cNvPr id="6" name="Title 1">
            <a:extLst>
              <a:ext uri="{FF2B5EF4-FFF2-40B4-BE49-F238E27FC236}">
                <a16:creationId xmlns:a16="http://schemas.microsoft.com/office/drawing/2014/main" id="{1D483BED-3804-C48B-82FB-BA93C95D4AFC}"/>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Vertexing Procedure for Finding a Common Origin Position (Part 2)</a:t>
            </a:r>
          </a:p>
        </p:txBody>
      </p:sp>
    </p:spTree>
    <p:extLst>
      <p:ext uri="{BB962C8B-B14F-4D97-AF65-F5344CB8AC3E}">
        <p14:creationId xmlns:p14="http://schemas.microsoft.com/office/powerpoint/2010/main" val="21639410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987E71-FBD5-B525-1899-66EE901D8217}"/>
              </a:ext>
            </a:extLst>
          </p:cNvPr>
          <p:cNvSpPr>
            <a:spLocks noGrp="1"/>
          </p:cNvSpPr>
          <p:nvPr>
            <p:ph type="title"/>
          </p:nvPr>
        </p:nvSpPr>
        <p:spPr>
          <a:xfrm>
            <a:off x="520700" y="48364"/>
            <a:ext cx="10515600" cy="513023"/>
          </a:xfrm>
          <a:ln>
            <a:solidFill>
              <a:srgbClr val="C00000"/>
            </a:solidFill>
          </a:ln>
        </p:spPr>
        <p:txBody>
          <a:bodyPr>
            <a:normAutofit fontScale="90000"/>
          </a:bodyPr>
          <a:lstStyle/>
          <a:p>
            <a:pPr algn="ctr"/>
            <a:r>
              <a:rPr lang="en-US" dirty="0"/>
              <a:t>Vertexing Algorithm</a:t>
            </a:r>
          </a:p>
        </p:txBody>
      </p:sp>
      <p:sp>
        <p:nvSpPr>
          <p:cNvPr id="4" name="Can 3">
            <a:extLst>
              <a:ext uri="{FF2B5EF4-FFF2-40B4-BE49-F238E27FC236}">
                <a16:creationId xmlns:a16="http://schemas.microsoft.com/office/drawing/2014/main" id="{9E84DA9A-039C-A2A8-2EFA-B9136A26A348}"/>
              </a:ext>
            </a:extLst>
          </p:cNvPr>
          <p:cNvSpPr/>
          <p:nvPr/>
        </p:nvSpPr>
        <p:spPr>
          <a:xfrm rot="5400000">
            <a:off x="3771900" y="2534444"/>
            <a:ext cx="4013200" cy="2933700"/>
          </a:xfrm>
          <a:prstGeom prst="can">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c 6">
            <a:extLst>
              <a:ext uri="{FF2B5EF4-FFF2-40B4-BE49-F238E27FC236}">
                <a16:creationId xmlns:a16="http://schemas.microsoft.com/office/drawing/2014/main" id="{28CDBAC7-D533-1382-1254-D72B5B365496}"/>
              </a:ext>
            </a:extLst>
          </p:cNvPr>
          <p:cNvSpPr/>
          <p:nvPr/>
        </p:nvSpPr>
        <p:spPr>
          <a:xfrm>
            <a:off x="4514852" y="1994694"/>
            <a:ext cx="304800" cy="4013200"/>
          </a:xfrm>
          <a:prstGeom prst="arc">
            <a:avLst>
              <a:gd name="adj1" fmla="val 16200000"/>
              <a:gd name="adj2" fmla="val 2699959"/>
            </a:avLst>
          </a:prstGeom>
          <a:ln>
            <a:solidFill>
              <a:schemeClr val="tx1"/>
            </a:solidFill>
            <a:prstDash val="sys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2" name="Arc 11">
            <a:extLst>
              <a:ext uri="{FF2B5EF4-FFF2-40B4-BE49-F238E27FC236}">
                <a16:creationId xmlns:a16="http://schemas.microsoft.com/office/drawing/2014/main" id="{9901078C-6DFA-D45F-599B-E646AA75C693}"/>
              </a:ext>
            </a:extLst>
          </p:cNvPr>
          <p:cNvSpPr/>
          <p:nvPr/>
        </p:nvSpPr>
        <p:spPr>
          <a:xfrm flipV="1">
            <a:off x="4362450" y="1994694"/>
            <a:ext cx="457202" cy="4013200"/>
          </a:xfrm>
          <a:prstGeom prst="arc">
            <a:avLst/>
          </a:prstGeom>
          <a:ln>
            <a:solidFill>
              <a:schemeClr val="tx1"/>
            </a:solidFill>
            <a:prstDash val="sys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Oval 13">
            <a:extLst>
              <a:ext uri="{FF2B5EF4-FFF2-40B4-BE49-F238E27FC236}">
                <a16:creationId xmlns:a16="http://schemas.microsoft.com/office/drawing/2014/main" id="{2E948651-A309-5283-AA4A-9F1E6F1B1AD7}"/>
              </a:ext>
            </a:extLst>
          </p:cNvPr>
          <p:cNvSpPr/>
          <p:nvPr/>
        </p:nvSpPr>
        <p:spPr>
          <a:xfrm>
            <a:off x="6825343" y="3429000"/>
            <a:ext cx="45719" cy="244929"/>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937DBB4D-1EFF-44ED-8E03-03D2F21191B2}"/>
              </a:ext>
            </a:extLst>
          </p:cNvPr>
          <p:cNvSpPr/>
          <p:nvPr/>
        </p:nvSpPr>
        <p:spPr>
          <a:xfrm>
            <a:off x="4621531" y="4832169"/>
            <a:ext cx="45719" cy="24492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C8CB407-A6A5-D9F1-C24B-6A89DFB09063}"/>
                  </a:ext>
                </a:extLst>
              </p:cNvPr>
              <p:cNvSpPr txBox="1"/>
              <p:nvPr/>
            </p:nvSpPr>
            <p:spPr>
              <a:xfrm>
                <a:off x="1634255" y="4652407"/>
                <a:ext cx="1731821" cy="302226"/>
              </a:xfrm>
              <a:prstGeom prst="rect">
                <a:avLst/>
              </a:prstGeom>
              <a:noFill/>
              <a:ln w="25400">
                <a:solidFill>
                  <a:schemeClr val="accent1"/>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sub>
                        </m:sSub>
                      </m:e>
                    </m:acc>
                  </m:oMath>
                </a14:m>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r>
                          <a:rPr lang="en-US" b="0" i="1" smtClean="0">
                            <a:latin typeface="Cambria Math" panose="02040503050406030204" pitchFamily="18" charset="0"/>
                          </a:rPr>
                          <m:t>𝑥</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r>
                          <a:rPr lang="en-US" b="0" i="1" smtClean="0">
                            <a:latin typeface="Cambria Math" panose="02040503050406030204" pitchFamily="18" charset="0"/>
                          </a:rPr>
                          <m:t>𝑦</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r>
                          <a:rPr lang="en-US" b="0" i="1" smtClean="0">
                            <a:latin typeface="Cambria Math" panose="02040503050406030204" pitchFamily="18" charset="0"/>
                          </a:rPr>
                          <m:t>𝑧</m:t>
                        </m:r>
                      </m:sub>
                    </m:sSub>
                    <m:r>
                      <a:rPr lang="en-US" b="0" i="1" smtClean="0">
                        <a:latin typeface="Cambria Math" panose="02040503050406030204" pitchFamily="18" charset="0"/>
                      </a:rPr>
                      <m:t>)</m:t>
                    </m:r>
                  </m:oMath>
                </a14:m>
                <a:endParaRPr lang="en-US" dirty="0"/>
              </a:p>
            </p:txBody>
          </p:sp>
        </mc:Choice>
        <mc:Fallback xmlns="">
          <p:sp>
            <p:nvSpPr>
              <p:cNvPr id="19" name="TextBox 18">
                <a:extLst>
                  <a:ext uri="{FF2B5EF4-FFF2-40B4-BE49-F238E27FC236}">
                    <a16:creationId xmlns:a16="http://schemas.microsoft.com/office/drawing/2014/main" id="{4C8CB407-A6A5-D9F1-C24B-6A89DFB09063}"/>
                  </a:ext>
                </a:extLst>
              </p:cNvPr>
              <p:cNvSpPr txBox="1">
                <a:spLocks noRot="1" noChangeAspect="1" noMove="1" noResize="1" noEditPoints="1" noAdjustHandles="1" noChangeArrowheads="1" noChangeShapeType="1" noTextEdit="1"/>
              </p:cNvSpPr>
              <p:nvPr/>
            </p:nvSpPr>
            <p:spPr>
              <a:xfrm>
                <a:off x="1634255" y="4652407"/>
                <a:ext cx="1731821" cy="302226"/>
              </a:xfrm>
              <a:prstGeom prst="rect">
                <a:avLst/>
              </a:prstGeom>
              <a:blipFill>
                <a:blip r:embed="rId2"/>
                <a:stretch>
                  <a:fillRect r="-5755" b="-14815"/>
                </a:stretch>
              </a:blipFill>
              <a:ln w="25400">
                <a:solidFill>
                  <a:schemeClr val="accent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2E7C3CFF-042A-BA56-B6BB-9A4648C2D313}"/>
                  </a:ext>
                </a:extLst>
              </p:cNvPr>
              <p:cNvSpPr txBox="1"/>
              <p:nvPr/>
            </p:nvSpPr>
            <p:spPr>
              <a:xfrm>
                <a:off x="2031941" y="5831431"/>
                <a:ext cx="1792434" cy="298928"/>
              </a:xfrm>
              <a:prstGeom prst="rect">
                <a:avLst/>
              </a:prstGeom>
              <a:noFill/>
              <a:ln w="25400">
                <a:solidFill>
                  <a:srgbClr val="FF0000"/>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sub>
                        </m:sSub>
                      </m:e>
                    </m:acc>
                  </m:oMath>
                </a14:m>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r>
                          <a:rPr lang="en-US" b="0" i="1" smtClean="0">
                            <a:latin typeface="Cambria Math" panose="02040503050406030204" pitchFamily="18" charset="0"/>
                          </a:rPr>
                          <m:t>𝑥</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r>
                          <a:rPr lang="en-US" b="0" i="1" smtClean="0">
                            <a:latin typeface="Cambria Math" panose="02040503050406030204" pitchFamily="18" charset="0"/>
                          </a:rPr>
                          <m:t>𝑦</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r>
                          <a:rPr lang="en-US" b="0" i="1" smtClean="0">
                            <a:latin typeface="Cambria Math" panose="02040503050406030204" pitchFamily="18" charset="0"/>
                          </a:rPr>
                          <m:t>𝑧</m:t>
                        </m:r>
                      </m:sub>
                    </m:sSub>
                    <m:r>
                      <a:rPr lang="en-US" b="0" i="1" smtClean="0">
                        <a:latin typeface="Cambria Math" panose="02040503050406030204" pitchFamily="18" charset="0"/>
                      </a:rPr>
                      <m:t>)</m:t>
                    </m:r>
                  </m:oMath>
                </a14:m>
                <a:endParaRPr lang="en-US" dirty="0"/>
              </a:p>
            </p:txBody>
          </p:sp>
        </mc:Choice>
        <mc:Fallback xmlns="">
          <p:sp>
            <p:nvSpPr>
              <p:cNvPr id="20" name="TextBox 19">
                <a:extLst>
                  <a:ext uri="{FF2B5EF4-FFF2-40B4-BE49-F238E27FC236}">
                    <a16:creationId xmlns:a16="http://schemas.microsoft.com/office/drawing/2014/main" id="{2E7C3CFF-042A-BA56-B6BB-9A4648C2D313}"/>
                  </a:ext>
                </a:extLst>
              </p:cNvPr>
              <p:cNvSpPr txBox="1">
                <a:spLocks noRot="1" noChangeAspect="1" noMove="1" noResize="1" noEditPoints="1" noAdjustHandles="1" noChangeArrowheads="1" noChangeShapeType="1" noTextEdit="1"/>
              </p:cNvSpPr>
              <p:nvPr/>
            </p:nvSpPr>
            <p:spPr>
              <a:xfrm>
                <a:off x="2031941" y="5831431"/>
                <a:ext cx="1792434" cy="298928"/>
              </a:xfrm>
              <a:prstGeom prst="rect">
                <a:avLst/>
              </a:prstGeom>
              <a:blipFill>
                <a:blip r:embed="rId3"/>
                <a:stretch>
                  <a:fillRect r="-3472" b="-23077"/>
                </a:stretch>
              </a:blipFill>
              <a:ln w="25400">
                <a:solidFill>
                  <a:srgbClr val="FF0000"/>
                </a:solidFill>
              </a:ln>
            </p:spPr>
            <p:txBody>
              <a:bodyPr/>
              <a:lstStyle/>
              <a:p>
                <a:r>
                  <a:rPr lang="en-US">
                    <a:noFill/>
                  </a:rPr>
                  <a:t> </a:t>
                </a:r>
              </a:p>
            </p:txBody>
          </p:sp>
        </mc:Fallback>
      </mc:AlternateContent>
      <p:cxnSp>
        <p:nvCxnSpPr>
          <p:cNvPr id="22" name="Straight Arrow Connector 21">
            <a:extLst>
              <a:ext uri="{FF2B5EF4-FFF2-40B4-BE49-F238E27FC236}">
                <a16:creationId xmlns:a16="http://schemas.microsoft.com/office/drawing/2014/main" id="{07F58678-A114-15F3-3A62-0C50B94C5518}"/>
              </a:ext>
            </a:extLst>
          </p:cNvPr>
          <p:cNvCxnSpPr>
            <a:cxnSpLocks/>
            <a:endCxn id="15" idx="2"/>
          </p:cNvCxnSpPr>
          <p:nvPr/>
        </p:nvCxnSpPr>
        <p:spPr>
          <a:xfrm flipV="1">
            <a:off x="1172439" y="4954634"/>
            <a:ext cx="3449092" cy="105326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4" name="Oval 23">
            <a:extLst>
              <a:ext uri="{FF2B5EF4-FFF2-40B4-BE49-F238E27FC236}">
                <a16:creationId xmlns:a16="http://schemas.microsoft.com/office/drawing/2014/main" id="{1A6E2EAE-7552-5F6E-DCEA-558AF9094398}"/>
              </a:ext>
            </a:extLst>
          </p:cNvPr>
          <p:cNvSpPr/>
          <p:nvPr/>
        </p:nvSpPr>
        <p:spPr>
          <a:xfrm>
            <a:off x="1013112" y="5964105"/>
            <a:ext cx="159327" cy="166254"/>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EBC0128F-272E-6055-5C13-830EB897371B}"/>
              </a:ext>
            </a:extLst>
          </p:cNvPr>
          <p:cNvSpPr txBox="1"/>
          <p:nvPr/>
        </p:nvSpPr>
        <p:spPr>
          <a:xfrm>
            <a:off x="242574" y="6241496"/>
            <a:ext cx="1700402" cy="369332"/>
          </a:xfrm>
          <a:prstGeom prst="rect">
            <a:avLst/>
          </a:prstGeom>
          <a:noFill/>
        </p:spPr>
        <p:txBody>
          <a:bodyPr wrap="none" rtlCol="0">
            <a:spAutoFit/>
          </a:bodyPr>
          <a:lstStyle/>
          <a:p>
            <a:r>
              <a:rPr lang="en-US" dirty="0"/>
              <a:t>Detector Origin</a:t>
            </a:r>
          </a:p>
        </p:txBody>
      </p:sp>
      <p:cxnSp>
        <p:nvCxnSpPr>
          <p:cNvPr id="27" name="Straight Arrow Connector 26">
            <a:extLst>
              <a:ext uri="{FF2B5EF4-FFF2-40B4-BE49-F238E27FC236}">
                <a16:creationId xmlns:a16="http://schemas.microsoft.com/office/drawing/2014/main" id="{1D7FC67E-7C50-95BA-9786-A10585841108}"/>
              </a:ext>
            </a:extLst>
          </p:cNvPr>
          <p:cNvCxnSpPr>
            <a:cxnSpLocks/>
            <a:stCxn id="24" idx="7"/>
            <a:endCxn id="14" idx="2"/>
          </p:cNvCxnSpPr>
          <p:nvPr/>
        </p:nvCxnSpPr>
        <p:spPr>
          <a:xfrm flipV="1">
            <a:off x="1149106" y="3551465"/>
            <a:ext cx="5676237" cy="24369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4">
            <p14:nvContentPartPr>
              <p14:cNvPr id="37" name="Ink 36">
                <a:extLst>
                  <a:ext uri="{FF2B5EF4-FFF2-40B4-BE49-F238E27FC236}">
                    <a16:creationId xmlns:a16="http://schemas.microsoft.com/office/drawing/2014/main" id="{2ABEC8D9-5031-9D15-BD89-C45E5006BC81}"/>
                  </a:ext>
                </a:extLst>
              </p14:cNvPr>
              <p14:cNvContentPartPr/>
              <p14:nvPr/>
            </p14:nvContentPartPr>
            <p14:xfrm>
              <a:off x="4359355" y="5017950"/>
              <a:ext cx="9360" cy="43920"/>
            </p14:xfrm>
          </p:contentPart>
        </mc:Choice>
        <mc:Fallback xmlns="">
          <p:pic>
            <p:nvPicPr>
              <p:cNvPr id="37" name="Ink 36">
                <a:extLst>
                  <a:ext uri="{FF2B5EF4-FFF2-40B4-BE49-F238E27FC236}">
                    <a16:creationId xmlns:a16="http://schemas.microsoft.com/office/drawing/2014/main" id="{2ABEC8D9-5031-9D15-BD89-C45E5006BC81}"/>
                  </a:ext>
                </a:extLst>
              </p:cNvPr>
              <p:cNvPicPr/>
              <p:nvPr/>
            </p:nvPicPr>
            <p:blipFill>
              <a:blip r:embed="rId5"/>
              <a:stretch>
                <a:fillRect/>
              </a:stretch>
            </p:blipFill>
            <p:spPr>
              <a:xfrm>
                <a:off x="4353235" y="5011830"/>
                <a:ext cx="21600" cy="561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3" name="Ink 42">
                <a:extLst>
                  <a:ext uri="{FF2B5EF4-FFF2-40B4-BE49-F238E27FC236}">
                    <a16:creationId xmlns:a16="http://schemas.microsoft.com/office/drawing/2014/main" id="{401E46F9-E430-A55C-65B5-EF0E108393F2}"/>
                  </a:ext>
                </a:extLst>
              </p14:cNvPr>
              <p14:cNvContentPartPr/>
              <p14:nvPr/>
            </p14:nvContentPartPr>
            <p14:xfrm>
              <a:off x="4413715" y="5001030"/>
              <a:ext cx="9720" cy="49320"/>
            </p14:xfrm>
          </p:contentPart>
        </mc:Choice>
        <mc:Fallback xmlns="">
          <p:pic>
            <p:nvPicPr>
              <p:cNvPr id="43" name="Ink 42">
                <a:extLst>
                  <a:ext uri="{FF2B5EF4-FFF2-40B4-BE49-F238E27FC236}">
                    <a16:creationId xmlns:a16="http://schemas.microsoft.com/office/drawing/2014/main" id="{401E46F9-E430-A55C-65B5-EF0E108393F2}"/>
                  </a:ext>
                </a:extLst>
              </p:cNvPr>
              <p:cNvPicPr/>
              <p:nvPr/>
            </p:nvPicPr>
            <p:blipFill>
              <a:blip r:embed="rId7"/>
              <a:stretch>
                <a:fillRect/>
              </a:stretch>
            </p:blipFill>
            <p:spPr>
              <a:xfrm>
                <a:off x="4407595" y="4994910"/>
                <a:ext cx="2196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4" name="Ink 43">
                <a:extLst>
                  <a:ext uri="{FF2B5EF4-FFF2-40B4-BE49-F238E27FC236}">
                    <a16:creationId xmlns:a16="http://schemas.microsoft.com/office/drawing/2014/main" id="{E4761F57-C5D9-1A7E-AA00-6BDEB6C442F3}"/>
                  </a:ext>
                </a:extLst>
              </p14:cNvPr>
              <p14:cNvContentPartPr/>
              <p14:nvPr/>
            </p14:nvContentPartPr>
            <p14:xfrm>
              <a:off x="4490035" y="4973670"/>
              <a:ext cx="20160" cy="62280"/>
            </p14:xfrm>
          </p:contentPart>
        </mc:Choice>
        <mc:Fallback xmlns="">
          <p:pic>
            <p:nvPicPr>
              <p:cNvPr id="44" name="Ink 43">
                <a:extLst>
                  <a:ext uri="{FF2B5EF4-FFF2-40B4-BE49-F238E27FC236}">
                    <a16:creationId xmlns:a16="http://schemas.microsoft.com/office/drawing/2014/main" id="{E4761F57-C5D9-1A7E-AA00-6BDEB6C442F3}"/>
                  </a:ext>
                </a:extLst>
              </p:cNvPr>
              <p:cNvPicPr/>
              <p:nvPr/>
            </p:nvPicPr>
            <p:blipFill>
              <a:blip r:embed="rId9"/>
              <a:stretch>
                <a:fillRect/>
              </a:stretch>
            </p:blipFill>
            <p:spPr>
              <a:xfrm>
                <a:off x="4483915" y="4967550"/>
                <a:ext cx="32400" cy="74520"/>
              </a:xfrm>
              <a:prstGeom prst="rect">
                <a:avLst/>
              </a:prstGeom>
            </p:spPr>
          </p:pic>
        </mc:Fallback>
      </mc:AlternateContent>
      <p:cxnSp>
        <p:nvCxnSpPr>
          <p:cNvPr id="46" name="Straight Arrow Connector 45">
            <a:extLst>
              <a:ext uri="{FF2B5EF4-FFF2-40B4-BE49-F238E27FC236}">
                <a16:creationId xmlns:a16="http://schemas.microsoft.com/office/drawing/2014/main" id="{E7D7FE76-3E8E-895E-21C2-E01F49550308}"/>
              </a:ext>
            </a:extLst>
          </p:cNvPr>
          <p:cNvCxnSpPr>
            <a:cxnSpLocks/>
            <a:stCxn id="14" idx="6"/>
          </p:cNvCxnSpPr>
          <p:nvPr/>
        </p:nvCxnSpPr>
        <p:spPr>
          <a:xfrm>
            <a:off x="6871062" y="3551465"/>
            <a:ext cx="687206" cy="122464"/>
          </a:xfrm>
          <a:prstGeom prst="straightConnector1">
            <a:avLst/>
          </a:prstGeom>
          <a:ln w="317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BFEA669-164C-6A6B-95D0-07EA8DDF4633}"/>
                  </a:ext>
                </a:extLst>
              </p:cNvPr>
              <p:cNvSpPr txBox="1"/>
              <p:nvPr/>
            </p:nvSpPr>
            <p:spPr>
              <a:xfrm>
                <a:off x="7336767" y="3252536"/>
                <a:ext cx="1914274" cy="298928"/>
              </a:xfrm>
              <a:prstGeom prst="rect">
                <a:avLst/>
              </a:prstGeom>
              <a:noFill/>
              <a:ln w="25400">
                <a:solidFill>
                  <a:schemeClr val="accent1"/>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e>
                    </m:acc>
                  </m:oMath>
                </a14:m>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r>
                          <a:rPr lang="en-US" b="0" i="1" smtClean="0">
                            <a:latin typeface="Cambria Math" panose="02040503050406030204" pitchFamily="18" charset="0"/>
                          </a:rPr>
                          <m:t>𝑥</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r>
                          <a:rPr lang="en-US" b="0" i="1" smtClean="0">
                            <a:latin typeface="Cambria Math" panose="02040503050406030204" pitchFamily="18" charset="0"/>
                          </a:rPr>
                          <m:t>𝑦</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r>
                          <a:rPr lang="en-US" b="0" i="1" smtClean="0">
                            <a:latin typeface="Cambria Math" panose="02040503050406030204" pitchFamily="18" charset="0"/>
                          </a:rPr>
                          <m:t>𝑧</m:t>
                        </m:r>
                      </m:sub>
                    </m:sSub>
                    <m:r>
                      <a:rPr lang="en-US" b="0" i="1" smtClean="0">
                        <a:latin typeface="Cambria Math" panose="02040503050406030204" pitchFamily="18" charset="0"/>
                      </a:rPr>
                      <m:t>)</m:t>
                    </m:r>
                  </m:oMath>
                </a14:m>
                <a:endParaRPr lang="en-US" dirty="0"/>
              </a:p>
            </p:txBody>
          </p:sp>
        </mc:Choice>
        <mc:Fallback xmlns="">
          <p:sp>
            <p:nvSpPr>
              <p:cNvPr id="48" name="TextBox 47">
                <a:extLst>
                  <a:ext uri="{FF2B5EF4-FFF2-40B4-BE49-F238E27FC236}">
                    <a16:creationId xmlns:a16="http://schemas.microsoft.com/office/drawing/2014/main" id="{4BFEA669-164C-6A6B-95D0-07EA8DDF4633}"/>
                  </a:ext>
                </a:extLst>
              </p:cNvPr>
              <p:cNvSpPr txBox="1">
                <a:spLocks noRot="1" noChangeAspect="1" noMove="1" noResize="1" noEditPoints="1" noAdjustHandles="1" noChangeArrowheads="1" noChangeShapeType="1" noTextEdit="1"/>
              </p:cNvSpPr>
              <p:nvPr/>
            </p:nvSpPr>
            <p:spPr>
              <a:xfrm>
                <a:off x="7336767" y="3252536"/>
                <a:ext cx="1914274" cy="298928"/>
              </a:xfrm>
              <a:prstGeom prst="rect">
                <a:avLst/>
              </a:prstGeom>
              <a:blipFill>
                <a:blip r:embed="rId10"/>
                <a:stretch>
                  <a:fillRect l="-1299" r="-3247" b="-23077"/>
                </a:stretch>
              </a:blipFill>
              <a:ln w="25400">
                <a:solidFill>
                  <a:schemeClr val="accent1"/>
                </a:solidFill>
              </a:ln>
            </p:spPr>
            <p:txBody>
              <a:bodyPr/>
              <a:lstStyle/>
              <a:p>
                <a:r>
                  <a:rPr lang="en-US">
                    <a:noFill/>
                  </a:rPr>
                  <a:t> </a:t>
                </a:r>
              </a:p>
            </p:txBody>
          </p:sp>
        </mc:Fallback>
      </mc:AlternateContent>
      <p:cxnSp>
        <p:nvCxnSpPr>
          <p:cNvPr id="49" name="Straight Arrow Connector 48">
            <a:extLst>
              <a:ext uri="{FF2B5EF4-FFF2-40B4-BE49-F238E27FC236}">
                <a16:creationId xmlns:a16="http://schemas.microsoft.com/office/drawing/2014/main" id="{8861E8FF-2D21-1437-FAD3-24EFA8FD5C69}"/>
              </a:ext>
            </a:extLst>
          </p:cNvPr>
          <p:cNvCxnSpPr>
            <a:cxnSpLocks/>
          </p:cNvCxnSpPr>
          <p:nvPr/>
        </p:nvCxnSpPr>
        <p:spPr>
          <a:xfrm flipH="1">
            <a:off x="3824375" y="4954633"/>
            <a:ext cx="812700" cy="322042"/>
          </a:xfrm>
          <a:prstGeom prst="straightConnector1">
            <a:avLst/>
          </a:prstGeom>
          <a:ln w="31750">
            <a:solidFill>
              <a:srgbClr val="FF00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37A94E9-6F64-5DE0-301D-A4BC46224A7F}"/>
                  </a:ext>
                </a:extLst>
              </p:cNvPr>
              <p:cNvSpPr txBox="1"/>
              <p:nvPr/>
            </p:nvSpPr>
            <p:spPr>
              <a:xfrm>
                <a:off x="2305959" y="4529942"/>
                <a:ext cx="1914274" cy="298928"/>
              </a:xfrm>
              <a:prstGeom prst="rect">
                <a:avLst/>
              </a:prstGeom>
              <a:noFill/>
              <a:ln w="25400">
                <a:solidFill>
                  <a:srgbClr val="FF0000"/>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e>
                    </m:acc>
                  </m:oMath>
                </a14:m>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r>
                          <a:rPr lang="en-US" b="0" i="1" smtClean="0">
                            <a:latin typeface="Cambria Math" panose="02040503050406030204" pitchFamily="18" charset="0"/>
                          </a:rPr>
                          <m:t>𝑥</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r>
                          <a:rPr lang="en-US" b="0" i="1" smtClean="0">
                            <a:latin typeface="Cambria Math" panose="02040503050406030204" pitchFamily="18" charset="0"/>
                          </a:rPr>
                          <m:t>𝑦</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r>
                          <a:rPr lang="en-US" b="0" i="1" smtClean="0">
                            <a:latin typeface="Cambria Math" panose="02040503050406030204" pitchFamily="18" charset="0"/>
                          </a:rPr>
                          <m:t>𝑧</m:t>
                        </m:r>
                      </m:sub>
                    </m:sSub>
                    <m:r>
                      <a:rPr lang="en-US" b="0" i="1" smtClean="0">
                        <a:latin typeface="Cambria Math" panose="02040503050406030204" pitchFamily="18" charset="0"/>
                      </a:rPr>
                      <m:t>)</m:t>
                    </m:r>
                  </m:oMath>
                </a14:m>
                <a:endParaRPr lang="en-US" dirty="0"/>
              </a:p>
            </p:txBody>
          </p:sp>
        </mc:Choice>
        <mc:Fallback xmlns="">
          <p:sp>
            <p:nvSpPr>
              <p:cNvPr id="51" name="TextBox 50">
                <a:extLst>
                  <a:ext uri="{FF2B5EF4-FFF2-40B4-BE49-F238E27FC236}">
                    <a16:creationId xmlns:a16="http://schemas.microsoft.com/office/drawing/2014/main" id="{037A94E9-6F64-5DE0-301D-A4BC46224A7F}"/>
                  </a:ext>
                </a:extLst>
              </p:cNvPr>
              <p:cNvSpPr txBox="1">
                <a:spLocks noRot="1" noChangeAspect="1" noMove="1" noResize="1" noEditPoints="1" noAdjustHandles="1" noChangeArrowheads="1" noChangeShapeType="1" noTextEdit="1"/>
              </p:cNvSpPr>
              <p:nvPr/>
            </p:nvSpPr>
            <p:spPr>
              <a:xfrm>
                <a:off x="2305959" y="4529942"/>
                <a:ext cx="1914274" cy="298928"/>
              </a:xfrm>
              <a:prstGeom prst="rect">
                <a:avLst/>
              </a:prstGeom>
              <a:blipFill>
                <a:blip r:embed="rId11"/>
                <a:stretch>
                  <a:fillRect l="-1299" r="-3896" b="-18519"/>
                </a:stretch>
              </a:blipFill>
              <a:ln w="25400">
                <a:solidFill>
                  <a:srgbClr val="FF0000"/>
                </a:solidFill>
              </a:ln>
            </p:spPr>
            <p:txBody>
              <a:bodyPr/>
              <a:lstStyle/>
              <a:p>
                <a:r>
                  <a:rPr lang="en-US">
                    <a:noFill/>
                  </a:rPr>
                  <a:t> </a:t>
                </a:r>
              </a:p>
            </p:txBody>
          </p:sp>
        </mc:Fallback>
      </mc:AlternateContent>
      <p:cxnSp>
        <p:nvCxnSpPr>
          <p:cNvPr id="53" name="Straight Connector 52">
            <a:extLst>
              <a:ext uri="{FF2B5EF4-FFF2-40B4-BE49-F238E27FC236}">
                <a16:creationId xmlns:a16="http://schemas.microsoft.com/office/drawing/2014/main" id="{30C69304-D82A-2F78-A82F-EDAF9CDF88BD}"/>
              </a:ext>
            </a:extLst>
          </p:cNvPr>
          <p:cNvCxnSpPr>
            <a:cxnSpLocks/>
          </p:cNvCxnSpPr>
          <p:nvPr/>
        </p:nvCxnSpPr>
        <p:spPr>
          <a:xfrm flipH="1" flipV="1">
            <a:off x="3366076" y="2963119"/>
            <a:ext cx="5627453" cy="956717"/>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grpSp>
        <p:nvGrpSpPr>
          <p:cNvPr id="62" name="Group 61">
            <a:extLst>
              <a:ext uri="{FF2B5EF4-FFF2-40B4-BE49-F238E27FC236}">
                <a16:creationId xmlns:a16="http://schemas.microsoft.com/office/drawing/2014/main" id="{691BBC56-5662-8609-1AE3-41023B59DDEF}"/>
              </a:ext>
            </a:extLst>
          </p:cNvPr>
          <p:cNvGrpSpPr/>
          <p:nvPr/>
        </p:nvGrpSpPr>
        <p:grpSpPr>
          <a:xfrm>
            <a:off x="5017554" y="3188608"/>
            <a:ext cx="79560" cy="121320"/>
            <a:chOff x="5017554" y="3188608"/>
            <a:chExt cx="79560" cy="121320"/>
          </a:xfrm>
        </p:grpSpPr>
        <mc:AlternateContent xmlns:mc="http://schemas.openxmlformats.org/markup-compatibility/2006" xmlns:p14="http://schemas.microsoft.com/office/powerpoint/2010/main">
          <mc:Choice Requires="p14">
            <p:contentPart p14:bwMode="auto" r:id="rId12">
              <p14:nvContentPartPr>
                <p14:cNvPr id="59" name="Ink 58">
                  <a:extLst>
                    <a:ext uri="{FF2B5EF4-FFF2-40B4-BE49-F238E27FC236}">
                      <a16:creationId xmlns:a16="http://schemas.microsoft.com/office/drawing/2014/main" id="{6EEE98EB-8EE2-2894-BC1E-80CDBDA03B55}"/>
                    </a:ext>
                  </a:extLst>
                </p14:cNvPr>
                <p14:cNvContentPartPr/>
                <p14:nvPr/>
              </p14:nvContentPartPr>
              <p14:xfrm>
                <a:off x="5037354" y="3188608"/>
                <a:ext cx="49320" cy="121320"/>
              </p14:xfrm>
            </p:contentPart>
          </mc:Choice>
          <mc:Fallback xmlns="">
            <p:pic>
              <p:nvPicPr>
                <p:cNvPr id="59" name="Ink 58">
                  <a:extLst>
                    <a:ext uri="{FF2B5EF4-FFF2-40B4-BE49-F238E27FC236}">
                      <a16:creationId xmlns:a16="http://schemas.microsoft.com/office/drawing/2014/main" id="{6EEE98EB-8EE2-2894-BC1E-80CDBDA03B55}"/>
                    </a:ext>
                  </a:extLst>
                </p:cNvPr>
                <p:cNvPicPr/>
                <p:nvPr/>
              </p:nvPicPr>
              <p:blipFill>
                <a:blip r:embed="rId13"/>
                <a:stretch>
                  <a:fillRect/>
                </a:stretch>
              </p:blipFill>
              <p:spPr>
                <a:xfrm>
                  <a:off x="5028354" y="3179608"/>
                  <a:ext cx="6696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0" name="Ink 59">
                  <a:extLst>
                    <a:ext uri="{FF2B5EF4-FFF2-40B4-BE49-F238E27FC236}">
                      <a16:creationId xmlns:a16="http://schemas.microsoft.com/office/drawing/2014/main" id="{F28CC27E-1AA1-D432-E6D4-3DB35E4762F3}"/>
                    </a:ext>
                  </a:extLst>
                </p14:cNvPr>
                <p14:cNvContentPartPr/>
                <p14:nvPr/>
              </p14:nvContentPartPr>
              <p14:xfrm>
                <a:off x="5017554" y="3195088"/>
                <a:ext cx="79560" cy="111600"/>
              </p14:xfrm>
            </p:contentPart>
          </mc:Choice>
          <mc:Fallback xmlns="">
            <p:pic>
              <p:nvPicPr>
                <p:cNvPr id="60" name="Ink 59">
                  <a:extLst>
                    <a:ext uri="{FF2B5EF4-FFF2-40B4-BE49-F238E27FC236}">
                      <a16:creationId xmlns:a16="http://schemas.microsoft.com/office/drawing/2014/main" id="{F28CC27E-1AA1-D432-E6D4-3DB35E4762F3}"/>
                    </a:ext>
                  </a:extLst>
                </p:cNvPr>
                <p:cNvPicPr/>
                <p:nvPr/>
              </p:nvPicPr>
              <p:blipFill>
                <a:blip r:embed="rId15"/>
                <a:stretch>
                  <a:fillRect/>
                </a:stretch>
              </p:blipFill>
              <p:spPr>
                <a:xfrm>
                  <a:off x="5008554" y="3186448"/>
                  <a:ext cx="97200" cy="129240"/>
                </a:xfrm>
                <a:prstGeom prst="rect">
                  <a:avLst/>
                </a:prstGeom>
              </p:spPr>
            </p:pic>
          </mc:Fallback>
        </mc:AlternateContent>
      </p:grpSp>
      <p:cxnSp>
        <p:nvCxnSpPr>
          <p:cNvPr id="65" name="Straight Connector 64">
            <a:extLst>
              <a:ext uri="{FF2B5EF4-FFF2-40B4-BE49-F238E27FC236}">
                <a16:creationId xmlns:a16="http://schemas.microsoft.com/office/drawing/2014/main" id="{B9BAF2BF-7DBD-7934-531B-226E4E07D175}"/>
              </a:ext>
            </a:extLst>
          </p:cNvPr>
          <p:cNvCxnSpPr>
            <a:cxnSpLocks/>
          </p:cNvCxnSpPr>
          <p:nvPr/>
        </p:nvCxnSpPr>
        <p:spPr>
          <a:xfrm flipV="1">
            <a:off x="3078760" y="3791824"/>
            <a:ext cx="4412609" cy="1778466"/>
          </a:xfrm>
          <a:prstGeom prst="line">
            <a:avLst/>
          </a:prstGeom>
          <a:ln>
            <a:solidFill>
              <a:srgbClr val="FF0000"/>
            </a:solidFill>
            <a:prstDash val="sysDash"/>
          </a:ln>
        </p:spPr>
        <p:style>
          <a:lnRef idx="2">
            <a:schemeClr val="accent1"/>
          </a:lnRef>
          <a:fillRef idx="0">
            <a:schemeClr val="accent1"/>
          </a:fillRef>
          <a:effectRef idx="1">
            <a:schemeClr val="accent1"/>
          </a:effectRef>
          <a:fontRef idx="minor">
            <a:schemeClr val="tx1"/>
          </a:fontRef>
        </p:style>
      </p:cxnSp>
      <p:grpSp>
        <p:nvGrpSpPr>
          <p:cNvPr id="71" name="Group 70">
            <a:extLst>
              <a:ext uri="{FF2B5EF4-FFF2-40B4-BE49-F238E27FC236}">
                <a16:creationId xmlns:a16="http://schemas.microsoft.com/office/drawing/2014/main" id="{1EB857A6-CA2D-0B11-D143-58A27F219DF6}"/>
              </a:ext>
            </a:extLst>
          </p:cNvPr>
          <p:cNvGrpSpPr/>
          <p:nvPr/>
        </p:nvGrpSpPr>
        <p:grpSpPr>
          <a:xfrm>
            <a:off x="6941960" y="3964726"/>
            <a:ext cx="59040" cy="85680"/>
            <a:chOff x="6954176" y="4747928"/>
            <a:chExt cx="59040" cy="85680"/>
          </a:xfrm>
        </p:grpSpPr>
        <mc:AlternateContent xmlns:mc="http://schemas.openxmlformats.org/markup-compatibility/2006" xmlns:p14="http://schemas.microsoft.com/office/powerpoint/2010/main">
          <mc:Choice Requires="p14">
            <p:contentPart p14:bwMode="auto" r:id="rId16">
              <p14:nvContentPartPr>
                <p14:cNvPr id="68" name="Ink 67">
                  <a:extLst>
                    <a:ext uri="{FF2B5EF4-FFF2-40B4-BE49-F238E27FC236}">
                      <a16:creationId xmlns:a16="http://schemas.microsoft.com/office/drawing/2014/main" id="{346F1BE6-8CAD-7165-D7D1-5067CDDF997A}"/>
                    </a:ext>
                  </a:extLst>
                </p14:cNvPr>
                <p14:cNvContentPartPr/>
                <p14:nvPr/>
              </p14:nvContentPartPr>
              <p14:xfrm>
                <a:off x="6954176" y="4754048"/>
                <a:ext cx="59040" cy="73440"/>
              </p14:xfrm>
            </p:contentPart>
          </mc:Choice>
          <mc:Fallback xmlns="">
            <p:pic>
              <p:nvPicPr>
                <p:cNvPr id="68" name="Ink 67">
                  <a:extLst>
                    <a:ext uri="{FF2B5EF4-FFF2-40B4-BE49-F238E27FC236}">
                      <a16:creationId xmlns:a16="http://schemas.microsoft.com/office/drawing/2014/main" id="{346F1BE6-8CAD-7165-D7D1-5067CDDF997A}"/>
                    </a:ext>
                  </a:extLst>
                </p:cNvPr>
                <p:cNvPicPr/>
                <p:nvPr/>
              </p:nvPicPr>
              <p:blipFill>
                <a:blip r:embed="rId17"/>
                <a:stretch>
                  <a:fillRect/>
                </a:stretch>
              </p:blipFill>
              <p:spPr>
                <a:xfrm>
                  <a:off x="6945536" y="4745048"/>
                  <a:ext cx="76680" cy="910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69" name="Ink 68">
                  <a:extLst>
                    <a:ext uri="{FF2B5EF4-FFF2-40B4-BE49-F238E27FC236}">
                      <a16:creationId xmlns:a16="http://schemas.microsoft.com/office/drawing/2014/main" id="{EAA37F75-00CE-76F0-8A0D-6F9B525918D7}"/>
                    </a:ext>
                  </a:extLst>
                </p14:cNvPr>
                <p14:cNvContentPartPr/>
                <p14:nvPr/>
              </p14:nvContentPartPr>
              <p14:xfrm>
                <a:off x="6961376" y="4747928"/>
                <a:ext cx="51120" cy="85680"/>
              </p14:xfrm>
            </p:contentPart>
          </mc:Choice>
          <mc:Fallback xmlns="">
            <p:pic>
              <p:nvPicPr>
                <p:cNvPr id="69" name="Ink 68">
                  <a:extLst>
                    <a:ext uri="{FF2B5EF4-FFF2-40B4-BE49-F238E27FC236}">
                      <a16:creationId xmlns:a16="http://schemas.microsoft.com/office/drawing/2014/main" id="{EAA37F75-00CE-76F0-8A0D-6F9B525918D7}"/>
                    </a:ext>
                  </a:extLst>
                </p:cNvPr>
                <p:cNvPicPr/>
                <p:nvPr/>
              </p:nvPicPr>
              <p:blipFill>
                <a:blip r:embed="rId19"/>
                <a:stretch>
                  <a:fillRect/>
                </a:stretch>
              </p:blipFill>
              <p:spPr>
                <a:xfrm>
                  <a:off x="6952376" y="4738928"/>
                  <a:ext cx="68760" cy="103320"/>
                </a:xfrm>
                <a:prstGeom prst="rect">
                  <a:avLst/>
                </a:prstGeom>
              </p:spPr>
            </p:pic>
          </mc:Fallback>
        </mc:AlternateContent>
      </p:grpSp>
      <p:sp>
        <p:nvSpPr>
          <p:cNvPr id="76" name="Oval 75">
            <a:extLst>
              <a:ext uri="{FF2B5EF4-FFF2-40B4-BE49-F238E27FC236}">
                <a16:creationId xmlns:a16="http://schemas.microsoft.com/office/drawing/2014/main" id="{49417978-D658-E832-85E8-914BFD551944}"/>
              </a:ext>
            </a:extLst>
          </p:cNvPr>
          <p:cNvSpPr/>
          <p:nvPr/>
        </p:nvSpPr>
        <p:spPr>
          <a:xfrm>
            <a:off x="5670958" y="3306688"/>
            <a:ext cx="94268" cy="102870"/>
          </a:xfrm>
          <a:prstGeom prst="ellipse">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a:extLst>
              <a:ext uri="{FF2B5EF4-FFF2-40B4-BE49-F238E27FC236}">
                <a16:creationId xmlns:a16="http://schemas.microsoft.com/office/drawing/2014/main" id="{A340A5CA-5187-8399-6F42-DDB1DA87ADFD}"/>
              </a:ext>
            </a:extLst>
          </p:cNvPr>
          <p:cNvSpPr/>
          <p:nvPr/>
        </p:nvSpPr>
        <p:spPr>
          <a:xfrm>
            <a:off x="5670958" y="4456747"/>
            <a:ext cx="94268" cy="10287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9" name="Straight Connector 78">
            <a:extLst>
              <a:ext uri="{FF2B5EF4-FFF2-40B4-BE49-F238E27FC236}">
                <a16:creationId xmlns:a16="http://schemas.microsoft.com/office/drawing/2014/main" id="{5C0BCCF7-8F25-0438-1F50-F8114274A02C}"/>
              </a:ext>
            </a:extLst>
          </p:cNvPr>
          <p:cNvCxnSpPr>
            <a:stCxn id="76" idx="4"/>
            <a:endCxn id="77" idx="0"/>
          </p:cNvCxnSpPr>
          <p:nvPr/>
        </p:nvCxnSpPr>
        <p:spPr>
          <a:xfrm>
            <a:off x="5718092" y="3409558"/>
            <a:ext cx="0" cy="1047189"/>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0" name="Oval 79">
            <a:extLst>
              <a:ext uri="{FF2B5EF4-FFF2-40B4-BE49-F238E27FC236}">
                <a16:creationId xmlns:a16="http://schemas.microsoft.com/office/drawing/2014/main" id="{3CE4E045-4C69-97CA-B4C8-E1FEC63F885D}"/>
              </a:ext>
            </a:extLst>
          </p:cNvPr>
          <p:cNvSpPr/>
          <p:nvPr/>
        </p:nvSpPr>
        <p:spPr>
          <a:xfrm>
            <a:off x="5671774" y="3895034"/>
            <a:ext cx="94268" cy="10287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898D6215-7EC2-A2EB-A7EB-C288938DDE05}"/>
                  </a:ext>
                </a:extLst>
              </p:cNvPr>
              <p:cNvSpPr txBox="1"/>
              <p:nvPr/>
            </p:nvSpPr>
            <p:spPr>
              <a:xfrm>
                <a:off x="7866621" y="3919836"/>
                <a:ext cx="570322" cy="317972"/>
              </a:xfrm>
              <a:prstGeom prst="rect">
                <a:avLst/>
              </a:prstGeom>
              <a:noFill/>
              <a:ln w="25400">
                <a:solidFill>
                  <a:schemeClr val="accent1"/>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1</m:t>
                            </m:r>
                          </m:sub>
                        </m:sSub>
                      </m:e>
                    </m:acc>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endParaRPr lang="en-US" dirty="0"/>
              </a:p>
            </p:txBody>
          </p:sp>
        </mc:Choice>
        <mc:Fallback xmlns="">
          <p:sp>
            <p:nvSpPr>
              <p:cNvPr id="82" name="TextBox 81">
                <a:extLst>
                  <a:ext uri="{FF2B5EF4-FFF2-40B4-BE49-F238E27FC236}">
                    <a16:creationId xmlns:a16="http://schemas.microsoft.com/office/drawing/2014/main" id="{898D6215-7EC2-A2EB-A7EB-C288938DDE05}"/>
                  </a:ext>
                </a:extLst>
              </p:cNvPr>
              <p:cNvSpPr txBox="1">
                <a:spLocks noRot="1" noChangeAspect="1" noMove="1" noResize="1" noEditPoints="1" noAdjustHandles="1" noChangeArrowheads="1" noChangeShapeType="1" noTextEdit="1"/>
              </p:cNvSpPr>
              <p:nvPr/>
            </p:nvSpPr>
            <p:spPr>
              <a:xfrm>
                <a:off x="7866621" y="3919836"/>
                <a:ext cx="570322" cy="317972"/>
              </a:xfrm>
              <a:prstGeom prst="rect">
                <a:avLst/>
              </a:prstGeom>
              <a:blipFill>
                <a:blip r:embed="rId20"/>
                <a:stretch>
                  <a:fillRect l="-4167" r="-6250" b="-25000"/>
                </a:stretch>
              </a:blipFill>
              <a:ln w="25400">
                <a:solidFill>
                  <a:schemeClr val="accent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8C6D793A-4475-8060-36E4-646B9EB71EFA}"/>
                  </a:ext>
                </a:extLst>
              </p:cNvPr>
              <p:cNvSpPr txBox="1"/>
              <p:nvPr/>
            </p:nvSpPr>
            <p:spPr>
              <a:xfrm>
                <a:off x="3668260" y="5390948"/>
                <a:ext cx="570322" cy="317972"/>
              </a:xfrm>
              <a:prstGeom prst="rect">
                <a:avLst/>
              </a:prstGeom>
              <a:noFill/>
              <a:ln w="25400">
                <a:solidFill>
                  <a:srgbClr val="FF0000"/>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2</m:t>
                            </m:r>
                          </m:sub>
                        </m:sSub>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p:txBody>
          </p:sp>
        </mc:Choice>
        <mc:Fallback xmlns="">
          <p:sp>
            <p:nvSpPr>
              <p:cNvPr id="83" name="TextBox 82">
                <a:extLst>
                  <a:ext uri="{FF2B5EF4-FFF2-40B4-BE49-F238E27FC236}">
                    <a16:creationId xmlns:a16="http://schemas.microsoft.com/office/drawing/2014/main" id="{8C6D793A-4475-8060-36E4-646B9EB71EFA}"/>
                  </a:ext>
                </a:extLst>
              </p:cNvPr>
              <p:cNvSpPr txBox="1">
                <a:spLocks noRot="1" noChangeAspect="1" noMove="1" noResize="1" noEditPoints="1" noAdjustHandles="1" noChangeArrowheads="1" noChangeShapeType="1" noTextEdit="1"/>
              </p:cNvSpPr>
              <p:nvPr/>
            </p:nvSpPr>
            <p:spPr>
              <a:xfrm>
                <a:off x="3668260" y="5390948"/>
                <a:ext cx="570322" cy="317972"/>
              </a:xfrm>
              <a:prstGeom prst="rect">
                <a:avLst/>
              </a:prstGeom>
              <a:blipFill>
                <a:blip r:embed="rId21"/>
                <a:stretch>
                  <a:fillRect l="-6383" r="-8511" b="-25000"/>
                </a:stretch>
              </a:blipFill>
              <a:ln w="25400">
                <a:solidFill>
                  <a:srgbClr val="FF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9A1D79A0-2952-349C-3FED-2277CFB682F0}"/>
                  </a:ext>
                </a:extLst>
              </p:cNvPr>
              <p:cNvSpPr txBox="1"/>
              <p:nvPr/>
            </p:nvSpPr>
            <p:spPr>
              <a:xfrm>
                <a:off x="5432931" y="2863419"/>
                <a:ext cx="619612" cy="317972"/>
              </a:xfrm>
              <a:prstGeom prst="rect">
                <a:avLst/>
              </a:prstGeom>
              <a:noFill/>
              <a:ln w="25400">
                <a:solidFill>
                  <a:schemeClr val="accent1"/>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1</m:t>
                            </m:r>
                          </m:sub>
                        </m:sSub>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𝑡</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p>
            </p:txBody>
          </p:sp>
        </mc:Choice>
        <mc:Fallback xmlns="">
          <p:sp>
            <p:nvSpPr>
              <p:cNvPr id="84" name="TextBox 83">
                <a:extLst>
                  <a:ext uri="{FF2B5EF4-FFF2-40B4-BE49-F238E27FC236}">
                    <a16:creationId xmlns:a16="http://schemas.microsoft.com/office/drawing/2014/main" id="{9A1D79A0-2952-349C-3FED-2277CFB682F0}"/>
                  </a:ext>
                </a:extLst>
              </p:cNvPr>
              <p:cNvSpPr txBox="1">
                <a:spLocks noRot="1" noChangeAspect="1" noMove="1" noResize="1" noEditPoints="1" noAdjustHandles="1" noChangeArrowheads="1" noChangeShapeType="1" noTextEdit="1"/>
              </p:cNvSpPr>
              <p:nvPr/>
            </p:nvSpPr>
            <p:spPr>
              <a:xfrm>
                <a:off x="5432931" y="2863419"/>
                <a:ext cx="619612" cy="317972"/>
              </a:xfrm>
              <a:prstGeom prst="rect">
                <a:avLst/>
              </a:prstGeom>
              <a:blipFill>
                <a:blip r:embed="rId22"/>
                <a:stretch>
                  <a:fillRect l="-3846" r="-11538" b="-25000"/>
                </a:stretch>
              </a:blipFill>
              <a:ln w="25400">
                <a:solidFill>
                  <a:schemeClr val="accent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0C2DBE4C-C4BB-4FF5-38CD-D4B2A1F87FF1}"/>
                  </a:ext>
                </a:extLst>
              </p:cNvPr>
              <p:cNvSpPr txBox="1"/>
              <p:nvPr/>
            </p:nvSpPr>
            <p:spPr>
              <a:xfrm>
                <a:off x="5440050" y="4677512"/>
                <a:ext cx="641529" cy="317972"/>
              </a:xfrm>
              <a:prstGeom prst="rect">
                <a:avLst/>
              </a:prstGeom>
              <a:noFill/>
              <a:ln w="25400">
                <a:solidFill>
                  <a:srgbClr val="FF0000"/>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2</m:t>
                            </m:r>
                          </m:sub>
                        </m:sSub>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p>
            </p:txBody>
          </p:sp>
        </mc:Choice>
        <mc:Fallback xmlns="">
          <p:sp>
            <p:nvSpPr>
              <p:cNvPr id="85" name="TextBox 84">
                <a:extLst>
                  <a:ext uri="{FF2B5EF4-FFF2-40B4-BE49-F238E27FC236}">
                    <a16:creationId xmlns:a16="http://schemas.microsoft.com/office/drawing/2014/main" id="{0C2DBE4C-C4BB-4FF5-38CD-D4B2A1F87FF1}"/>
                  </a:ext>
                </a:extLst>
              </p:cNvPr>
              <p:cNvSpPr txBox="1">
                <a:spLocks noRot="1" noChangeAspect="1" noMove="1" noResize="1" noEditPoints="1" noAdjustHandles="1" noChangeArrowheads="1" noChangeShapeType="1" noTextEdit="1"/>
              </p:cNvSpPr>
              <p:nvPr/>
            </p:nvSpPr>
            <p:spPr>
              <a:xfrm>
                <a:off x="5440050" y="4677512"/>
                <a:ext cx="641529" cy="317972"/>
              </a:xfrm>
              <a:prstGeom prst="rect">
                <a:avLst/>
              </a:prstGeom>
              <a:blipFill>
                <a:blip r:embed="rId23"/>
                <a:stretch>
                  <a:fillRect l="-3704" r="-11111" b="-25000"/>
                </a:stretch>
              </a:blipFill>
              <a:ln w="25400">
                <a:solidFill>
                  <a:srgbClr val="FF0000"/>
                </a:solidFill>
              </a:ln>
            </p:spPr>
            <p:txBody>
              <a:bodyPr/>
              <a:lstStyle/>
              <a:p>
                <a:r>
                  <a:rPr lang="en-US">
                    <a:noFill/>
                  </a:rPr>
                  <a:t> </a:t>
                </a:r>
              </a:p>
            </p:txBody>
          </p:sp>
        </mc:Fallback>
      </mc:AlternateContent>
      <p:cxnSp>
        <p:nvCxnSpPr>
          <p:cNvPr id="88" name="Straight Arrow Connector 87">
            <a:extLst>
              <a:ext uri="{FF2B5EF4-FFF2-40B4-BE49-F238E27FC236}">
                <a16:creationId xmlns:a16="http://schemas.microsoft.com/office/drawing/2014/main" id="{43DB1F7A-3AEA-A436-6749-811B7DFBCD48}"/>
              </a:ext>
            </a:extLst>
          </p:cNvPr>
          <p:cNvCxnSpPr>
            <a:stCxn id="24" idx="7"/>
            <a:endCxn id="76" idx="2"/>
          </p:cNvCxnSpPr>
          <p:nvPr/>
        </p:nvCxnSpPr>
        <p:spPr>
          <a:xfrm flipV="1">
            <a:off x="1149106" y="3358123"/>
            <a:ext cx="4521852" cy="2630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4EE1275-1303-7C69-8492-EF0CE0C7CCA1}"/>
              </a:ext>
            </a:extLst>
          </p:cNvPr>
          <p:cNvCxnSpPr>
            <a:stCxn id="24" idx="7"/>
            <a:endCxn id="77" idx="2"/>
          </p:cNvCxnSpPr>
          <p:nvPr/>
        </p:nvCxnSpPr>
        <p:spPr>
          <a:xfrm flipV="1">
            <a:off x="1149106" y="4508182"/>
            <a:ext cx="4521852" cy="148027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82CA69F2-B1E1-BB70-B518-D049E686F63C}"/>
              </a:ext>
            </a:extLst>
          </p:cNvPr>
          <p:cNvCxnSpPr>
            <a:stCxn id="24" idx="7"/>
            <a:endCxn id="80" idx="2"/>
          </p:cNvCxnSpPr>
          <p:nvPr/>
        </p:nvCxnSpPr>
        <p:spPr>
          <a:xfrm flipV="1">
            <a:off x="1149106" y="3946469"/>
            <a:ext cx="4522668" cy="204198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6E89E422-4248-D5AD-BAAE-0CBC6A321BEB}"/>
                  </a:ext>
                </a:extLst>
              </p:cNvPr>
              <p:cNvSpPr txBox="1"/>
              <p:nvPr/>
            </p:nvSpPr>
            <p:spPr>
              <a:xfrm>
                <a:off x="5074954" y="3579172"/>
                <a:ext cx="469783" cy="369332"/>
              </a:xfrm>
              <a:prstGeom prst="rect">
                <a:avLst/>
              </a:prstGeom>
              <a:noFill/>
              <a:ln w="19050">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i="1" smtClean="0">
                                  <a:latin typeface="Cambria Math" panose="02040503050406030204" pitchFamily="18" charset="0"/>
                                  <a:ea typeface="Cambria Math" panose="02040503050406030204" pitchFamily="18" charset="0"/>
                                </a:rPr>
                                <m:t>𝒱</m:t>
                              </m:r>
                            </m:sub>
                          </m:sSub>
                        </m:e>
                      </m:acc>
                    </m:oMath>
                  </m:oMathPara>
                </a14:m>
                <a:endParaRPr lang="en-US" dirty="0"/>
              </a:p>
            </p:txBody>
          </p:sp>
        </mc:Choice>
        <mc:Fallback xmlns="">
          <p:sp>
            <p:nvSpPr>
              <p:cNvPr id="93" name="TextBox 92">
                <a:extLst>
                  <a:ext uri="{FF2B5EF4-FFF2-40B4-BE49-F238E27FC236}">
                    <a16:creationId xmlns:a16="http://schemas.microsoft.com/office/drawing/2014/main" id="{6E89E422-4248-D5AD-BAAE-0CBC6A321BEB}"/>
                  </a:ext>
                </a:extLst>
              </p:cNvPr>
              <p:cNvSpPr txBox="1">
                <a:spLocks noRot="1" noChangeAspect="1" noMove="1" noResize="1" noEditPoints="1" noAdjustHandles="1" noChangeArrowheads="1" noChangeShapeType="1" noTextEdit="1"/>
              </p:cNvSpPr>
              <p:nvPr/>
            </p:nvSpPr>
            <p:spPr>
              <a:xfrm>
                <a:off x="5074954" y="3579172"/>
                <a:ext cx="469783" cy="369332"/>
              </a:xfrm>
              <a:prstGeom prst="rect">
                <a:avLst/>
              </a:prstGeom>
              <a:blipFill>
                <a:blip r:embed="rId24"/>
                <a:stretch>
                  <a:fillRect/>
                </a:stretch>
              </a:blipFill>
              <a:ln w="19050">
                <a:solidFill>
                  <a:schemeClr val="tx1"/>
                </a:solidFill>
              </a:ln>
            </p:spPr>
            <p:txBody>
              <a:bodyPr/>
              <a:lstStyle/>
              <a:p>
                <a:r>
                  <a:rPr lang="en-US">
                    <a:noFill/>
                  </a:rPr>
                  <a:t> </a:t>
                </a:r>
              </a:p>
            </p:txBody>
          </p:sp>
        </mc:Fallback>
      </mc:AlternateContent>
      <p:sp>
        <p:nvSpPr>
          <p:cNvPr id="95" name="Slide Number Placeholder 94">
            <a:extLst>
              <a:ext uri="{FF2B5EF4-FFF2-40B4-BE49-F238E27FC236}">
                <a16:creationId xmlns:a16="http://schemas.microsoft.com/office/drawing/2014/main" id="{9DB13F89-86DA-74A7-B9D7-9893F3D3B415}"/>
              </a:ext>
            </a:extLst>
          </p:cNvPr>
          <p:cNvSpPr>
            <a:spLocks noGrp="1"/>
          </p:cNvSpPr>
          <p:nvPr>
            <p:ph type="sldNum" sz="quarter" idx="12"/>
          </p:nvPr>
        </p:nvSpPr>
        <p:spPr/>
        <p:txBody>
          <a:bodyPr/>
          <a:lstStyle/>
          <a:p>
            <a:fld id="{F9FD574F-46AC-454F-80BB-50D9197C01E0}" type="slidenum">
              <a:rPr lang="en-US" smtClean="0"/>
              <a:t>19</a:t>
            </a:fld>
            <a:endParaRPr lang="en-US"/>
          </a:p>
        </p:txBody>
      </p:sp>
      <p:sp>
        <p:nvSpPr>
          <p:cNvPr id="96" name="TextBox 95">
            <a:extLst>
              <a:ext uri="{FF2B5EF4-FFF2-40B4-BE49-F238E27FC236}">
                <a16:creationId xmlns:a16="http://schemas.microsoft.com/office/drawing/2014/main" id="{EB0E0410-33DF-5292-20D3-1B0BF0AF81A5}"/>
              </a:ext>
            </a:extLst>
          </p:cNvPr>
          <p:cNvSpPr txBox="1"/>
          <p:nvPr/>
        </p:nvSpPr>
        <p:spPr>
          <a:xfrm>
            <a:off x="4667250" y="1156996"/>
            <a:ext cx="2158093" cy="369332"/>
          </a:xfrm>
          <a:prstGeom prst="rect">
            <a:avLst/>
          </a:prstGeom>
          <a:noFill/>
        </p:spPr>
        <p:txBody>
          <a:bodyPr wrap="square" rtlCol="0">
            <a:spAutoFit/>
          </a:bodyPr>
          <a:lstStyle/>
          <a:p>
            <a:r>
              <a:rPr lang="en-US" dirty="0"/>
              <a:t>Selected Target Foil</a:t>
            </a:r>
          </a:p>
        </p:txBody>
      </p:sp>
      <p:sp>
        <p:nvSpPr>
          <p:cNvPr id="3" name="Footer Placeholder 2">
            <a:extLst>
              <a:ext uri="{FF2B5EF4-FFF2-40B4-BE49-F238E27FC236}">
                <a16:creationId xmlns:a16="http://schemas.microsoft.com/office/drawing/2014/main" id="{E82C2D50-7FB0-56CE-9AB9-F5A22E66B5B3}"/>
              </a:ext>
            </a:extLst>
          </p:cNvPr>
          <p:cNvSpPr>
            <a:spLocks noGrp="1"/>
          </p:cNvSpPr>
          <p:nvPr>
            <p:ph type="ftr" sz="quarter" idx="11"/>
          </p:nvPr>
        </p:nvSpPr>
        <p:spPr/>
        <p:txBody>
          <a:bodyPr/>
          <a:lstStyle/>
          <a:p>
            <a:r>
              <a:rPr lang="en-US"/>
              <a:t>Boldy Sensitivity Study Mu2e</a:t>
            </a:r>
          </a:p>
        </p:txBody>
      </p:sp>
    </p:spTree>
    <p:extLst>
      <p:ext uri="{BB962C8B-B14F-4D97-AF65-F5344CB8AC3E}">
        <p14:creationId xmlns:p14="http://schemas.microsoft.com/office/powerpoint/2010/main" val="3275833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9" presetClass="exit" presetSubtype="0" fill="hold" nodeType="clickEffect">
                                  <p:stCondLst>
                                    <p:cond delay="0"/>
                                  </p:stCondLst>
                                  <p:childTnLst>
                                    <p:animEffect transition="out" filter="dissolve">
                                      <p:cBhvr>
                                        <p:cTn id="24" dur="500"/>
                                        <p:tgtEl>
                                          <p:spTgt spid="27"/>
                                        </p:tgtEl>
                                      </p:cBhvr>
                                    </p:animEffect>
                                    <p:set>
                                      <p:cBhvr>
                                        <p:cTn id="25" dur="1" fill="hold">
                                          <p:stCondLst>
                                            <p:cond delay="499"/>
                                          </p:stCondLst>
                                        </p:cTn>
                                        <p:tgtEl>
                                          <p:spTgt spid="27"/>
                                        </p:tgtEl>
                                        <p:attrNameLst>
                                          <p:attrName>style.visibility</p:attrName>
                                        </p:attrNameLst>
                                      </p:cBhvr>
                                      <p:to>
                                        <p:strVal val="hidden"/>
                                      </p:to>
                                    </p:set>
                                  </p:childTnLst>
                                </p:cTn>
                              </p:par>
                              <p:par>
                                <p:cTn id="26" presetID="9" presetClass="exit" presetSubtype="0" fill="hold" grpId="1" nodeType="withEffect">
                                  <p:stCondLst>
                                    <p:cond delay="0"/>
                                  </p:stCondLst>
                                  <p:childTnLst>
                                    <p:animEffect transition="out" filter="dissolve">
                                      <p:cBhvr>
                                        <p:cTn id="27" dur="500"/>
                                        <p:tgtEl>
                                          <p:spTgt spid="19"/>
                                        </p:tgtEl>
                                      </p:cBhvr>
                                    </p:animEffect>
                                    <p:set>
                                      <p:cBhvr>
                                        <p:cTn id="28" dur="1" fill="hold">
                                          <p:stCondLst>
                                            <p:cond delay="499"/>
                                          </p:stCondLst>
                                        </p:cTn>
                                        <p:tgtEl>
                                          <p:spTgt spid="19"/>
                                        </p:tgtEl>
                                        <p:attrNameLst>
                                          <p:attrName>style.visibility</p:attrName>
                                        </p:attrNameLst>
                                      </p:cBhvr>
                                      <p:to>
                                        <p:strVal val="hidden"/>
                                      </p:to>
                                    </p:set>
                                  </p:childTnLst>
                                </p:cTn>
                              </p:par>
                              <p:par>
                                <p:cTn id="29" presetID="9" presetClass="exit" presetSubtype="0" fill="hold" nodeType="withEffect">
                                  <p:stCondLst>
                                    <p:cond delay="0"/>
                                  </p:stCondLst>
                                  <p:childTnLst>
                                    <p:animEffect transition="out" filter="dissolve">
                                      <p:cBhvr>
                                        <p:cTn id="30" dur="500"/>
                                        <p:tgtEl>
                                          <p:spTgt spid="22"/>
                                        </p:tgtEl>
                                      </p:cBhvr>
                                    </p:animEffect>
                                    <p:set>
                                      <p:cBhvr>
                                        <p:cTn id="31" dur="1" fill="hold">
                                          <p:stCondLst>
                                            <p:cond delay="499"/>
                                          </p:stCondLst>
                                        </p:cTn>
                                        <p:tgtEl>
                                          <p:spTgt spid="22"/>
                                        </p:tgtEl>
                                        <p:attrNameLst>
                                          <p:attrName>style.visibility</p:attrName>
                                        </p:attrNameLst>
                                      </p:cBhvr>
                                      <p:to>
                                        <p:strVal val="hidden"/>
                                      </p:to>
                                    </p:set>
                                  </p:childTnLst>
                                </p:cTn>
                              </p:par>
                              <p:par>
                                <p:cTn id="32" presetID="9" presetClass="exit" presetSubtype="0" fill="hold" grpId="1" nodeType="withEffect">
                                  <p:stCondLst>
                                    <p:cond delay="0"/>
                                  </p:stCondLst>
                                  <p:childTnLst>
                                    <p:animEffect transition="out" filter="dissolve">
                                      <p:cBhvr>
                                        <p:cTn id="33" dur="500"/>
                                        <p:tgtEl>
                                          <p:spTgt spid="20"/>
                                        </p:tgtEl>
                                      </p:cBhvr>
                                    </p:animEffect>
                                    <p:set>
                                      <p:cBhvr>
                                        <p:cTn id="34" dur="1" fill="hold">
                                          <p:stCondLst>
                                            <p:cond delay="499"/>
                                          </p:stCondLst>
                                        </p:cTn>
                                        <p:tgtEl>
                                          <p:spTgt spid="2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4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5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2"/>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65"/>
                                        </p:tgtEl>
                                        <p:attrNameLst>
                                          <p:attrName>style.visibility</p:attrName>
                                        </p:attrNameLst>
                                      </p:cBhvr>
                                      <p:to>
                                        <p:strVal val="visible"/>
                                      </p:to>
                                    </p:set>
                                  </p:childTnLst>
                                </p:cTn>
                              </p:par>
                              <p:par>
                                <p:cTn id="57" presetID="9" presetClass="entr" presetSubtype="0" fill="hold" nodeType="withEffect">
                                  <p:stCondLst>
                                    <p:cond delay="0"/>
                                  </p:stCondLst>
                                  <p:childTnLst>
                                    <p:set>
                                      <p:cBhvr>
                                        <p:cTn id="58" dur="1" fill="hold">
                                          <p:stCondLst>
                                            <p:cond delay="0"/>
                                          </p:stCondLst>
                                        </p:cTn>
                                        <p:tgtEl>
                                          <p:spTgt spid="71"/>
                                        </p:tgtEl>
                                        <p:attrNameLst>
                                          <p:attrName>style.visibility</p:attrName>
                                        </p:attrNameLst>
                                      </p:cBhvr>
                                      <p:to>
                                        <p:strVal val="visible"/>
                                      </p:to>
                                    </p:set>
                                    <p:animEffect transition="in" filter="dissolve">
                                      <p:cBhvr>
                                        <p:cTn id="59" dur="500"/>
                                        <p:tgtEl>
                                          <p:spTgt spid="71"/>
                                        </p:tgtEl>
                                      </p:cBhvr>
                                    </p:animEffect>
                                  </p:childTnLst>
                                </p:cTn>
                              </p:par>
                              <p:par>
                                <p:cTn id="60" presetID="1" presetClass="entr" presetSubtype="0" fill="hold" grpId="0" nodeType="withEffect">
                                  <p:stCondLst>
                                    <p:cond delay="0"/>
                                  </p:stCondLst>
                                  <p:childTnLst>
                                    <p:set>
                                      <p:cBhvr>
                                        <p:cTn id="61" dur="1" fill="hold">
                                          <p:stCondLst>
                                            <p:cond delay="0"/>
                                          </p:stCondLst>
                                        </p:cTn>
                                        <p:tgtEl>
                                          <p:spTgt spid="83"/>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1" presetClass="entr" presetSubtype="0" fill="hold" grpId="0" nodeType="clickEffect">
                                  <p:stCondLst>
                                    <p:cond delay="0"/>
                                  </p:stCondLst>
                                  <p:childTnLst>
                                    <p:set>
                                      <p:cBhvr>
                                        <p:cTn id="65" dur="1" fill="hold">
                                          <p:stCondLst>
                                            <p:cond delay="0"/>
                                          </p:stCondLst>
                                        </p:cTn>
                                        <p:tgtEl>
                                          <p:spTgt spid="76"/>
                                        </p:tgtEl>
                                        <p:attrNameLst>
                                          <p:attrName>style.visibility</p:attrName>
                                        </p:attrNameLst>
                                      </p:cBhvr>
                                      <p:to>
                                        <p:strVal val="visible"/>
                                      </p:to>
                                    </p:set>
                                  </p:childTnLst>
                                </p:cTn>
                              </p:par>
                              <p:par>
                                <p:cTn id="66" presetID="9" presetClass="exit" presetSubtype="0" fill="hold" grpId="1" nodeType="withEffect">
                                  <p:stCondLst>
                                    <p:cond delay="0"/>
                                  </p:stCondLst>
                                  <p:childTnLst>
                                    <p:animEffect transition="out" filter="dissolve">
                                      <p:cBhvr>
                                        <p:cTn id="67" dur="500"/>
                                        <p:tgtEl>
                                          <p:spTgt spid="48"/>
                                        </p:tgtEl>
                                      </p:cBhvr>
                                    </p:animEffect>
                                    <p:set>
                                      <p:cBhvr>
                                        <p:cTn id="68" dur="1" fill="hold">
                                          <p:stCondLst>
                                            <p:cond delay="499"/>
                                          </p:stCondLst>
                                        </p:cTn>
                                        <p:tgtEl>
                                          <p:spTgt spid="48"/>
                                        </p:tgtEl>
                                        <p:attrNameLst>
                                          <p:attrName>style.visibility</p:attrName>
                                        </p:attrNameLst>
                                      </p:cBhvr>
                                      <p:to>
                                        <p:strVal val="hidden"/>
                                      </p:to>
                                    </p:set>
                                  </p:childTnLst>
                                </p:cTn>
                              </p:par>
                              <p:par>
                                <p:cTn id="69" presetID="9" presetClass="exit" presetSubtype="0" fill="hold" grpId="1" nodeType="withEffect">
                                  <p:stCondLst>
                                    <p:cond delay="0"/>
                                  </p:stCondLst>
                                  <p:childTnLst>
                                    <p:animEffect transition="out" filter="dissolve">
                                      <p:cBhvr>
                                        <p:cTn id="70" dur="500"/>
                                        <p:tgtEl>
                                          <p:spTgt spid="51"/>
                                        </p:tgtEl>
                                      </p:cBhvr>
                                    </p:animEffect>
                                    <p:set>
                                      <p:cBhvr>
                                        <p:cTn id="71" dur="1" fill="hold">
                                          <p:stCondLst>
                                            <p:cond delay="499"/>
                                          </p:stCondLst>
                                        </p:cTn>
                                        <p:tgtEl>
                                          <p:spTgt spid="51"/>
                                        </p:tgtEl>
                                        <p:attrNameLst>
                                          <p:attrName>style.visibility</p:attrName>
                                        </p:attrNameLst>
                                      </p:cBhvr>
                                      <p:to>
                                        <p:strVal val="hidden"/>
                                      </p:to>
                                    </p:set>
                                  </p:childTnLst>
                                </p:cTn>
                              </p:par>
                              <p:par>
                                <p:cTn id="72" presetID="1" presetClass="entr" presetSubtype="0" fill="hold" grpId="0" nodeType="withEffect">
                                  <p:stCondLst>
                                    <p:cond delay="0"/>
                                  </p:stCondLst>
                                  <p:childTnLst>
                                    <p:set>
                                      <p:cBhvr>
                                        <p:cTn id="73" dur="1" fill="hold">
                                          <p:stCondLst>
                                            <p:cond delay="0"/>
                                          </p:stCondLst>
                                        </p:cTn>
                                        <p:tgtEl>
                                          <p:spTgt spid="77"/>
                                        </p:tgtEl>
                                        <p:attrNameLst>
                                          <p:attrName>style.visibility</p:attrName>
                                        </p:attrNameLst>
                                      </p:cBhvr>
                                      <p:to>
                                        <p:strVal val="visible"/>
                                      </p:to>
                                    </p:set>
                                  </p:childTnLst>
                                </p:cTn>
                              </p:par>
                              <p:par>
                                <p:cTn id="74" presetID="1" presetClass="entr" presetSubtype="0" fill="hold" grpId="0" nodeType="withEffect">
                                  <p:stCondLst>
                                    <p:cond delay="0"/>
                                  </p:stCondLst>
                                  <p:childTnLst>
                                    <p:set>
                                      <p:cBhvr>
                                        <p:cTn id="75" dur="1" fill="hold">
                                          <p:stCondLst>
                                            <p:cond delay="0"/>
                                          </p:stCondLst>
                                        </p:cTn>
                                        <p:tgtEl>
                                          <p:spTgt spid="84"/>
                                        </p:tgtEl>
                                        <p:attrNameLst>
                                          <p:attrName>style.visibility</p:attrName>
                                        </p:attrNameLst>
                                      </p:cBhvr>
                                      <p:to>
                                        <p:strVal val="visible"/>
                                      </p:to>
                                    </p:set>
                                  </p:childTnLst>
                                </p:cTn>
                              </p:par>
                              <p:par>
                                <p:cTn id="76" presetID="1" presetClass="entr" presetSubtype="0" fill="hold" grpId="0" nodeType="withEffect">
                                  <p:stCondLst>
                                    <p:cond delay="0"/>
                                  </p:stCondLst>
                                  <p:childTnLst>
                                    <p:set>
                                      <p:cBhvr>
                                        <p:cTn id="77" dur="1" fill="hold">
                                          <p:stCondLst>
                                            <p:cond delay="0"/>
                                          </p:stCondLst>
                                        </p:cTn>
                                        <p:tgtEl>
                                          <p:spTgt spid="85"/>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88"/>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90"/>
                                        </p:tgtEl>
                                        <p:attrNameLst>
                                          <p:attrName>style.visibility</p:attrName>
                                        </p:attrNameLst>
                                      </p:cBhvr>
                                      <p:to>
                                        <p:strVal val="visible"/>
                                      </p:to>
                                    </p:set>
                                  </p:childTnLst>
                                </p:cTn>
                              </p:par>
                            </p:childTnLst>
                          </p:cTn>
                        </p:par>
                      </p:childTnLst>
                    </p:cTn>
                  </p:par>
                  <p:par>
                    <p:cTn id="82" fill="hold">
                      <p:stCondLst>
                        <p:cond delay="indefinite"/>
                      </p:stCondLst>
                      <p:childTnLst>
                        <p:par>
                          <p:cTn id="83" fill="hold">
                            <p:stCondLst>
                              <p:cond delay="0"/>
                            </p:stCondLst>
                            <p:childTnLst>
                              <p:par>
                                <p:cTn id="84" presetID="1" presetClass="entr" presetSubtype="0" fill="hold" nodeType="clickEffect">
                                  <p:stCondLst>
                                    <p:cond delay="0"/>
                                  </p:stCondLst>
                                  <p:childTnLst>
                                    <p:set>
                                      <p:cBhvr>
                                        <p:cTn id="85" dur="1" fill="hold">
                                          <p:stCondLst>
                                            <p:cond delay="0"/>
                                          </p:stCondLst>
                                        </p:cTn>
                                        <p:tgtEl>
                                          <p:spTgt spid="79"/>
                                        </p:tgtEl>
                                        <p:attrNameLst>
                                          <p:attrName>style.visibility</p:attrName>
                                        </p:attrNameLst>
                                      </p:cBhvr>
                                      <p:to>
                                        <p:strVal val="visible"/>
                                      </p:to>
                                    </p:set>
                                  </p:childTnLst>
                                </p:cTn>
                              </p:par>
                              <p:par>
                                <p:cTn id="86" presetID="9" presetClass="exit" presetSubtype="0" fill="hold" nodeType="withEffect">
                                  <p:stCondLst>
                                    <p:cond delay="0"/>
                                  </p:stCondLst>
                                  <p:childTnLst>
                                    <p:animEffect transition="out" filter="dissolve">
                                      <p:cBhvr>
                                        <p:cTn id="87" dur="500"/>
                                        <p:tgtEl>
                                          <p:spTgt spid="90"/>
                                        </p:tgtEl>
                                      </p:cBhvr>
                                    </p:animEffect>
                                    <p:set>
                                      <p:cBhvr>
                                        <p:cTn id="88" dur="1" fill="hold">
                                          <p:stCondLst>
                                            <p:cond delay="499"/>
                                          </p:stCondLst>
                                        </p:cTn>
                                        <p:tgtEl>
                                          <p:spTgt spid="90"/>
                                        </p:tgtEl>
                                        <p:attrNameLst>
                                          <p:attrName>style.visibility</p:attrName>
                                        </p:attrNameLst>
                                      </p:cBhvr>
                                      <p:to>
                                        <p:strVal val="hidden"/>
                                      </p:to>
                                    </p:set>
                                  </p:childTnLst>
                                </p:cTn>
                              </p:par>
                              <p:par>
                                <p:cTn id="89" presetID="9" presetClass="exit" presetSubtype="0" fill="hold" nodeType="withEffect">
                                  <p:stCondLst>
                                    <p:cond delay="0"/>
                                  </p:stCondLst>
                                  <p:childTnLst>
                                    <p:animEffect transition="out" filter="dissolve">
                                      <p:cBhvr>
                                        <p:cTn id="90" dur="500"/>
                                        <p:tgtEl>
                                          <p:spTgt spid="88"/>
                                        </p:tgtEl>
                                      </p:cBhvr>
                                    </p:animEffect>
                                    <p:set>
                                      <p:cBhvr>
                                        <p:cTn id="91" dur="1" fill="hold">
                                          <p:stCondLst>
                                            <p:cond delay="499"/>
                                          </p:stCondLst>
                                        </p:cTn>
                                        <p:tgtEl>
                                          <p:spTgt spid="88"/>
                                        </p:tgtEl>
                                        <p:attrNameLst>
                                          <p:attrName>style.visibility</p:attrName>
                                        </p:attrNameLst>
                                      </p:cBhvr>
                                      <p:to>
                                        <p:strVal val="hidden"/>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grpId="0" nodeType="clickEffect">
                                  <p:stCondLst>
                                    <p:cond delay="0"/>
                                  </p:stCondLst>
                                  <p:childTnLst>
                                    <p:set>
                                      <p:cBhvr>
                                        <p:cTn id="95" dur="1" fill="hold">
                                          <p:stCondLst>
                                            <p:cond delay="0"/>
                                          </p:stCondLst>
                                        </p:cTn>
                                        <p:tgtEl>
                                          <p:spTgt spid="80"/>
                                        </p:tgtEl>
                                        <p:attrNameLst>
                                          <p:attrName>style.visibility</p:attrName>
                                        </p:attrNameLst>
                                      </p:cBhvr>
                                      <p:to>
                                        <p:strVal val="visible"/>
                                      </p:to>
                                    </p:set>
                                  </p:childTnLst>
                                </p:cTn>
                              </p:par>
                              <p:par>
                                <p:cTn id="96" presetID="1" presetClass="entr" presetSubtype="0" fill="hold" grpId="0" nodeType="withEffect">
                                  <p:stCondLst>
                                    <p:cond delay="0"/>
                                  </p:stCondLst>
                                  <p:childTnLst>
                                    <p:set>
                                      <p:cBhvr>
                                        <p:cTn id="97" dur="1" fill="hold">
                                          <p:stCondLst>
                                            <p:cond delay="0"/>
                                          </p:stCondLst>
                                        </p:cTn>
                                        <p:tgtEl>
                                          <p:spTgt spid="93"/>
                                        </p:tgtEl>
                                        <p:attrNameLst>
                                          <p:attrName>style.visibility</p:attrName>
                                        </p:attrNameLst>
                                      </p:cBhvr>
                                      <p:to>
                                        <p:strVal val="visible"/>
                                      </p:to>
                                    </p:set>
                                  </p:childTnLst>
                                </p:cTn>
                              </p:par>
                              <p:par>
                                <p:cTn id="98" presetID="1" presetClass="entr" presetSubtype="0" fill="hold" nodeType="withEffect">
                                  <p:stCondLst>
                                    <p:cond delay="0"/>
                                  </p:stCondLst>
                                  <p:childTnLst>
                                    <p:set>
                                      <p:cBhvr>
                                        <p:cTn id="99" dur="1" fill="hold">
                                          <p:stCondLst>
                                            <p:cond delay="0"/>
                                          </p:stCondLst>
                                        </p:cTn>
                                        <p:tgtEl>
                                          <p:spTgt spid="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9" grpId="0" animBg="1"/>
      <p:bldP spid="19" grpId="1" animBg="1"/>
      <p:bldP spid="20" grpId="0" animBg="1"/>
      <p:bldP spid="20" grpId="1" animBg="1"/>
      <p:bldP spid="48" grpId="0" animBg="1"/>
      <p:bldP spid="48" grpId="1" animBg="1"/>
      <p:bldP spid="51" grpId="0" animBg="1"/>
      <p:bldP spid="51" grpId="1" animBg="1"/>
      <p:bldP spid="76" grpId="0" animBg="1"/>
      <p:bldP spid="77" grpId="0" animBg="1"/>
      <p:bldP spid="80" grpId="0" animBg="1"/>
      <p:bldP spid="82" grpId="0" animBg="1"/>
      <p:bldP spid="83" grpId="0" animBg="1"/>
      <p:bldP spid="84" grpId="0" animBg="1"/>
      <p:bldP spid="85" grpId="0" animBg="1"/>
      <p:bldP spid="93"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E1E461-791C-F508-7FE5-4F200E76E236}"/>
              </a:ext>
            </a:extLst>
          </p:cNvPr>
          <p:cNvSpPr>
            <a:spLocks noGrp="1"/>
          </p:cNvSpPr>
          <p:nvPr>
            <p:ph type="title"/>
          </p:nvPr>
        </p:nvSpPr>
        <p:spPr/>
        <p:txBody>
          <a:bodyPr/>
          <a:lstStyle/>
          <a:p>
            <a:r>
              <a:rPr lang="en-US" dirty="0"/>
              <a:t>Initial Investigation</a:t>
            </a:r>
          </a:p>
        </p:txBody>
      </p:sp>
      <p:sp>
        <p:nvSpPr>
          <p:cNvPr id="3" name="Text Placeholder 2">
            <a:extLst>
              <a:ext uri="{FF2B5EF4-FFF2-40B4-BE49-F238E27FC236}">
                <a16:creationId xmlns:a16="http://schemas.microsoft.com/office/drawing/2014/main" id="{F62C1A3B-C708-DC78-1E76-5A56F9A3FB4E}"/>
              </a:ext>
            </a:extLst>
          </p:cNvPr>
          <p:cNvSpPr>
            <a:spLocks noGrp="1"/>
          </p:cNvSpPr>
          <p:nvPr>
            <p:ph type="body" idx="1"/>
          </p:nvPr>
        </p:nvSpPr>
        <p:spPr/>
        <p:txBody>
          <a:bodyPr/>
          <a:lstStyle/>
          <a:p>
            <a:endParaRPr lang="en-US"/>
          </a:p>
        </p:txBody>
      </p:sp>
      <p:sp>
        <p:nvSpPr>
          <p:cNvPr id="5" name="Footer Placeholder 4">
            <a:extLst>
              <a:ext uri="{FF2B5EF4-FFF2-40B4-BE49-F238E27FC236}">
                <a16:creationId xmlns:a16="http://schemas.microsoft.com/office/drawing/2014/main" id="{28D68E5D-7C88-4811-0E20-322DD2F43E7B}"/>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6A87BC8B-5FFB-F088-7715-A624A689B212}"/>
              </a:ext>
            </a:extLst>
          </p:cNvPr>
          <p:cNvSpPr>
            <a:spLocks noGrp="1"/>
          </p:cNvSpPr>
          <p:nvPr>
            <p:ph type="sldNum" sz="quarter" idx="12"/>
          </p:nvPr>
        </p:nvSpPr>
        <p:spPr/>
        <p:txBody>
          <a:bodyPr/>
          <a:lstStyle/>
          <a:p>
            <a:fld id="{C0E0CB54-3DBF-E947-906E-85E307CF7971}" type="slidenum">
              <a:rPr lang="en-US" smtClean="0"/>
              <a:t>20</a:t>
            </a:fld>
            <a:endParaRPr lang="en-US"/>
          </a:p>
        </p:txBody>
      </p:sp>
    </p:spTree>
    <p:extLst>
      <p:ext uri="{BB962C8B-B14F-4D97-AF65-F5344CB8AC3E}">
        <p14:creationId xmlns:p14="http://schemas.microsoft.com/office/powerpoint/2010/main" val="39802225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0023601-D1BA-D1E2-CE47-90BA3D838FE3}"/>
                  </a:ext>
                </a:extLst>
              </p:cNvPr>
              <p:cNvSpPr>
                <a:spLocks noGrp="1"/>
              </p:cNvSpPr>
              <p:nvPr>
                <p:ph idx="1"/>
              </p:nvPr>
            </p:nvSpPr>
            <p:spPr>
              <a:xfrm>
                <a:off x="0" y="424542"/>
                <a:ext cx="12192000" cy="5931807"/>
              </a:xfrm>
            </p:spPr>
            <p:txBody>
              <a:bodyPr>
                <a:normAutofit fontScale="85000" lnSpcReduction="10000"/>
              </a:bodyPr>
              <a:lstStyle/>
              <a:p>
                <a:r>
                  <a:rPr lang="en-US" dirty="0"/>
                  <a:t> Dedicated Mu2e art/</a:t>
                </a:r>
                <a:r>
                  <a:rPr lang="en-US" dirty="0" err="1"/>
                  <a:t>FHiCL</a:t>
                </a:r>
                <a:r>
                  <a:rPr lang="en-US" dirty="0"/>
                  <a:t> signal-generator module for the process of interest</a:t>
                </a:r>
              </a:p>
              <a:p>
                <a:pPr lvl="1"/>
                <a:r>
                  <a:rPr lang="en-US" dirty="0"/>
                  <a:t>Implemented as an instance of the </a:t>
                </a:r>
                <a:r>
                  <a:rPr lang="en-US" dirty="0" err="1"/>
                  <a:t>EDProducer</a:t>
                </a:r>
                <a:r>
                  <a:rPr lang="en-US" dirty="0"/>
                  <a:t> class</a:t>
                </a:r>
              </a:p>
              <a:p>
                <a:r>
                  <a:rPr lang="en-US" dirty="0"/>
                  <a:t>Models a stopped </a:t>
                </a:r>
                <a:r>
                  <a:rPr lang="el-GR" dirty="0"/>
                  <a:t>μ⁻ </a:t>
                </a:r>
                <a:r>
                  <a:rPr lang="en-US" dirty="0"/>
                  <a:t>in the aluminum stopping target, with both generated electrons originating from a common position and time.</a:t>
                </a:r>
              </a:p>
              <a:p>
                <a:r>
                  <a:rPr lang="en-US" dirty="0"/>
                  <a:t>Generates two on-shell electrons with equal energies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2</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ea typeface="Cambria Math" panose="02040503050406030204" pitchFamily="18" charset="0"/>
                              </a:rPr>
                              <m:t>𝜇</m:t>
                            </m:r>
                          </m:sub>
                        </m:sSub>
                      </m:num>
                      <m:den>
                        <m:r>
                          <a:rPr lang="en-US" b="0" i="1" smtClean="0">
                            <a:latin typeface="Cambria Math" panose="02040503050406030204" pitchFamily="18" charset="0"/>
                          </a:rPr>
                          <m:t>2</m:t>
                        </m:r>
                      </m:den>
                    </m:f>
                  </m:oMath>
                </a14:m>
                <a:r>
                  <a:rPr lang="en-US" dirty="0"/>
                  <a:t>as controlled benchmark </a:t>
                </a:r>
              </a:p>
              <a:p>
                <a:r>
                  <a:rPr lang="en-US" dirty="0"/>
                  <a:t>Samples one isotropic direction over the full solid angle and assigns exactly opposite three-momenta with </a:t>
                </a:r>
                <a14:m>
                  <m:oMath xmlns:m="http://schemas.openxmlformats.org/officeDocument/2006/math">
                    <m:acc>
                      <m:accPr>
                        <m:chr m:val="⃑"/>
                        <m:ctrlPr>
                          <a:rPr lang="en-US" i="1" smtClean="0">
                            <a:latin typeface="Cambria Math" panose="02040503050406030204" pitchFamily="18" charset="0"/>
                          </a:rPr>
                        </m:ctrlPr>
                      </m:accPr>
                      <m:e>
                        <m:sSub>
                          <m:sSubPr>
                            <m:ctrlPr>
                              <a:rPr lang="en-US"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e>
                    </m:acc>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e>
                    </m:acc>
                  </m:oMath>
                </a14:m>
                <a:endParaRPr lang="en-US" dirty="0"/>
              </a:p>
              <a:p>
                <a:r>
                  <a:rPr lang="en-US" dirty="0"/>
                  <a:t>Enforces equal momentum magnitudes and a back-to-back opening angle, </a:t>
                </a:r>
                <a14:m>
                  <m:oMath xmlns:m="http://schemas.openxmlformats.org/officeDocument/2006/math">
                    <m:func>
                      <m:funcPr>
                        <m:ctrlPr>
                          <a:rPr lang="en-US" i="1" smtClean="0">
                            <a:latin typeface="Cambria Math" panose="02040503050406030204" pitchFamily="18" charset="0"/>
                          </a:rPr>
                        </m:ctrlPr>
                      </m:funcPr>
                      <m:fName>
                        <m:r>
                          <m:rPr>
                            <m:sty m:val="p"/>
                          </m:rPr>
                          <a:rPr lang="en-US" i="0" smtClean="0">
                            <a:latin typeface="Cambria Math" panose="02040503050406030204" pitchFamily="18" charset="0"/>
                          </a:rPr>
                          <m:t>cos</m:t>
                        </m:r>
                      </m:fName>
                      <m:e>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𝜃</m:t>
                            </m:r>
                          </m:e>
                          <m:sub>
                            <m:r>
                              <a:rPr lang="en-US" b="0" i="1" smtClean="0">
                                <a:latin typeface="Cambria Math" panose="02040503050406030204" pitchFamily="18" charset="0"/>
                              </a:rPr>
                              <m:t>12</m:t>
                            </m:r>
                          </m:sub>
                        </m:sSub>
                        <m:r>
                          <a:rPr lang="en-US" b="0" i="1" smtClean="0">
                            <a:latin typeface="Cambria Math" panose="02040503050406030204" pitchFamily="18" charset="0"/>
                          </a:rPr>
                          <m:t>=−1</m:t>
                        </m:r>
                      </m:e>
                    </m:func>
                  </m:oMath>
                </a14:m>
                <a:r>
                  <a:rPr lang="en-US" dirty="0"/>
                  <a:t>, providing a simple, well-defined two-electron signal topology.</a:t>
                </a:r>
              </a:p>
              <a:p>
                <a:r>
                  <a:rPr lang="en-US" dirty="0"/>
                  <a:t>Validated at generator level through angular isotropy, momentum equality, opening-angle, and energy–momentum-conservation checks.</a:t>
                </a:r>
              </a:p>
              <a:p>
                <a:r>
                  <a:rPr lang="en-US" dirty="0"/>
                  <a:t>Propagated through the Mu2e simulation chain:</a:t>
                </a:r>
              </a:p>
              <a:p>
                <a:pPr marL="0" indent="0" algn="ctr">
                  <a:buNone/>
                </a:pPr>
                <a:r>
                  <a:rPr lang="en-US" dirty="0"/>
                  <a:t> generation → Geant4 transport → digitization → reconstruction → analysis </a:t>
                </a:r>
                <a:r>
                  <a:rPr lang="en-US" dirty="0" err="1"/>
                  <a:t>ntuples</a:t>
                </a:r>
                <a:r>
                  <a:rPr lang="en-US" dirty="0"/>
                  <a:t>.</a:t>
                </a:r>
              </a:p>
              <a:p>
                <a:r>
                  <a:rPr lang="en-US" dirty="0"/>
                  <a:t>Serves as a deliberately simplified validation model; later work will introduce theory-weighted energy/angular distributions bound-state effects, and aluminum nuclear recoil.</a:t>
                </a:r>
              </a:p>
            </p:txBody>
          </p:sp>
        </mc:Choice>
        <mc:Fallback>
          <p:sp>
            <p:nvSpPr>
              <p:cNvPr id="3" name="Content Placeholder 2">
                <a:extLst>
                  <a:ext uri="{FF2B5EF4-FFF2-40B4-BE49-F238E27FC236}">
                    <a16:creationId xmlns:a16="http://schemas.microsoft.com/office/drawing/2014/main" id="{80023601-D1BA-D1E2-CE47-90BA3D838FE3}"/>
                  </a:ext>
                </a:extLst>
              </p:cNvPr>
              <p:cNvSpPr>
                <a:spLocks noGrp="1" noRot="1" noChangeAspect="1" noMove="1" noResize="1" noEditPoints="1" noAdjustHandles="1" noChangeArrowheads="1" noChangeShapeType="1" noTextEdit="1"/>
              </p:cNvSpPr>
              <p:nvPr>
                <p:ph idx="1"/>
              </p:nvPr>
            </p:nvSpPr>
            <p:spPr>
              <a:xfrm>
                <a:off x="0" y="424542"/>
                <a:ext cx="12192000" cy="5931807"/>
              </a:xfrm>
              <a:blipFill>
                <a:blip r:embed="rId2"/>
                <a:stretch>
                  <a:fillRect l="-728" t="-1923" r="-312" b="-2350"/>
                </a:stretch>
              </a:blipFill>
            </p:spPr>
            <p:txBody>
              <a:bodyPr/>
              <a:lstStyle/>
              <a:p>
                <a:r>
                  <a:rPr lang="en-US">
                    <a:noFill/>
                  </a:rPr>
                  <a:t> </a:t>
                </a:r>
              </a:p>
            </p:txBody>
          </p:sp>
        </mc:Fallback>
      </mc:AlternateContent>
      <p:sp>
        <p:nvSpPr>
          <p:cNvPr id="5" name="Footer Placeholder 4">
            <a:extLst>
              <a:ext uri="{FF2B5EF4-FFF2-40B4-BE49-F238E27FC236}">
                <a16:creationId xmlns:a16="http://schemas.microsoft.com/office/drawing/2014/main" id="{BB511B34-7D40-9518-EF04-C0A146244B47}"/>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4D22E9C2-160B-2E87-3324-E8ED631563AF}"/>
              </a:ext>
            </a:extLst>
          </p:cNvPr>
          <p:cNvSpPr>
            <a:spLocks noGrp="1"/>
          </p:cNvSpPr>
          <p:nvPr>
            <p:ph type="sldNum" sz="quarter" idx="12"/>
          </p:nvPr>
        </p:nvSpPr>
        <p:spPr/>
        <p:txBody>
          <a:bodyPr/>
          <a:lstStyle/>
          <a:p>
            <a:fld id="{C0E0CB54-3DBF-E947-906E-85E307CF7971}" type="slidenum">
              <a:rPr lang="en-US" smtClean="0"/>
              <a:t>21</a:t>
            </a:fld>
            <a:endParaRPr lang="en-US"/>
          </a:p>
        </p:txBody>
      </p:sp>
      <p:sp>
        <p:nvSpPr>
          <p:cNvPr id="4" name="Title 1">
            <a:extLst>
              <a:ext uri="{FF2B5EF4-FFF2-40B4-BE49-F238E27FC236}">
                <a16:creationId xmlns:a16="http://schemas.microsoft.com/office/drawing/2014/main" id="{AD9BA1F0-6847-47E2-1B99-5D16C86746D2}"/>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Toy-Generator Creation and Validation</a:t>
            </a:r>
          </a:p>
        </p:txBody>
      </p:sp>
    </p:spTree>
    <p:extLst>
      <p:ext uri="{BB962C8B-B14F-4D97-AF65-F5344CB8AC3E}">
        <p14:creationId xmlns:p14="http://schemas.microsoft.com/office/powerpoint/2010/main" val="10168972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AB5FBC7C-7406-88C4-CE80-56D5900F891E}"/>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32D064DD-40B5-426A-3AD2-B8CC54810CB6}"/>
              </a:ext>
            </a:extLst>
          </p:cNvPr>
          <p:cNvSpPr>
            <a:spLocks noGrp="1"/>
          </p:cNvSpPr>
          <p:nvPr>
            <p:ph type="sldNum" sz="quarter" idx="12"/>
          </p:nvPr>
        </p:nvSpPr>
        <p:spPr/>
        <p:txBody>
          <a:bodyPr/>
          <a:lstStyle/>
          <a:p>
            <a:fld id="{C0E0CB54-3DBF-E947-906E-85E307CF7971}" type="slidenum">
              <a:rPr lang="en-US" smtClean="0"/>
              <a:t>22</a:t>
            </a:fld>
            <a:endParaRPr lang="en-US"/>
          </a:p>
        </p:txBody>
      </p:sp>
      <p:pic>
        <p:nvPicPr>
          <p:cNvPr id="9" name="Picture 8" descr="A graph of a graph&#10;&#10;AI-generated content may be incorrect.">
            <a:extLst>
              <a:ext uri="{FF2B5EF4-FFF2-40B4-BE49-F238E27FC236}">
                <a16:creationId xmlns:a16="http://schemas.microsoft.com/office/drawing/2014/main" id="{2F8B5FA9-CE26-0C12-C308-D93F9BE760E6}"/>
              </a:ext>
            </a:extLst>
          </p:cNvPr>
          <p:cNvPicPr>
            <a:picLocks noChangeAspect="1"/>
          </p:cNvPicPr>
          <p:nvPr/>
        </p:nvPicPr>
        <p:blipFill>
          <a:blip r:embed="rId2"/>
          <a:stretch>
            <a:fillRect/>
          </a:stretch>
        </p:blipFill>
        <p:spPr>
          <a:xfrm>
            <a:off x="4051570" y="213519"/>
            <a:ext cx="4076700" cy="3810000"/>
          </a:xfrm>
          <a:prstGeom prst="rect">
            <a:avLst/>
          </a:prstGeom>
        </p:spPr>
      </p:pic>
      <p:pic>
        <p:nvPicPr>
          <p:cNvPr id="11" name="Picture 10" descr="A graph of a function&#10;&#10;AI-generated content may be incorrect.">
            <a:extLst>
              <a:ext uri="{FF2B5EF4-FFF2-40B4-BE49-F238E27FC236}">
                <a16:creationId xmlns:a16="http://schemas.microsoft.com/office/drawing/2014/main" id="{60C9260C-F3E7-E6D4-6543-1A21BD8A374B}"/>
              </a:ext>
            </a:extLst>
          </p:cNvPr>
          <p:cNvPicPr>
            <a:picLocks noChangeAspect="1"/>
          </p:cNvPicPr>
          <p:nvPr/>
        </p:nvPicPr>
        <p:blipFill>
          <a:blip r:embed="rId3"/>
          <a:stretch>
            <a:fillRect/>
          </a:stretch>
        </p:blipFill>
        <p:spPr>
          <a:xfrm>
            <a:off x="0" y="2118519"/>
            <a:ext cx="4191000" cy="3721100"/>
          </a:xfrm>
          <a:prstGeom prst="rect">
            <a:avLst/>
          </a:prstGeom>
        </p:spPr>
      </p:pic>
      <p:pic>
        <p:nvPicPr>
          <p:cNvPr id="7" name="Content Placeholder 6" descr="A graph of cosine and rad&#10;&#10;AI-generated content may be incorrect.">
            <a:extLst>
              <a:ext uri="{FF2B5EF4-FFF2-40B4-BE49-F238E27FC236}">
                <a16:creationId xmlns:a16="http://schemas.microsoft.com/office/drawing/2014/main" id="{E84104C3-1601-C728-7590-30E15DB71FC1}"/>
              </a:ext>
            </a:extLst>
          </p:cNvPr>
          <p:cNvPicPr>
            <a:picLocks noGrp="1" noChangeAspect="1"/>
          </p:cNvPicPr>
          <p:nvPr>
            <p:ph idx="1"/>
          </p:nvPr>
        </p:nvPicPr>
        <p:blipFill>
          <a:blip r:embed="rId4"/>
          <a:stretch>
            <a:fillRect/>
          </a:stretch>
        </p:blipFill>
        <p:spPr>
          <a:xfrm>
            <a:off x="8001002" y="2118519"/>
            <a:ext cx="4038600" cy="3914855"/>
          </a:xfrm>
        </p:spPr>
      </p:pic>
      <p:sp>
        <p:nvSpPr>
          <p:cNvPr id="12" name="TextBox 11">
            <a:extLst>
              <a:ext uri="{FF2B5EF4-FFF2-40B4-BE49-F238E27FC236}">
                <a16:creationId xmlns:a16="http://schemas.microsoft.com/office/drawing/2014/main" id="{7F58BC0B-CC5C-E5D8-0ACF-EF0C458AFA7D}"/>
              </a:ext>
            </a:extLst>
          </p:cNvPr>
          <p:cNvSpPr txBox="1"/>
          <p:nvPr/>
        </p:nvSpPr>
        <p:spPr>
          <a:xfrm>
            <a:off x="4292532" y="3823275"/>
            <a:ext cx="3606938" cy="523220"/>
          </a:xfrm>
          <a:prstGeom prst="rect">
            <a:avLst/>
          </a:prstGeom>
          <a:noFill/>
          <a:ln>
            <a:solidFill>
              <a:srgbClr val="C00000"/>
            </a:solidFill>
          </a:ln>
        </p:spPr>
        <p:txBody>
          <a:bodyPr wrap="square" rtlCol="0">
            <a:spAutoFit/>
          </a:bodyPr>
          <a:lstStyle/>
          <a:p>
            <a:r>
              <a:rPr lang="en-US" sz="1400" dirty="0"/>
              <a:t>Momentum </a:t>
            </a:r>
            <a:r>
              <a:rPr lang="en-US" sz="1400" dirty="0" err="1"/>
              <a:t>Check:at</a:t>
            </a:r>
            <a:r>
              <a:rPr lang="en-US" sz="1400" dirty="0"/>
              <a:t> approximately 52.8 MeV, half the muon rest-mass energy</a:t>
            </a:r>
          </a:p>
        </p:txBody>
      </p:sp>
      <p:sp>
        <p:nvSpPr>
          <p:cNvPr id="13" name="TextBox 12">
            <a:extLst>
              <a:ext uri="{FF2B5EF4-FFF2-40B4-BE49-F238E27FC236}">
                <a16:creationId xmlns:a16="http://schemas.microsoft.com/office/drawing/2014/main" id="{7A5FC32E-0BA7-E174-1739-026B5900FABD}"/>
              </a:ext>
            </a:extLst>
          </p:cNvPr>
          <p:cNvSpPr txBox="1"/>
          <p:nvPr/>
        </p:nvSpPr>
        <p:spPr>
          <a:xfrm>
            <a:off x="8318772" y="1379855"/>
            <a:ext cx="3720830" cy="738664"/>
          </a:xfrm>
          <a:prstGeom prst="rect">
            <a:avLst/>
          </a:prstGeom>
          <a:noFill/>
          <a:ln>
            <a:solidFill>
              <a:srgbClr val="C00000"/>
            </a:solidFill>
          </a:ln>
        </p:spPr>
        <p:txBody>
          <a:bodyPr wrap="square" rtlCol="0">
            <a:spAutoFit/>
          </a:bodyPr>
          <a:lstStyle/>
          <a:p>
            <a:r>
              <a:rPr lang="en-US" sz="1400" dirty="0"/>
              <a:t>Isotropic Generation Check: verifying that the events are generated with momenta sampled from entire solid angle (unit sphere) </a:t>
            </a:r>
          </a:p>
        </p:txBody>
      </p:sp>
      <p:sp>
        <p:nvSpPr>
          <p:cNvPr id="14" name="TextBox 13">
            <a:extLst>
              <a:ext uri="{FF2B5EF4-FFF2-40B4-BE49-F238E27FC236}">
                <a16:creationId xmlns:a16="http://schemas.microsoft.com/office/drawing/2014/main" id="{13011C53-C381-11AB-C7F1-A683E3DC4EB8}"/>
              </a:ext>
            </a:extLst>
          </p:cNvPr>
          <p:cNvSpPr txBox="1"/>
          <p:nvPr/>
        </p:nvSpPr>
        <p:spPr>
          <a:xfrm>
            <a:off x="229208" y="1379855"/>
            <a:ext cx="3720830" cy="738664"/>
          </a:xfrm>
          <a:prstGeom prst="rect">
            <a:avLst/>
          </a:prstGeom>
          <a:noFill/>
          <a:ln>
            <a:solidFill>
              <a:srgbClr val="C00000"/>
            </a:solidFill>
          </a:ln>
        </p:spPr>
        <p:txBody>
          <a:bodyPr wrap="square" rtlCol="0">
            <a:spAutoFit/>
          </a:bodyPr>
          <a:lstStyle/>
          <a:p>
            <a:r>
              <a:rPr lang="en-US" sz="1400" dirty="0"/>
              <a:t>Theta-Theta Check: verifying that the electrons are generated back-to-back relative to each other in the production stage</a:t>
            </a:r>
          </a:p>
        </p:txBody>
      </p:sp>
    </p:spTree>
    <p:extLst>
      <p:ext uri="{BB962C8B-B14F-4D97-AF65-F5344CB8AC3E}">
        <p14:creationId xmlns:p14="http://schemas.microsoft.com/office/powerpoint/2010/main" val="4521040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44FC29-36B1-2974-B23B-46E1A335B617}"/>
              </a:ext>
            </a:extLst>
          </p:cNvPr>
          <p:cNvSpPr>
            <a:spLocks noGrp="1"/>
          </p:cNvSpPr>
          <p:nvPr>
            <p:ph idx="1"/>
          </p:nvPr>
        </p:nvSpPr>
        <p:spPr>
          <a:xfrm>
            <a:off x="0" y="424542"/>
            <a:ext cx="12192000" cy="5931807"/>
          </a:xfrm>
        </p:spPr>
        <p:txBody>
          <a:bodyPr/>
          <a:lstStyle/>
          <a:p>
            <a:r>
              <a:rPr lang="en-US" dirty="0"/>
              <a:t>Standard simulation workflow in the Mu2e Collaboration beginning from muon stops</a:t>
            </a:r>
          </a:p>
          <a:p>
            <a:pPr lvl="1"/>
            <a:r>
              <a:rPr lang="en-US" dirty="0"/>
              <a:t>Primary Generation: Given the physics prescribed by a generator, Monte Carlo steps are taken in succession following physics principles and kinematic properties of the process of interest</a:t>
            </a:r>
          </a:p>
          <a:p>
            <a:pPr lvl="1"/>
            <a:r>
              <a:rPr lang="en-US" dirty="0"/>
              <a:t>Digitization: Reliant upon the digital twin of the detector system, coincidence of sim particles and detector components are calculated and converted to the anticipated digital output</a:t>
            </a:r>
          </a:p>
          <a:p>
            <a:pPr lvl="1"/>
            <a:r>
              <a:rPr lang="en-US" dirty="0"/>
              <a:t>Reconstruction: digital signals created in the previous stage are utilized to predict the trajectories taken via parameterizations in </a:t>
            </a:r>
            <a:r>
              <a:rPr lang="en-US" dirty="0" err="1"/>
              <a:t>KinKal</a:t>
            </a:r>
            <a:r>
              <a:rPr lang="en-US" dirty="0"/>
              <a:t> fitting.</a:t>
            </a:r>
          </a:p>
          <a:p>
            <a:pPr lvl="1"/>
            <a:r>
              <a:rPr lang="en-US" dirty="0" err="1"/>
              <a:t>Ntuple-ing</a:t>
            </a:r>
            <a:r>
              <a:rPr lang="en-US" dirty="0"/>
              <a:t>: Packaging of pertinent data from all stages along with Monte Carlo truth</a:t>
            </a:r>
          </a:p>
          <a:p>
            <a:endParaRPr lang="en-US" dirty="0"/>
          </a:p>
        </p:txBody>
      </p:sp>
      <p:sp>
        <p:nvSpPr>
          <p:cNvPr id="5" name="Footer Placeholder 4">
            <a:extLst>
              <a:ext uri="{FF2B5EF4-FFF2-40B4-BE49-F238E27FC236}">
                <a16:creationId xmlns:a16="http://schemas.microsoft.com/office/drawing/2014/main" id="{018E6755-FD7F-C93C-0C8A-8FCC6E7EFE82}"/>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6ADF45E0-CF42-AFB8-C99E-FE4FD073077A}"/>
              </a:ext>
            </a:extLst>
          </p:cNvPr>
          <p:cNvSpPr>
            <a:spLocks noGrp="1"/>
          </p:cNvSpPr>
          <p:nvPr>
            <p:ph type="sldNum" sz="quarter" idx="12"/>
          </p:nvPr>
        </p:nvSpPr>
        <p:spPr/>
        <p:txBody>
          <a:bodyPr/>
          <a:lstStyle/>
          <a:p>
            <a:fld id="{C0E0CB54-3DBF-E947-906E-85E307CF7971}" type="slidenum">
              <a:rPr lang="en-US" smtClean="0"/>
              <a:t>23</a:t>
            </a:fld>
            <a:endParaRPr lang="en-US"/>
          </a:p>
        </p:txBody>
      </p:sp>
      <p:sp>
        <p:nvSpPr>
          <p:cNvPr id="4" name="Title 1">
            <a:extLst>
              <a:ext uri="{FF2B5EF4-FFF2-40B4-BE49-F238E27FC236}">
                <a16:creationId xmlns:a16="http://schemas.microsoft.com/office/drawing/2014/main" id="{A4A75C05-EE76-B1F4-4732-23B89B31512A}"/>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Analysis Products Produced from Muon Stops</a:t>
            </a:r>
          </a:p>
        </p:txBody>
      </p:sp>
      <p:pic>
        <p:nvPicPr>
          <p:cNvPr id="2" name="Picture 1">
            <a:extLst>
              <a:ext uri="{FF2B5EF4-FFF2-40B4-BE49-F238E27FC236}">
                <a16:creationId xmlns:a16="http://schemas.microsoft.com/office/drawing/2014/main" id="{19975350-47A4-4B59-9EC3-3E943AC62403}"/>
              </a:ext>
            </a:extLst>
          </p:cNvPr>
          <p:cNvPicPr>
            <a:picLocks noChangeAspect="1"/>
          </p:cNvPicPr>
          <p:nvPr/>
        </p:nvPicPr>
        <p:blipFill>
          <a:blip r:embed="rId2"/>
          <a:stretch>
            <a:fillRect/>
          </a:stretch>
        </p:blipFill>
        <p:spPr>
          <a:xfrm>
            <a:off x="2598906" y="925364"/>
            <a:ext cx="7772400" cy="247204"/>
          </a:xfrm>
          <a:prstGeom prst="rect">
            <a:avLst/>
          </a:prstGeom>
        </p:spPr>
      </p:pic>
    </p:spTree>
    <p:extLst>
      <p:ext uri="{BB962C8B-B14F-4D97-AF65-F5344CB8AC3E}">
        <p14:creationId xmlns:p14="http://schemas.microsoft.com/office/powerpoint/2010/main" val="17978301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close-up of a graph&#10;&#10;AI-generated content may be incorrect.">
            <a:extLst>
              <a:ext uri="{FF2B5EF4-FFF2-40B4-BE49-F238E27FC236}">
                <a16:creationId xmlns:a16="http://schemas.microsoft.com/office/drawing/2014/main" id="{61A7F016-3F70-3FE5-FE63-C663193059FC}"/>
              </a:ext>
            </a:extLst>
          </p:cNvPr>
          <p:cNvPicPr>
            <a:picLocks noGrp="1" noChangeAspect="1"/>
          </p:cNvPicPr>
          <p:nvPr>
            <p:ph idx="1"/>
          </p:nvPr>
        </p:nvPicPr>
        <p:blipFill>
          <a:blip r:embed="rId2"/>
          <a:stretch>
            <a:fillRect/>
          </a:stretch>
        </p:blipFill>
        <p:spPr>
          <a:xfrm>
            <a:off x="689043" y="136524"/>
            <a:ext cx="10515600" cy="3124635"/>
          </a:xfrm>
        </p:spPr>
      </p:pic>
      <p:sp>
        <p:nvSpPr>
          <p:cNvPr id="5" name="Footer Placeholder 4">
            <a:extLst>
              <a:ext uri="{FF2B5EF4-FFF2-40B4-BE49-F238E27FC236}">
                <a16:creationId xmlns:a16="http://schemas.microsoft.com/office/drawing/2014/main" id="{D25B5469-6CFD-57DE-7A43-05E09DB737EF}"/>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FF728134-85D7-009E-6BDC-FE46F516BC99}"/>
              </a:ext>
            </a:extLst>
          </p:cNvPr>
          <p:cNvSpPr>
            <a:spLocks noGrp="1"/>
          </p:cNvSpPr>
          <p:nvPr>
            <p:ph type="sldNum" sz="quarter" idx="12"/>
          </p:nvPr>
        </p:nvSpPr>
        <p:spPr/>
        <p:txBody>
          <a:bodyPr/>
          <a:lstStyle/>
          <a:p>
            <a:fld id="{C0E0CB54-3DBF-E947-906E-85E307CF7971}" type="slidenum">
              <a:rPr lang="en-US" smtClean="0"/>
              <a:t>24</a:t>
            </a:fld>
            <a:endParaRPr lang="en-US"/>
          </a:p>
        </p:txBody>
      </p:sp>
      <p:pic>
        <p:nvPicPr>
          <p:cNvPr id="9" name="Picture 8" descr="A graph of a graph of a graph&#10;&#10;AI-generated content may be incorrect.">
            <a:extLst>
              <a:ext uri="{FF2B5EF4-FFF2-40B4-BE49-F238E27FC236}">
                <a16:creationId xmlns:a16="http://schemas.microsoft.com/office/drawing/2014/main" id="{59D6E779-69D6-DC69-0148-29BF06C62821}"/>
              </a:ext>
            </a:extLst>
          </p:cNvPr>
          <p:cNvPicPr>
            <a:picLocks noChangeAspect="1"/>
          </p:cNvPicPr>
          <p:nvPr/>
        </p:nvPicPr>
        <p:blipFill>
          <a:blip r:embed="rId3"/>
          <a:stretch>
            <a:fillRect/>
          </a:stretch>
        </p:blipFill>
        <p:spPr>
          <a:xfrm>
            <a:off x="150343" y="3660096"/>
            <a:ext cx="3431057" cy="2696254"/>
          </a:xfrm>
          <a:prstGeom prst="rect">
            <a:avLst/>
          </a:prstGeom>
        </p:spPr>
      </p:pic>
      <p:sp>
        <p:nvSpPr>
          <p:cNvPr id="10" name="TextBox 9">
            <a:extLst>
              <a:ext uri="{FF2B5EF4-FFF2-40B4-BE49-F238E27FC236}">
                <a16:creationId xmlns:a16="http://schemas.microsoft.com/office/drawing/2014/main" id="{45BFB39F-421B-BBDB-7431-151D517B3E31}"/>
              </a:ext>
            </a:extLst>
          </p:cNvPr>
          <p:cNvSpPr txBox="1"/>
          <p:nvPr/>
        </p:nvSpPr>
        <p:spPr>
          <a:xfrm>
            <a:off x="4829783" y="5285167"/>
            <a:ext cx="5421549" cy="954107"/>
          </a:xfrm>
          <a:prstGeom prst="rect">
            <a:avLst/>
          </a:prstGeom>
          <a:noFill/>
          <a:ln w="19050">
            <a:solidFill>
              <a:srgbClr val="C00000"/>
            </a:solidFill>
          </a:ln>
        </p:spPr>
        <p:txBody>
          <a:bodyPr wrap="square" rtlCol="0">
            <a:spAutoFit/>
          </a:bodyPr>
          <a:lstStyle/>
          <a:p>
            <a:r>
              <a:rPr lang="en-US" sz="1400" dirty="0">
                <a:sym typeface="Wingdings" pitchFamily="2" charset="2"/>
              </a:rPr>
              <a:t>Surviving Monte Carlo truth generated particle momenta post full sim-workflow. This shows that only a selection of the generated electrons will be able to be seen in the detector given the geometric acceptance and reconstruction capabilities. </a:t>
            </a:r>
            <a:endParaRPr lang="en-US" sz="1400" dirty="0"/>
          </a:p>
        </p:txBody>
      </p:sp>
      <p:sp>
        <p:nvSpPr>
          <p:cNvPr id="11" name="TextBox 10">
            <a:extLst>
              <a:ext uri="{FF2B5EF4-FFF2-40B4-BE49-F238E27FC236}">
                <a16:creationId xmlns:a16="http://schemas.microsoft.com/office/drawing/2014/main" id="{71D41100-F050-4563-D99D-018E56BAD5DC}"/>
              </a:ext>
            </a:extLst>
          </p:cNvPr>
          <p:cNvSpPr txBox="1"/>
          <p:nvPr/>
        </p:nvSpPr>
        <p:spPr>
          <a:xfrm>
            <a:off x="6509860" y="3429000"/>
            <a:ext cx="5038493" cy="1323439"/>
          </a:xfrm>
          <a:prstGeom prst="rect">
            <a:avLst/>
          </a:prstGeom>
          <a:noFill/>
          <a:ln w="19050">
            <a:solidFill>
              <a:srgbClr val="C00000"/>
            </a:solidFill>
          </a:ln>
        </p:spPr>
        <p:txBody>
          <a:bodyPr wrap="square" rtlCol="0">
            <a:spAutoFit/>
          </a:bodyPr>
          <a:lstStyle/>
          <a:p>
            <a:r>
              <a:rPr lang="en-US" sz="1600" dirty="0"/>
              <a:t>Event display depicting two electron track (MC truth) </a:t>
            </a:r>
            <a:r>
              <a:rPr lang="en-US" sz="1600" dirty="0" err="1"/>
              <a:t>helicies</a:t>
            </a:r>
            <a:r>
              <a:rPr lang="en-US" sz="1600" dirty="0"/>
              <a:t> moving from stopping target foil through the detector system. Notable feature being the magnetic mirror effect demonstrated from the backwards moving electron</a:t>
            </a:r>
          </a:p>
        </p:txBody>
      </p:sp>
      <p:cxnSp>
        <p:nvCxnSpPr>
          <p:cNvPr id="13" name="Elbow Connector 12">
            <a:extLst>
              <a:ext uri="{FF2B5EF4-FFF2-40B4-BE49-F238E27FC236}">
                <a16:creationId xmlns:a16="http://schemas.microsoft.com/office/drawing/2014/main" id="{3B4775D9-6733-A327-ECA0-44393A86CC05}"/>
              </a:ext>
            </a:extLst>
          </p:cNvPr>
          <p:cNvCxnSpPr>
            <a:cxnSpLocks/>
            <a:stCxn id="11" idx="1"/>
            <a:endCxn id="7" idx="2"/>
          </p:cNvCxnSpPr>
          <p:nvPr/>
        </p:nvCxnSpPr>
        <p:spPr>
          <a:xfrm rot="10800000">
            <a:off x="5946844" y="3261160"/>
            <a:ext cx="563017" cy="829561"/>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 name="Elbow Connector 15">
            <a:extLst>
              <a:ext uri="{FF2B5EF4-FFF2-40B4-BE49-F238E27FC236}">
                <a16:creationId xmlns:a16="http://schemas.microsoft.com/office/drawing/2014/main" id="{B1EF8A20-B913-8650-C9E9-C0F2717D5386}"/>
              </a:ext>
            </a:extLst>
          </p:cNvPr>
          <p:cNvCxnSpPr>
            <a:stCxn id="10" idx="1"/>
            <a:endCxn id="9" idx="3"/>
          </p:cNvCxnSpPr>
          <p:nvPr/>
        </p:nvCxnSpPr>
        <p:spPr>
          <a:xfrm rot="10800000">
            <a:off x="3581401" y="5008223"/>
            <a:ext cx="1248383" cy="753998"/>
          </a:xfrm>
          <a:prstGeom prst="bentConnector3">
            <a:avLst/>
          </a:prstGeom>
          <a:ln>
            <a:solidFill>
              <a:schemeClr val="tx1">
                <a:alpha val="99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129228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B26FED9-452A-EC21-922F-5FECBDAC6849}"/>
                  </a:ext>
                </a:extLst>
              </p:cNvPr>
              <p:cNvSpPr>
                <a:spLocks noGrp="1"/>
              </p:cNvSpPr>
              <p:nvPr>
                <p:ph idx="1"/>
              </p:nvPr>
            </p:nvSpPr>
            <p:spPr>
              <a:xfrm>
                <a:off x="0" y="424542"/>
                <a:ext cx="12192000" cy="5931807"/>
              </a:xfrm>
            </p:spPr>
            <p:txBody>
              <a:bodyPr/>
              <a:lstStyle/>
              <a:p>
                <a:r>
                  <a:rPr lang="en-US" dirty="0"/>
                  <a:t>Attempt to produce the cleanest signal events for vertexing requires cuts to be made to reduce computation requirements</a:t>
                </a:r>
              </a:p>
              <a:p>
                <a:pPr marL="514350" indent="-514350">
                  <a:buAutoNum type="arabicPeriod"/>
                </a:pPr>
                <a:r>
                  <a:rPr lang="en-US" dirty="0"/>
                  <a:t>Require exactly two electron tracks</a:t>
                </a:r>
              </a:p>
              <a:p>
                <a:pPr marL="514350" indent="-514350">
                  <a:buAutoNum type="arabicPeriod"/>
                </a:pPr>
                <a:r>
                  <a:rPr lang="en-US" dirty="0"/>
                  <a:t>Require good calorimeter hits (could be relaxed for increase in acceptance)</a:t>
                </a:r>
              </a:p>
              <a:p>
                <a:pPr marL="514350" indent="-514350">
                  <a:buAutoNum type="arabicPeriod"/>
                </a:pPr>
                <a:r>
                  <a:rPr lang="en-US" dirty="0"/>
                  <a:t>Momentum Cut: </a:t>
                </a:r>
                <a14:m>
                  <m:oMath xmlns:m="http://schemas.openxmlformats.org/officeDocument/2006/math">
                    <m:r>
                      <a:rPr lang="en-US" b="0" i="0" smtClean="0">
                        <a:latin typeface="Cambria Math" panose="02040503050406030204" pitchFamily="18" charset="0"/>
                        <a:ea typeface="Cambria Math" panose="02040503050406030204" pitchFamily="18" charset="0"/>
                      </a:rPr>
                      <m:t>50</m:t>
                    </m:r>
                    <m:r>
                      <a:rPr lang="en-US" i="1" smtClean="0">
                        <a:latin typeface="Cambria Math" panose="02040503050406030204" pitchFamily="18" charset="0"/>
                        <a:ea typeface="Cambria Math" panose="02040503050406030204" pitchFamily="18" charset="0"/>
                      </a:rPr>
                      <m:t>≤</m:t>
                    </m:r>
                    <m:d>
                      <m:dPr>
                        <m:begChr m:val="|"/>
                        <m:endChr m:val="|"/>
                        <m:ctrlPr>
                          <a:rPr lang="en-US" i="1" smtClean="0">
                            <a:latin typeface="Cambria Math" panose="02040503050406030204" pitchFamily="18" charset="0"/>
                          </a:rPr>
                        </m:ctrlPr>
                      </m:dPr>
                      <m:e>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𝑝</m:t>
                            </m:r>
                          </m:e>
                        </m:acc>
                      </m:e>
                    </m:d>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53</m:t>
                    </m:r>
                  </m:oMath>
                </a14:m>
                <a:r>
                  <a:rPr lang="en-US" dirty="0"/>
                  <a:t> MeV/c</a:t>
                </a:r>
              </a:p>
            </p:txBody>
          </p:sp>
        </mc:Choice>
        <mc:Fallback>
          <p:sp>
            <p:nvSpPr>
              <p:cNvPr id="3" name="Content Placeholder 2">
                <a:extLst>
                  <a:ext uri="{FF2B5EF4-FFF2-40B4-BE49-F238E27FC236}">
                    <a16:creationId xmlns:a16="http://schemas.microsoft.com/office/drawing/2014/main" id="{CB26FED9-452A-EC21-922F-5FECBDAC6849}"/>
                  </a:ext>
                </a:extLst>
              </p:cNvPr>
              <p:cNvSpPr>
                <a:spLocks noGrp="1" noRot="1" noChangeAspect="1" noMove="1" noResize="1" noEditPoints="1" noAdjustHandles="1" noChangeArrowheads="1" noChangeShapeType="1" noTextEdit="1"/>
              </p:cNvSpPr>
              <p:nvPr>
                <p:ph idx="1"/>
              </p:nvPr>
            </p:nvSpPr>
            <p:spPr>
              <a:xfrm>
                <a:off x="0" y="424542"/>
                <a:ext cx="12192000" cy="5931807"/>
              </a:xfrm>
              <a:blipFill>
                <a:blip r:embed="rId2"/>
                <a:stretch>
                  <a:fillRect l="-1145" t="-1709" r="-624"/>
                </a:stretch>
              </a:blipFill>
            </p:spPr>
            <p:txBody>
              <a:bodyPr/>
              <a:lstStyle/>
              <a:p>
                <a:r>
                  <a:rPr lang="en-US">
                    <a:noFill/>
                  </a:rPr>
                  <a:t> </a:t>
                </a:r>
              </a:p>
            </p:txBody>
          </p:sp>
        </mc:Fallback>
      </mc:AlternateContent>
      <p:sp>
        <p:nvSpPr>
          <p:cNvPr id="5" name="Footer Placeholder 4">
            <a:extLst>
              <a:ext uri="{FF2B5EF4-FFF2-40B4-BE49-F238E27FC236}">
                <a16:creationId xmlns:a16="http://schemas.microsoft.com/office/drawing/2014/main" id="{B2994E62-85EE-3976-2FFC-E1B2C03DADFD}"/>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B5C4AE26-57D9-56C3-A23A-C9DAAED2D534}"/>
              </a:ext>
            </a:extLst>
          </p:cNvPr>
          <p:cNvSpPr>
            <a:spLocks noGrp="1"/>
          </p:cNvSpPr>
          <p:nvPr>
            <p:ph type="sldNum" sz="quarter" idx="12"/>
          </p:nvPr>
        </p:nvSpPr>
        <p:spPr/>
        <p:txBody>
          <a:bodyPr/>
          <a:lstStyle/>
          <a:p>
            <a:fld id="{C0E0CB54-3DBF-E947-906E-85E307CF7971}" type="slidenum">
              <a:rPr lang="en-US" smtClean="0"/>
              <a:t>25</a:t>
            </a:fld>
            <a:endParaRPr lang="en-US"/>
          </a:p>
        </p:txBody>
      </p:sp>
      <p:sp>
        <p:nvSpPr>
          <p:cNvPr id="4" name="Title 1">
            <a:extLst>
              <a:ext uri="{FF2B5EF4-FFF2-40B4-BE49-F238E27FC236}">
                <a16:creationId xmlns:a16="http://schemas.microsoft.com/office/drawing/2014/main" id="{8DB6C83B-2E04-5927-B5CF-03728C4EC4EB}"/>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Candidacy Cuts for Vertexing Procedure</a:t>
            </a:r>
          </a:p>
        </p:txBody>
      </p:sp>
      <p:graphicFrame>
        <p:nvGraphicFramePr>
          <p:cNvPr id="2" name="Table 1">
            <a:extLst>
              <a:ext uri="{FF2B5EF4-FFF2-40B4-BE49-F238E27FC236}">
                <a16:creationId xmlns:a16="http://schemas.microsoft.com/office/drawing/2014/main" id="{5FDC0F9F-25AC-EDCB-59D1-1202D9A5CEEB}"/>
              </a:ext>
            </a:extLst>
          </p:cNvPr>
          <p:cNvGraphicFramePr>
            <a:graphicFrameLocks noGrp="1"/>
          </p:cNvGraphicFramePr>
          <p:nvPr>
            <p:extLst>
              <p:ext uri="{D42A27DB-BD31-4B8C-83A1-F6EECF244321}">
                <p14:modId xmlns:p14="http://schemas.microsoft.com/office/powerpoint/2010/main" val="376929796"/>
              </p:ext>
            </p:extLst>
          </p:nvPr>
        </p:nvGraphicFramePr>
        <p:xfrm>
          <a:off x="3322535" y="2863319"/>
          <a:ext cx="5562060" cy="3332480"/>
        </p:xfrm>
        <a:graphic>
          <a:graphicData uri="http://schemas.openxmlformats.org/drawingml/2006/table">
            <a:tbl>
              <a:tblPr firstRow="1" bandRow="1">
                <a:tableStyleId>{5C22544A-7EE6-4342-B048-85BDC9FD1C3A}</a:tableStyleId>
              </a:tblPr>
              <a:tblGrid>
                <a:gridCol w="2358416">
                  <a:extLst>
                    <a:ext uri="{9D8B030D-6E8A-4147-A177-3AD203B41FA5}">
                      <a16:colId xmlns:a16="http://schemas.microsoft.com/office/drawing/2014/main" val="216893852"/>
                    </a:ext>
                  </a:extLst>
                </a:gridCol>
                <a:gridCol w="1932562">
                  <a:extLst>
                    <a:ext uri="{9D8B030D-6E8A-4147-A177-3AD203B41FA5}">
                      <a16:colId xmlns:a16="http://schemas.microsoft.com/office/drawing/2014/main" val="4153747999"/>
                    </a:ext>
                  </a:extLst>
                </a:gridCol>
                <a:gridCol w="1271082">
                  <a:extLst>
                    <a:ext uri="{9D8B030D-6E8A-4147-A177-3AD203B41FA5}">
                      <a16:colId xmlns:a16="http://schemas.microsoft.com/office/drawing/2014/main" val="1148856441"/>
                    </a:ext>
                  </a:extLst>
                </a:gridCol>
              </a:tblGrid>
              <a:tr h="0">
                <a:tc>
                  <a:txBody>
                    <a:bodyPr/>
                    <a:lstStyle/>
                    <a:p>
                      <a:pPr algn="ctr"/>
                      <a:r>
                        <a:rPr lang="en-US" dirty="0"/>
                        <a:t>Process</a:t>
                      </a:r>
                    </a:p>
                  </a:txBody>
                  <a:tcPr/>
                </a:tc>
                <a:tc>
                  <a:txBody>
                    <a:bodyPr/>
                    <a:lstStyle/>
                    <a:p>
                      <a:pPr algn="ctr"/>
                      <a:r>
                        <a:rPr lang="en-US" dirty="0"/>
                        <a:t>Surviving Events</a:t>
                      </a:r>
                    </a:p>
                  </a:txBody>
                  <a:tcPr/>
                </a:tc>
                <a:tc>
                  <a:txBody>
                    <a:bodyPr/>
                    <a:lstStyle/>
                    <a:p>
                      <a:pPr algn="ctr"/>
                      <a:r>
                        <a:rPr lang="en-US" dirty="0"/>
                        <a:t>% of Total</a:t>
                      </a:r>
                    </a:p>
                  </a:txBody>
                  <a:tcPr/>
                </a:tc>
                <a:extLst>
                  <a:ext uri="{0D108BD9-81ED-4DB2-BD59-A6C34878D82A}">
                    <a16:rowId xmlns:a16="http://schemas.microsoft.com/office/drawing/2014/main" val="3012547605"/>
                  </a:ext>
                </a:extLst>
              </a:tr>
              <a:tr h="370840">
                <a:tc>
                  <a:txBody>
                    <a:bodyPr/>
                    <a:lstStyle/>
                    <a:p>
                      <a:pPr algn="ctr"/>
                      <a:r>
                        <a:rPr lang="en-US" dirty="0"/>
                        <a:t>Muon Stops</a:t>
                      </a:r>
                    </a:p>
                  </a:txBody>
                  <a:tcPr/>
                </a:tc>
                <a:tc>
                  <a:txBody>
                    <a:bodyPr/>
                    <a:lstStyle/>
                    <a:p>
                      <a:pPr algn="ctr"/>
                      <a:r>
                        <a:rPr lang="en-US" dirty="0"/>
                        <a:t>100,000</a:t>
                      </a:r>
                    </a:p>
                  </a:txBody>
                  <a:tcPr/>
                </a:tc>
                <a:tc>
                  <a:txBody>
                    <a:bodyPr/>
                    <a:lstStyle/>
                    <a:p>
                      <a:pPr algn="ctr"/>
                      <a:r>
                        <a:rPr lang="en-US" dirty="0"/>
                        <a:t>100%</a:t>
                      </a:r>
                    </a:p>
                  </a:txBody>
                  <a:tcPr/>
                </a:tc>
                <a:extLst>
                  <a:ext uri="{0D108BD9-81ED-4DB2-BD59-A6C34878D82A}">
                    <a16:rowId xmlns:a16="http://schemas.microsoft.com/office/drawing/2014/main" val="3221590966"/>
                  </a:ext>
                </a:extLst>
              </a:tr>
              <a:tr h="370840">
                <a:tc>
                  <a:txBody>
                    <a:bodyPr/>
                    <a:lstStyle/>
                    <a:p>
                      <a:pPr algn="ctr"/>
                      <a:r>
                        <a:rPr lang="en-US" dirty="0"/>
                        <a:t>Surviving Primaries</a:t>
                      </a:r>
                    </a:p>
                  </a:txBody>
                  <a:tcPr/>
                </a:tc>
                <a:tc>
                  <a:txBody>
                    <a:bodyPr/>
                    <a:lstStyle/>
                    <a:p>
                      <a:pPr algn="ctr"/>
                      <a:r>
                        <a:rPr lang="en-US" dirty="0"/>
                        <a:t>66,545</a:t>
                      </a:r>
                    </a:p>
                  </a:txBody>
                  <a:tcPr/>
                </a:tc>
                <a:tc>
                  <a:txBody>
                    <a:bodyPr/>
                    <a:lstStyle/>
                    <a:p>
                      <a:pPr algn="ctr"/>
                      <a:r>
                        <a:rPr lang="en-US" dirty="0"/>
                        <a:t>66.545%</a:t>
                      </a:r>
                    </a:p>
                  </a:txBody>
                  <a:tcPr/>
                </a:tc>
                <a:extLst>
                  <a:ext uri="{0D108BD9-81ED-4DB2-BD59-A6C34878D82A}">
                    <a16:rowId xmlns:a16="http://schemas.microsoft.com/office/drawing/2014/main" val="2337204320"/>
                  </a:ext>
                </a:extLst>
              </a:tr>
              <a:tr h="370840">
                <a:tc>
                  <a:txBody>
                    <a:bodyPr/>
                    <a:lstStyle/>
                    <a:p>
                      <a:pPr algn="ctr"/>
                      <a:r>
                        <a:rPr lang="en-US" dirty="0"/>
                        <a:t>Digitization</a:t>
                      </a:r>
                    </a:p>
                  </a:txBody>
                  <a:tcPr/>
                </a:tc>
                <a:tc>
                  <a:txBody>
                    <a:bodyPr/>
                    <a:lstStyle/>
                    <a:p>
                      <a:pPr algn="ctr"/>
                      <a:r>
                        <a:rPr lang="en-US" dirty="0"/>
                        <a:t>50,792</a:t>
                      </a:r>
                    </a:p>
                  </a:txBody>
                  <a:tcPr/>
                </a:tc>
                <a:tc>
                  <a:txBody>
                    <a:bodyPr/>
                    <a:lstStyle/>
                    <a:p>
                      <a:pPr algn="ctr"/>
                      <a:r>
                        <a:rPr lang="en-US" dirty="0"/>
                        <a:t>50.792%</a:t>
                      </a:r>
                    </a:p>
                  </a:txBody>
                  <a:tcPr/>
                </a:tc>
                <a:extLst>
                  <a:ext uri="{0D108BD9-81ED-4DB2-BD59-A6C34878D82A}">
                    <a16:rowId xmlns:a16="http://schemas.microsoft.com/office/drawing/2014/main" val="1414898290"/>
                  </a:ext>
                </a:extLst>
              </a:tr>
              <a:tr h="370840">
                <a:tc>
                  <a:txBody>
                    <a:bodyPr/>
                    <a:lstStyle/>
                    <a:p>
                      <a:pPr algn="ctr"/>
                      <a:r>
                        <a:rPr lang="en-US" dirty="0"/>
                        <a:t>Reconstruction</a:t>
                      </a:r>
                    </a:p>
                  </a:txBody>
                  <a:tcPr/>
                </a:tc>
                <a:tc>
                  <a:txBody>
                    <a:bodyPr/>
                    <a:lstStyle/>
                    <a:p>
                      <a:pPr algn="ctr"/>
                      <a:r>
                        <a:rPr lang="en-US" dirty="0"/>
                        <a:t>50,792</a:t>
                      </a:r>
                    </a:p>
                  </a:txBody>
                  <a:tcPr/>
                </a:tc>
                <a:tc>
                  <a:txBody>
                    <a:bodyPr/>
                    <a:lstStyle/>
                    <a:p>
                      <a:pPr algn="ctr"/>
                      <a:r>
                        <a:rPr lang="en-US" dirty="0"/>
                        <a:t>50.792%</a:t>
                      </a:r>
                    </a:p>
                  </a:txBody>
                  <a:tcPr/>
                </a:tc>
                <a:extLst>
                  <a:ext uri="{0D108BD9-81ED-4DB2-BD59-A6C34878D82A}">
                    <a16:rowId xmlns:a16="http://schemas.microsoft.com/office/drawing/2014/main" val="697887876"/>
                  </a:ext>
                </a:extLst>
              </a:tr>
              <a:tr h="370840">
                <a:tc>
                  <a:txBody>
                    <a:bodyPr/>
                    <a:lstStyle/>
                    <a:p>
                      <a:pPr algn="ctr"/>
                      <a:r>
                        <a:rPr lang="en-US" dirty="0"/>
                        <a:t>Exactly 2-Track Reco</a:t>
                      </a:r>
                    </a:p>
                  </a:txBody>
                  <a:tcPr/>
                </a:tc>
                <a:tc>
                  <a:txBody>
                    <a:bodyPr/>
                    <a:lstStyle/>
                    <a:p>
                      <a:pPr algn="ctr"/>
                      <a:r>
                        <a:rPr lang="en-US" dirty="0"/>
                        <a:t>31,221</a:t>
                      </a:r>
                    </a:p>
                  </a:txBody>
                  <a:tcPr/>
                </a:tc>
                <a:tc>
                  <a:txBody>
                    <a:bodyPr/>
                    <a:lstStyle/>
                    <a:p>
                      <a:pPr algn="ctr"/>
                      <a:r>
                        <a:rPr lang="en-US" dirty="0"/>
                        <a:t>31.221%</a:t>
                      </a:r>
                    </a:p>
                  </a:txBody>
                  <a:tcPr/>
                </a:tc>
                <a:extLst>
                  <a:ext uri="{0D108BD9-81ED-4DB2-BD59-A6C34878D82A}">
                    <a16:rowId xmlns:a16="http://schemas.microsoft.com/office/drawing/2014/main" val="3996491317"/>
                  </a:ext>
                </a:extLst>
              </a:tr>
              <a:tr h="370840">
                <a:tc>
                  <a:txBody>
                    <a:bodyPr/>
                    <a:lstStyle/>
                    <a:p>
                      <a:pPr algn="ctr"/>
                      <a:r>
                        <a:rPr lang="en-US" dirty="0"/>
                        <a:t>Good Calo Hit (Both)</a:t>
                      </a:r>
                    </a:p>
                  </a:txBody>
                  <a:tcPr/>
                </a:tc>
                <a:tc>
                  <a:txBody>
                    <a:bodyPr/>
                    <a:lstStyle/>
                    <a:p>
                      <a:pPr algn="ctr"/>
                      <a:r>
                        <a:rPr lang="en-US" dirty="0"/>
                        <a:t>23,253</a:t>
                      </a:r>
                    </a:p>
                  </a:txBody>
                  <a:tcPr/>
                </a:tc>
                <a:tc>
                  <a:txBody>
                    <a:bodyPr/>
                    <a:lstStyle/>
                    <a:p>
                      <a:pPr algn="ctr"/>
                      <a:r>
                        <a:rPr lang="en-US" dirty="0"/>
                        <a:t>23.253%</a:t>
                      </a:r>
                    </a:p>
                  </a:txBody>
                  <a:tcPr/>
                </a:tc>
                <a:extLst>
                  <a:ext uri="{0D108BD9-81ED-4DB2-BD59-A6C34878D82A}">
                    <a16:rowId xmlns:a16="http://schemas.microsoft.com/office/drawing/2014/main" val="4135261134"/>
                  </a:ext>
                </a:extLst>
              </a:tr>
              <a:tr h="370840">
                <a:tc>
                  <a:txBody>
                    <a:bodyPr/>
                    <a:lstStyle/>
                    <a:p>
                      <a:pPr algn="ctr"/>
                      <a:r>
                        <a:rPr lang="en-US" dirty="0"/>
                        <a:t>Momentum Cut</a:t>
                      </a:r>
                    </a:p>
                  </a:txBody>
                  <a:tcPr>
                    <a:lnB w="12700" cap="flat" cmpd="sng" algn="ctr">
                      <a:solidFill>
                        <a:schemeClr val="tx1"/>
                      </a:solidFill>
                      <a:prstDash val="solid"/>
                      <a:round/>
                      <a:headEnd type="none" w="med" len="med"/>
                      <a:tailEnd type="none" w="med" len="med"/>
                    </a:lnB>
                  </a:tcPr>
                </a:tc>
                <a:tc>
                  <a:txBody>
                    <a:bodyPr/>
                    <a:lstStyle/>
                    <a:p>
                      <a:pPr algn="ctr"/>
                      <a:r>
                        <a:rPr lang="en-US" dirty="0"/>
                        <a:t>16,771</a:t>
                      </a:r>
                    </a:p>
                  </a:txBody>
                  <a:tcPr>
                    <a:lnB w="12700" cap="flat" cmpd="sng" algn="ctr">
                      <a:solidFill>
                        <a:schemeClr val="tx1"/>
                      </a:solidFill>
                      <a:prstDash val="solid"/>
                      <a:round/>
                      <a:headEnd type="none" w="med" len="med"/>
                      <a:tailEnd type="none" w="med" len="med"/>
                    </a:lnB>
                  </a:tcPr>
                </a:tc>
                <a:tc>
                  <a:txBody>
                    <a:bodyPr/>
                    <a:lstStyle/>
                    <a:p>
                      <a:pPr algn="ctr"/>
                      <a:r>
                        <a:rPr lang="en-US" dirty="0"/>
                        <a:t>16.771%</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8412446"/>
                  </a:ext>
                </a:extLst>
              </a:tr>
              <a:tr h="370840">
                <a:tc>
                  <a:txBody>
                    <a:bodyPr/>
                    <a:lstStyle/>
                    <a:p>
                      <a:pPr algn="ctr"/>
                      <a:r>
                        <a:rPr lang="en-US" b="1" dirty="0"/>
                        <a:t>Final Candidates</a:t>
                      </a:r>
                    </a:p>
                  </a:txBody>
                  <a:tcPr>
                    <a:lnT w="12700" cap="flat" cmpd="sng" algn="ctr">
                      <a:solidFill>
                        <a:schemeClr val="tx1"/>
                      </a:solidFill>
                      <a:prstDash val="solid"/>
                      <a:round/>
                      <a:headEnd type="none" w="med" len="med"/>
                      <a:tailEnd type="none" w="med" len="med"/>
                    </a:lnT>
                  </a:tcPr>
                </a:tc>
                <a:tc>
                  <a:txBody>
                    <a:bodyPr/>
                    <a:lstStyle/>
                    <a:p>
                      <a:pPr algn="ctr"/>
                      <a:r>
                        <a:rPr lang="en-US" dirty="0"/>
                        <a:t>16,771</a:t>
                      </a:r>
                    </a:p>
                  </a:txBody>
                  <a:tcPr>
                    <a:lnT w="12700" cap="flat" cmpd="sng" algn="ctr">
                      <a:solidFill>
                        <a:schemeClr val="tx1"/>
                      </a:solidFill>
                      <a:prstDash val="solid"/>
                      <a:round/>
                      <a:headEnd type="none" w="med" len="med"/>
                      <a:tailEnd type="none" w="med" len="med"/>
                    </a:lnT>
                  </a:tcPr>
                </a:tc>
                <a:tc>
                  <a:txBody>
                    <a:bodyPr/>
                    <a:lstStyle/>
                    <a:p>
                      <a:pPr algn="ctr"/>
                      <a:r>
                        <a:rPr lang="en-US" dirty="0"/>
                        <a:t>16.771%</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722083572"/>
                  </a:ext>
                </a:extLst>
              </a:tr>
            </a:tbl>
          </a:graphicData>
        </a:graphic>
      </p:graphicFrame>
    </p:spTree>
    <p:extLst>
      <p:ext uri="{BB962C8B-B14F-4D97-AF65-F5344CB8AC3E}">
        <p14:creationId xmlns:p14="http://schemas.microsoft.com/office/powerpoint/2010/main" val="10990499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graph of a number of different colored lines&#10;&#10;AI-generated content may be incorrect.">
            <a:extLst>
              <a:ext uri="{FF2B5EF4-FFF2-40B4-BE49-F238E27FC236}">
                <a16:creationId xmlns:a16="http://schemas.microsoft.com/office/drawing/2014/main" id="{103247B4-88FA-815A-8F04-780ACA02AF3A}"/>
              </a:ext>
            </a:extLst>
          </p:cNvPr>
          <p:cNvPicPr>
            <a:picLocks noGrp="1" noChangeAspect="1"/>
          </p:cNvPicPr>
          <p:nvPr>
            <p:ph idx="1"/>
          </p:nvPr>
        </p:nvPicPr>
        <p:blipFill>
          <a:blip r:embed="rId2"/>
          <a:stretch>
            <a:fillRect/>
          </a:stretch>
        </p:blipFill>
        <p:spPr>
          <a:xfrm>
            <a:off x="142672" y="488405"/>
            <a:ext cx="7118726" cy="4915649"/>
          </a:xfrm>
        </p:spPr>
      </p:pic>
      <p:sp>
        <p:nvSpPr>
          <p:cNvPr id="5" name="Footer Placeholder 4">
            <a:extLst>
              <a:ext uri="{FF2B5EF4-FFF2-40B4-BE49-F238E27FC236}">
                <a16:creationId xmlns:a16="http://schemas.microsoft.com/office/drawing/2014/main" id="{1BF9F854-1AEC-B963-BF42-83D4456557E1}"/>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D22D8E94-2436-805D-6C21-A58214C36A4C}"/>
              </a:ext>
            </a:extLst>
          </p:cNvPr>
          <p:cNvSpPr>
            <a:spLocks noGrp="1"/>
          </p:cNvSpPr>
          <p:nvPr>
            <p:ph type="sldNum" sz="quarter" idx="12"/>
          </p:nvPr>
        </p:nvSpPr>
        <p:spPr/>
        <p:txBody>
          <a:bodyPr/>
          <a:lstStyle/>
          <a:p>
            <a:fld id="{C0E0CB54-3DBF-E947-906E-85E307CF7971}" type="slidenum">
              <a:rPr lang="en-US" smtClean="0"/>
              <a:t>26</a:t>
            </a:fld>
            <a:endParaRPr lang="en-US"/>
          </a:p>
        </p:txBody>
      </p:sp>
      <p:sp>
        <p:nvSpPr>
          <p:cNvPr id="9" name="TextBox 8">
            <a:extLst>
              <a:ext uri="{FF2B5EF4-FFF2-40B4-BE49-F238E27FC236}">
                <a16:creationId xmlns:a16="http://schemas.microsoft.com/office/drawing/2014/main" id="{2119FCB6-DC8B-41C7-141D-180C2BCABAC2}"/>
              </a:ext>
            </a:extLst>
          </p:cNvPr>
          <p:cNvSpPr txBox="1"/>
          <p:nvPr/>
        </p:nvSpPr>
        <p:spPr>
          <a:xfrm>
            <a:off x="7354112" y="2346064"/>
            <a:ext cx="4695216" cy="1200329"/>
          </a:xfrm>
          <a:prstGeom prst="rect">
            <a:avLst/>
          </a:prstGeom>
          <a:noFill/>
          <a:ln w="19050">
            <a:solidFill>
              <a:srgbClr val="C00000"/>
            </a:solidFill>
          </a:ln>
        </p:spPr>
        <p:txBody>
          <a:bodyPr wrap="square" rtlCol="0">
            <a:spAutoFit/>
          </a:bodyPr>
          <a:lstStyle/>
          <a:p>
            <a:r>
              <a:rPr lang="en-US" dirty="0"/>
              <a:t>Momentum histogram depicting the successive cuts being applied and the effect on the logarithmic scale number of tracks being utilized for a given momentum in MeV/c</a:t>
            </a:r>
          </a:p>
        </p:txBody>
      </p:sp>
    </p:spTree>
    <p:extLst>
      <p:ext uri="{BB962C8B-B14F-4D97-AF65-F5344CB8AC3E}">
        <p14:creationId xmlns:p14="http://schemas.microsoft.com/office/powerpoint/2010/main" val="33581762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84DC180-9A16-0047-42C5-B6FC0ED6A3E0}"/>
              </a:ext>
            </a:extLst>
          </p:cNvPr>
          <p:cNvSpPr>
            <a:spLocks noGrp="1"/>
          </p:cNvSpPr>
          <p:nvPr>
            <p:ph idx="1"/>
          </p:nvPr>
        </p:nvSpPr>
        <p:spPr>
          <a:xfrm>
            <a:off x="0" y="424542"/>
            <a:ext cx="12192000" cy="5931807"/>
          </a:xfrm>
        </p:spPr>
        <p:txBody>
          <a:bodyPr/>
          <a:lstStyle/>
          <a:p>
            <a:endParaRPr lang="en-US" dirty="0"/>
          </a:p>
        </p:txBody>
      </p:sp>
      <p:sp>
        <p:nvSpPr>
          <p:cNvPr id="5" name="Footer Placeholder 4">
            <a:extLst>
              <a:ext uri="{FF2B5EF4-FFF2-40B4-BE49-F238E27FC236}">
                <a16:creationId xmlns:a16="http://schemas.microsoft.com/office/drawing/2014/main" id="{AE45F511-8EC4-4F36-E354-F182E83C53FE}"/>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E400E545-F89C-C5B5-4698-CE126550DFA6}"/>
              </a:ext>
            </a:extLst>
          </p:cNvPr>
          <p:cNvSpPr>
            <a:spLocks noGrp="1"/>
          </p:cNvSpPr>
          <p:nvPr>
            <p:ph type="sldNum" sz="quarter" idx="12"/>
          </p:nvPr>
        </p:nvSpPr>
        <p:spPr/>
        <p:txBody>
          <a:bodyPr/>
          <a:lstStyle/>
          <a:p>
            <a:fld id="{C0E0CB54-3DBF-E947-906E-85E307CF7971}" type="slidenum">
              <a:rPr lang="en-US" smtClean="0"/>
              <a:t>27</a:t>
            </a:fld>
            <a:endParaRPr lang="en-US"/>
          </a:p>
        </p:txBody>
      </p:sp>
      <p:sp>
        <p:nvSpPr>
          <p:cNvPr id="4" name="Title 1">
            <a:extLst>
              <a:ext uri="{FF2B5EF4-FFF2-40B4-BE49-F238E27FC236}">
                <a16:creationId xmlns:a16="http://schemas.microsoft.com/office/drawing/2014/main" id="{3F10C72E-FDA7-7374-9F7E-7569CC10A4C9}"/>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Resolution of Rudimentary Vertex Proof of Concept</a:t>
            </a:r>
          </a:p>
        </p:txBody>
      </p:sp>
    </p:spTree>
    <p:extLst>
      <p:ext uri="{BB962C8B-B14F-4D97-AF65-F5344CB8AC3E}">
        <p14:creationId xmlns:p14="http://schemas.microsoft.com/office/powerpoint/2010/main" val="29531538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graph of a graph of a graph of a graph of a graph of a graph of a graph of a graph of a graph of a graph of a graph of a graph of a graph of&#10;&#10;AI-generated content may be incorrect.">
            <a:extLst>
              <a:ext uri="{FF2B5EF4-FFF2-40B4-BE49-F238E27FC236}">
                <a16:creationId xmlns:a16="http://schemas.microsoft.com/office/drawing/2014/main" id="{06363E45-227B-A0BB-7348-AC617E497C3A}"/>
              </a:ext>
            </a:extLst>
          </p:cNvPr>
          <p:cNvPicPr>
            <a:picLocks noGrp="1" noChangeAspect="1"/>
          </p:cNvPicPr>
          <p:nvPr>
            <p:ph idx="1"/>
          </p:nvPr>
        </p:nvPicPr>
        <p:blipFill>
          <a:blip r:embed="rId2"/>
          <a:stretch>
            <a:fillRect/>
          </a:stretch>
        </p:blipFill>
        <p:spPr>
          <a:xfrm>
            <a:off x="0" y="278061"/>
            <a:ext cx="5542121" cy="2664265"/>
          </a:xfrm>
        </p:spPr>
      </p:pic>
      <p:sp>
        <p:nvSpPr>
          <p:cNvPr id="5" name="Footer Placeholder 4">
            <a:extLst>
              <a:ext uri="{FF2B5EF4-FFF2-40B4-BE49-F238E27FC236}">
                <a16:creationId xmlns:a16="http://schemas.microsoft.com/office/drawing/2014/main" id="{7A9F9F17-ADD4-7E43-F604-9315B910C528}"/>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A3DA68BD-D7EF-3AE1-B746-ADA5CE60AA52}"/>
              </a:ext>
            </a:extLst>
          </p:cNvPr>
          <p:cNvSpPr>
            <a:spLocks noGrp="1"/>
          </p:cNvSpPr>
          <p:nvPr>
            <p:ph type="sldNum" sz="quarter" idx="12"/>
          </p:nvPr>
        </p:nvSpPr>
        <p:spPr/>
        <p:txBody>
          <a:bodyPr/>
          <a:lstStyle/>
          <a:p>
            <a:fld id="{C0E0CB54-3DBF-E947-906E-85E307CF7971}" type="slidenum">
              <a:rPr lang="en-US" smtClean="0"/>
              <a:t>28</a:t>
            </a:fld>
            <a:endParaRPr lang="en-US"/>
          </a:p>
        </p:txBody>
      </p:sp>
      <p:pic>
        <p:nvPicPr>
          <p:cNvPr id="11" name="Picture 10">
            <a:extLst>
              <a:ext uri="{FF2B5EF4-FFF2-40B4-BE49-F238E27FC236}">
                <a16:creationId xmlns:a16="http://schemas.microsoft.com/office/drawing/2014/main" id="{FFB27503-E3A6-8C0D-F5FE-23AB00B7AB86}"/>
              </a:ext>
            </a:extLst>
          </p:cNvPr>
          <p:cNvPicPr>
            <a:picLocks noChangeAspect="1"/>
          </p:cNvPicPr>
          <p:nvPr/>
        </p:nvPicPr>
        <p:blipFill>
          <a:blip r:embed="rId3"/>
          <a:stretch>
            <a:fillRect/>
          </a:stretch>
        </p:blipFill>
        <p:spPr>
          <a:xfrm>
            <a:off x="5542121" y="3157004"/>
            <a:ext cx="6649879" cy="3199345"/>
          </a:xfrm>
          <a:prstGeom prst="rect">
            <a:avLst/>
          </a:prstGeom>
        </p:spPr>
      </p:pic>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EC9D7F3-CE1F-DF9D-F3EC-88D47DDC726A}"/>
                  </a:ext>
                </a:extLst>
              </p:cNvPr>
              <p:cNvSpPr txBox="1"/>
              <p:nvPr/>
            </p:nvSpPr>
            <p:spPr>
              <a:xfrm>
                <a:off x="6096000" y="501650"/>
                <a:ext cx="5992238" cy="1477328"/>
              </a:xfrm>
              <a:prstGeom prst="rect">
                <a:avLst/>
              </a:prstGeom>
              <a:noFill/>
              <a:ln w="19050">
                <a:solidFill>
                  <a:srgbClr val="C00000"/>
                </a:solidFill>
              </a:ln>
            </p:spPr>
            <p:txBody>
              <a:bodyPr wrap="square" rtlCol="0">
                <a:spAutoFit/>
              </a:bodyPr>
              <a:lstStyle/>
              <a:p>
                <a:r>
                  <a:rPr lang="en-US" dirty="0"/>
                  <a:t>2-dimensional histogram representing the predicted vertex using the algorithm described before. </a:t>
                </a:r>
              </a:p>
              <a:p>
                <a:r>
                  <a:rPr lang="en-US" dirty="0"/>
                  <a:t>Left: </a:t>
                </a:r>
                <a14:m>
                  <m:oMath xmlns:m="http://schemas.openxmlformats.org/officeDocument/2006/math">
                    <m:r>
                      <a:rPr lang="en-US" b="0" i="1" smtClean="0">
                        <a:latin typeface="Cambria Math" panose="02040503050406030204" pitchFamily="18" charset="0"/>
                      </a:rPr>
                      <m:t>𝑥𝑦</m:t>
                    </m:r>
                  </m:oMath>
                </a14:m>
                <a:r>
                  <a:rPr lang="en-US" dirty="0"/>
                  <a:t>-plot; Right: </a:t>
                </a:r>
                <a14:m>
                  <m:oMath xmlns:m="http://schemas.openxmlformats.org/officeDocument/2006/math">
                    <m:r>
                      <a:rPr lang="en-US" b="0" i="1" smtClean="0">
                        <a:latin typeface="Cambria Math" panose="02040503050406030204" pitchFamily="18" charset="0"/>
                      </a:rPr>
                      <m:t>𝑥𝑧</m:t>
                    </m:r>
                  </m:oMath>
                </a14:m>
                <a:r>
                  <a:rPr lang="en-US" dirty="0"/>
                  <a:t>-plot with the red rectangle representing dimensions of the stopping target in those respective coordinates</a:t>
                </a:r>
              </a:p>
            </p:txBody>
          </p:sp>
        </mc:Choice>
        <mc:Fallback>
          <p:sp>
            <p:nvSpPr>
              <p:cNvPr id="12" name="TextBox 11">
                <a:extLst>
                  <a:ext uri="{FF2B5EF4-FFF2-40B4-BE49-F238E27FC236}">
                    <a16:creationId xmlns:a16="http://schemas.microsoft.com/office/drawing/2014/main" id="{DEC9D7F3-CE1F-DF9D-F3EC-88D47DDC726A}"/>
                  </a:ext>
                </a:extLst>
              </p:cNvPr>
              <p:cNvSpPr txBox="1">
                <a:spLocks noRot="1" noChangeAspect="1" noMove="1" noResize="1" noEditPoints="1" noAdjustHandles="1" noChangeArrowheads="1" noChangeShapeType="1" noTextEdit="1"/>
              </p:cNvSpPr>
              <p:nvPr/>
            </p:nvSpPr>
            <p:spPr>
              <a:xfrm>
                <a:off x="6096000" y="501650"/>
                <a:ext cx="5992238" cy="1477328"/>
              </a:xfrm>
              <a:prstGeom prst="rect">
                <a:avLst/>
              </a:prstGeom>
              <a:blipFill>
                <a:blip r:embed="rId4"/>
                <a:stretch>
                  <a:fillRect l="-633" t="-840" r="-211" b="-5042"/>
                </a:stretch>
              </a:blipFill>
              <a:ln w="19050">
                <a:solidFill>
                  <a:srgbClr val="C0000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38F70FAA-3EC5-9947-2559-8A59C55F4F06}"/>
                  </a:ext>
                </a:extLst>
              </p:cNvPr>
              <p:cNvSpPr txBox="1"/>
              <p:nvPr/>
            </p:nvSpPr>
            <p:spPr>
              <a:xfrm>
                <a:off x="101117" y="4374259"/>
                <a:ext cx="5441004" cy="1200329"/>
              </a:xfrm>
              <a:prstGeom prst="rect">
                <a:avLst/>
              </a:prstGeom>
              <a:noFill/>
              <a:ln w="19050">
                <a:solidFill>
                  <a:srgbClr val="C00000"/>
                </a:solidFill>
              </a:ln>
            </p:spPr>
            <p:txBody>
              <a:bodyPr wrap="square" rtlCol="0">
                <a:spAutoFit/>
              </a:bodyPr>
              <a:lstStyle/>
              <a:p>
                <a:r>
                  <a:rPr lang="en-US" dirty="0"/>
                  <a:t>Histograms comparing vertex position for events to the MC truth origin position</a:t>
                </a:r>
              </a:p>
              <a:p>
                <a:r>
                  <a:rPr lang="en-US" dirty="0"/>
                  <a:t>Top Left: </a:t>
                </a:r>
                <a14:m>
                  <m:oMath xmlns:m="http://schemas.openxmlformats.org/officeDocument/2006/math">
                    <m:r>
                      <a:rPr lang="en-US" b="0" i="1" smtClean="0">
                        <a:latin typeface="Cambria Math" panose="02040503050406030204" pitchFamily="18" charset="0"/>
                      </a:rPr>
                      <m:t>𝑥</m:t>
                    </m:r>
                  </m:oMath>
                </a14:m>
                <a:r>
                  <a:rPr lang="en-US" dirty="0"/>
                  <a:t>-resolution; Top Right: </a:t>
                </a:r>
                <a14:m>
                  <m:oMath xmlns:m="http://schemas.openxmlformats.org/officeDocument/2006/math">
                    <m:r>
                      <a:rPr lang="en-US" b="0" i="1" smtClean="0">
                        <a:latin typeface="Cambria Math" panose="02040503050406030204" pitchFamily="18" charset="0"/>
                      </a:rPr>
                      <m:t>𝑦</m:t>
                    </m:r>
                  </m:oMath>
                </a14:m>
                <a:r>
                  <a:rPr lang="en-US" dirty="0"/>
                  <a:t>-resolution</a:t>
                </a:r>
              </a:p>
              <a:p>
                <a:r>
                  <a:rPr lang="en-US" dirty="0"/>
                  <a:t>Bottom Left: </a:t>
                </a:r>
                <a14:m>
                  <m:oMath xmlns:m="http://schemas.openxmlformats.org/officeDocument/2006/math">
                    <m:r>
                      <a:rPr lang="en-US" b="0" i="1" smtClean="0">
                        <a:latin typeface="Cambria Math" panose="02040503050406030204" pitchFamily="18" charset="0"/>
                      </a:rPr>
                      <m:t>𝑧</m:t>
                    </m:r>
                  </m:oMath>
                </a14:m>
                <a:r>
                  <a:rPr lang="en-US" dirty="0"/>
                  <a:t>-resolution; Bottom Right: </a:t>
                </a:r>
                <a14:m>
                  <m:oMath xmlns:m="http://schemas.openxmlformats.org/officeDocument/2006/math">
                    <m:r>
                      <a:rPr lang="en-US" b="0" i="1" smtClean="0">
                        <a:latin typeface="Cambria Math" panose="02040503050406030204" pitchFamily="18" charset="0"/>
                      </a:rPr>
                      <m:t>𝑟</m:t>
                    </m:r>
                  </m:oMath>
                </a14:m>
                <a:r>
                  <a:rPr lang="en-US" dirty="0"/>
                  <a:t>-resolution</a:t>
                </a:r>
              </a:p>
            </p:txBody>
          </p:sp>
        </mc:Choice>
        <mc:Fallback>
          <p:sp>
            <p:nvSpPr>
              <p:cNvPr id="13" name="TextBox 12">
                <a:extLst>
                  <a:ext uri="{FF2B5EF4-FFF2-40B4-BE49-F238E27FC236}">
                    <a16:creationId xmlns:a16="http://schemas.microsoft.com/office/drawing/2014/main" id="{38F70FAA-3EC5-9947-2559-8A59C55F4F06}"/>
                  </a:ext>
                </a:extLst>
              </p:cNvPr>
              <p:cNvSpPr txBox="1">
                <a:spLocks noRot="1" noChangeAspect="1" noMove="1" noResize="1" noEditPoints="1" noAdjustHandles="1" noChangeArrowheads="1" noChangeShapeType="1" noTextEdit="1"/>
              </p:cNvSpPr>
              <p:nvPr/>
            </p:nvSpPr>
            <p:spPr>
              <a:xfrm>
                <a:off x="101117" y="4374259"/>
                <a:ext cx="5441004" cy="1200329"/>
              </a:xfrm>
              <a:prstGeom prst="rect">
                <a:avLst/>
              </a:prstGeom>
              <a:blipFill>
                <a:blip r:embed="rId5"/>
                <a:stretch>
                  <a:fillRect l="-928" t="-2083" b="-7292"/>
                </a:stretch>
              </a:blipFill>
              <a:ln w="19050">
                <a:solidFill>
                  <a:srgbClr val="C00000"/>
                </a:solidFill>
              </a:ln>
            </p:spPr>
            <p:txBody>
              <a:bodyPr/>
              <a:lstStyle/>
              <a:p>
                <a:r>
                  <a:rPr lang="en-US">
                    <a:noFill/>
                  </a:rPr>
                  <a:t> </a:t>
                </a:r>
              </a:p>
            </p:txBody>
          </p:sp>
        </mc:Fallback>
      </mc:AlternateContent>
    </p:spTree>
    <p:extLst>
      <p:ext uri="{BB962C8B-B14F-4D97-AF65-F5344CB8AC3E}">
        <p14:creationId xmlns:p14="http://schemas.microsoft.com/office/powerpoint/2010/main" val="4527862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D7BEF6-3922-DF92-934A-A50EAADF41DD}"/>
              </a:ext>
            </a:extLst>
          </p:cNvPr>
          <p:cNvSpPr>
            <a:spLocks noGrp="1"/>
          </p:cNvSpPr>
          <p:nvPr>
            <p:ph type="title"/>
          </p:nvPr>
        </p:nvSpPr>
        <p:spPr/>
        <p:txBody>
          <a:bodyPr/>
          <a:lstStyle/>
          <a:p>
            <a:r>
              <a:rPr lang="en-US" dirty="0"/>
              <a:t>Goals and Deliverables</a:t>
            </a:r>
          </a:p>
        </p:txBody>
      </p:sp>
      <p:sp>
        <p:nvSpPr>
          <p:cNvPr id="3" name="Text Placeholder 2">
            <a:extLst>
              <a:ext uri="{FF2B5EF4-FFF2-40B4-BE49-F238E27FC236}">
                <a16:creationId xmlns:a16="http://schemas.microsoft.com/office/drawing/2014/main" id="{58EAF08C-8838-ADF0-A14F-EF626FD37B38}"/>
              </a:ext>
            </a:extLst>
          </p:cNvPr>
          <p:cNvSpPr>
            <a:spLocks noGrp="1"/>
          </p:cNvSpPr>
          <p:nvPr>
            <p:ph type="body" idx="1"/>
          </p:nvPr>
        </p:nvSpPr>
        <p:spPr/>
        <p:txBody>
          <a:bodyPr/>
          <a:lstStyle/>
          <a:p>
            <a:endParaRPr lang="en-US"/>
          </a:p>
        </p:txBody>
      </p:sp>
      <p:sp>
        <p:nvSpPr>
          <p:cNvPr id="5" name="Footer Placeholder 4">
            <a:extLst>
              <a:ext uri="{FF2B5EF4-FFF2-40B4-BE49-F238E27FC236}">
                <a16:creationId xmlns:a16="http://schemas.microsoft.com/office/drawing/2014/main" id="{97F3CDDE-7524-5326-94E1-D8AA0350F073}"/>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5AEE1E3D-CEFD-E977-7771-1611CC593BAF}"/>
              </a:ext>
            </a:extLst>
          </p:cNvPr>
          <p:cNvSpPr>
            <a:spLocks noGrp="1"/>
          </p:cNvSpPr>
          <p:nvPr>
            <p:ph type="sldNum" sz="quarter" idx="12"/>
          </p:nvPr>
        </p:nvSpPr>
        <p:spPr/>
        <p:txBody>
          <a:bodyPr/>
          <a:lstStyle/>
          <a:p>
            <a:fld id="{C0E0CB54-3DBF-E947-906E-85E307CF7971}" type="slidenum">
              <a:rPr lang="en-US" smtClean="0"/>
              <a:t>29</a:t>
            </a:fld>
            <a:endParaRPr lang="en-US"/>
          </a:p>
        </p:txBody>
      </p:sp>
    </p:spTree>
    <p:extLst>
      <p:ext uri="{BB962C8B-B14F-4D97-AF65-F5344CB8AC3E}">
        <p14:creationId xmlns:p14="http://schemas.microsoft.com/office/powerpoint/2010/main" val="8403490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7C34485-C336-718B-C230-D651BA0A32FE}"/>
              </a:ext>
            </a:extLst>
          </p:cNvPr>
          <p:cNvSpPr>
            <a:spLocks noGrp="1"/>
          </p:cNvSpPr>
          <p:nvPr>
            <p:ph idx="1"/>
          </p:nvPr>
        </p:nvSpPr>
        <p:spPr>
          <a:xfrm>
            <a:off x="0" y="862268"/>
            <a:ext cx="7010400" cy="4936491"/>
          </a:xfrm>
        </p:spPr>
        <p:txBody>
          <a:bodyPr>
            <a:normAutofit fontScale="70000" lnSpcReduction="20000"/>
          </a:bodyPr>
          <a:lstStyle/>
          <a:p>
            <a:r>
              <a:rPr lang="en-US" dirty="0"/>
              <a:t>Replace the preliminary straight-line geometric estimate with a common-vertex reconstruction based on the fitted helical trajectories of both reconstructed electron tracks.</a:t>
            </a:r>
          </a:p>
          <a:p>
            <a:r>
              <a:rPr lang="en-US" dirty="0"/>
              <a:t>Use full reconstructed-track information utilizing position, momentum/direction, time, and fit covariance from Mu2e track-fit products rather than only intersection position and direction estimates.</a:t>
            </a:r>
          </a:p>
          <a:p>
            <a:r>
              <a:rPr lang="en-US" dirty="0"/>
              <a:t>Quantify vertex quality and uncertainty using the track-pair distance of closest approach, vertex residuals, fit quality, bias, and spatial/time resolution.</a:t>
            </a:r>
          </a:p>
          <a:p>
            <a:r>
              <a:rPr lang="en-US" dirty="0"/>
              <a:t>Validate the method in pure signal simulation by comparing reconstructed vertices to Monte Carlo truth and testing reconstruction closure across signal kinematics.</a:t>
            </a:r>
          </a:p>
          <a:p>
            <a:r>
              <a:rPr lang="en-US" dirty="0"/>
              <a:t>Integrate the vertexing output into the Mu2e analysis workflow so it can be applied consistently to reconstructed and mixed samples.</a:t>
            </a:r>
          </a:p>
          <a:p>
            <a:r>
              <a:rPr lang="en-US" dirty="0"/>
              <a:t>Use common-vertex consistency as a discrimination variable against accidental track pairs and backgrounds, together with timing and track-quality information.</a:t>
            </a:r>
          </a:p>
        </p:txBody>
      </p:sp>
      <p:sp>
        <p:nvSpPr>
          <p:cNvPr id="5" name="Footer Placeholder 4">
            <a:extLst>
              <a:ext uri="{FF2B5EF4-FFF2-40B4-BE49-F238E27FC236}">
                <a16:creationId xmlns:a16="http://schemas.microsoft.com/office/drawing/2014/main" id="{E6A2EB45-D49B-88DA-947F-7039EE63971B}"/>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C80705AC-D735-D500-4CFD-415696D25B68}"/>
              </a:ext>
            </a:extLst>
          </p:cNvPr>
          <p:cNvSpPr>
            <a:spLocks noGrp="1"/>
          </p:cNvSpPr>
          <p:nvPr>
            <p:ph type="sldNum" sz="quarter" idx="12"/>
          </p:nvPr>
        </p:nvSpPr>
        <p:spPr/>
        <p:txBody>
          <a:bodyPr/>
          <a:lstStyle/>
          <a:p>
            <a:fld id="{C0E0CB54-3DBF-E947-906E-85E307CF7971}" type="slidenum">
              <a:rPr lang="en-US" smtClean="0"/>
              <a:t>30</a:t>
            </a:fld>
            <a:endParaRPr lang="en-US"/>
          </a:p>
        </p:txBody>
      </p:sp>
      <p:sp>
        <p:nvSpPr>
          <p:cNvPr id="4" name="Title 1">
            <a:extLst>
              <a:ext uri="{FF2B5EF4-FFF2-40B4-BE49-F238E27FC236}">
                <a16:creationId xmlns:a16="http://schemas.microsoft.com/office/drawing/2014/main" id="{C5080FBC-DFA4-04BD-D5F5-39ECDA29081D}"/>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Improvements to Vertexing Procedure</a:t>
            </a:r>
          </a:p>
        </p:txBody>
      </p:sp>
      <p:sp>
        <p:nvSpPr>
          <p:cNvPr id="7" name="TextBox 6">
            <a:extLst>
              <a:ext uri="{FF2B5EF4-FFF2-40B4-BE49-F238E27FC236}">
                <a16:creationId xmlns:a16="http://schemas.microsoft.com/office/drawing/2014/main" id="{AB40B29C-6198-3F10-9A3A-1FD8D22F9C1E}"/>
              </a:ext>
            </a:extLst>
          </p:cNvPr>
          <p:cNvSpPr txBox="1"/>
          <p:nvPr/>
        </p:nvSpPr>
        <p:spPr>
          <a:xfrm>
            <a:off x="7848598" y="325078"/>
            <a:ext cx="3891063" cy="584775"/>
          </a:xfrm>
          <a:prstGeom prst="rect">
            <a:avLst/>
          </a:prstGeom>
          <a:noFill/>
          <a:ln w="19050">
            <a:solidFill>
              <a:schemeClr val="accent1"/>
            </a:solidFill>
          </a:ln>
        </p:spPr>
        <p:txBody>
          <a:bodyPr wrap="square" rtlCol="0">
            <a:spAutoFit/>
          </a:bodyPr>
          <a:lstStyle/>
          <a:p>
            <a:r>
              <a:rPr lang="en-US" sz="1600" b="1" dirty="0"/>
              <a:t>Current</a:t>
            </a:r>
            <a:r>
              <a:rPr lang="en-US" sz="1600" dirty="0"/>
              <a:t>: Preliminary geometric line–line closest-approach and midpoint estimate</a:t>
            </a:r>
          </a:p>
        </p:txBody>
      </p:sp>
      <p:sp>
        <p:nvSpPr>
          <p:cNvPr id="8" name="TextBox 7">
            <a:extLst>
              <a:ext uri="{FF2B5EF4-FFF2-40B4-BE49-F238E27FC236}">
                <a16:creationId xmlns:a16="http://schemas.microsoft.com/office/drawing/2014/main" id="{2D65C530-7499-81D3-37E5-0AC79E588236}"/>
              </a:ext>
            </a:extLst>
          </p:cNvPr>
          <p:cNvSpPr txBox="1"/>
          <p:nvPr/>
        </p:nvSpPr>
        <p:spPr>
          <a:xfrm>
            <a:off x="7806445" y="1760812"/>
            <a:ext cx="3891063" cy="830997"/>
          </a:xfrm>
          <a:prstGeom prst="rect">
            <a:avLst/>
          </a:prstGeom>
          <a:noFill/>
          <a:ln w="19050">
            <a:solidFill>
              <a:schemeClr val="accent1"/>
            </a:solidFill>
          </a:ln>
        </p:spPr>
        <p:txBody>
          <a:bodyPr wrap="square" rtlCol="0">
            <a:spAutoFit/>
          </a:bodyPr>
          <a:lstStyle/>
          <a:p>
            <a:r>
              <a:rPr lang="en-US" sz="1600" b="1" dirty="0"/>
              <a:t>Goal</a:t>
            </a:r>
            <a:r>
              <a:rPr lang="en-US" sz="1600" dirty="0"/>
              <a:t>: Covariance-aware, helical, reconstruction-level common-vertex determination.</a:t>
            </a:r>
          </a:p>
        </p:txBody>
      </p:sp>
      <p:sp>
        <p:nvSpPr>
          <p:cNvPr id="9" name="Down Arrow 8">
            <a:extLst>
              <a:ext uri="{FF2B5EF4-FFF2-40B4-BE49-F238E27FC236}">
                <a16:creationId xmlns:a16="http://schemas.microsoft.com/office/drawing/2014/main" id="{21410EEF-9B2F-D133-8008-B9C85CC43341}"/>
              </a:ext>
            </a:extLst>
          </p:cNvPr>
          <p:cNvSpPr/>
          <p:nvPr/>
        </p:nvSpPr>
        <p:spPr>
          <a:xfrm>
            <a:off x="9654699" y="1040259"/>
            <a:ext cx="278860" cy="584775"/>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4AA40BF-A71A-7822-5915-25E71D3F9D0F}"/>
              </a:ext>
            </a:extLst>
          </p:cNvPr>
          <p:cNvSpPr txBox="1"/>
          <p:nvPr/>
        </p:nvSpPr>
        <p:spPr>
          <a:xfrm>
            <a:off x="7010400" y="2966234"/>
            <a:ext cx="5032443" cy="3139321"/>
          </a:xfrm>
          <a:prstGeom prst="rect">
            <a:avLst/>
          </a:prstGeom>
          <a:noFill/>
          <a:ln w="19050">
            <a:solidFill>
              <a:srgbClr val="C00000"/>
            </a:solidFill>
          </a:ln>
        </p:spPr>
        <p:txBody>
          <a:bodyPr wrap="square" rtlCol="0">
            <a:spAutoFit/>
          </a:bodyPr>
          <a:lstStyle/>
          <a:p>
            <a:r>
              <a:rPr lang="en-US" b="1" i="1" dirty="0"/>
              <a:t>Deliverables: </a:t>
            </a:r>
          </a:p>
          <a:p>
            <a:pPr marL="285750" indent="-285750">
              <a:buFont typeface="Arial" panose="020B0604020202020204" pitchFamily="34" charset="0"/>
              <a:buChar char="•"/>
            </a:pPr>
            <a:r>
              <a:rPr lang="en-US" dirty="0"/>
              <a:t>Analyzable reconstructed-track and helix data product </a:t>
            </a:r>
          </a:p>
          <a:p>
            <a:pPr marL="285750" indent="-285750">
              <a:buFont typeface="Arial" panose="020B0604020202020204" pitchFamily="34" charset="0"/>
              <a:buChar char="•"/>
            </a:pPr>
            <a:r>
              <a:rPr lang="en-US" dirty="0"/>
              <a:t>Covariance-aware common-vertexing module using fitted helical trajectories </a:t>
            </a:r>
          </a:p>
          <a:p>
            <a:pPr marL="285750" indent="-285750">
              <a:buFont typeface="Arial" panose="020B0604020202020204" pitchFamily="34" charset="0"/>
              <a:buChar char="•"/>
            </a:pPr>
            <a:r>
              <a:rPr lang="en-US" dirty="0"/>
              <a:t>Vertex position, time, quality, and uncertainty estimates</a:t>
            </a:r>
          </a:p>
          <a:p>
            <a:pPr marL="285750" indent="-285750">
              <a:buFont typeface="Arial" panose="020B0604020202020204" pitchFamily="34" charset="0"/>
              <a:buChar char="•"/>
            </a:pPr>
            <a:r>
              <a:rPr lang="en-US" dirty="0"/>
              <a:t>Monte Carlo truth validation and integrated Mu2e art/</a:t>
            </a:r>
            <a:r>
              <a:rPr lang="en-US" dirty="0" err="1"/>
              <a:t>FHiCL</a:t>
            </a:r>
            <a:r>
              <a:rPr lang="en-US" dirty="0"/>
              <a:t> workflow </a:t>
            </a:r>
          </a:p>
          <a:p>
            <a:pPr marL="285750" indent="-285750">
              <a:buFont typeface="Arial" panose="020B0604020202020204" pitchFamily="34" charset="0"/>
              <a:buChar char="•"/>
            </a:pPr>
            <a:r>
              <a:rPr lang="en-US" dirty="0"/>
              <a:t>Vertex-quality variables for background discrimination</a:t>
            </a:r>
          </a:p>
        </p:txBody>
      </p:sp>
    </p:spTree>
    <p:extLst>
      <p:ext uri="{BB962C8B-B14F-4D97-AF65-F5344CB8AC3E}">
        <p14:creationId xmlns:p14="http://schemas.microsoft.com/office/powerpoint/2010/main" val="1342103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3699EC3-B19A-42E0-3396-2DD015FEE3E0}"/>
                  </a:ext>
                </a:extLst>
              </p:cNvPr>
              <p:cNvSpPr>
                <a:spLocks noGrp="1"/>
              </p:cNvSpPr>
              <p:nvPr>
                <p:ph idx="1"/>
              </p:nvPr>
            </p:nvSpPr>
            <p:spPr>
              <a:xfrm>
                <a:off x="0" y="916021"/>
                <a:ext cx="7016885" cy="5025957"/>
              </a:xfrm>
            </p:spPr>
            <p:txBody>
              <a:bodyPr>
                <a:normAutofit fontScale="70000" lnSpcReduction="20000"/>
              </a:bodyPr>
              <a:lstStyle/>
              <a:p>
                <a:r>
                  <a:rPr lang="en-US" dirty="0"/>
                  <a:t>Define representative signal–background overlay samples in consultation with the Mu2e production team, including realistic detector and pileup conditions.</a:t>
                </a:r>
              </a:p>
              <a:p>
                <a:r>
                  <a:rPr lang="en-US" dirty="0"/>
                  <a:t>Mix simulated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ea typeface="Cambria Math" panose="02040503050406030204" pitchFamily="18" charset="0"/>
                          </a:rPr>
                          <m:t>𝜇</m:t>
                        </m:r>
                      </m:e>
                      <m:sup>
                        <m:r>
                          <a:rPr lang="en-US" b="0" i="1" smtClean="0">
                            <a:latin typeface="Cambria Math" panose="02040503050406030204" pitchFamily="18" charset="0"/>
                          </a:rPr>
                          <m:t>−</m:t>
                        </m:r>
                      </m:sup>
                    </m:sSup>
                    <m:sSup>
                      <m:sSupPr>
                        <m:ctrlPr>
                          <a:rPr lang="en-US"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sup>
                    </m:sSup>
                    <m:r>
                      <a:rPr lang="en-US" i="1" smtClean="0">
                        <a:latin typeface="Cambria Math" panose="02040503050406030204" pitchFamily="18" charset="0"/>
                        <a:ea typeface="Cambria Math" panose="02040503050406030204" pitchFamily="18" charset="0"/>
                      </a:rPr>
                      <m:t>→</m:t>
                    </m:r>
                    <m:sSup>
                      <m:sSupPr>
                        <m:ctrlPr>
                          <a:rPr lang="en-US"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𝑒</m:t>
                        </m:r>
                      </m:e>
                      <m:sup>
                        <m:r>
                          <a:rPr lang="en-US" b="0" i="1" smtClean="0">
                            <a:latin typeface="Cambria Math" panose="02040503050406030204" pitchFamily="18" charset="0"/>
                            <a:ea typeface="Cambria Math" panose="02040503050406030204" pitchFamily="18" charset="0"/>
                          </a:rPr>
                          <m:t>−</m:t>
                        </m:r>
                      </m:sup>
                    </m:sSup>
                    <m:sSup>
                      <m:sSupPr>
                        <m:ctrlPr>
                          <a:rPr lang="en-US"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𝑒</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oMath>
                </a14:m>
                <a:r>
                  <a:rPr lang="en-US" dirty="0"/>
                  <a:t>signal with DIO, cosmic-ray, beam-related, and other viable background processes, then digitize and reconstruct the combined samples.</a:t>
                </a:r>
              </a:p>
              <a:p>
                <a:r>
                  <a:rPr lang="en-US" dirty="0"/>
                  <a:t>Quantify the effects of occupancy and reconstruction combinatorics on two-electron candidate quality, track finding, common-vertex reconstruction, and signal efficiency.</a:t>
                </a:r>
              </a:p>
              <a:p>
                <a:r>
                  <a:rPr lang="en-US" dirty="0"/>
                  <a:t>Characterize background acceptance using reconstructed kinematics, timing, common-vertex consistency, track-fit quality, calorimeter matching, and cosmic-ray-veto information. </a:t>
                </a:r>
              </a:p>
              <a:p>
                <a:r>
                  <a:rPr lang="en-US" dirty="0"/>
                  <a:t>Establish a transparent baseline selection before evaluating whether anomaly-detection tools provide a robust improvement in signal–background discrimination.</a:t>
                </a:r>
              </a:p>
              <a:p>
                <a:r>
                  <a:rPr lang="en-US" dirty="0"/>
                  <a:t>Use the validated mixed samples to determine background yields, selection efficiency, systematic effects, and the final statistical sensitivity.</a:t>
                </a:r>
              </a:p>
              <a:p>
                <a:endParaRPr lang="en-US" dirty="0"/>
              </a:p>
            </p:txBody>
          </p:sp>
        </mc:Choice>
        <mc:Fallback>
          <p:sp>
            <p:nvSpPr>
              <p:cNvPr id="3" name="Content Placeholder 2">
                <a:extLst>
                  <a:ext uri="{FF2B5EF4-FFF2-40B4-BE49-F238E27FC236}">
                    <a16:creationId xmlns:a16="http://schemas.microsoft.com/office/drawing/2014/main" id="{13699EC3-B19A-42E0-3396-2DD015FEE3E0}"/>
                  </a:ext>
                </a:extLst>
              </p:cNvPr>
              <p:cNvSpPr>
                <a:spLocks noGrp="1" noRot="1" noChangeAspect="1" noMove="1" noResize="1" noEditPoints="1" noAdjustHandles="1" noChangeArrowheads="1" noChangeShapeType="1" noTextEdit="1"/>
              </p:cNvSpPr>
              <p:nvPr>
                <p:ph idx="1"/>
              </p:nvPr>
            </p:nvSpPr>
            <p:spPr>
              <a:xfrm>
                <a:off x="0" y="916021"/>
                <a:ext cx="7016885" cy="5025957"/>
              </a:xfrm>
              <a:blipFill>
                <a:blip r:embed="rId2"/>
                <a:stretch>
                  <a:fillRect l="-723" t="-2015" r="-723" b="-2015"/>
                </a:stretch>
              </a:blipFill>
            </p:spPr>
            <p:txBody>
              <a:bodyPr/>
              <a:lstStyle/>
              <a:p>
                <a:r>
                  <a:rPr lang="en-US">
                    <a:noFill/>
                  </a:rPr>
                  <a:t> </a:t>
                </a:r>
              </a:p>
            </p:txBody>
          </p:sp>
        </mc:Fallback>
      </mc:AlternateContent>
      <p:sp>
        <p:nvSpPr>
          <p:cNvPr id="5" name="Footer Placeholder 4">
            <a:extLst>
              <a:ext uri="{FF2B5EF4-FFF2-40B4-BE49-F238E27FC236}">
                <a16:creationId xmlns:a16="http://schemas.microsoft.com/office/drawing/2014/main" id="{E58C9DF4-AB99-AC42-9D56-02020CFA23AA}"/>
              </a:ext>
            </a:extLst>
          </p:cNvPr>
          <p:cNvSpPr>
            <a:spLocks noGrp="1"/>
          </p:cNvSpPr>
          <p:nvPr>
            <p:ph type="ftr" sz="quarter" idx="11"/>
          </p:nvPr>
        </p:nvSpPr>
        <p:spPr>
          <a:xfrm>
            <a:off x="3947808" y="6356350"/>
            <a:ext cx="4114800" cy="365125"/>
          </a:xfrm>
        </p:spPr>
        <p:txBody>
          <a:bodyPr/>
          <a:lstStyle/>
          <a:p>
            <a:r>
              <a:rPr lang="en-US"/>
              <a:t>Boldy Sensitivity Study Mu2e</a:t>
            </a:r>
          </a:p>
        </p:txBody>
      </p:sp>
      <p:sp>
        <p:nvSpPr>
          <p:cNvPr id="6" name="Slide Number Placeholder 5">
            <a:extLst>
              <a:ext uri="{FF2B5EF4-FFF2-40B4-BE49-F238E27FC236}">
                <a16:creationId xmlns:a16="http://schemas.microsoft.com/office/drawing/2014/main" id="{7E903803-F5ED-2DBF-3BA8-57149DFC039A}"/>
              </a:ext>
            </a:extLst>
          </p:cNvPr>
          <p:cNvSpPr>
            <a:spLocks noGrp="1"/>
          </p:cNvSpPr>
          <p:nvPr>
            <p:ph type="sldNum" sz="quarter" idx="12"/>
          </p:nvPr>
        </p:nvSpPr>
        <p:spPr/>
        <p:txBody>
          <a:bodyPr/>
          <a:lstStyle/>
          <a:p>
            <a:fld id="{C0E0CB54-3DBF-E947-906E-85E307CF7971}" type="slidenum">
              <a:rPr lang="en-US" smtClean="0"/>
              <a:t>31</a:t>
            </a:fld>
            <a:endParaRPr lang="en-US"/>
          </a:p>
        </p:txBody>
      </p:sp>
      <mc:AlternateContent xmlns:mc="http://schemas.openxmlformats.org/markup-compatibility/2006" xmlns:a14="http://schemas.microsoft.com/office/drawing/2010/main">
        <mc:Choice Requires="a14">
          <p:sp>
            <p:nvSpPr>
              <p:cNvPr id="4" name="Title 1">
                <a:extLst>
                  <a:ext uri="{FF2B5EF4-FFF2-40B4-BE49-F238E27FC236}">
                    <a16:creationId xmlns:a16="http://schemas.microsoft.com/office/drawing/2014/main" id="{963DDD82-1C4B-6E5A-D844-2CD4FEDBE047}"/>
                  </a:ext>
                </a:extLst>
              </p:cNvPr>
              <p:cNvSpPr txBox="1">
                <a:spLocks/>
              </p:cNvSpPr>
              <p:nvPr/>
            </p:nvSpPr>
            <p:spPr>
              <a:xfrm>
                <a:off x="0" y="0"/>
                <a:ext cx="10515600" cy="551234"/>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Mixing of Relevant Backgrounds with </a:t>
                </a:r>
                <a14:m>
                  <m:oMath xmlns:m="http://schemas.openxmlformats.org/officeDocument/2006/math">
                    <m:sSup>
                      <m:sSupPr>
                        <m:ctrlPr>
                          <a:rPr lang="en-US" sz="2800" i="1" smtClean="0">
                            <a:solidFill>
                              <a:srgbClr val="C00000"/>
                            </a:solidFill>
                            <a:latin typeface="Cambria Math" panose="02040503050406030204" pitchFamily="18" charset="0"/>
                            <a:ea typeface="Cambria Math" panose="02040503050406030204" pitchFamily="18" charset="0"/>
                          </a:rPr>
                        </m:ctrlPr>
                      </m:sSupPr>
                      <m:e>
                        <m:r>
                          <a:rPr lang="en-US" sz="2800" i="1" smtClean="0">
                            <a:solidFill>
                              <a:srgbClr val="C00000"/>
                            </a:solidFill>
                            <a:latin typeface="Cambria Math" panose="02040503050406030204" pitchFamily="18" charset="0"/>
                            <a:ea typeface="Cambria Math" panose="02040503050406030204" pitchFamily="18" charset="0"/>
                          </a:rPr>
                          <m:t>𝜇</m:t>
                        </m:r>
                      </m:e>
                      <m:sup>
                        <m:r>
                          <a:rPr lang="en-US" sz="2800" b="0" i="1" smtClean="0">
                            <a:solidFill>
                              <a:srgbClr val="C00000"/>
                            </a:solidFill>
                            <a:latin typeface="Cambria Math" panose="02040503050406030204" pitchFamily="18" charset="0"/>
                          </a:rPr>
                          <m:t>−</m:t>
                        </m:r>
                      </m:sup>
                    </m:sSup>
                    <m:sSup>
                      <m:sSupPr>
                        <m:ctrlPr>
                          <a:rPr lang="en-US" sz="2800" b="0" i="1" smtClean="0">
                            <a:solidFill>
                              <a:srgbClr val="C00000"/>
                            </a:solidFill>
                            <a:latin typeface="Cambria Math" panose="02040503050406030204" pitchFamily="18" charset="0"/>
                          </a:rPr>
                        </m:ctrlPr>
                      </m:sSupPr>
                      <m:e>
                        <m:r>
                          <a:rPr lang="en-US" sz="2800" b="0" i="1" smtClean="0">
                            <a:solidFill>
                              <a:srgbClr val="C00000"/>
                            </a:solidFill>
                            <a:latin typeface="Cambria Math" panose="02040503050406030204" pitchFamily="18" charset="0"/>
                          </a:rPr>
                          <m:t>𝑒</m:t>
                        </m:r>
                      </m:e>
                      <m:sup>
                        <m:r>
                          <a:rPr lang="en-US" sz="2800" b="0" i="1" smtClean="0">
                            <a:solidFill>
                              <a:srgbClr val="C00000"/>
                            </a:solidFill>
                            <a:latin typeface="Cambria Math" panose="02040503050406030204" pitchFamily="18" charset="0"/>
                          </a:rPr>
                          <m:t>−</m:t>
                        </m:r>
                      </m:sup>
                    </m:sSup>
                    <m:r>
                      <a:rPr lang="en-US" sz="2800" i="1" smtClean="0">
                        <a:solidFill>
                          <a:srgbClr val="C00000"/>
                        </a:solidFill>
                        <a:latin typeface="Cambria Math" panose="02040503050406030204" pitchFamily="18" charset="0"/>
                        <a:ea typeface="Cambria Math" panose="02040503050406030204" pitchFamily="18" charset="0"/>
                      </a:rPr>
                      <m:t>→</m:t>
                    </m:r>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oMath>
                </a14:m>
                <a:r>
                  <a:rPr lang="en-US" sz="2800" dirty="0">
                    <a:solidFill>
                      <a:srgbClr val="C00000"/>
                    </a:solidFill>
                  </a:rPr>
                  <a:t> Process</a:t>
                </a:r>
              </a:p>
            </p:txBody>
          </p:sp>
        </mc:Choice>
        <mc:Fallback xmlns="">
          <p:sp>
            <p:nvSpPr>
              <p:cNvPr id="4" name="Title 1">
                <a:extLst>
                  <a:ext uri="{FF2B5EF4-FFF2-40B4-BE49-F238E27FC236}">
                    <a16:creationId xmlns:a16="http://schemas.microsoft.com/office/drawing/2014/main" id="{963DDD82-1C4B-6E5A-D844-2CD4FEDBE047}"/>
                  </a:ext>
                </a:extLst>
              </p:cNvPr>
              <p:cNvSpPr txBox="1">
                <a:spLocks noRot="1" noChangeAspect="1" noMove="1" noResize="1" noEditPoints="1" noAdjustHandles="1" noChangeArrowheads="1" noChangeShapeType="1" noTextEdit="1"/>
              </p:cNvSpPr>
              <p:nvPr/>
            </p:nvSpPr>
            <p:spPr>
              <a:xfrm>
                <a:off x="0" y="0"/>
                <a:ext cx="10515600" cy="551234"/>
              </a:xfrm>
              <a:prstGeom prst="rect">
                <a:avLst/>
              </a:prstGeom>
              <a:blipFill>
                <a:blip r:embed="rId3"/>
                <a:stretch>
                  <a:fillRect l="-1206" t="-11364" b="-20455"/>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0F42097B-FB55-3E5E-58EC-871DEDCFF4D2}"/>
              </a:ext>
            </a:extLst>
          </p:cNvPr>
          <p:cNvSpPr txBox="1"/>
          <p:nvPr/>
        </p:nvSpPr>
        <p:spPr>
          <a:xfrm>
            <a:off x="7576224" y="500522"/>
            <a:ext cx="3891063" cy="830997"/>
          </a:xfrm>
          <a:prstGeom prst="rect">
            <a:avLst/>
          </a:prstGeom>
          <a:noFill/>
          <a:ln w="19050">
            <a:solidFill>
              <a:schemeClr val="accent1"/>
            </a:solidFill>
          </a:ln>
        </p:spPr>
        <p:txBody>
          <a:bodyPr wrap="square" rtlCol="0">
            <a:spAutoFit/>
          </a:bodyPr>
          <a:lstStyle/>
          <a:p>
            <a:r>
              <a:rPr lang="en-US" sz="1600" b="1" dirty="0"/>
              <a:t>Current</a:t>
            </a:r>
            <a:r>
              <a:rPr lang="en-US" sz="1600" dirty="0"/>
              <a:t>: Reconstructed signal-only studies and preliminary signal characterization.</a:t>
            </a:r>
          </a:p>
        </p:txBody>
      </p:sp>
      <p:sp>
        <p:nvSpPr>
          <p:cNvPr id="7" name="TextBox 6">
            <a:extLst>
              <a:ext uri="{FF2B5EF4-FFF2-40B4-BE49-F238E27FC236}">
                <a16:creationId xmlns:a16="http://schemas.microsoft.com/office/drawing/2014/main" id="{F0C692C3-E6C1-DC23-6C8F-2AA2E169B251}"/>
              </a:ext>
            </a:extLst>
          </p:cNvPr>
          <p:cNvSpPr txBox="1"/>
          <p:nvPr/>
        </p:nvSpPr>
        <p:spPr>
          <a:xfrm>
            <a:off x="7576222" y="2043872"/>
            <a:ext cx="3891063" cy="1077218"/>
          </a:xfrm>
          <a:prstGeom prst="rect">
            <a:avLst/>
          </a:prstGeom>
          <a:noFill/>
          <a:ln w="19050">
            <a:solidFill>
              <a:schemeClr val="accent1"/>
            </a:solidFill>
          </a:ln>
        </p:spPr>
        <p:txBody>
          <a:bodyPr wrap="square" rtlCol="0">
            <a:spAutoFit/>
          </a:bodyPr>
          <a:lstStyle/>
          <a:p>
            <a:r>
              <a:rPr lang="en-US" sz="1600" b="1" dirty="0"/>
              <a:t>Goal</a:t>
            </a:r>
            <a:r>
              <a:rPr lang="en-US" sz="1600" dirty="0"/>
              <a:t>: Production-team-supported, reconstruction-level signal–background mixing and validated discrimination performance.</a:t>
            </a:r>
          </a:p>
        </p:txBody>
      </p:sp>
      <p:sp>
        <p:nvSpPr>
          <p:cNvPr id="8" name="Down Arrow 7">
            <a:extLst>
              <a:ext uri="{FF2B5EF4-FFF2-40B4-BE49-F238E27FC236}">
                <a16:creationId xmlns:a16="http://schemas.microsoft.com/office/drawing/2014/main" id="{B527A4C4-F076-5F3B-364F-28FB4BE01DDF}"/>
              </a:ext>
            </a:extLst>
          </p:cNvPr>
          <p:cNvSpPr/>
          <p:nvPr/>
        </p:nvSpPr>
        <p:spPr>
          <a:xfrm>
            <a:off x="9382324" y="1411629"/>
            <a:ext cx="278860" cy="528126"/>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4E7B45A-407C-8FD7-9867-FE1A8F3A41F5}"/>
              </a:ext>
            </a:extLst>
          </p:cNvPr>
          <p:cNvSpPr txBox="1"/>
          <p:nvPr/>
        </p:nvSpPr>
        <p:spPr>
          <a:xfrm>
            <a:off x="7005531" y="3299566"/>
            <a:ext cx="5032443" cy="3354765"/>
          </a:xfrm>
          <a:prstGeom prst="rect">
            <a:avLst/>
          </a:prstGeom>
          <a:noFill/>
          <a:ln w="19050">
            <a:solidFill>
              <a:srgbClr val="C00000"/>
            </a:solidFill>
          </a:ln>
        </p:spPr>
        <p:txBody>
          <a:bodyPr wrap="square" rtlCol="0">
            <a:spAutoFit/>
          </a:bodyPr>
          <a:lstStyle/>
          <a:p>
            <a:r>
              <a:rPr lang="en-US" sz="1600" b="1" i="1" dirty="0"/>
              <a:t>Deliverables: </a:t>
            </a:r>
          </a:p>
          <a:p>
            <a:pPr marL="285750" indent="-285750">
              <a:buFont typeface="Arial" panose="020B0604020202020204" pitchFamily="34" charset="0"/>
              <a:buChar char="•"/>
            </a:pPr>
            <a:r>
              <a:rPr lang="en-US" sz="1600" dirty="0"/>
              <a:t>Production-team-supported mixed signal–background samples</a:t>
            </a:r>
          </a:p>
          <a:p>
            <a:pPr marL="285750" indent="-285750">
              <a:buFont typeface="Arial" panose="020B0604020202020204" pitchFamily="34" charset="0"/>
              <a:buChar char="•"/>
            </a:pPr>
            <a:r>
              <a:rPr lang="en-US" sz="1600" dirty="0"/>
              <a:t>Reconstructed DIO, cosmic-ray, RPC/RMC, beam-related, and other viable background samples</a:t>
            </a:r>
          </a:p>
          <a:p>
            <a:pPr marL="285750" indent="-285750">
              <a:buFont typeface="Arial" panose="020B0604020202020204" pitchFamily="34" charset="0"/>
              <a:buChar char="•"/>
            </a:pPr>
            <a:r>
              <a:rPr lang="en-US" sz="1600" dirty="0"/>
              <a:t>Occupancy and reconstruction-combinatoric characterization</a:t>
            </a:r>
          </a:p>
          <a:p>
            <a:pPr marL="285750" indent="-285750">
              <a:buFont typeface="Arial" panose="020B0604020202020204" pitchFamily="34" charset="0"/>
              <a:buChar char="•"/>
            </a:pPr>
            <a:r>
              <a:rPr lang="en-US" sz="1600" dirty="0"/>
              <a:t>Baseline signal–background discrimination procedure</a:t>
            </a:r>
          </a:p>
          <a:p>
            <a:pPr marL="285750" indent="-285750">
              <a:buFont typeface="Arial" panose="020B0604020202020204" pitchFamily="34" charset="0"/>
              <a:buChar char="•"/>
            </a:pPr>
            <a:r>
              <a:rPr lang="en-US" sz="1600" dirty="0"/>
              <a:t>Classical-selection versus ML/anomaly-detection comparison</a:t>
            </a:r>
          </a:p>
          <a:p>
            <a:pPr marL="285750" indent="-285750">
              <a:buFont typeface="Arial" panose="020B0604020202020204" pitchFamily="34" charset="0"/>
              <a:buChar char="•"/>
            </a:pPr>
            <a:r>
              <a:rPr lang="en-US" sz="1600" dirty="0"/>
              <a:t>Validated background yields, signal efficiency, and systematic inputs</a:t>
            </a:r>
          </a:p>
        </p:txBody>
      </p:sp>
    </p:spTree>
    <p:extLst>
      <p:ext uri="{BB962C8B-B14F-4D97-AF65-F5344CB8AC3E}">
        <p14:creationId xmlns:p14="http://schemas.microsoft.com/office/powerpoint/2010/main" val="34594758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97D72-1232-8602-B329-96368A926C2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4E1BBC2-A2D0-5783-DC4B-492A97DE229D}"/>
              </a:ext>
            </a:extLst>
          </p:cNvPr>
          <p:cNvSpPr>
            <a:spLocks noGrp="1"/>
          </p:cNvSpPr>
          <p:nvPr>
            <p:ph idx="1"/>
          </p:nvPr>
        </p:nvSpPr>
        <p:spPr>
          <a:xfrm>
            <a:off x="0" y="916021"/>
            <a:ext cx="7016885" cy="5025957"/>
          </a:xfrm>
        </p:spPr>
        <p:txBody>
          <a:bodyPr>
            <a:normAutofit fontScale="70000" lnSpcReduction="20000"/>
          </a:bodyPr>
          <a:lstStyle/>
          <a:p>
            <a:r>
              <a:rPr lang="en-US" dirty="0"/>
              <a:t>Replace the equal-energy, exactly back-to-back toy kinematics with theory-derived differential distributions in electron energy and opening angle.</a:t>
            </a:r>
          </a:p>
          <a:p>
            <a:r>
              <a:rPr lang="en-US" dirty="0"/>
              <a:t>Implement interaction weights for representative CLFV operator benchmarks, allowing the generated kinematics to reflect the underlying physical model.</a:t>
            </a:r>
          </a:p>
          <a:p>
            <a:r>
              <a:rPr lang="en-US" dirty="0"/>
              <a:t>Incorporate bound-state effects of the muonic aluminum atom and aluminum nuclear recoil, which modify the idealized two-electron kinematics.</a:t>
            </a:r>
          </a:p>
          <a:p>
            <a:r>
              <a:rPr lang="en-US" dirty="0"/>
              <a:t>Preserve a reproducible Mu2e generator-to-reconstruction workflow while producing high-statistics signal samples over the relevant kinematic benchmarks.</a:t>
            </a:r>
          </a:p>
          <a:p>
            <a:r>
              <a:rPr lang="en-US" dirty="0"/>
              <a:t>Validate the refined generator at truth level through energy–momentum conservation, expected energy/angular distributions, and comparisons with published theoretical predictions.</a:t>
            </a:r>
          </a:p>
          <a:p>
            <a:r>
              <a:rPr lang="en-US" dirty="0"/>
              <a:t>Propagate the physics-weighted samples through detector simulation and reconstruction to measure their effects on acceptance, efficiency, vertexing, background discrimination, and final sensitivity.</a:t>
            </a:r>
          </a:p>
        </p:txBody>
      </p:sp>
      <p:sp>
        <p:nvSpPr>
          <p:cNvPr id="5" name="Footer Placeholder 4">
            <a:extLst>
              <a:ext uri="{FF2B5EF4-FFF2-40B4-BE49-F238E27FC236}">
                <a16:creationId xmlns:a16="http://schemas.microsoft.com/office/drawing/2014/main" id="{DCC08A92-6DA1-891B-AD24-F052448FC9E3}"/>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90B4A88F-B8AE-784F-8F2B-B14B0810C91F}"/>
              </a:ext>
            </a:extLst>
          </p:cNvPr>
          <p:cNvSpPr>
            <a:spLocks noGrp="1"/>
          </p:cNvSpPr>
          <p:nvPr>
            <p:ph type="sldNum" sz="quarter" idx="12"/>
          </p:nvPr>
        </p:nvSpPr>
        <p:spPr/>
        <p:txBody>
          <a:bodyPr/>
          <a:lstStyle/>
          <a:p>
            <a:fld id="{C0E0CB54-3DBF-E947-906E-85E307CF7971}" type="slidenum">
              <a:rPr lang="en-US" smtClean="0"/>
              <a:t>32</a:t>
            </a:fld>
            <a:endParaRPr lang="en-US"/>
          </a:p>
        </p:txBody>
      </p:sp>
      <p:sp>
        <p:nvSpPr>
          <p:cNvPr id="4" name="Title 1">
            <a:extLst>
              <a:ext uri="{FF2B5EF4-FFF2-40B4-BE49-F238E27FC236}">
                <a16:creationId xmlns:a16="http://schemas.microsoft.com/office/drawing/2014/main" id="{7EB01349-FA02-660F-E61D-19A1C22F735C}"/>
              </a:ext>
            </a:extLst>
          </p:cNvPr>
          <p:cNvSpPr txBox="1">
            <a:spLocks/>
          </p:cNvSpPr>
          <p:nvPr/>
        </p:nvSpPr>
        <p:spPr>
          <a:xfrm>
            <a:off x="0" y="0"/>
            <a:ext cx="10515600" cy="551234"/>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Theoretical Refinement of Toy Generator</a:t>
            </a:r>
          </a:p>
        </p:txBody>
      </p:sp>
      <p:sp>
        <p:nvSpPr>
          <p:cNvPr id="2" name="TextBox 1">
            <a:extLst>
              <a:ext uri="{FF2B5EF4-FFF2-40B4-BE49-F238E27FC236}">
                <a16:creationId xmlns:a16="http://schemas.microsoft.com/office/drawing/2014/main" id="{77C9D90C-21FD-666F-E60D-499B2EE91278}"/>
              </a:ext>
            </a:extLst>
          </p:cNvPr>
          <p:cNvSpPr txBox="1"/>
          <p:nvPr/>
        </p:nvSpPr>
        <p:spPr>
          <a:xfrm>
            <a:off x="7576222" y="457873"/>
            <a:ext cx="3891063" cy="830997"/>
          </a:xfrm>
          <a:prstGeom prst="rect">
            <a:avLst/>
          </a:prstGeom>
          <a:noFill/>
          <a:ln w="19050">
            <a:solidFill>
              <a:schemeClr val="accent1"/>
            </a:solidFill>
          </a:ln>
        </p:spPr>
        <p:txBody>
          <a:bodyPr wrap="square" rtlCol="0">
            <a:spAutoFit/>
          </a:bodyPr>
          <a:lstStyle/>
          <a:p>
            <a:r>
              <a:rPr lang="en-US" sz="1600" b="1" dirty="0"/>
              <a:t>Current</a:t>
            </a:r>
            <a:r>
              <a:rPr lang="en-US" sz="1600" dirty="0"/>
              <a:t>: Validated simplified generator with equal-energy, isotropic, exactly back-to-back electrons.</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0A070230-6C34-1883-F4DB-253F583E9E6A}"/>
                  </a:ext>
                </a:extLst>
              </p:cNvPr>
              <p:cNvSpPr txBox="1"/>
              <p:nvPr/>
            </p:nvSpPr>
            <p:spPr>
              <a:xfrm>
                <a:off x="7576221" y="1953727"/>
                <a:ext cx="3891063" cy="830997"/>
              </a:xfrm>
              <a:prstGeom prst="rect">
                <a:avLst/>
              </a:prstGeom>
              <a:noFill/>
              <a:ln w="19050">
                <a:solidFill>
                  <a:schemeClr val="accent1"/>
                </a:solidFill>
              </a:ln>
            </p:spPr>
            <p:txBody>
              <a:bodyPr wrap="square" rtlCol="0">
                <a:spAutoFit/>
              </a:bodyPr>
              <a:lstStyle/>
              <a:p>
                <a:r>
                  <a:rPr lang="en-US" sz="1600" b="1" dirty="0"/>
                  <a:t>Goal</a:t>
                </a:r>
                <a:r>
                  <a:rPr lang="en-US" sz="1600" dirty="0"/>
                  <a:t>: Theory-weighted, recoil-aware </a:t>
                </a:r>
                <a14:m>
                  <m:oMath xmlns:m="http://schemas.openxmlformats.org/officeDocument/2006/math">
                    <m:sSup>
                      <m:sSupPr>
                        <m:ctrlPr>
                          <a:rPr lang="en-US" sz="1600" i="1" smtClean="0">
                            <a:latin typeface="Cambria Math" panose="02040503050406030204" pitchFamily="18" charset="0"/>
                          </a:rPr>
                        </m:ctrlPr>
                      </m:sSupPr>
                      <m:e>
                        <m:r>
                          <a:rPr lang="en-US" sz="1600" i="1" smtClean="0">
                            <a:latin typeface="Cambria Math" panose="02040503050406030204" pitchFamily="18" charset="0"/>
                            <a:ea typeface="Cambria Math" panose="02040503050406030204" pitchFamily="18" charset="0"/>
                          </a:rPr>
                          <m:t>𝜇</m:t>
                        </m:r>
                      </m:e>
                      <m:sup>
                        <m:r>
                          <a:rPr lang="en-US" sz="1600" b="0" i="1" smtClean="0">
                            <a:latin typeface="Cambria Math" panose="02040503050406030204" pitchFamily="18" charset="0"/>
                          </a:rPr>
                          <m:t>−</m:t>
                        </m:r>
                      </m:sup>
                    </m:sSup>
                    <m:sSup>
                      <m:sSupPr>
                        <m:ctrlPr>
                          <a:rPr lang="en-US" sz="1600" i="1" smtClean="0">
                            <a:latin typeface="Cambria Math" panose="02040503050406030204" pitchFamily="18" charset="0"/>
                          </a:rPr>
                        </m:ctrlPr>
                      </m:sSupPr>
                      <m:e>
                        <m:r>
                          <a:rPr lang="en-US" sz="1600" b="0" i="1" smtClean="0">
                            <a:latin typeface="Cambria Math" panose="02040503050406030204" pitchFamily="18" charset="0"/>
                          </a:rPr>
                          <m:t>𝑒</m:t>
                        </m:r>
                      </m:e>
                      <m:sup>
                        <m:r>
                          <a:rPr lang="en-US" sz="1600" b="0" i="1" smtClean="0">
                            <a:latin typeface="Cambria Math" panose="02040503050406030204" pitchFamily="18" charset="0"/>
                          </a:rPr>
                          <m:t>−</m:t>
                        </m:r>
                      </m:sup>
                    </m:sSup>
                    <m:r>
                      <a:rPr lang="en-US" sz="1600" i="1" smtClean="0">
                        <a:latin typeface="Cambria Math" panose="02040503050406030204" pitchFamily="18" charset="0"/>
                        <a:ea typeface="Cambria Math" panose="02040503050406030204" pitchFamily="18" charset="0"/>
                      </a:rPr>
                      <m:t>→</m:t>
                    </m:r>
                    <m:sSup>
                      <m:sSupPr>
                        <m:ctrlPr>
                          <a:rPr lang="en-US" sz="160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𝑒</m:t>
                        </m:r>
                      </m:e>
                      <m:sup>
                        <m:r>
                          <a:rPr lang="en-US" sz="1600" b="0" i="1" smtClean="0">
                            <a:latin typeface="Cambria Math" panose="02040503050406030204" pitchFamily="18" charset="0"/>
                            <a:ea typeface="Cambria Math" panose="02040503050406030204" pitchFamily="18" charset="0"/>
                          </a:rPr>
                          <m:t>−</m:t>
                        </m:r>
                      </m:sup>
                    </m:sSup>
                    <m:sSup>
                      <m:sSupPr>
                        <m:ctrlPr>
                          <a:rPr lang="en-US" sz="160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𝑒</m:t>
                        </m:r>
                      </m:e>
                      <m:sup>
                        <m:r>
                          <a:rPr lang="en-US" sz="1600" b="0" i="1" smtClean="0">
                            <a:latin typeface="Cambria Math" panose="02040503050406030204" pitchFamily="18" charset="0"/>
                            <a:ea typeface="Cambria Math" panose="02040503050406030204" pitchFamily="18" charset="0"/>
                          </a:rPr>
                          <m:t>−</m:t>
                        </m:r>
                      </m:sup>
                    </m:sSup>
                    <m:r>
                      <a:rPr lang="en-US" sz="1600" b="0" i="1" smtClean="0">
                        <a:latin typeface="Cambria Math" panose="02040503050406030204" pitchFamily="18" charset="0"/>
                        <a:ea typeface="Cambria Math" panose="02040503050406030204" pitchFamily="18" charset="0"/>
                      </a:rPr>
                      <m:t> </m:t>
                    </m:r>
                  </m:oMath>
                </a14:m>
                <a:r>
                  <a:rPr lang="en-US" sz="1600" dirty="0"/>
                  <a:t>signal generator with realistic energy and angular correlations.</a:t>
                </a:r>
              </a:p>
            </p:txBody>
          </p:sp>
        </mc:Choice>
        <mc:Fallback>
          <p:sp>
            <p:nvSpPr>
              <p:cNvPr id="7" name="TextBox 6">
                <a:extLst>
                  <a:ext uri="{FF2B5EF4-FFF2-40B4-BE49-F238E27FC236}">
                    <a16:creationId xmlns:a16="http://schemas.microsoft.com/office/drawing/2014/main" id="{0A070230-6C34-1883-F4DB-253F583E9E6A}"/>
                  </a:ext>
                </a:extLst>
              </p:cNvPr>
              <p:cNvSpPr txBox="1">
                <a:spLocks noRot="1" noChangeAspect="1" noMove="1" noResize="1" noEditPoints="1" noAdjustHandles="1" noChangeArrowheads="1" noChangeShapeType="1" noTextEdit="1"/>
              </p:cNvSpPr>
              <p:nvPr/>
            </p:nvSpPr>
            <p:spPr>
              <a:xfrm>
                <a:off x="7576221" y="1953727"/>
                <a:ext cx="3891063" cy="830997"/>
              </a:xfrm>
              <a:prstGeom prst="rect">
                <a:avLst/>
              </a:prstGeom>
              <a:blipFill>
                <a:blip r:embed="rId2"/>
                <a:stretch>
                  <a:fillRect l="-649" t="-1471" b="-5882"/>
                </a:stretch>
              </a:blipFill>
              <a:ln w="19050">
                <a:solidFill>
                  <a:schemeClr val="accent1"/>
                </a:solidFill>
              </a:ln>
            </p:spPr>
            <p:txBody>
              <a:bodyPr/>
              <a:lstStyle/>
              <a:p>
                <a:r>
                  <a:rPr lang="en-US">
                    <a:noFill/>
                  </a:rPr>
                  <a:t> </a:t>
                </a:r>
              </a:p>
            </p:txBody>
          </p:sp>
        </mc:Fallback>
      </mc:AlternateContent>
      <p:sp>
        <p:nvSpPr>
          <p:cNvPr id="8" name="Down Arrow 7">
            <a:extLst>
              <a:ext uri="{FF2B5EF4-FFF2-40B4-BE49-F238E27FC236}">
                <a16:creationId xmlns:a16="http://schemas.microsoft.com/office/drawing/2014/main" id="{5D0697B5-F2B8-F671-48BB-518F0E9A566B}"/>
              </a:ext>
            </a:extLst>
          </p:cNvPr>
          <p:cNvSpPr/>
          <p:nvPr/>
        </p:nvSpPr>
        <p:spPr>
          <a:xfrm>
            <a:off x="9382323" y="1402221"/>
            <a:ext cx="278860" cy="438155"/>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Box 8">
            <a:extLst>
              <a:ext uri="{FF2B5EF4-FFF2-40B4-BE49-F238E27FC236}">
                <a16:creationId xmlns:a16="http://schemas.microsoft.com/office/drawing/2014/main" id="{D7B4D313-3572-1A6A-1AFA-E92756874D82}"/>
              </a:ext>
            </a:extLst>
          </p:cNvPr>
          <p:cNvSpPr txBox="1"/>
          <p:nvPr/>
        </p:nvSpPr>
        <p:spPr>
          <a:xfrm>
            <a:off x="6934194" y="3045362"/>
            <a:ext cx="5032443" cy="3385542"/>
          </a:xfrm>
          <a:prstGeom prst="rect">
            <a:avLst/>
          </a:prstGeom>
          <a:noFill/>
          <a:ln w="19050">
            <a:solidFill>
              <a:srgbClr val="C00000"/>
            </a:solidFill>
          </a:ln>
        </p:spPr>
        <p:txBody>
          <a:bodyPr wrap="square" rtlCol="0">
            <a:spAutoFit/>
          </a:bodyPr>
          <a:lstStyle/>
          <a:p>
            <a:r>
              <a:rPr lang="en-US" b="1" i="1" dirty="0"/>
              <a:t>Deliverables: </a:t>
            </a:r>
          </a:p>
          <a:p>
            <a:pPr marL="285750" indent="-285750">
              <a:buFont typeface="Arial" panose="020B0604020202020204" pitchFamily="34" charset="0"/>
              <a:buChar char="•"/>
            </a:pPr>
            <a:r>
              <a:rPr lang="en-US" dirty="0"/>
              <a:t>Theory-weighted </a:t>
            </a:r>
            <a:r>
              <a:rPr lang="el-GR" dirty="0"/>
              <a:t>μ⁻</a:t>
            </a:r>
            <a:r>
              <a:rPr lang="en-US" dirty="0"/>
              <a:t>e⁻ → </a:t>
            </a:r>
            <a:r>
              <a:rPr lang="en-US" dirty="0" err="1"/>
              <a:t>e⁻e</a:t>
            </a:r>
            <a:r>
              <a:rPr lang="en-US" dirty="0"/>
              <a:t>⁻ event generator</a:t>
            </a:r>
          </a:p>
          <a:p>
            <a:pPr marL="285750" indent="-285750">
              <a:buFont typeface="Arial" panose="020B0604020202020204" pitchFamily="34" charset="0"/>
              <a:buChar char="•"/>
            </a:pPr>
            <a:r>
              <a:rPr lang="en-US" dirty="0"/>
              <a:t>Correlated electron-energy and opening-angle distributions</a:t>
            </a:r>
          </a:p>
          <a:p>
            <a:pPr marL="285750" indent="-285750">
              <a:buFont typeface="Arial" panose="020B0604020202020204" pitchFamily="34" charset="0"/>
              <a:buChar char="•"/>
            </a:pPr>
            <a:r>
              <a:rPr lang="en-US" dirty="0"/>
              <a:t>Muonic-aluminum bound-state effects and aluminum nuclear recoil</a:t>
            </a:r>
          </a:p>
          <a:p>
            <a:pPr marL="285750" indent="-285750">
              <a:buFont typeface="Arial" panose="020B0604020202020204" pitchFamily="34" charset="0"/>
              <a:buChar char="•"/>
            </a:pPr>
            <a:r>
              <a:rPr lang="en-US" dirty="0"/>
              <a:t>Kinematic validation against conservation laws and theoretical distributions</a:t>
            </a:r>
          </a:p>
          <a:p>
            <a:pPr marL="285750" indent="-285750">
              <a:buFont typeface="Arial" panose="020B0604020202020204" pitchFamily="34" charset="0"/>
              <a:buChar char="•"/>
            </a:pPr>
            <a:r>
              <a:rPr lang="en-US" dirty="0"/>
              <a:t>Reproducible high-statistics reconstructed signal samples</a:t>
            </a:r>
          </a:p>
          <a:p>
            <a:pPr marL="285750" indent="-285750">
              <a:buFont typeface="Arial" panose="020B0604020202020204" pitchFamily="34" charset="0"/>
              <a:buChar char="•"/>
            </a:pPr>
            <a:r>
              <a:rPr lang="en-US" dirty="0"/>
              <a:t>Updated mixed samples using the refined signal model</a:t>
            </a:r>
          </a:p>
        </p:txBody>
      </p:sp>
    </p:spTree>
    <p:extLst>
      <p:ext uri="{BB962C8B-B14F-4D97-AF65-F5344CB8AC3E}">
        <p14:creationId xmlns:p14="http://schemas.microsoft.com/office/powerpoint/2010/main" val="21589119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9B291-DDC3-583E-B283-EFAB69A6777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75989B2-105E-378D-4372-8D5600E3EAD9}"/>
              </a:ext>
            </a:extLst>
          </p:cNvPr>
          <p:cNvSpPr>
            <a:spLocks noGrp="1"/>
          </p:cNvSpPr>
          <p:nvPr>
            <p:ph idx="1"/>
          </p:nvPr>
        </p:nvSpPr>
        <p:spPr>
          <a:xfrm>
            <a:off x="-45396" y="1129629"/>
            <a:ext cx="7016885" cy="4440677"/>
          </a:xfrm>
        </p:spPr>
        <p:txBody>
          <a:bodyPr>
            <a:normAutofit fontScale="62500" lnSpcReduction="20000"/>
          </a:bodyPr>
          <a:lstStyle/>
          <a:p>
            <a:r>
              <a:rPr lang="en-US" dirty="0"/>
              <a:t>Combine the validated signal generator, reconstruction efficiency, common-vertexing performance, and mixed-background samples into a reconstruction-level sensitivity model.</a:t>
            </a:r>
          </a:p>
          <a:p>
            <a:r>
              <a:rPr lang="en-US" dirty="0"/>
              <a:t>Estimate the expected background yield after selection, including its composition and dependence on detector occupancy and reconstruction performance.</a:t>
            </a:r>
          </a:p>
          <a:p>
            <a:r>
              <a:rPr lang="en-US" dirty="0"/>
              <a:t>Use Poisson likelihood methods and confidence-interval constructions, including Feldman–Cousins methods where appropriate for low event counts, to obtain expected branching-ratio limits.</a:t>
            </a:r>
          </a:p>
          <a:p>
            <a:r>
              <a:rPr lang="en-US" dirty="0"/>
              <a:t>Distinguish upper-limit sensitivity from discovery reach by evaluating confidence-level exclusions separately from 3</a:t>
            </a:r>
            <a:r>
              <a:rPr lang="el-GR" dirty="0"/>
              <a:t>σ </a:t>
            </a:r>
            <a:r>
              <a:rPr lang="en-US" dirty="0"/>
              <a:t>and 5</a:t>
            </a:r>
            <a:r>
              <a:rPr lang="el-GR" dirty="0"/>
              <a:t>σ </a:t>
            </a:r>
            <a:r>
              <a:rPr lang="en-US" dirty="0"/>
              <a:t>signal-significance targets.</a:t>
            </a:r>
          </a:p>
          <a:p>
            <a:r>
              <a:rPr lang="en-US" dirty="0"/>
              <a:t>Evaluate systematic effects from signal modeling, reconstruction and selection efficiency, background prediction, and stopped-muon/exposure normalization.</a:t>
            </a:r>
          </a:p>
          <a:p>
            <a:r>
              <a:rPr lang="en-US" dirty="0"/>
              <a:t>Convert the resulting sensitivity requirements into Mu2e running conditions, including required stopped muons, proton-on-target exposure, beam intensity, and wall-clock time.</a:t>
            </a:r>
          </a:p>
        </p:txBody>
      </p:sp>
      <p:sp>
        <p:nvSpPr>
          <p:cNvPr id="5" name="Footer Placeholder 4">
            <a:extLst>
              <a:ext uri="{FF2B5EF4-FFF2-40B4-BE49-F238E27FC236}">
                <a16:creationId xmlns:a16="http://schemas.microsoft.com/office/drawing/2014/main" id="{16BC8C8D-01B8-4C8F-7E4B-43CCD933236F}"/>
              </a:ext>
            </a:extLst>
          </p:cNvPr>
          <p:cNvSpPr>
            <a:spLocks noGrp="1"/>
          </p:cNvSpPr>
          <p:nvPr>
            <p:ph type="ftr" sz="quarter" idx="11"/>
          </p:nvPr>
        </p:nvSpPr>
        <p:spPr>
          <a:xfrm>
            <a:off x="3882958" y="6418108"/>
            <a:ext cx="4114800" cy="365125"/>
          </a:xfrm>
        </p:spPr>
        <p:txBody>
          <a:bodyPr/>
          <a:lstStyle/>
          <a:p>
            <a:r>
              <a:rPr lang="en-US" dirty="0"/>
              <a:t>Boldy Sensitivity Study Mu2e</a:t>
            </a:r>
          </a:p>
        </p:txBody>
      </p:sp>
      <p:sp>
        <p:nvSpPr>
          <p:cNvPr id="6" name="Slide Number Placeholder 5">
            <a:extLst>
              <a:ext uri="{FF2B5EF4-FFF2-40B4-BE49-F238E27FC236}">
                <a16:creationId xmlns:a16="http://schemas.microsoft.com/office/drawing/2014/main" id="{ED84E84B-3B92-043D-D3F1-5683A4B1123F}"/>
              </a:ext>
            </a:extLst>
          </p:cNvPr>
          <p:cNvSpPr>
            <a:spLocks noGrp="1"/>
          </p:cNvSpPr>
          <p:nvPr>
            <p:ph type="sldNum" sz="quarter" idx="12"/>
          </p:nvPr>
        </p:nvSpPr>
        <p:spPr/>
        <p:txBody>
          <a:bodyPr/>
          <a:lstStyle/>
          <a:p>
            <a:fld id="{C0E0CB54-3DBF-E947-906E-85E307CF7971}" type="slidenum">
              <a:rPr lang="en-US" smtClean="0"/>
              <a:t>33</a:t>
            </a:fld>
            <a:endParaRPr lang="en-US"/>
          </a:p>
        </p:txBody>
      </p:sp>
      <p:sp>
        <p:nvSpPr>
          <p:cNvPr id="4" name="Title 1">
            <a:extLst>
              <a:ext uri="{FF2B5EF4-FFF2-40B4-BE49-F238E27FC236}">
                <a16:creationId xmlns:a16="http://schemas.microsoft.com/office/drawing/2014/main" id="{6CA4D229-D9D5-DFCC-E7ED-6E26149A2DF7}"/>
              </a:ext>
            </a:extLst>
          </p:cNvPr>
          <p:cNvSpPr txBox="1">
            <a:spLocks/>
          </p:cNvSpPr>
          <p:nvPr/>
        </p:nvSpPr>
        <p:spPr>
          <a:xfrm>
            <a:off x="0" y="0"/>
            <a:ext cx="10515600" cy="551234"/>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Full Sensitivity Study and Statistical Analysis </a:t>
            </a:r>
          </a:p>
        </p:txBody>
      </p:sp>
      <p:sp>
        <p:nvSpPr>
          <p:cNvPr id="2" name="TextBox 1">
            <a:extLst>
              <a:ext uri="{FF2B5EF4-FFF2-40B4-BE49-F238E27FC236}">
                <a16:creationId xmlns:a16="http://schemas.microsoft.com/office/drawing/2014/main" id="{4F594A7F-E9DC-52A4-A40D-941CDF32F929}"/>
              </a:ext>
            </a:extLst>
          </p:cNvPr>
          <p:cNvSpPr txBox="1"/>
          <p:nvPr/>
        </p:nvSpPr>
        <p:spPr>
          <a:xfrm>
            <a:off x="7576223" y="358853"/>
            <a:ext cx="3891063" cy="830997"/>
          </a:xfrm>
          <a:prstGeom prst="rect">
            <a:avLst/>
          </a:prstGeom>
          <a:noFill/>
          <a:ln w="19050">
            <a:solidFill>
              <a:schemeClr val="accent1"/>
            </a:solidFill>
          </a:ln>
        </p:spPr>
        <p:txBody>
          <a:bodyPr wrap="square" rtlCol="0">
            <a:spAutoFit/>
          </a:bodyPr>
          <a:lstStyle/>
          <a:p>
            <a:r>
              <a:rPr lang="en-US" sz="1600" b="1" dirty="0"/>
              <a:t>Current</a:t>
            </a:r>
            <a:r>
              <a:rPr lang="en-US" sz="1600" dirty="0"/>
              <a:t>: Validated simplified generator with equal-energy, isotropic, exactly back-to-back electrons.</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BED9A6D8-7FE8-85FA-AFA2-9CA312DC4AD6}"/>
                  </a:ext>
                </a:extLst>
              </p:cNvPr>
              <p:cNvSpPr txBox="1"/>
              <p:nvPr/>
            </p:nvSpPr>
            <p:spPr>
              <a:xfrm>
                <a:off x="7576223" y="1918867"/>
                <a:ext cx="3891063" cy="830997"/>
              </a:xfrm>
              <a:prstGeom prst="rect">
                <a:avLst/>
              </a:prstGeom>
              <a:noFill/>
              <a:ln w="19050">
                <a:solidFill>
                  <a:schemeClr val="accent1"/>
                </a:solidFill>
              </a:ln>
            </p:spPr>
            <p:txBody>
              <a:bodyPr wrap="square" rtlCol="0">
                <a:spAutoFit/>
              </a:bodyPr>
              <a:lstStyle/>
              <a:p>
                <a:r>
                  <a:rPr lang="en-US" sz="1600" b="1" dirty="0"/>
                  <a:t>Goal</a:t>
                </a:r>
                <a:r>
                  <a:rPr lang="en-US" sz="1600" dirty="0"/>
                  <a:t>: Theory-weighted, recoil-aware </a:t>
                </a:r>
                <a14:m>
                  <m:oMath xmlns:m="http://schemas.openxmlformats.org/officeDocument/2006/math">
                    <m:sSup>
                      <m:sSupPr>
                        <m:ctrlPr>
                          <a:rPr lang="en-US" sz="1600" i="1" smtClean="0">
                            <a:latin typeface="Cambria Math" panose="02040503050406030204" pitchFamily="18" charset="0"/>
                          </a:rPr>
                        </m:ctrlPr>
                      </m:sSupPr>
                      <m:e>
                        <m:r>
                          <a:rPr lang="en-US" sz="1600" i="1" smtClean="0">
                            <a:latin typeface="Cambria Math" panose="02040503050406030204" pitchFamily="18" charset="0"/>
                            <a:ea typeface="Cambria Math" panose="02040503050406030204" pitchFamily="18" charset="0"/>
                          </a:rPr>
                          <m:t>𝜇</m:t>
                        </m:r>
                      </m:e>
                      <m:sup>
                        <m:r>
                          <a:rPr lang="en-US" sz="1600" b="0" i="1" smtClean="0">
                            <a:latin typeface="Cambria Math" panose="02040503050406030204" pitchFamily="18" charset="0"/>
                          </a:rPr>
                          <m:t>−</m:t>
                        </m:r>
                      </m:sup>
                    </m:sSup>
                    <m:sSup>
                      <m:sSupPr>
                        <m:ctrlPr>
                          <a:rPr lang="en-US" sz="1600" i="1" smtClean="0">
                            <a:latin typeface="Cambria Math" panose="02040503050406030204" pitchFamily="18" charset="0"/>
                          </a:rPr>
                        </m:ctrlPr>
                      </m:sSupPr>
                      <m:e>
                        <m:r>
                          <a:rPr lang="en-US" sz="1600" b="0" i="1" smtClean="0">
                            <a:latin typeface="Cambria Math" panose="02040503050406030204" pitchFamily="18" charset="0"/>
                          </a:rPr>
                          <m:t>𝑒</m:t>
                        </m:r>
                      </m:e>
                      <m:sup>
                        <m:r>
                          <a:rPr lang="en-US" sz="1600" b="0" i="1" smtClean="0">
                            <a:latin typeface="Cambria Math" panose="02040503050406030204" pitchFamily="18" charset="0"/>
                          </a:rPr>
                          <m:t>−</m:t>
                        </m:r>
                      </m:sup>
                    </m:sSup>
                    <m:r>
                      <a:rPr lang="en-US" sz="1600" i="1" smtClean="0">
                        <a:latin typeface="Cambria Math" panose="02040503050406030204" pitchFamily="18" charset="0"/>
                        <a:ea typeface="Cambria Math" panose="02040503050406030204" pitchFamily="18" charset="0"/>
                      </a:rPr>
                      <m:t>→</m:t>
                    </m:r>
                    <m:sSup>
                      <m:sSupPr>
                        <m:ctrlPr>
                          <a:rPr lang="en-US" sz="160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𝑒</m:t>
                        </m:r>
                      </m:e>
                      <m:sup>
                        <m:r>
                          <a:rPr lang="en-US" sz="1600" b="0" i="1" smtClean="0">
                            <a:latin typeface="Cambria Math" panose="02040503050406030204" pitchFamily="18" charset="0"/>
                            <a:ea typeface="Cambria Math" panose="02040503050406030204" pitchFamily="18" charset="0"/>
                          </a:rPr>
                          <m:t>−</m:t>
                        </m:r>
                      </m:sup>
                    </m:sSup>
                    <m:sSup>
                      <m:sSupPr>
                        <m:ctrlPr>
                          <a:rPr lang="en-US" sz="160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𝑒</m:t>
                        </m:r>
                      </m:e>
                      <m:sup>
                        <m:r>
                          <a:rPr lang="en-US" sz="1600" b="0" i="1" smtClean="0">
                            <a:latin typeface="Cambria Math" panose="02040503050406030204" pitchFamily="18" charset="0"/>
                            <a:ea typeface="Cambria Math" panose="02040503050406030204" pitchFamily="18" charset="0"/>
                          </a:rPr>
                          <m:t>−</m:t>
                        </m:r>
                      </m:sup>
                    </m:sSup>
                    <m:r>
                      <a:rPr lang="en-US" sz="1600" b="0" i="1" smtClean="0">
                        <a:latin typeface="Cambria Math" panose="02040503050406030204" pitchFamily="18" charset="0"/>
                        <a:ea typeface="Cambria Math" panose="02040503050406030204" pitchFamily="18" charset="0"/>
                      </a:rPr>
                      <m:t> </m:t>
                    </m:r>
                  </m:oMath>
                </a14:m>
                <a:r>
                  <a:rPr lang="en-US" sz="1600" dirty="0"/>
                  <a:t>signal generator with realistic energy and angular correlations.</a:t>
                </a:r>
              </a:p>
            </p:txBody>
          </p:sp>
        </mc:Choice>
        <mc:Fallback>
          <p:sp>
            <p:nvSpPr>
              <p:cNvPr id="7" name="TextBox 6">
                <a:extLst>
                  <a:ext uri="{FF2B5EF4-FFF2-40B4-BE49-F238E27FC236}">
                    <a16:creationId xmlns:a16="http://schemas.microsoft.com/office/drawing/2014/main" id="{BED9A6D8-7FE8-85FA-AFA2-9CA312DC4AD6}"/>
                  </a:ext>
                </a:extLst>
              </p:cNvPr>
              <p:cNvSpPr txBox="1">
                <a:spLocks noRot="1" noChangeAspect="1" noMove="1" noResize="1" noEditPoints="1" noAdjustHandles="1" noChangeArrowheads="1" noChangeShapeType="1" noTextEdit="1"/>
              </p:cNvSpPr>
              <p:nvPr/>
            </p:nvSpPr>
            <p:spPr>
              <a:xfrm>
                <a:off x="7576223" y="1918867"/>
                <a:ext cx="3891063" cy="830997"/>
              </a:xfrm>
              <a:prstGeom prst="rect">
                <a:avLst/>
              </a:prstGeom>
              <a:blipFill>
                <a:blip r:embed="rId2"/>
                <a:stretch>
                  <a:fillRect l="-649" t="-1471" b="-5882"/>
                </a:stretch>
              </a:blipFill>
              <a:ln w="19050">
                <a:solidFill>
                  <a:schemeClr val="accent1"/>
                </a:solidFill>
              </a:ln>
            </p:spPr>
            <p:txBody>
              <a:bodyPr/>
              <a:lstStyle/>
              <a:p>
                <a:r>
                  <a:rPr lang="en-US">
                    <a:noFill/>
                  </a:rPr>
                  <a:t> </a:t>
                </a:r>
              </a:p>
            </p:txBody>
          </p:sp>
        </mc:Fallback>
      </mc:AlternateContent>
      <p:sp>
        <p:nvSpPr>
          <p:cNvPr id="8" name="Down Arrow 7">
            <a:extLst>
              <a:ext uri="{FF2B5EF4-FFF2-40B4-BE49-F238E27FC236}">
                <a16:creationId xmlns:a16="http://schemas.microsoft.com/office/drawing/2014/main" id="{2EC4B9FE-B0CD-6F59-D1F0-30A9CCA754F0}"/>
              </a:ext>
            </a:extLst>
          </p:cNvPr>
          <p:cNvSpPr/>
          <p:nvPr/>
        </p:nvSpPr>
        <p:spPr>
          <a:xfrm>
            <a:off x="9382324" y="1268910"/>
            <a:ext cx="278860" cy="559585"/>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C304BCA3-3810-4691-7CDC-02F9FCC14A75}"/>
              </a:ext>
            </a:extLst>
          </p:cNvPr>
          <p:cNvSpPr txBox="1"/>
          <p:nvPr/>
        </p:nvSpPr>
        <p:spPr>
          <a:xfrm>
            <a:off x="6934194" y="3045362"/>
            <a:ext cx="5032443" cy="3416320"/>
          </a:xfrm>
          <a:prstGeom prst="rect">
            <a:avLst/>
          </a:prstGeom>
          <a:noFill/>
          <a:ln w="19050">
            <a:solidFill>
              <a:srgbClr val="C00000"/>
            </a:solidFill>
          </a:ln>
        </p:spPr>
        <p:txBody>
          <a:bodyPr wrap="square" rtlCol="0">
            <a:spAutoFit/>
          </a:bodyPr>
          <a:lstStyle/>
          <a:p>
            <a:r>
              <a:rPr lang="en-US" b="1" i="1" dirty="0"/>
              <a:t>Deliverables: </a:t>
            </a:r>
          </a:p>
          <a:p>
            <a:pPr marL="285750" indent="-285750">
              <a:buFont typeface="Arial" panose="020B0604020202020204" pitchFamily="34" charset="0"/>
              <a:buChar char="•"/>
            </a:pPr>
            <a:r>
              <a:rPr lang="en-US" dirty="0"/>
              <a:t>Complete signal-efficiency and background-yield model</a:t>
            </a:r>
          </a:p>
          <a:p>
            <a:pPr marL="285750" indent="-285750">
              <a:buFont typeface="Arial" panose="020B0604020202020204" pitchFamily="34" charset="0"/>
              <a:buChar char="•"/>
            </a:pPr>
            <a:r>
              <a:rPr lang="en-US" dirty="0"/>
              <a:t>Poisson-likelihood and Feldman–Cousins statistical-analysis toolbox</a:t>
            </a:r>
          </a:p>
          <a:p>
            <a:pPr marL="285750" indent="-285750">
              <a:buFont typeface="Arial" panose="020B0604020202020204" pitchFamily="34" charset="0"/>
              <a:buChar char="•"/>
            </a:pPr>
            <a:r>
              <a:rPr lang="en-US" dirty="0"/>
              <a:t>Expected upper-limit and discovery-reach estimates</a:t>
            </a:r>
          </a:p>
          <a:p>
            <a:pPr marL="285750" indent="-285750">
              <a:buFont typeface="Arial" panose="020B0604020202020204" pitchFamily="34" charset="0"/>
              <a:buChar char="•"/>
            </a:pPr>
            <a:r>
              <a:rPr lang="en-US" dirty="0"/>
              <a:t>Systematic-uncertainty evaluation</a:t>
            </a:r>
          </a:p>
          <a:p>
            <a:pPr marL="285750" indent="-285750">
              <a:buFont typeface="Arial" panose="020B0604020202020204" pitchFamily="34" charset="0"/>
              <a:buChar char="•"/>
            </a:pPr>
            <a:r>
              <a:rPr lang="en-US" dirty="0"/>
              <a:t>Required signal statistics, stopped-muon exposure, POT, and run-duration estimates</a:t>
            </a:r>
          </a:p>
          <a:p>
            <a:pPr marL="285750" indent="-285750">
              <a:buFont typeface="Arial" panose="020B0604020202020204" pitchFamily="34" charset="0"/>
              <a:buChar char="•"/>
            </a:pPr>
            <a:r>
              <a:rPr lang="en-US" dirty="0"/>
              <a:t>Final reconstruction-level Mu2e sensitivity result</a:t>
            </a:r>
          </a:p>
        </p:txBody>
      </p:sp>
    </p:spTree>
    <p:extLst>
      <p:ext uri="{BB962C8B-B14F-4D97-AF65-F5344CB8AC3E}">
        <p14:creationId xmlns:p14="http://schemas.microsoft.com/office/powerpoint/2010/main" val="16568335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C2519-85BE-4DAD-8C77-85B9CC8DE9BC}"/>
              </a:ext>
            </a:extLst>
          </p:cNvPr>
          <p:cNvSpPr>
            <a:spLocks noGrp="1"/>
          </p:cNvSpPr>
          <p:nvPr>
            <p:ph idx="1"/>
          </p:nvPr>
        </p:nvSpPr>
        <p:spPr>
          <a:xfrm>
            <a:off x="0" y="424542"/>
            <a:ext cx="12192000" cy="5931807"/>
          </a:xfrm>
        </p:spPr>
        <p:txBody>
          <a:bodyPr/>
          <a:lstStyle/>
          <a:p>
            <a:endParaRPr lang="en-US" dirty="0"/>
          </a:p>
        </p:txBody>
      </p:sp>
      <p:sp>
        <p:nvSpPr>
          <p:cNvPr id="5" name="Footer Placeholder 4">
            <a:extLst>
              <a:ext uri="{FF2B5EF4-FFF2-40B4-BE49-F238E27FC236}">
                <a16:creationId xmlns:a16="http://schemas.microsoft.com/office/drawing/2014/main" id="{8F61427A-4F06-7FEB-E7EA-E5CC9BDD0714}"/>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13119D7F-B668-3F0B-DE26-776CC8A1F293}"/>
              </a:ext>
            </a:extLst>
          </p:cNvPr>
          <p:cNvSpPr>
            <a:spLocks noGrp="1"/>
          </p:cNvSpPr>
          <p:nvPr>
            <p:ph type="sldNum" sz="quarter" idx="12"/>
          </p:nvPr>
        </p:nvSpPr>
        <p:spPr/>
        <p:txBody>
          <a:bodyPr/>
          <a:lstStyle/>
          <a:p>
            <a:fld id="{C0E0CB54-3DBF-E947-906E-85E307CF7971}" type="slidenum">
              <a:rPr lang="en-US" smtClean="0"/>
              <a:t>34</a:t>
            </a:fld>
            <a:endParaRPr lang="en-US"/>
          </a:p>
        </p:txBody>
      </p:sp>
      <p:sp>
        <p:nvSpPr>
          <p:cNvPr id="4" name="Title 1">
            <a:extLst>
              <a:ext uri="{FF2B5EF4-FFF2-40B4-BE49-F238E27FC236}">
                <a16:creationId xmlns:a16="http://schemas.microsoft.com/office/drawing/2014/main" id="{140EA959-CF40-261F-1F32-493B0FBD9415}"/>
              </a:ext>
            </a:extLst>
          </p:cNvPr>
          <p:cNvSpPr txBox="1">
            <a:spLocks/>
          </p:cNvSpPr>
          <p:nvPr/>
        </p:nvSpPr>
        <p:spPr>
          <a:xfrm>
            <a:off x="0" y="0"/>
            <a:ext cx="10515600" cy="424543"/>
          </a:xfrm>
          <a:prstGeom prst="rect">
            <a:avLst/>
          </a:prstGeom>
        </p:spPr>
        <p:txBody>
          <a:bodyPr vert="horz" lIns="91440" tIns="45720" rIns="91440" bIns="45720" rtlCol="0" anchor="ct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Additional Approaches to Improve Sensitivity Estimate and Increase Event ID Accuracy</a:t>
            </a:r>
          </a:p>
        </p:txBody>
      </p:sp>
    </p:spTree>
    <p:extLst>
      <p:ext uri="{BB962C8B-B14F-4D97-AF65-F5344CB8AC3E}">
        <p14:creationId xmlns:p14="http://schemas.microsoft.com/office/powerpoint/2010/main" val="1409991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D0FB4EB-5C21-B80A-9106-2C474B5D434C}"/>
              </a:ext>
            </a:extLst>
          </p:cNvPr>
          <p:cNvSpPr>
            <a:spLocks noGrp="1"/>
          </p:cNvSpPr>
          <p:nvPr>
            <p:ph idx="1"/>
          </p:nvPr>
        </p:nvSpPr>
        <p:spPr>
          <a:xfrm>
            <a:off x="0" y="424542"/>
            <a:ext cx="12192000" cy="5931807"/>
          </a:xfrm>
        </p:spPr>
        <p:txBody>
          <a:bodyPr/>
          <a:lstStyle/>
          <a:p>
            <a:endParaRPr lang="en-US" dirty="0"/>
          </a:p>
        </p:txBody>
      </p:sp>
      <p:sp>
        <p:nvSpPr>
          <p:cNvPr id="5" name="Footer Placeholder 4">
            <a:extLst>
              <a:ext uri="{FF2B5EF4-FFF2-40B4-BE49-F238E27FC236}">
                <a16:creationId xmlns:a16="http://schemas.microsoft.com/office/drawing/2014/main" id="{A3EB7D25-D2D3-AEC4-A220-42EB0919A220}"/>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3C5E1946-A889-012A-0B0A-65380A21EF60}"/>
              </a:ext>
            </a:extLst>
          </p:cNvPr>
          <p:cNvSpPr>
            <a:spLocks noGrp="1"/>
          </p:cNvSpPr>
          <p:nvPr>
            <p:ph type="sldNum" sz="quarter" idx="12"/>
          </p:nvPr>
        </p:nvSpPr>
        <p:spPr/>
        <p:txBody>
          <a:bodyPr/>
          <a:lstStyle/>
          <a:p>
            <a:fld id="{C0E0CB54-3DBF-E947-906E-85E307CF7971}" type="slidenum">
              <a:rPr lang="en-US" smtClean="0"/>
              <a:t>35</a:t>
            </a:fld>
            <a:endParaRPr lang="en-US"/>
          </a:p>
        </p:txBody>
      </p:sp>
      <p:sp>
        <p:nvSpPr>
          <p:cNvPr id="4" name="Title 1">
            <a:extLst>
              <a:ext uri="{FF2B5EF4-FFF2-40B4-BE49-F238E27FC236}">
                <a16:creationId xmlns:a16="http://schemas.microsoft.com/office/drawing/2014/main" id="{7B6F1459-D94F-6704-9904-3D221FCD1C1A}"/>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Presentations and Description of Efforts to Collaboration and Beyond</a:t>
            </a:r>
          </a:p>
        </p:txBody>
      </p:sp>
    </p:spTree>
    <p:extLst>
      <p:ext uri="{BB962C8B-B14F-4D97-AF65-F5344CB8AC3E}">
        <p14:creationId xmlns:p14="http://schemas.microsoft.com/office/powerpoint/2010/main" val="3589066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7650A4E-F4CA-5280-6975-74FBD5529A02}"/>
              </a:ext>
            </a:extLst>
          </p:cNvPr>
          <p:cNvSpPr>
            <a:spLocks noGrp="1"/>
          </p:cNvSpPr>
          <p:nvPr>
            <p:ph idx="1"/>
          </p:nvPr>
        </p:nvSpPr>
        <p:spPr>
          <a:xfrm>
            <a:off x="0" y="424542"/>
            <a:ext cx="12192000" cy="5931807"/>
          </a:xfrm>
        </p:spPr>
        <p:txBody>
          <a:bodyPr/>
          <a:lstStyle/>
          <a:p>
            <a:endParaRPr lang="en-US" dirty="0"/>
          </a:p>
        </p:txBody>
      </p:sp>
      <p:sp>
        <p:nvSpPr>
          <p:cNvPr id="4" name="Footer Placeholder 3">
            <a:extLst>
              <a:ext uri="{FF2B5EF4-FFF2-40B4-BE49-F238E27FC236}">
                <a16:creationId xmlns:a16="http://schemas.microsoft.com/office/drawing/2014/main" id="{31AD59E6-61A1-C07E-06CE-52367ABEF3B3}"/>
              </a:ext>
            </a:extLst>
          </p:cNvPr>
          <p:cNvSpPr>
            <a:spLocks noGrp="1"/>
          </p:cNvSpPr>
          <p:nvPr>
            <p:ph type="ftr" sz="quarter" idx="11"/>
          </p:nvPr>
        </p:nvSpPr>
        <p:spPr/>
        <p:txBody>
          <a:bodyPr/>
          <a:lstStyle/>
          <a:p>
            <a:r>
              <a:rPr lang="en-US"/>
              <a:t>Boldy Sensitivity Study Mu2e</a:t>
            </a:r>
          </a:p>
        </p:txBody>
      </p:sp>
      <p:sp>
        <p:nvSpPr>
          <p:cNvPr id="5" name="Slide Number Placeholder 4">
            <a:extLst>
              <a:ext uri="{FF2B5EF4-FFF2-40B4-BE49-F238E27FC236}">
                <a16:creationId xmlns:a16="http://schemas.microsoft.com/office/drawing/2014/main" id="{D3338A63-4134-AA43-15EE-B4C3BFB93C37}"/>
              </a:ext>
            </a:extLst>
          </p:cNvPr>
          <p:cNvSpPr>
            <a:spLocks noGrp="1"/>
          </p:cNvSpPr>
          <p:nvPr>
            <p:ph type="sldNum" sz="quarter" idx="12"/>
          </p:nvPr>
        </p:nvSpPr>
        <p:spPr/>
        <p:txBody>
          <a:bodyPr/>
          <a:lstStyle/>
          <a:p>
            <a:fld id="{C0E0CB54-3DBF-E947-906E-85E307CF7971}" type="slidenum">
              <a:rPr lang="en-US" smtClean="0"/>
              <a:t>36</a:t>
            </a:fld>
            <a:endParaRPr lang="en-US"/>
          </a:p>
        </p:txBody>
      </p:sp>
      <p:sp>
        <p:nvSpPr>
          <p:cNvPr id="6" name="Title 1">
            <a:extLst>
              <a:ext uri="{FF2B5EF4-FFF2-40B4-BE49-F238E27FC236}">
                <a16:creationId xmlns:a16="http://schemas.microsoft.com/office/drawing/2014/main" id="{093738B7-A13F-DEA1-6318-3AF1AE6C6BB3}"/>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Summary</a:t>
            </a:r>
          </a:p>
        </p:txBody>
      </p:sp>
    </p:spTree>
    <p:extLst>
      <p:ext uri="{BB962C8B-B14F-4D97-AF65-F5344CB8AC3E}">
        <p14:creationId xmlns:p14="http://schemas.microsoft.com/office/powerpoint/2010/main" val="235195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77B11-9A70-8920-F876-2027D8483193}"/>
              </a:ext>
            </a:extLst>
          </p:cNvPr>
          <p:cNvSpPr>
            <a:spLocks noGrp="1"/>
          </p:cNvSpPr>
          <p:nvPr>
            <p:ph type="title"/>
          </p:nvPr>
        </p:nvSpPr>
        <p:spPr/>
        <p:txBody>
          <a:bodyPr/>
          <a:lstStyle/>
          <a:p>
            <a:r>
              <a:rPr lang="en-US" dirty="0"/>
              <a:t>Thank you</a:t>
            </a:r>
          </a:p>
        </p:txBody>
      </p:sp>
      <p:sp>
        <p:nvSpPr>
          <p:cNvPr id="3" name="Text Placeholder 2">
            <a:extLst>
              <a:ext uri="{FF2B5EF4-FFF2-40B4-BE49-F238E27FC236}">
                <a16:creationId xmlns:a16="http://schemas.microsoft.com/office/drawing/2014/main" id="{2C72B878-C847-1AEA-D2C5-68F68A7D2F80}"/>
              </a:ext>
            </a:extLst>
          </p:cNvPr>
          <p:cNvSpPr>
            <a:spLocks noGrp="1"/>
          </p:cNvSpPr>
          <p:nvPr>
            <p:ph type="body" idx="1"/>
          </p:nvPr>
        </p:nvSpPr>
        <p:spPr/>
        <p:txBody>
          <a:bodyPr/>
          <a:lstStyle/>
          <a:p>
            <a:endParaRPr lang="en-US"/>
          </a:p>
        </p:txBody>
      </p:sp>
      <p:sp>
        <p:nvSpPr>
          <p:cNvPr id="5" name="Footer Placeholder 4">
            <a:extLst>
              <a:ext uri="{FF2B5EF4-FFF2-40B4-BE49-F238E27FC236}">
                <a16:creationId xmlns:a16="http://schemas.microsoft.com/office/drawing/2014/main" id="{27D7FEB2-6A47-3523-C991-2D1B073CEEE0}"/>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29471287-A856-92BF-6CDA-2498001889C8}"/>
              </a:ext>
            </a:extLst>
          </p:cNvPr>
          <p:cNvSpPr>
            <a:spLocks noGrp="1"/>
          </p:cNvSpPr>
          <p:nvPr>
            <p:ph type="sldNum" sz="quarter" idx="12"/>
          </p:nvPr>
        </p:nvSpPr>
        <p:spPr/>
        <p:txBody>
          <a:bodyPr/>
          <a:lstStyle/>
          <a:p>
            <a:fld id="{C0E0CB54-3DBF-E947-906E-85E307CF7971}" type="slidenum">
              <a:rPr lang="en-US" smtClean="0"/>
              <a:t>37</a:t>
            </a:fld>
            <a:endParaRPr lang="en-US"/>
          </a:p>
        </p:txBody>
      </p:sp>
    </p:spTree>
    <p:extLst>
      <p:ext uri="{BB962C8B-B14F-4D97-AF65-F5344CB8AC3E}">
        <p14:creationId xmlns:p14="http://schemas.microsoft.com/office/powerpoint/2010/main" val="11069725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E0E4E-125A-776B-1C5F-6DE179C7C105}"/>
              </a:ext>
            </a:extLst>
          </p:cNvPr>
          <p:cNvSpPr>
            <a:spLocks noGrp="1"/>
          </p:cNvSpPr>
          <p:nvPr>
            <p:ph type="title"/>
          </p:nvPr>
        </p:nvSpPr>
        <p:spPr/>
        <p:txBody>
          <a:bodyPr/>
          <a:lstStyle/>
          <a:p>
            <a:r>
              <a:rPr lang="en-US" dirty="0"/>
              <a:t>Backup Slides</a:t>
            </a:r>
          </a:p>
        </p:txBody>
      </p:sp>
      <p:sp>
        <p:nvSpPr>
          <p:cNvPr id="3" name="Text Placeholder 2">
            <a:extLst>
              <a:ext uri="{FF2B5EF4-FFF2-40B4-BE49-F238E27FC236}">
                <a16:creationId xmlns:a16="http://schemas.microsoft.com/office/drawing/2014/main" id="{5853537D-A747-5FEE-1BC4-A4A2D9CF97C1}"/>
              </a:ext>
            </a:extLst>
          </p:cNvPr>
          <p:cNvSpPr>
            <a:spLocks noGrp="1"/>
          </p:cNvSpPr>
          <p:nvPr>
            <p:ph type="body" idx="1"/>
          </p:nvPr>
        </p:nvSpPr>
        <p:spPr/>
        <p:txBody>
          <a:bodyPr/>
          <a:lstStyle/>
          <a:p>
            <a:endParaRPr lang="en-US"/>
          </a:p>
        </p:txBody>
      </p:sp>
      <p:sp>
        <p:nvSpPr>
          <p:cNvPr id="5" name="Footer Placeholder 4">
            <a:extLst>
              <a:ext uri="{FF2B5EF4-FFF2-40B4-BE49-F238E27FC236}">
                <a16:creationId xmlns:a16="http://schemas.microsoft.com/office/drawing/2014/main" id="{A673A0B7-DAAC-3511-91D2-731A96130F6D}"/>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8E74B460-7284-923C-30C8-7F65F0901A2F}"/>
              </a:ext>
            </a:extLst>
          </p:cNvPr>
          <p:cNvSpPr>
            <a:spLocks noGrp="1"/>
          </p:cNvSpPr>
          <p:nvPr>
            <p:ph type="sldNum" sz="quarter" idx="12"/>
          </p:nvPr>
        </p:nvSpPr>
        <p:spPr/>
        <p:txBody>
          <a:bodyPr/>
          <a:lstStyle/>
          <a:p>
            <a:fld id="{C0E0CB54-3DBF-E947-906E-85E307CF7971}" type="slidenum">
              <a:rPr lang="en-US" smtClean="0"/>
              <a:t>38</a:t>
            </a:fld>
            <a:endParaRPr lang="en-US"/>
          </a:p>
        </p:txBody>
      </p:sp>
    </p:spTree>
    <p:extLst>
      <p:ext uri="{BB962C8B-B14F-4D97-AF65-F5344CB8AC3E}">
        <p14:creationId xmlns:p14="http://schemas.microsoft.com/office/powerpoint/2010/main" val="9785076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6D5EB-46AB-09CF-64DA-308FFCFBEDCB}"/>
              </a:ext>
            </a:extLst>
          </p:cNvPr>
          <p:cNvSpPr>
            <a:spLocks noGrp="1"/>
          </p:cNvSpPr>
          <p:nvPr>
            <p:ph type="title"/>
          </p:nvPr>
        </p:nvSpPr>
        <p:spPr/>
        <p:txBody>
          <a:bodyPr/>
          <a:lstStyle/>
          <a:p>
            <a:r>
              <a:rPr lang="en-US" dirty="0"/>
              <a:t>Geometric Vertexing Description</a:t>
            </a:r>
          </a:p>
        </p:txBody>
      </p:sp>
      <p:sp>
        <p:nvSpPr>
          <p:cNvPr id="3" name="Content Placeholder 2">
            <a:extLst>
              <a:ext uri="{FF2B5EF4-FFF2-40B4-BE49-F238E27FC236}">
                <a16:creationId xmlns:a16="http://schemas.microsoft.com/office/drawing/2014/main" id="{BB1355BB-5C5E-482A-9ABD-AD566D995D03}"/>
              </a:ext>
            </a:extLst>
          </p:cNvPr>
          <p:cNvSpPr>
            <a:spLocks noGrp="1"/>
          </p:cNvSpPr>
          <p:nvPr>
            <p:ph idx="1"/>
          </p:nvPr>
        </p:nvSpPr>
        <p:spPr/>
        <p:txBody>
          <a:bodyPr/>
          <a:lstStyle/>
          <a:p>
            <a:endParaRPr lang="en-US"/>
          </a:p>
        </p:txBody>
      </p:sp>
      <p:sp>
        <p:nvSpPr>
          <p:cNvPr id="5" name="Footer Placeholder 4">
            <a:extLst>
              <a:ext uri="{FF2B5EF4-FFF2-40B4-BE49-F238E27FC236}">
                <a16:creationId xmlns:a16="http://schemas.microsoft.com/office/drawing/2014/main" id="{474E05CD-2061-3B5C-B390-F2E364599150}"/>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F4294CDF-C221-79CC-574E-C3DCDAA66E65}"/>
              </a:ext>
            </a:extLst>
          </p:cNvPr>
          <p:cNvSpPr>
            <a:spLocks noGrp="1"/>
          </p:cNvSpPr>
          <p:nvPr>
            <p:ph type="sldNum" sz="quarter" idx="12"/>
          </p:nvPr>
        </p:nvSpPr>
        <p:spPr/>
        <p:txBody>
          <a:bodyPr/>
          <a:lstStyle/>
          <a:p>
            <a:fld id="{C0E0CB54-3DBF-E947-906E-85E307CF7971}" type="slidenum">
              <a:rPr lang="en-US" smtClean="0"/>
              <a:t>39</a:t>
            </a:fld>
            <a:endParaRPr lang="en-US"/>
          </a:p>
        </p:txBody>
      </p:sp>
      <p:sp>
        <p:nvSpPr>
          <p:cNvPr id="4" name="Title 1">
            <a:extLst>
              <a:ext uri="{FF2B5EF4-FFF2-40B4-BE49-F238E27FC236}">
                <a16:creationId xmlns:a16="http://schemas.microsoft.com/office/drawing/2014/main" id="{2D7D70CF-911E-C5FB-6BB0-4BB7425647C4}"/>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Geometric Vertexing Description and Derivation</a:t>
            </a:r>
          </a:p>
        </p:txBody>
      </p:sp>
    </p:spTree>
    <p:extLst>
      <p:ext uri="{BB962C8B-B14F-4D97-AF65-F5344CB8AC3E}">
        <p14:creationId xmlns:p14="http://schemas.microsoft.com/office/powerpoint/2010/main" val="413555289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2E749-E201-3232-DAB3-1F82C7BD869E}"/>
              </a:ext>
            </a:extLst>
          </p:cNvPr>
          <p:cNvSpPr>
            <a:spLocks noGrp="1"/>
          </p:cNvSpPr>
          <p:nvPr>
            <p:ph type="title"/>
          </p:nvPr>
        </p:nvSpPr>
        <p:spPr/>
        <p:txBody>
          <a:bodyPr/>
          <a:lstStyle/>
          <a:p>
            <a:r>
              <a:rPr lang="en-US" dirty="0"/>
              <a:t>Muon-Lifetime Considerations</a:t>
            </a:r>
          </a:p>
        </p:txBody>
      </p:sp>
      <p:sp>
        <p:nvSpPr>
          <p:cNvPr id="3" name="Content Placeholder 2">
            <a:extLst>
              <a:ext uri="{FF2B5EF4-FFF2-40B4-BE49-F238E27FC236}">
                <a16:creationId xmlns:a16="http://schemas.microsoft.com/office/drawing/2014/main" id="{9E0A0A40-ADB9-7214-8562-5917CC41F151}"/>
              </a:ext>
            </a:extLst>
          </p:cNvPr>
          <p:cNvSpPr>
            <a:spLocks noGrp="1"/>
          </p:cNvSpPr>
          <p:nvPr>
            <p:ph idx="1"/>
          </p:nvPr>
        </p:nvSpPr>
        <p:spPr/>
        <p:txBody>
          <a:bodyPr/>
          <a:lstStyle/>
          <a:p>
            <a:endParaRPr lang="en-US"/>
          </a:p>
        </p:txBody>
      </p:sp>
      <p:sp>
        <p:nvSpPr>
          <p:cNvPr id="5" name="Footer Placeholder 4">
            <a:extLst>
              <a:ext uri="{FF2B5EF4-FFF2-40B4-BE49-F238E27FC236}">
                <a16:creationId xmlns:a16="http://schemas.microsoft.com/office/drawing/2014/main" id="{E44B171F-6537-D2FD-07BF-BE5BF1FF3214}"/>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FA00A4A5-DAA8-D675-F330-E5A537364A98}"/>
              </a:ext>
            </a:extLst>
          </p:cNvPr>
          <p:cNvSpPr>
            <a:spLocks noGrp="1"/>
          </p:cNvSpPr>
          <p:nvPr>
            <p:ph type="sldNum" sz="quarter" idx="12"/>
          </p:nvPr>
        </p:nvSpPr>
        <p:spPr/>
        <p:txBody>
          <a:bodyPr/>
          <a:lstStyle/>
          <a:p>
            <a:fld id="{C0E0CB54-3DBF-E947-906E-85E307CF7971}" type="slidenum">
              <a:rPr lang="en-US" smtClean="0"/>
              <a:t>40</a:t>
            </a:fld>
            <a:endParaRPr lang="en-US"/>
          </a:p>
        </p:txBody>
      </p:sp>
      <p:sp>
        <p:nvSpPr>
          <p:cNvPr id="4" name="Title 1">
            <a:extLst>
              <a:ext uri="{FF2B5EF4-FFF2-40B4-BE49-F238E27FC236}">
                <a16:creationId xmlns:a16="http://schemas.microsoft.com/office/drawing/2014/main" id="{C8518CAF-DE97-FA65-0F07-668E1C32A45F}"/>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Muon Lifetime Consideration and Calculation </a:t>
            </a:r>
          </a:p>
        </p:txBody>
      </p:sp>
    </p:spTree>
    <p:extLst>
      <p:ext uri="{BB962C8B-B14F-4D97-AF65-F5344CB8AC3E}">
        <p14:creationId xmlns:p14="http://schemas.microsoft.com/office/powerpoint/2010/main" val="37003797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C2427-717E-10B7-499E-D36E90151455}"/>
              </a:ext>
            </a:extLst>
          </p:cNvPr>
          <p:cNvSpPr>
            <a:spLocks noGrp="1"/>
          </p:cNvSpPr>
          <p:nvPr>
            <p:ph type="title"/>
          </p:nvPr>
        </p:nvSpPr>
        <p:spPr>
          <a:xfrm>
            <a:off x="0" y="0"/>
            <a:ext cx="10515600" cy="424543"/>
          </a:xfrm>
        </p:spPr>
        <p:txBody>
          <a:bodyPr>
            <a:normAutofit fontScale="90000"/>
          </a:bodyPr>
          <a:lstStyle/>
          <a:p>
            <a:r>
              <a:rPr lang="en-US" sz="2800" dirty="0">
                <a:solidFill>
                  <a:srgbClr val="C00000"/>
                </a:solidFill>
              </a:rPr>
              <a:t>Back-of-Envelope Wall Clock Hours Prediction (Pt. 1)</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EE336D6-6E62-DF3A-041D-E5CCA5F86300}"/>
                  </a:ext>
                </a:extLst>
              </p:cNvPr>
              <p:cNvSpPr>
                <a:spLocks noGrp="1"/>
              </p:cNvSpPr>
              <p:nvPr>
                <p:ph idx="1"/>
              </p:nvPr>
            </p:nvSpPr>
            <p:spPr>
              <a:xfrm>
                <a:off x="0" y="424542"/>
                <a:ext cx="12192000" cy="6002383"/>
              </a:xfrm>
            </p:spPr>
            <p:txBody>
              <a:bodyPr>
                <a:normAutofit fontScale="92500" lnSpcReduction="10000"/>
              </a:bodyPr>
              <a:lstStyle/>
              <a:p>
                <a:r>
                  <a:rPr lang="en-US" dirty="0"/>
                  <a:t>Number of signal events needed:</a:t>
                </a:r>
              </a:p>
              <a:p>
                <a:endParaRPr lang="en-US" dirty="0"/>
              </a:p>
              <a:p>
                <a:r>
                  <a:rPr lang="en-US" dirty="0"/>
                  <a:t>Live time required:</a:t>
                </a:r>
              </a:p>
              <a:p>
                <a:endParaRPr lang="en-US" dirty="0"/>
              </a:p>
              <a:p>
                <a:endParaRPr lang="en-US" dirty="0"/>
              </a:p>
              <a:p>
                <a:r>
                  <a:rPr lang="en-US" dirty="0"/>
                  <a:t>Useful parents being stopped muons means we can determine the rate of the stopped muons from:</a:t>
                </a:r>
              </a:p>
              <a:p>
                <a:endParaRPr lang="en-US" dirty="0"/>
              </a:p>
              <a:p>
                <a:r>
                  <a:rPr lang="en-US" dirty="0"/>
                  <a:t>Live time in quantities of the beam (</a:t>
                </a:r>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𝑃𝑂𝑇</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𝑝</m:t>
                        </m:r>
                      </m:sub>
                    </m:sSub>
                  </m:oMath>
                </a14:m>
                <a:r>
                  <a:rPr lang="en-US" dirty="0"/>
                  <a:t>), stops, and efficiency</a:t>
                </a:r>
              </a:p>
              <a:p>
                <a:endParaRPr lang="en-US" dirty="0"/>
              </a:p>
              <a:p>
                <a:endParaRPr lang="en-US" dirty="0"/>
              </a:p>
              <a:p>
                <a:endParaRPr lang="en-US" dirty="0"/>
              </a:p>
              <a:p>
                <a:pPr marL="0" indent="0">
                  <a:buNone/>
                </a:pPr>
                <a:r>
                  <a:rPr lang="en-US" dirty="0"/>
                  <a:t>Note that efficiency (</a:t>
                </a:r>
                <a14:m>
                  <m:oMath xmlns:m="http://schemas.openxmlformats.org/officeDocument/2006/math">
                    <m:r>
                      <a:rPr lang="en-US" i="1" smtClean="0">
                        <a:latin typeface="Cambria Math" panose="02040503050406030204" pitchFamily="18" charset="0"/>
                        <a:ea typeface="Cambria Math" panose="02040503050406030204" pitchFamily="18" charset="0"/>
                      </a:rPr>
                      <m:t>𝜖</m:t>
                    </m:r>
                  </m:oMath>
                </a14:m>
                <a:r>
                  <a:rPr lang="en-US" dirty="0"/>
                  <a:t>) is comprised of multiple different efficiencies multiplied together: 						           found via simulation</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BEE336D6-6E62-DF3A-041D-E5CCA5F86300}"/>
                  </a:ext>
                </a:extLst>
              </p:cNvPr>
              <p:cNvSpPr>
                <a:spLocks noGrp="1" noRot="1" noChangeAspect="1" noMove="1" noResize="1" noEditPoints="1" noAdjustHandles="1" noChangeArrowheads="1" noChangeShapeType="1" noTextEdit="1"/>
              </p:cNvSpPr>
              <p:nvPr>
                <p:ph idx="1"/>
              </p:nvPr>
            </p:nvSpPr>
            <p:spPr>
              <a:xfrm>
                <a:off x="0" y="424542"/>
                <a:ext cx="12192000" cy="6002383"/>
              </a:xfrm>
              <a:blipFill>
                <a:blip r:embed="rId2"/>
                <a:stretch>
                  <a:fillRect l="-937" t="-1903" b="-1903"/>
                </a:stretch>
              </a:blipFill>
            </p:spPr>
            <p:txBody>
              <a:bodyPr/>
              <a:lstStyle/>
              <a:p>
                <a:r>
                  <a:rPr lang="en-US">
                    <a:noFill/>
                  </a:rPr>
                  <a:t> </a:t>
                </a:r>
              </a:p>
            </p:txBody>
          </p:sp>
        </mc:Fallback>
      </mc:AlternateContent>
      <p:sp>
        <p:nvSpPr>
          <p:cNvPr id="5" name="Footer Placeholder 4">
            <a:extLst>
              <a:ext uri="{FF2B5EF4-FFF2-40B4-BE49-F238E27FC236}">
                <a16:creationId xmlns:a16="http://schemas.microsoft.com/office/drawing/2014/main" id="{3B82106C-7645-E655-5150-04AC88AF6672}"/>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D5957589-9CDF-38F6-21A5-9EE82081981E}"/>
              </a:ext>
            </a:extLst>
          </p:cNvPr>
          <p:cNvSpPr>
            <a:spLocks noGrp="1"/>
          </p:cNvSpPr>
          <p:nvPr>
            <p:ph type="sldNum" sz="quarter" idx="12"/>
          </p:nvPr>
        </p:nvSpPr>
        <p:spPr/>
        <p:txBody>
          <a:bodyPr/>
          <a:lstStyle/>
          <a:p>
            <a:fld id="{C0E0CB54-3DBF-E947-906E-85E307CF7971}" type="slidenum">
              <a:rPr lang="en-US" smtClean="0"/>
              <a:t>41</a:t>
            </a:fld>
            <a:endParaRPr lang="en-US" dirty="0"/>
          </a:p>
        </p:txBody>
      </p:sp>
      <p:pic>
        <p:nvPicPr>
          <p:cNvPr id="8" name="Picture 7">
            <a:extLst>
              <a:ext uri="{FF2B5EF4-FFF2-40B4-BE49-F238E27FC236}">
                <a16:creationId xmlns:a16="http://schemas.microsoft.com/office/drawing/2014/main" id="{9765FAF5-D931-54B8-7EDF-89CDC48CEA60}"/>
              </a:ext>
            </a:extLst>
          </p:cNvPr>
          <p:cNvPicPr>
            <a:picLocks noChangeAspect="1"/>
          </p:cNvPicPr>
          <p:nvPr/>
        </p:nvPicPr>
        <p:blipFill>
          <a:blip r:embed="rId3"/>
          <a:stretch>
            <a:fillRect/>
          </a:stretch>
        </p:blipFill>
        <p:spPr>
          <a:xfrm>
            <a:off x="2262051" y="1748228"/>
            <a:ext cx="5991497" cy="714894"/>
          </a:xfrm>
          <a:prstGeom prst="rect">
            <a:avLst/>
          </a:prstGeom>
        </p:spPr>
      </p:pic>
      <p:pic>
        <p:nvPicPr>
          <p:cNvPr id="9" name="Picture 8">
            <a:extLst>
              <a:ext uri="{FF2B5EF4-FFF2-40B4-BE49-F238E27FC236}">
                <a16:creationId xmlns:a16="http://schemas.microsoft.com/office/drawing/2014/main" id="{7CDE9E62-73D9-6DA4-90AE-5AC38D2EDA79}"/>
              </a:ext>
            </a:extLst>
          </p:cNvPr>
          <p:cNvPicPr>
            <a:picLocks noChangeAspect="1"/>
          </p:cNvPicPr>
          <p:nvPr/>
        </p:nvPicPr>
        <p:blipFill>
          <a:blip r:embed="rId4"/>
          <a:stretch>
            <a:fillRect/>
          </a:stretch>
        </p:blipFill>
        <p:spPr>
          <a:xfrm>
            <a:off x="2209799" y="985309"/>
            <a:ext cx="7772400" cy="349528"/>
          </a:xfrm>
          <a:prstGeom prst="rect">
            <a:avLst/>
          </a:prstGeom>
        </p:spPr>
      </p:pic>
      <p:pic>
        <p:nvPicPr>
          <p:cNvPr id="10" name="Picture 9">
            <a:extLst>
              <a:ext uri="{FF2B5EF4-FFF2-40B4-BE49-F238E27FC236}">
                <a16:creationId xmlns:a16="http://schemas.microsoft.com/office/drawing/2014/main" id="{0773DCB2-6819-2A40-2EBA-2BE6DE3AE177}"/>
              </a:ext>
            </a:extLst>
          </p:cNvPr>
          <p:cNvPicPr>
            <a:picLocks noChangeAspect="1"/>
          </p:cNvPicPr>
          <p:nvPr/>
        </p:nvPicPr>
        <p:blipFill>
          <a:blip r:embed="rId5"/>
          <a:stretch>
            <a:fillRect/>
          </a:stretch>
        </p:blipFill>
        <p:spPr>
          <a:xfrm>
            <a:off x="2405742" y="3174009"/>
            <a:ext cx="6043748" cy="706871"/>
          </a:xfrm>
          <a:prstGeom prst="rect">
            <a:avLst/>
          </a:prstGeom>
        </p:spPr>
      </p:pic>
      <p:pic>
        <p:nvPicPr>
          <p:cNvPr id="11" name="Picture 10">
            <a:extLst>
              <a:ext uri="{FF2B5EF4-FFF2-40B4-BE49-F238E27FC236}">
                <a16:creationId xmlns:a16="http://schemas.microsoft.com/office/drawing/2014/main" id="{20D9ACD0-2F37-5D3C-7836-6EA6226B561D}"/>
              </a:ext>
            </a:extLst>
          </p:cNvPr>
          <p:cNvPicPr>
            <a:picLocks noChangeAspect="1"/>
          </p:cNvPicPr>
          <p:nvPr/>
        </p:nvPicPr>
        <p:blipFill>
          <a:blip r:embed="rId6"/>
          <a:stretch>
            <a:fillRect/>
          </a:stretch>
        </p:blipFill>
        <p:spPr>
          <a:xfrm>
            <a:off x="2066108" y="4602120"/>
            <a:ext cx="6383382" cy="620607"/>
          </a:xfrm>
          <a:prstGeom prst="rect">
            <a:avLst/>
          </a:prstGeom>
        </p:spPr>
      </p:pic>
      <p:pic>
        <p:nvPicPr>
          <p:cNvPr id="12" name="Picture 11">
            <a:extLst>
              <a:ext uri="{FF2B5EF4-FFF2-40B4-BE49-F238E27FC236}">
                <a16:creationId xmlns:a16="http://schemas.microsoft.com/office/drawing/2014/main" id="{1F2C81D3-3CC5-53FB-BFDC-9B9D267EFB1D}"/>
              </a:ext>
            </a:extLst>
          </p:cNvPr>
          <p:cNvPicPr>
            <a:picLocks noChangeAspect="1"/>
          </p:cNvPicPr>
          <p:nvPr/>
        </p:nvPicPr>
        <p:blipFill>
          <a:blip r:embed="rId7"/>
          <a:stretch>
            <a:fillRect/>
          </a:stretch>
        </p:blipFill>
        <p:spPr>
          <a:xfrm>
            <a:off x="1482009" y="6061800"/>
            <a:ext cx="5622267" cy="201626"/>
          </a:xfrm>
          <a:prstGeom prst="rect">
            <a:avLst/>
          </a:prstGeom>
        </p:spPr>
      </p:pic>
    </p:spTree>
    <p:extLst>
      <p:ext uri="{BB962C8B-B14F-4D97-AF65-F5344CB8AC3E}">
        <p14:creationId xmlns:p14="http://schemas.microsoft.com/office/powerpoint/2010/main" val="16782041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F9290EE-BEC6-0A6E-2D4B-BA3D8AFA5182}"/>
                  </a:ext>
                </a:extLst>
              </p:cNvPr>
              <p:cNvSpPr>
                <a:spLocks noGrp="1"/>
              </p:cNvSpPr>
              <p:nvPr>
                <p:ph idx="1"/>
              </p:nvPr>
            </p:nvSpPr>
            <p:spPr>
              <a:xfrm>
                <a:off x="0" y="574765"/>
                <a:ext cx="12192000" cy="5781585"/>
              </a:xfrm>
            </p:spPr>
            <p:txBody>
              <a:bodyPr>
                <a:normAutofit/>
              </a:bodyPr>
              <a:lstStyle/>
              <a:p>
                <a:r>
                  <a:rPr lang="en-US" dirty="0"/>
                  <a:t>Values to use in the calculation: </a:t>
                </a:r>
              </a:p>
              <a:p>
                <a:pPr lvl="1"/>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=1.5</m:t>
                    </m:r>
                  </m:oMath>
                </a14:m>
                <a:r>
                  <a:rPr lang="en-US" dirty="0"/>
                  <a:t> kW (Bernstein, 2019 Frontiers), needs to be reduced by large factor (300) for pileup considerations in reconstruction </a:t>
                </a:r>
                <a:r>
                  <a:rPr lang="en-US" dirty="0">
                    <a:sym typeface="Wingdings" pitchFamily="2" charset="2"/>
                  </a:rPr>
                  <a:t> exact to be determined</a:t>
                </a:r>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𝑝</m:t>
                        </m:r>
                      </m:sub>
                    </m:sSub>
                    <m:r>
                      <a:rPr lang="en-US" b="0" i="1" smtClean="0">
                        <a:latin typeface="Cambria Math" panose="02040503050406030204" pitchFamily="18" charset="0"/>
                      </a:rPr>
                      <m:t>=8</m:t>
                    </m:r>
                  </m:oMath>
                </a14:m>
                <a:r>
                  <a:rPr lang="en-US" dirty="0"/>
                  <a:t> GeV</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𝑠𝑡𝑜𝑝𝑠</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18</m:t>
                        </m:r>
                      </m:sup>
                    </m:sSup>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𝜇</m:t>
                    </m:r>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𝑃𝑂𝑇</m:t>
                        </m:r>
                      </m:sub>
                    </m:sSub>
                    <m:r>
                      <a:rPr lang="en-US" b="0" i="1" smtClean="0">
                        <a:latin typeface="Cambria Math" panose="02040503050406030204" pitchFamily="18" charset="0"/>
                      </a:rPr>
                      <m:t>=3.8</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10</m:t>
                        </m:r>
                      </m:e>
                      <m:sup>
                        <m:r>
                          <a:rPr lang="en-US" b="0" i="1" smtClean="0">
                            <a:latin typeface="Cambria Math" panose="02040503050406030204" pitchFamily="18" charset="0"/>
                            <a:ea typeface="Cambria Math" panose="02040503050406030204" pitchFamily="18" charset="0"/>
                          </a:rPr>
                          <m:t>20</m:t>
                        </m:r>
                      </m:sup>
                    </m:sSup>
                  </m:oMath>
                </a14:m>
                <a:r>
                  <a:rPr lang="en-US" dirty="0"/>
                  <a:t> protons</a:t>
                </a:r>
              </a:p>
              <a:p>
                <a:pPr lvl="1"/>
                <a14:m>
                  <m:oMath xmlns:m="http://schemas.openxmlformats.org/officeDocument/2006/math">
                    <m:r>
                      <a:rPr lang="en-US" b="0" i="1" smtClean="0">
                        <a:latin typeface="Cambria Math" panose="02040503050406030204" pitchFamily="18" charset="0"/>
                      </a:rPr>
                      <m:t>𝐵𝑟</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𝜇</m:t>
                            </m:r>
                          </m:e>
                          <m:sup>
                            <m:r>
                              <a:rPr lang="en-US" b="0" i="1" smtClean="0">
                                <a:latin typeface="Cambria Math" panose="02040503050406030204" pitchFamily="18" charset="0"/>
                              </a:rPr>
                              <m:t>−</m:t>
                            </m:r>
                          </m:sup>
                        </m:sSup>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𝑒</m:t>
                            </m:r>
                          </m:e>
                          <m:sup>
                            <m:r>
                              <a:rPr lang="en-US" b="0" i="1" smtClean="0">
                                <a:latin typeface="Cambria Math" panose="02040503050406030204" pitchFamily="18" charset="0"/>
                                <a:ea typeface="Cambria Math" panose="02040503050406030204" pitchFamily="18" charset="0"/>
                              </a:rPr>
                              <m:t>−</m:t>
                            </m:r>
                          </m:sup>
                        </m:sSup>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𝑒</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=1.0×</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10</m:t>
                        </m:r>
                      </m:e>
                      <m:sup>
                        <m:r>
                          <a:rPr lang="en-US" b="0" i="1" smtClean="0">
                            <a:latin typeface="Cambria Math" panose="02040503050406030204" pitchFamily="18" charset="0"/>
                            <a:ea typeface="Cambria Math" panose="02040503050406030204" pitchFamily="18" charset="0"/>
                          </a:rPr>
                          <m:t>−12</m:t>
                        </m:r>
                      </m:sup>
                    </m:sSup>
                  </m:oMath>
                </a14:m>
                <a:r>
                  <a:rPr lang="en-US" dirty="0"/>
                  <a:t> branching ratio from Sindrum II analogous process</a:t>
                </a:r>
              </a:p>
              <a:p>
                <a:pPr lvl="1"/>
                <a:endParaRPr lang="en-US" dirty="0"/>
              </a:p>
              <a:p>
                <a:pPr lvl="1"/>
                <a:endParaRPr lang="en-US" dirty="0"/>
              </a:p>
              <a:p>
                <a:pPr marL="457200" lvl="1" indent="0">
                  <a:buNone/>
                </a:pPr>
                <a:r>
                  <a:rPr lang="en-US" dirty="0"/>
                  <a:t>From initial simulation, efficiency from muon stops to </a:t>
                </a:r>
                <a:r>
                  <a:rPr lang="en-US" dirty="0" err="1"/>
                  <a:t>ntuple</a:t>
                </a:r>
                <a:r>
                  <a:rPr lang="en-US" dirty="0"/>
                  <a:t> stage </a:t>
                </a:r>
                <a14:m>
                  <m:oMath xmlns:m="http://schemas.openxmlformats.org/officeDocument/2006/math">
                    <m:r>
                      <a:rPr lang="en-US" i="1" smtClean="0">
                        <a:latin typeface="Cambria Math" panose="02040503050406030204" pitchFamily="18" charset="0"/>
                        <a:ea typeface="Cambria Math" panose="02040503050406030204" pitchFamily="18" charset="0"/>
                      </a:rPr>
                      <m:t>𝜀</m:t>
                    </m:r>
                    <m:r>
                      <a:rPr lang="en-US" i="1" smtClean="0">
                        <a:latin typeface="Cambria Math" panose="02040503050406030204" pitchFamily="18" charset="0"/>
                        <a:ea typeface="Cambria Math" panose="02040503050406030204" pitchFamily="18" charset="0"/>
                      </a:rPr>
                      <m:t>≈9.54</m:t>
                    </m:r>
                    <m:r>
                      <a:rPr lang="en-US" b="0" i="1" smtClean="0">
                        <a:latin typeface="Cambria Math" panose="02040503050406030204" pitchFamily="18" charset="0"/>
                        <a:ea typeface="Cambria Math" panose="02040503050406030204" pitchFamily="18" charset="0"/>
                      </a:rPr>
                      <m:t>%</m:t>
                    </m:r>
                  </m:oMath>
                </a14:m>
                <a:r>
                  <a:rPr lang="en-US" dirty="0"/>
                  <a:t> (estimate)</a:t>
                </a:r>
              </a:p>
              <a:p>
                <a:pPr lvl="1"/>
                <a:r>
                  <a:rPr lang="en-US" dirty="0"/>
                  <a:t>For 90% confidence interval: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𝑠𝑖𝑔𝑛𝑎𝑙</m:t>
                        </m:r>
                      </m:sub>
                    </m:sSub>
                    <m:r>
                      <a:rPr lang="en-US" b="0" i="1" smtClean="0">
                        <a:latin typeface="Cambria Math" panose="02040503050406030204" pitchFamily="18" charset="0"/>
                      </a:rPr>
                      <m:t>=2.3</m:t>
                    </m:r>
                  </m:oMath>
                </a14:m>
                <a:r>
                  <a:rPr lang="en-US" dirty="0"/>
                  <a:t> events </a:t>
                </a:r>
                <a:r>
                  <a:rPr lang="en-US" dirty="0">
                    <a:sym typeface="Wingdings" pitchFamily="2" charset="2"/>
                  </a:rPr>
                  <a:t> 648.94 hours </a:t>
                </a:r>
                <a14:m>
                  <m:oMath xmlns:m="http://schemas.openxmlformats.org/officeDocument/2006/math">
                    <m:r>
                      <a:rPr lang="en-US" i="1" smtClean="0">
                        <a:latin typeface="Cambria Math" panose="02040503050406030204" pitchFamily="18" charset="0"/>
                        <a:ea typeface="Cambria Math" panose="02040503050406030204" pitchFamily="18" charset="0"/>
                        <a:sym typeface="Wingdings" pitchFamily="2" charset="2"/>
                      </a:rPr>
                      <m:t>≈</m:t>
                    </m:r>
                  </m:oMath>
                </a14:m>
                <a:r>
                  <a:rPr lang="en-US" dirty="0"/>
                  <a:t> 27.04 days</a:t>
                </a:r>
              </a:p>
              <a:p>
                <a:pPr lvl="1"/>
                <a:r>
                  <a:rPr lang="en-US" dirty="0"/>
                  <a:t>For 95% confidence interval: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𝑠𝑖𝑔𝑛𝑎𝑙</m:t>
                        </m:r>
                      </m:sub>
                    </m:sSub>
                    <m:r>
                      <a:rPr lang="en-US" i="1">
                        <a:latin typeface="Cambria Math" panose="02040503050406030204" pitchFamily="18" charset="0"/>
                      </a:rPr>
                      <m:t>=</m:t>
                    </m:r>
                    <m:r>
                      <a:rPr lang="en-US" b="0" i="1" smtClean="0">
                        <a:latin typeface="Cambria Math" panose="02040503050406030204" pitchFamily="18" charset="0"/>
                      </a:rPr>
                      <m:t>3</m:t>
                    </m:r>
                  </m:oMath>
                </a14:m>
                <a:r>
                  <a:rPr lang="en-US" dirty="0"/>
                  <a:t> events</a:t>
                </a:r>
                <a:r>
                  <a:rPr lang="en-US" dirty="0">
                    <a:sym typeface="Wingdings" pitchFamily="2" charset="2"/>
                  </a:rPr>
                  <a:t> 846.45 hours </a:t>
                </a:r>
                <a14:m>
                  <m:oMath xmlns:m="http://schemas.openxmlformats.org/officeDocument/2006/math">
                    <m:r>
                      <a:rPr lang="en-US" i="1">
                        <a:latin typeface="Cambria Math" panose="02040503050406030204" pitchFamily="18" charset="0"/>
                        <a:ea typeface="Cambria Math" panose="02040503050406030204" pitchFamily="18" charset="0"/>
                        <a:sym typeface="Wingdings" pitchFamily="2" charset="2"/>
                      </a:rPr>
                      <m:t>≈</m:t>
                    </m:r>
                  </m:oMath>
                </a14:m>
                <a:r>
                  <a:rPr lang="en-US" dirty="0"/>
                  <a:t> 35.27 days</a:t>
                </a:r>
              </a:p>
              <a:p>
                <a:pPr lvl="1"/>
                <a:r>
                  <a:rPr lang="en-US" dirty="0"/>
                  <a:t>For 99% confidence interval: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𝑠𝑖𝑔𝑛𝑎𝑙</m:t>
                        </m:r>
                      </m:sub>
                    </m:sSub>
                    <m:r>
                      <a:rPr lang="en-US" i="1">
                        <a:latin typeface="Cambria Math" panose="02040503050406030204" pitchFamily="18" charset="0"/>
                      </a:rPr>
                      <m:t>=</m:t>
                    </m:r>
                    <m:r>
                      <a:rPr lang="en-US" b="0" i="1" smtClean="0">
                        <a:latin typeface="Cambria Math" panose="02040503050406030204" pitchFamily="18" charset="0"/>
                      </a:rPr>
                      <m:t>4.6</m:t>
                    </m:r>
                  </m:oMath>
                </a14:m>
                <a:r>
                  <a:rPr lang="en-US" dirty="0"/>
                  <a:t> events </a:t>
                </a:r>
                <a:r>
                  <a:rPr lang="en-US" dirty="0">
                    <a:sym typeface="Wingdings" pitchFamily="2" charset="2"/>
                  </a:rPr>
                  <a:t> 1,297.89 hours  </a:t>
                </a:r>
                <a14:m>
                  <m:oMath xmlns:m="http://schemas.openxmlformats.org/officeDocument/2006/math">
                    <m:r>
                      <a:rPr lang="en-US" i="1">
                        <a:latin typeface="Cambria Math" panose="02040503050406030204" pitchFamily="18" charset="0"/>
                        <a:ea typeface="Cambria Math" panose="02040503050406030204" pitchFamily="18" charset="0"/>
                        <a:sym typeface="Wingdings" pitchFamily="2" charset="2"/>
                      </a:rPr>
                      <m:t>≈</m:t>
                    </m:r>
                  </m:oMath>
                </a14:m>
                <a:r>
                  <a:rPr lang="en-US" dirty="0"/>
                  <a:t> 54.08 days</a:t>
                </a:r>
              </a:p>
              <a:p>
                <a:endParaRPr lang="en-US" dirty="0"/>
              </a:p>
            </p:txBody>
          </p:sp>
        </mc:Choice>
        <mc:Fallback>
          <p:sp>
            <p:nvSpPr>
              <p:cNvPr id="3" name="Content Placeholder 2">
                <a:extLst>
                  <a:ext uri="{FF2B5EF4-FFF2-40B4-BE49-F238E27FC236}">
                    <a16:creationId xmlns:a16="http://schemas.microsoft.com/office/drawing/2014/main" id="{5F9290EE-BEC6-0A6E-2D4B-BA3D8AFA5182}"/>
                  </a:ext>
                </a:extLst>
              </p:cNvPr>
              <p:cNvSpPr>
                <a:spLocks noGrp="1" noRot="1" noChangeAspect="1" noMove="1" noResize="1" noEditPoints="1" noAdjustHandles="1" noChangeArrowheads="1" noChangeShapeType="1" noTextEdit="1"/>
              </p:cNvSpPr>
              <p:nvPr>
                <p:ph idx="1"/>
              </p:nvPr>
            </p:nvSpPr>
            <p:spPr>
              <a:xfrm>
                <a:off x="0" y="574765"/>
                <a:ext cx="12192000" cy="5781585"/>
              </a:xfrm>
              <a:blipFill>
                <a:blip r:embed="rId2"/>
                <a:stretch>
                  <a:fillRect l="-937" t="-1974" r="-312"/>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A1AA0C7B-4F8E-1302-0E82-E9D410A19CDF}"/>
              </a:ext>
            </a:extLst>
          </p:cNvPr>
          <p:cNvSpPr>
            <a:spLocks noGrp="1"/>
          </p:cNvSpPr>
          <p:nvPr>
            <p:ph type="ftr" sz="quarter" idx="11"/>
          </p:nvPr>
        </p:nvSpPr>
        <p:spPr/>
        <p:txBody>
          <a:bodyPr/>
          <a:lstStyle/>
          <a:p>
            <a:r>
              <a:rPr lang="en-US"/>
              <a:t>Boldy Sensitivity Study Mu2e</a:t>
            </a:r>
          </a:p>
        </p:txBody>
      </p:sp>
      <p:sp>
        <p:nvSpPr>
          <p:cNvPr id="5" name="Slide Number Placeholder 4">
            <a:extLst>
              <a:ext uri="{FF2B5EF4-FFF2-40B4-BE49-F238E27FC236}">
                <a16:creationId xmlns:a16="http://schemas.microsoft.com/office/drawing/2014/main" id="{9EED8746-9439-C22E-5A2C-4A7E7556C208}"/>
              </a:ext>
            </a:extLst>
          </p:cNvPr>
          <p:cNvSpPr>
            <a:spLocks noGrp="1"/>
          </p:cNvSpPr>
          <p:nvPr>
            <p:ph type="sldNum" sz="quarter" idx="12"/>
          </p:nvPr>
        </p:nvSpPr>
        <p:spPr/>
        <p:txBody>
          <a:bodyPr/>
          <a:lstStyle/>
          <a:p>
            <a:fld id="{C0E0CB54-3DBF-E947-906E-85E307CF7971}" type="slidenum">
              <a:rPr lang="en-US" smtClean="0"/>
              <a:t>42</a:t>
            </a:fld>
            <a:endParaRPr lang="en-US"/>
          </a:p>
        </p:txBody>
      </p:sp>
      <p:sp>
        <p:nvSpPr>
          <p:cNvPr id="6" name="Title 1">
            <a:extLst>
              <a:ext uri="{FF2B5EF4-FFF2-40B4-BE49-F238E27FC236}">
                <a16:creationId xmlns:a16="http://schemas.microsoft.com/office/drawing/2014/main" id="{9AE1F9AE-A6BD-D5CA-2031-9DD933346201}"/>
              </a:ext>
            </a:extLst>
          </p:cNvPr>
          <p:cNvSpPr>
            <a:spLocks noGrp="1"/>
          </p:cNvSpPr>
          <p:nvPr>
            <p:ph type="title"/>
          </p:nvPr>
        </p:nvSpPr>
        <p:spPr>
          <a:xfrm>
            <a:off x="0" y="0"/>
            <a:ext cx="10515600" cy="424543"/>
          </a:xfrm>
        </p:spPr>
        <p:txBody>
          <a:bodyPr>
            <a:normAutofit fontScale="90000"/>
          </a:bodyPr>
          <a:lstStyle/>
          <a:p>
            <a:r>
              <a:rPr lang="en-US" sz="2800" dirty="0">
                <a:solidFill>
                  <a:srgbClr val="C00000"/>
                </a:solidFill>
              </a:rPr>
              <a:t>Back-of-Envelope Wall Clock Hours Prediction (Pt. 2)</a:t>
            </a:r>
          </a:p>
        </p:txBody>
      </p:sp>
      <p:pic>
        <p:nvPicPr>
          <p:cNvPr id="2" name="Picture 1">
            <a:extLst>
              <a:ext uri="{FF2B5EF4-FFF2-40B4-BE49-F238E27FC236}">
                <a16:creationId xmlns:a16="http://schemas.microsoft.com/office/drawing/2014/main" id="{77923FF2-3374-173A-1897-48EF55C6476A}"/>
              </a:ext>
            </a:extLst>
          </p:cNvPr>
          <p:cNvPicPr>
            <a:picLocks noChangeAspect="1"/>
          </p:cNvPicPr>
          <p:nvPr/>
        </p:nvPicPr>
        <p:blipFill>
          <a:blip r:embed="rId3"/>
          <a:stretch>
            <a:fillRect/>
          </a:stretch>
        </p:blipFill>
        <p:spPr>
          <a:xfrm>
            <a:off x="3605044" y="3429000"/>
            <a:ext cx="4548356" cy="667567"/>
          </a:xfrm>
          <a:prstGeom prst="rect">
            <a:avLst/>
          </a:prstGeom>
        </p:spPr>
      </p:pic>
    </p:spTree>
    <p:extLst>
      <p:ext uri="{BB962C8B-B14F-4D97-AF65-F5344CB8AC3E}">
        <p14:creationId xmlns:p14="http://schemas.microsoft.com/office/powerpoint/2010/main" val="34646254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927CEA1-D624-33D2-7572-4EEE4D3E60CD}"/>
                  </a:ext>
                </a:extLst>
              </p:cNvPr>
              <p:cNvSpPr>
                <a:spLocks noGrp="1"/>
              </p:cNvSpPr>
              <p:nvPr>
                <p:ph idx="1"/>
              </p:nvPr>
            </p:nvSpPr>
            <p:spPr>
              <a:xfrm>
                <a:off x="0" y="424542"/>
                <a:ext cx="12192000" cy="5931807"/>
              </a:xfrm>
            </p:spPr>
            <p:txBody>
              <a:bodyPr/>
              <a:lstStyle/>
              <a:p>
                <a:r>
                  <a:rPr lang="en-US" dirty="0"/>
                  <a:t>Assumptions</a:t>
                </a:r>
              </a:p>
              <a:p>
                <a:pPr lvl="1"/>
                <a:r>
                  <a:rPr lang="en-US" dirty="0"/>
                  <a:t> static magnetic field (</a:t>
                </a:r>
                <a14:m>
                  <m:oMath xmlns:m="http://schemas.openxmlformats.org/officeDocument/2006/math">
                    <m:f>
                      <m:fPr>
                        <m:type m:val="skw"/>
                        <m:ctrlPr>
                          <a:rPr lang="en-US" i="1">
                            <a:latin typeface="Cambria Math" panose="02040503050406030204" pitchFamily="18" charset="0"/>
                          </a:rPr>
                        </m:ctrlPr>
                      </m:fPr>
                      <m:num>
                        <m:r>
                          <a:rPr lang="en-US" i="1">
                            <a:latin typeface="Cambria Math" panose="02040503050406030204" pitchFamily="18" charset="0"/>
                          </a:rPr>
                          <m:t>𝑑𝐵</m:t>
                        </m:r>
                      </m:num>
                      <m:den>
                        <m:r>
                          <a:rPr lang="en-US" i="1">
                            <a:latin typeface="Cambria Math" panose="02040503050406030204" pitchFamily="18" charset="0"/>
                          </a:rPr>
                          <m:t>𝑑𝑡</m:t>
                        </m:r>
                      </m:den>
                    </m:f>
                    <m:r>
                      <a:rPr lang="en-US" i="1">
                        <a:latin typeface="Cambria Math" panose="02040503050406030204" pitchFamily="18" charset="0"/>
                      </a:rPr>
                      <m:t>=0</m:t>
                    </m:r>
                  </m:oMath>
                </a14:m>
                <a:r>
                  <a:rPr lang="en-US" dirty="0"/>
                  <a:t>) with no external electric field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𝐸</m:t>
                        </m:r>
                      </m:e>
                    </m:acc>
                    <m:r>
                      <a:rPr lang="en-US" b="0" i="1" smtClean="0">
                        <a:latin typeface="Cambria Math" panose="02040503050406030204" pitchFamily="18" charset="0"/>
                      </a:rPr>
                      <m:t>=0</m:t>
                    </m:r>
                  </m:oMath>
                </a14:m>
                <a:endParaRPr lang="en-US" dirty="0"/>
              </a:p>
              <a:p>
                <a:pPr lvl="1"/>
                <a:r>
                  <a:rPr lang="en-US" dirty="0"/>
                  <a:t>Nonrelativistic motion (</a:t>
                </a:r>
                <a14:m>
                  <m:oMath xmlns:m="http://schemas.openxmlformats.org/officeDocument/2006/math">
                    <m:r>
                      <a:rPr lang="en-US" b="0" i="1" smtClean="0">
                        <a:latin typeface="Cambria Math" panose="02040503050406030204" pitchFamily="18" charset="0"/>
                      </a:rPr>
                      <m:t>𝑣</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𝑐</m:t>
                    </m:r>
                  </m:oMath>
                </a14:m>
                <a:r>
                  <a:rPr lang="en-US" dirty="0"/>
                  <a:t>) for particles moving in field</a:t>
                </a:r>
              </a:p>
              <a:p>
                <a:pPr lvl="1"/>
                <a:r>
                  <a:rPr lang="en-US" dirty="0"/>
                  <a:t>Magnetic field assumed to be solely in </a:t>
                </a:r>
                <a14:m>
                  <m:oMath xmlns:m="http://schemas.openxmlformats.org/officeDocument/2006/math">
                    <m:r>
                      <a:rPr lang="en-US" b="0" i="1" smtClean="0">
                        <a:latin typeface="Cambria Math" panose="02040503050406030204" pitchFamily="18" charset="0"/>
                      </a:rPr>
                      <m:t>𝑧</m:t>
                    </m:r>
                  </m:oMath>
                </a14:m>
                <a:r>
                  <a:rPr lang="en-US" dirty="0"/>
                  <a:t>-direction,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𝐵</m:t>
                        </m:r>
                      </m:e>
                    </m:acc>
                    <m:r>
                      <a:rPr lang="en-US" b="0" i="1" smtClean="0">
                        <a:latin typeface="Cambria Math" panose="02040503050406030204" pitchFamily="18" charset="0"/>
                      </a:rPr>
                      <m:t>=</m:t>
                    </m:r>
                    <m:r>
                      <a:rPr lang="en-US" b="0" i="1" smtClean="0">
                        <a:latin typeface="Cambria Math" panose="02040503050406030204" pitchFamily="18" charset="0"/>
                      </a:rPr>
                      <m:t>𝐵</m:t>
                    </m:r>
                    <m:r>
                      <a:rPr lang="en-US" b="0" i="1" smtClean="0">
                        <a:latin typeface="Cambria Math" panose="02040503050406030204" pitchFamily="18" charset="0"/>
                      </a:rPr>
                      <m:t>(</m:t>
                    </m:r>
                    <m:r>
                      <a:rPr lang="en-US" b="0" i="1" smtClean="0">
                        <a:latin typeface="Cambria Math" panose="02040503050406030204" pitchFamily="18" charset="0"/>
                      </a:rPr>
                      <m:t>𝑧</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𝑧</m:t>
                        </m:r>
                      </m:e>
                    </m:acc>
                  </m:oMath>
                </a14:m>
                <a:r>
                  <a:rPr lang="en-US" dirty="0"/>
                  <a:t> and changes gradually with change in </a:t>
                </a:r>
                <a14:m>
                  <m:oMath xmlns:m="http://schemas.openxmlformats.org/officeDocument/2006/math">
                    <m:r>
                      <a:rPr lang="en-US" b="0" i="1" smtClean="0">
                        <a:latin typeface="Cambria Math" panose="02040503050406030204" pitchFamily="18" charset="0"/>
                      </a:rPr>
                      <m:t>𝑧</m:t>
                    </m:r>
                  </m:oMath>
                </a14:m>
                <a:endParaRPr lang="en-US" dirty="0"/>
              </a:p>
            </p:txBody>
          </p:sp>
        </mc:Choice>
        <mc:Fallback xmlns="">
          <p:sp>
            <p:nvSpPr>
              <p:cNvPr id="3" name="Content Placeholder 2">
                <a:extLst>
                  <a:ext uri="{FF2B5EF4-FFF2-40B4-BE49-F238E27FC236}">
                    <a16:creationId xmlns:a16="http://schemas.microsoft.com/office/drawing/2014/main" id="{F927CEA1-D624-33D2-7572-4EEE4D3E60CD}"/>
                  </a:ext>
                </a:extLst>
              </p:cNvPr>
              <p:cNvSpPr>
                <a:spLocks noGrp="1" noRot="1" noChangeAspect="1" noMove="1" noResize="1" noEditPoints="1" noAdjustHandles="1" noChangeArrowheads="1" noChangeShapeType="1" noTextEdit="1"/>
              </p:cNvSpPr>
              <p:nvPr>
                <p:ph idx="1"/>
              </p:nvPr>
            </p:nvSpPr>
            <p:spPr>
              <a:xfrm>
                <a:off x="0" y="424542"/>
                <a:ext cx="12192000" cy="5931807"/>
              </a:xfrm>
              <a:blipFill>
                <a:blip r:embed="rId2"/>
                <a:stretch>
                  <a:fillRect l="-937" t="-2564"/>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7B61E7B7-AC56-AC04-FC72-2A42DC362BA0}"/>
              </a:ext>
            </a:extLst>
          </p:cNvPr>
          <p:cNvSpPr>
            <a:spLocks noGrp="1"/>
          </p:cNvSpPr>
          <p:nvPr>
            <p:ph type="ftr" sz="quarter" idx="11"/>
          </p:nvPr>
        </p:nvSpPr>
        <p:spPr/>
        <p:txBody>
          <a:bodyPr/>
          <a:lstStyle/>
          <a:p>
            <a:r>
              <a:rPr lang="en-US"/>
              <a:t>Boldy Sensitivity Study Mu2e</a:t>
            </a:r>
          </a:p>
        </p:txBody>
      </p:sp>
      <p:sp>
        <p:nvSpPr>
          <p:cNvPr id="5" name="Slide Number Placeholder 4">
            <a:extLst>
              <a:ext uri="{FF2B5EF4-FFF2-40B4-BE49-F238E27FC236}">
                <a16:creationId xmlns:a16="http://schemas.microsoft.com/office/drawing/2014/main" id="{9EE38203-0F9F-9692-AE5F-9A58BE39F7AC}"/>
              </a:ext>
            </a:extLst>
          </p:cNvPr>
          <p:cNvSpPr>
            <a:spLocks noGrp="1"/>
          </p:cNvSpPr>
          <p:nvPr>
            <p:ph type="sldNum" sz="quarter" idx="12"/>
          </p:nvPr>
        </p:nvSpPr>
        <p:spPr/>
        <p:txBody>
          <a:bodyPr/>
          <a:lstStyle/>
          <a:p>
            <a:fld id="{C0E0CB54-3DBF-E947-906E-85E307CF7971}" type="slidenum">
              <a:rPr lang="en-US" smtClean="0"/>
              <a:t>43</a:t>
            </a:fld>
            <a:endParaRPr lang="en-US"/>
          </a:p>
        </p:txBody>
      </p:sp>
      <p:sp>
        <p:nvSpPr>
          <p:cNvPr id="8" name="Title 1">
            <a:extLst>
              <a:ext uri="{FF2B5EF4-FFF2-40B4-BE49-F238E27FC236}">
                <a16:creationId xmlns:a16="http://schemas.microsoft.com/office/drawing/2014/main" id="{EACEEC5F-DC2E-1200-0085-D8BB40A603AC}"/>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Magnetic Mirror Effect Derivation (Pt. 1)</a:t>
            </a:r>
          </a:p>
        </p:txBody>
      </p:sp>
    </p:spTree>
    <p:extLst>
      <p:ext uri="{BB962C8B-B14F-4D97-AF65-F5344CB8AC3E}">
        <p14:creationId xmlns:p14="http://schemas.microsoft.com/office/powerpoint/2010/main" val="842777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DCEB7-3DE4-573B-EDA2-1B6FBA276945}"/>
              </a:ext>
            </a:extLst>
          </p:cNvPr>
          <p:cNvSpPr>
            <a:spLocks noGrp="1"/>
          </p:cNvSpPr>
          <p:nvPr>
            <p:ph type="title"/>
          </p:nvPr>
        </p:nvSpPr>
        <p:spPr/>
        <p:txBody>
          <a:bodyPr/>
          <a:lstStyle/>
          <a:p>
            <a:r>
              <a:rPr lang="en-US" dirty="0"/>
              <a:t>Half-Field DS Field Designation</a:t>
            </a:r>
          </a:p>
        </p:txBody>
      </p:sp>
      <p:sp>
        <p:nvSpPr>
          <p:cNvPr id="3" name="Content Placeholder 2">
            <a:extLst>
              <a:ext uri="{FF2B5EF4-FFF2-40B4-BE49-F238E27FC236}">
                <a16:creationId xmlns:a16="http://schemas.microsoft.com/office/drawing/2014/main" id="{763F44E5-A5F9-A925-1B54-76981E1B3EC5}"/>
              </a:ext>
            </a:extLst>
          </p:cNvPr>
          <p:cNvSpPr>
            <a:spLocks noGrp="1"/>
          </p:cNvSpPr>
          <p:nvPr>
            <p:ph idx="1"/>
          </p:nvPr>
        </p:nvSpPr>
        <p:spPr/>
        <p:txBody>
          <a:bodyPr/>
          <a:lstStyle/>
          <a:p>
            <a:endParaRPr lang="en-US"/>
          </a:p>
        </p:txBody>
      </p:sp>
      <p:sp>
        <p:nvSpPr>
          <p:cNvPr id="5" name="Footer Placeholder 4">
            <a:extLst>
              <a:ext uri="{FF2B5EF4-FFF2-40B4-BE49-F238E27FC236}">
                <a16:creationId xmlns:a16="http://schemas.microsoft.com/office/drawing/2014/main" id="{D65AFF79-62CF-7ECE-22F4-A18DC570BEAD}"/>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86DD962C-32BE-EAAC-8D7A-405AFEF08A66}"/>
              </a:ext>
            </a:extLst>
          </p:cNvPr>
          <p:cNvSpPr>
            <a:spLocks noGrp="1"/>
          </p:cNvSpPr>
          <p:nvPr>
            <p:ph type="sldNum" sz="quarter" idx="12"/>
          </p:nvPr>
        </p:nvSpPr>
        <p:spPr/>
        <p:txBody>
          <a:bodyPr/>
          <a:lstStyle/>
          <a:p>
            <a:fld id="{C0E0CB54-3DBF-E947-906E-85E307CF7971}" type="slidenum">
              <a:rPr lang="en-US" smtClean="0"/>
              <a:t>44</a:t>
            </a:fld>
            <a:endParaRPr lang="en-US"/>
          </a:p>
        </p:txBody>
      </p:sp>
      <p:sp>
        <p:nvSpPr>
          <p:cNvPr id="4" name="Title 1">
            <a:extLst>
              <a:ext uri="{FF2B5EF4-FFF2-40B4-BE49-F238E27FC236}">
                <a16:creationId xmlns:a16="http://schemas.microsoft.com/office/drawing/2014/main" id="{568356BF-0515-B375-CAA4-90B2F56C5AB7}"/>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Half-Field DS Field Necessity Derivation</a:t>
            </a:r>
          </a:p>
        </p:txBody>
      </p:sp>
    </p:spTree>
    <p:extLst>
      <p:ext uri="{BB962C8B-B14F-4D97-AF65-F5344CB8AC3E}">
        <p14:creationId xmlns:p14="http://schemas.microsoft.com/office/powerpoint/2010/main" val="33998097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5B417-A02F-4DD9-D59C-129E014E3472}"/>
              </a:ext>
            </a:extLst>
          </p:cNvPr>
          <p:cNvSpPr>
            <a:spLocks noGrp="1"/>
          </p:cNvSpPr>
          <p:nvPr>
            <p:ph type="title"/>
          </p:nvPr>
        </p:nvSpPr>
        <p:spPr/>
        <p:txBody>
          <a:bodyPr/>
          <a:lstStyle/>
          <a:p>
            <a:r>
              <a:rPr lang="en-US" dirty="0"/>
              <a:t>Mu2e Experiment Background Slides</a:t>
            </a:r>
          </a:p>
        </p:txBody>
      </p:sp>
      <p:sp>
        <p:nvSpPr>
          <p:cNvPr id="3" name="Text Placeholder 2">
            <a:extLst>
              <a:ext uri="{FF2B5EF4-FFF2-40B4-BE49-F238E27FC236}">
                <a16:creationId xmlns:a16="http://schemas.microsoft.com/office/drawing/2014/main" id="{CE8A165D-CDAB-6477-ACF6-A3B06CE60C19}"/>
              </a:ext>
            </a:extLst>
          </p:cNvPr>
          <p:cNvSpPr>
            <a:spLocks noGrp="1"/>
          </p:cNvSpPr>
          <p:nvPr>
            <p:ph type="body" idx="1"/>
          </p:nvPr>
        </p:nvSpPr>
        <p:spPr/>
        <p:txBody>
          <a:bodyPr/>
          <a:lstStyle/>
          <a:p>
            <a:endParaRPr lang="en-US"/>
          </a:p>
        </p:txBody>
      </p:sp>
      <p:sp>
        <p:nvSpPr>
          <p:cNvPr id="4" name="Footer Placeholder 3">
            <a:extLst>
              <a:ext uri="{FF2B5EF4-FFF2-40B4-BE49-F238E27FC236}">
                <a16:creationId xmlns:a16="http://schemas.microsoft.com/office/drawing/2014/main" id="{8E3EEF20-8DF6-D3A6-F68A-D8C5FD4555B7}"/>
              </a:ext>
            </a:extLst>
          </p:cNvPr>
          <p:cNvSpPr>
            <a:spLocks noGrp="1"/>
          </p:cNvSpPr>
          <p:nvPr>
            <p:ph type="ftr" sz="quarter" idx="11"/>
          </p:nvPr>
        </p:nvSpPr>
        <p:spPr/>
        <p:txBody>
          <a:bodyPr/>
          <a:lstStyle/>
          <a:p>
            <a:r>
              <a:rPr lang="en-US"/>
              <a:t>Boldy Sensitivity Study Mu2e</a:t>
            </a:r>
          </a:p>
        </p:txBody>
      </p:sp>
      <p:sp>
        <p:nvSpPr>
          <p:cNvPr id="5" name="Slide Number Placeholder 4">
            <a:extLst>
              <a:ext uri="{FF2B5EF4-FFF2-40B4-BE49-F238E27FC236}">
                <a16:creationId xmlns:a16="http://schemas.microsoft.com/office/drawing/2014/main" id="{6DA8D81F-194F-10D7-DC32-8A7D0D85B77D}"/>
              </a:ext>
            </a:extLst>
          </p:cNvPr>
          <p:cNvSpPr>
            <a:spLocks noGrp="1"/>
          </p:cNvSpPr>
          <p:nvPr>
            <p:ph type="sldNum" sz="quarter" idx="12"/>
          </p:nvPr>
        </p:nvSpPr>
        <p:spPr/>
        <p:txBody>
          <a:bodyPr/>
          <a:lstStyle/>
          <a:p>
            <a:fld id="{C0E0CB54-3DBF-E947-906E-85E307CF7971}" type="slidenum">
              <a:rPr lang="en-US" smtClean="0"/>
              <a:t>45</a:t>
            </a:fld>
            <a:endParaRPr lang="en-US"/>
          </a:p>
        </p:txBody>
      </p:sp>
    </p:spTree>
    <p:extLst>
      <p:ext uri="{BB962C8B-B14F-4D97-AF65-F5344CB8AC3E}">
        <p14:creationId xmlns:p14="http://schemas.microsoft.com/office/powerpoint/2010/main" val="20964927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D4B47-BFD3-70F7-DF02-D4D73E205C67}"/>
              </a:ext>
            </a:extLst>
          </p:cNvPr>
          <p:cNvSpPr>
            <a:spLocks noGrp="1"/>
          </p:cNvSpPr>
          <p:nvPr>
            <p:ph type="title"/>
          </p:nvPr>
        </p:nvSpPr>
        <p:spPr>
          <a:xfrm>
            <a:off x="0" y="0"/>
            <a:ext cx="10515600" cy="549275"/>
          </a:xfrm>
        </p:spPr>
        <p:txBody>
          <a:bodyPr>
            <a:normAutofit/>
          </a:bodyPr>
          <a:lstStyle/>
          <a:p>
            <a:r>
              <a:rPr lang="en-US" sz="2500" u="sng" dirty="0">
                <a:solidFill>
                  <a:srgbClr val="C00000"/>
                </a:solidFill>
              </a:rPr>
              <a:t>Proton Beam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00DD926-6A21-9530-929C-A36CC9E3C1DD}"/>
                  </a:ext>
                </a:extLst>
              </p:cNvPr>
              <p:cNvSpPr>
                <a:spLocks noGrp="1"/>
              </p:cNvSpPr>
              <p:nvPr>
                <p:ph idx="1"/>
              </p:nvPr>
            </p:nvSpPr>
            <p:spPr>
              <a:xfrm>
                <a:off x="838200" y="767443"/>
                <a:ext cx="10515600" cy="5409520"/>
              </a:xfrm>
            </p:spPr>
            <p:txBody>
              <a:bodyPr/>
              <a:lstStyle/>
              <a:p>
                <a:r>
                  <a:rPr lang="en-US" dirty="0"/>
                  <a:t>Utilize the Fermilab Delivery Ring to supply a stream of 8 GeV protons in a time-pulsed format</a:t>
                </a:r>
              </a:p>
              <a:p>
                <a:pPr lvl="1"/>
                <a:r>
                  <a:rPr lang="en-US" dirty="0"/>
                  <a:t>Pulse width: 250 ns FWHM</a:t>
                </a:r>
              </a:p>
              <a:p>
                <a:pPr lvl="1"/>
                <a:r>
                  <a:rPr lang="en-US" dirty="0"/>
                  <a:t>Pulse separation: 1,695 ns</a:t>
                </a:r>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r>
                  <a:rPr lang="en-US" dirty="0"/>
                  <a:t>Anticipated Protons on Target (POT): </a:t>
                </a:r>
                <a14:m>
                  <m:oMath xmlns:m="http://schemas.openxmlformats.org/officeDocument/2006/math">
                    <m:r>
                      <a:rPr lang="en-US" b="0" i="1" smtClean="0">
                        <a:latin typeface="Cambria Math" panose="02040503050406030204" pitchFamily="18" charset="0"/>
                      </a:rPr>
                      <m:t>3.6 </m:t>
                    </m:r>
                    <m:r>
                      <a:rPr lang="en-US" b="0" i="1" smtClean="0">
                        <a:latin typeface="Cambria Math" panose="02040503050406030204" pitchFamily="18" charset="0"/>
                        <a:ea typeface="Cambria Math" panose="02040503050406030204" pitchFamily="18" charset="0"/>
                      </a:rPr>
                      <m:t>× </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10</m:t>
                        </m:r>
                      </m:e>
                      <m:sup>
                        <m:r>
                          <a:rPr lang="en-US" b="0" i="1" smtClean="0">
                            <a:latin typeface="Cambria Math" panose="02040503050406030204" pitchFamily="18" charset="0"/>
                            <a:ea typeface="Cambria Math" panose="02040503050406030204" pitchFamily="18" charset="0"/>
                          </a:rPr>
                          <m:t>20</m:t>
                        </m:r>
                      </m:sup>
                    </m:sSup>
                  </m:oMath>
                </a14:m>
                <a:r>
                  <a:rPr lang="en-US" dirty="0"/>
                  <a:t> protons</a:t>
                </a:r>
              </a:p>
              <a:p>
                <a:pPr lvl="1"/>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300DD926-6A21-9530-929C-A36CC9E3C1DD}"/>
                  </a:ext>
                </a:extLst>
              </p:cNvPr>
              <p:cNvSpPr>
                <a:spLocks noGrp="1" noRot="1" noChangeAspect="1" noMove="1" noResize="1" noEditPoints="1" noAdjustHandles="1" noChangeArrowheads="1" noChangeShapeType="1" noTextEdit="1"/>
              </p:cNvSpPr>
              <p:nvPr>
                <p:ph idx="1"/>
              </p:nvPr>
            </p:nvSpPr>
            <p:spPr>
              <a:xfrm>
                <a:off x="838200" y="767443"/>
                <a:ext cx="10515600" cy="5409520"/>
              </a:xfrm>
              <a:blipFill>
                <a:blip r:embed="rId3"/>
                <a:stretch>
                  <a:fillRect l="-1086" t="-1874" b="-1171"/>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6A4BE0CE-B0FC-9765-158B-CFD37E4CDB4A}"/>
              </a:ext>
            </a:extLst>
          </p:cNvPr>
          <p:cNvSpPr>
            <a:spLocks noGrp="1"/>
          </p:cNvSpPr>
          <p:nvPr>
            <p:ph type="sldNum" sz="quarter" idx="12"/>
          </p:nvPr>
        </p:nvSpPr>
        <p:spPr/>
        <p:txBody>
          <a:bodyPr/>
          <a:lstStyle/>
          <a:p>
            <a:fld id="{97E93708-6877-FF41-B53F-E17832C2698B}" type="slidenum">
              <a:rPr lang="en-US" smtClean="0"/>
              <a:t>46</a:t>
            </a:fld>
            <a:endParaRPr lang="en-US"/>
          </a:p>
        </p:txBody>
      </p:sp>
      <p:sp>
        <p:nvSpPr>
          <p:cNvPr id="7" name="Footer Placeholder 4">
            <a:extLst>
              <a:ext uri="{FF2B5EF4-FFF2-40B4-BE49-F238E27FC236}">
                <a16:creationId xmlns:a16="http://schemas.microsoft.com/office/drawing/2014/main" id="{D50E9009-3D36-7612-674A-962974859798}"/>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pic>
        <p:nvPicPr>
          <p:cNvPr id="9" name="Picture 8">
            <a:extLst>
              <a:ext uri="{FF2B5EF4-FFF2-40B4-BE49-F238E27FC236}">
                <a16:creationId xmlns:a16="http://schemas.microsoft.com/office/drawing/2014/main" id="{ED0D6C25-8CB8-6ED6-8A49-5E0E72A41BAC}"/>
              </a:ext>
            </a:extLst>
          </p:cNvPr>
          <p:cNvPicPr>
            <a:picLocks noChangeAspect="1"/>
          </p:cNvPicPr>
          <p:nvPr/>
        </p:nvPicPr>
        <p:blipFill>
          <a:blip r:embed="rId4"/>
          <a:srcRect t="3179" b="6573"/>
          <a:stretch>
            <a:fillRect/>
          </a:stretch>
        </p:blipFill>
        <p:spPr>
          <a:xfrm>
            <a:off x="1276421" y="2458875"/>
            <a:ext cx="9239179" cy="3112585"/>
          </a:xfrm>
          <a:prstGeom prst="rect">
            <a:avLst/>
          </a:prstGeom>
        </p:spPr>
      </p:pic>
    </p:spTree>
    <p:extLst>
      <p:ext uri="{BB962C8B-B14F-4D97-AF65-F5344CB8AC3E}">
        <p14:creationId xmlns:p14="http://schemas.microsoft.com/office/powerpoint/2010/main" val="3298596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dissolve">
                                      <p:cBhvr>
                                        <p:cTn id="15" dur="5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0089E-3856-D426-B961-3852521BE709}"/>
            </a:ext>
          </a:extLst>
        </p:cNvPr>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BBC58155-11A7-0B74-2BC1-76B76EEE26D7}"/>
              </a:ext>
            </a:extLst>
          </p:cNvPr>
          <p:cNvPicPr>
            <a:picLocks noGrp="1" noChangeAspect="1"/>
          </p:cNvPicPr>
          <p:nvPr>
            <p:ph idx="1"/>
          </p:nvPr>
        </p:nvPicPr>
        <p:blipFill rotWithShape="1">
          <a:blip r:embed="rId3"/>
          <a:srcRect t="16722" r="68148" b="25133"/>
          <a:stretch>
            <a:fillRect/>
          </a:stretch>
        </p:blipFill>
        <p:spPr>
          <a:xfrm>
            <a:off x="1827926" y="136525"/>
            <a:ext cx="9644361" cy="6605727"/>
          </a:xfrm>
          <a:prstGeom prst="rect">
            <a:avLst/>
          </a:prstGeom>
        </p:spPr>
      </p:pic>
      <p:sp>
        <p:nvSpPr>
          <p:cNvPr id="2" name="Title 1">
            <a:extLst>
              <a:ext uri="{FF2B5EF4-FFF2-40B4-BE49-F238E27FC236}">
                <a16:creationId xmlns:a16="http://schemas.microsoft.com/office/drawing/2014/main" id="{B4C8066D-2C1B-F122-2F85-7DCF3213E382}"/>
              </a:ext>
            </a:extLst>
          </p:cNvPr>
          <p:cNvSpPr>
            <a:spLocks noGrp="1"/>
          </p:cNvSpPr>
          <p:nvPr>
            <p:ph type="title"/>
          </p:nvPr>
        </p:nvSpPr>
        <p:spPr>
          <a:xfrm>
            <a:off x="0" y="352425"/>
            <a:ext cx="9410700" cy="447675"/>
          </a:xfrm>
        </p:spPr>
        <p:txBody>
          <a:bodyPr>
            <a:normAutofit/>
          </a:bodyPr>
          <a:lstStyle/>
          <a:p>
            <a:r>
              <a:rPr lang="en-US" sz="2500" u="sng" dirty="0">
                <a:solidFill>
                  <a:srgbClr val="C00000"/>
                </a:solidFill>
              </a:rPr>
              <a:t>The Mu2e Experiment</a:t>
            </a:r>
          </a:p>
        </p:txBody>
      </p:sp>
      <p:sp>
        <p:nvSpPr>
          <p:cNvPr id="6" name="Slide Number Placeholder 5">
            <a:extLst>
              <a:ext uri="{FF2B5EF4-FFF2-40B4-BE49-F238E27FC236}">
                <a16:creationId xmlns:a16="http://schemas.microsoft.com/office/drawing/2014/main" id="{24301430-DB20-93A2-88F7-E6F8A8921B22}"/>
              </a:ext>
            </a:extLst>
          </p:cNvPr>
          <p:cNvSpPr>
            <a:spLocks noGrp="1"/>
          </p:cNvSpPr>
          <p:nvPr>
            <p:ph type="sldNum" sz="quarter" idx="12"/>
          </p:nvPr>
        </p:nvSpPr>
        <p:spPr/>
        <p:txBody>
          <a:bodyPr/>
          <a:lstStyle/>
          <a:p>
            <a:fld id="{97E93708-6877-FF41-B53F-E17832C2698B}" type="slidenum">
              <a:rPr lang="en-US" smtClean="0"/>
              <a:t>47</a:t>
            </a:fld>
            <a:endParaRPr lang="en-US"/>
          </a:p>
        </p:txBody>
      </p:sp>
      <p:sp>
        <p:nvSpPr>
          <p:cNvPr id="7" name="Footer Placeholder 4">
            <a:extLst>
              <a:ext uri="{FF2B5EF4-FFF2-40B4-BE49-F238E27FC236}">
                <a16:creationId xmlns:a16="http://schemas.microsoft.com/office/drawing/2014/main" id="{1AEE86AE-EF18-1C6B-6861-712E77075004}"/>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mc:AlternateContent xmlns:mc="http://schemas.openxmlformats.org/markup-compatibility/2006" xmlns:p14="http://schemas.microsoft.com/office/powerpoint/2010/main">
        <mc:Choice Requires="p14">
          <p:contentPart p14:bwMode="auto" r:id="rId4">
            <p14:nvContentPartPr>
              <p14:cNvPr id="43" name="Ink 42">
                <a:extLst>
                  <a:ext uri="{FF2B5EF4-FFF2-40B4-BE49-F238E27FC236}">
                    <a16:creationId xmlns:a16="http://schemas.microsoft.com/office/drawing/2014/main" id="{34FADEC0-219B-699C-262B-515DB73605BD}"/>
                  </a:ext>
                </a:extLst>
              </p14:cNvPr>
              <p14:cNvContentPartPr/>
              <p14:nvPr/>
            </p14:nvContentPartPr>
            <p14:xfrm>
              <a:off x="8434288" y="1962058"/>
              <a:ext cx="14040" cy="68760"/>
            </p14:xfrm>
          </p:contentPart>
        </mc:Choice>
        <mc:Fallback xmlns="">
          <p:pic>
            <p:nvPicPr>
              <p:cNvPr id="43" name="Ink 42">
                <a:extLst>
                  <a:ext uri="{FF2B5EF4-FFF2-40B4-BE49-F238E27FC236}">
                    <a16:creationId xmlns:a16="http://schemas.microsoft.com/office/drawing/2014/main" id="{34FADEC0-219B-699C-262B-515DB73605BD}"/>
                  </a:ext>
                </a:extLst>
              </p:cNvPr>
              <p:cNvPicPr/>
              <p:nvPr/>
            </p:nvPicPr>
            <p:blipFill>
              <a:blip r:embed="rId5"/>
              <a:stretch>
                <a:fillRect/>
              </a:stretch>
            </p:blipFill>
            <p:spPr>
              <a:xfrm>
                <a:off x="8326648" y="1854418"/>
                <a:ext cx="229680" cy="2844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4" name="Ink 43">
                <a:extLst>
                  <a:ext uri="{FF2B5EF4-FFF2-40B4-BE49-F238E27FC236}">
                    <a16:creationId xmlns:a16="http://schemas.microsoft.com/office/drawing/2014/main" id="{12201C18-2DBA-A1AF-D603-06A1997C61F1}"/>
                  </a:ext>
                </a:extLst>
              </p14:cNvPr>
              <p14:cNvContentPartPr/>
              <p14:nvPr/>
            </p14:nvContentPartPr>
            <p14:xfrm>
              <a:off x="8523208" y="958738"/>
              <a:ext cx="3022920" cy="1101960"/>
            </p14:xfrm>
          </p:contentPart>
        </mc:Choice>
        <mc:Fallback xmlns="">
          <p:pic>
            <p:nvPicPr>
              <p:cNvPr id="44" name="Ink 43">
                <a:extLst>
                  <a:ext uri="{FF2B5EF4-FFF2-40B4-BE49-F238E27FC236}">
                    <a16:creationId xmlns:a16="http://schemas.microsoft.com/office/drawing/2014/main" id="{12201C18-2DBA-A1AF-D603-06A1997C61F1}"/>
                  </a:ext>
                </a:extLst>
              </p:cNvPr>
              <p:cNvPicPr/>
              <p:nvPr/>
            </p:nvPicPr>
            <p:blipFill>
              <a:blip r:embed="rId7"/>
              <a:stretch>
                <a:fillRect/>
              </a:stretch>
            </p:blipFill>
            <p:spPr>
              <a:xfrm>
                <a:off x="8415208" y="851098"/>
                <a:ext cx="3238560" cy="1317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5" name="Ink 44">
                <a:extLst>
                  <a:ext uri="{FF2B5EF4-FFF2-40B4-BE49-F238E27FC236}">
                    <a16:creationId xmlns:a16="http://schemas.microsoft.com/office/drawing/2014/main" id="{676DE559-E948-1704-0E01-39B7C58FEEB2}"/>
                  </a:ext>
                </a:extLst>
              </p14:cNvPr>
              <p14:cNvContentPartPr/>
              <p14:nvPr/>
            </p14:nvContentPartPr>
            <p14:xfrm>
              <a:off x="11388808" y="4149058"/>
              <a:ext cx="136080" cy="288360"/>
            </p14:xfrm>
          </p:contentPart>
        </mc:Choice>
        <mc:Fallback xmlns="">
          <p:pic>
            <p:nvPicPr>
              <p:cNvPr id="45" name="Ink 44">
                <a:extLst>
                  <a:ext uri="{FF2B5EF4-FFF2-40B4-BE49-F238E27FC236}">
                    <a16:creationId xmlns:a16="http://schemas.microsoft.com/office/drawing/2014/main" id="{676DE559-E948-1704-0E01-39B7C58FEEB2}"/>
                  </a:ext>
                </a:extLst>
              </p:cNvPr>
              <p:cNvPicPr/>
              <p:nvPr/>
            </p:nvPicPr>
            <p:blipFill>
              <a:blip r:embed="rId9"/>
              <a:stretch>
                <a:fillRect/>
              </a:stretch>
            </p:blipFill>
            <p:spPr>
              <a:xfrm>
                <a:off x="11280808" y="4041058"/>
                <a:ext cx="35172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8" name="Ink 47">
                <a:extLst>
                  <a:ext uri="{FF2B5EF4-FFF2-40B4-BE49-F238E27FC236}">
                    <a16:creationId xmlns:a16="http://schemas.microsoft.com/office/drawing/2014/main" id="{C8B415DE-FD5B-2844-B72D-724482074A17}"/>
                  </a:ext>
                </a:extLst>
              </p14:cNvPr>
              <p14:cNvContentPartPr/>
              <p14:nvPr/>
            </p14:nvContentPartPr>
            <p14:xfrm>
              <a:off x="5009248" y="2889778"/>
              <a:ext cx="2166252" cy="755122"/>
            </p14:xfrm>
          </p:contentPart>
        </mc:Choice>
        <mc:Fallback xmlns="">
          <p:pic>
            <p:nvPicPr>
              <p:cNvPr id="48" name="Ink 47">
                <a:extLst>
                  <a:ext uri="{FF2B5EF4-FFF2-40B4-BE49-F238E27FC236}">
                    <a16:creationId xmlns:a16="http://schemas.microsoft.com/office/drawing/2014/main" id="{C8B415DE-FD5B-2844-B72D-724482074A17}"/>
                  </a:ext>
                </a:extLst>
              </p:cNvPr>
              <p:cNvPicPr/>
              <p:nvPr/>
            </p:nvPicPr>
            <p:blipFill>
              <a:blip r:embed="rId11"/>
              <a:stretch>
                <a:fillRect/>
              </a:stretch>
            </p:blipFill>
            <p:spPr>
              <a:xfrm>
                <a:off x="4993764" y="2874286"/>
                <a:ext cx="2196859" cy="785745"/>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53" name="Ink 52">
                <a:extLst>
                  <a:ext uri="{FF2B5EF4-FFF2-40B4-BE49-F238E27FC236}">
                    <a16:creationId xmlns:a16="http://schemas.microsoft.com/office/drawing/2014/main" id="{3AA664FB-C32F-4C8C-08FB-7A99FC4C6923}"/>
                  </a:ext>
                </a:extLst>
              </p14:cNvPr>
              <p14:cNvContentPartPr/>
              <p14:nvPr/>
            </p14:nvContentPartPr>
            <p14:xfrm>
              <a:off x="5807728" y="3510778"/>
              <a:ext cx="730080" cy="367920"/>
            </p14:xfrm>
          </p:contentPart>
        </mc:Choice>
        <mc:Fallback xmlns="">
          <p:pic>
            <p:nvPicPr>
              <p:cNvPr id="53" name="Ink 52">
                <a:extLst>
                  <a:ext uri="{FF2B5EF4-FFF2-40B4-BE49-F238E27FC236}">
                    <a16:creationId xmlns:a16="http://schemas.microsoft.com/office/drawing/2014/main" id="{3AA664FB-C32F-4C8C-08FB-7A99FC4C6923}"/>
                  </a:ext>
                </a:extLst>
              </p:cNvPr>
              <p:cNvPicPr/>
              <p:nvPr/>
            </p:nvPicPr>
            <p:blipFill>
              <a:blip r:embed="rId13"/>
              <a:stretch>
                <a:fillRect/>
              </a:stretch>
            </p:blipFill>
            <p:spPr>
              <a:xfrm>
                <a:off x="5792256" y="3495298"/>
                <a:ext cx="760665" cy="3985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0" name="Ink 59">
                <a:extLst>
                  <a:ext uri="{FF2B5EF4-FFF2-40B4-BE49-F238E27FC236}">
                    <a16:creationId xmlns:a16="http://schemas.microsoft.com/office/drawing/2014/main" id="{725863A2-F099-E1BD-1011-823BADBD2AF2}"/>
                  </a:ext>
                </a:extLst>
              </p14:cNvPr>
              <p14:cNvContentPartPr/>
              <p14:nvPr/>
            </p14:nvContentPartPr>
            <p14:xfrm>
              <a:off x="5009248" y="2336800"/>
              <a:ext cx="2274190" cy="1037898"/>
            </p14:xfrm>
          </p:contentPart>
        </mc:Choice>
        <mc:Fallback xmlns="">
          <p:pic>
            <p:nvPicPr>
              <p:cNvPr id="60" name="Ink 59">
                <a:extLst>
                  <a:ext uri="{FF2B5EF4-FFF2-40B4-BE49-F238E27FC236}">
                    <a16:creationId xmlns:a16="http://schemas.microsoft.com/office/drawing/2014/main" id="{725863A2-F099-E1BD-1011-823BADBD2AF2}"/>
                  </a:ext>
                </a:extLst>
              </p:cNvPr>
              <p:cNvPicPr/>
              <p:nvPr/>
            </p:nvPicPr>
            <p:blipFill>
              <a:blip r:embed="rId15"/>
              <a:stretch>
                <a:fillRect/>
              </a:stretch>
            </p:blipFill>
            <p:spPr>
              <a:xfrm>
                <a:off x="4993765" y="2321314"/>
                <a:ext cx="2304796" cy="1068509"/>
              </a:xfrm>
              <a:prstGeom prst="rect">
                <a:avLst/>
              </a:prstGeom>
            </p:spPr>
          </p:pic>
        </mc:Fallback>
      </mc:AlternateContent>
      <p:sp>
        <p:nvSpPr>
          <p:cNvPr id="9" name="Rectangle 8">
            <a:extLst>
              <a:ext uri="{FF2B5EF4-FFF2-40B4-BE49-F238E27FC236}">
                <a16:creationId xmlns:a16="http://schemas.microsoft.com/office/drawing/2014/main" id="{6D73CA56-2A95-A989-8FFA-6D66AEE0706B}"/>
              </a:ext>
            </a:extLst>
          </p:cNvPr>
          <p:cNvSpPr/>
          <p:nvPr/>
        </p:nvSpPr>
        <p:spPr>
          <a:xfrm>
            <a:off x="3013364" y="352425"/>
            <a:ext cx="5597236" cy="60631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3BA18A6-9179-DE27-7A06-B0EE2247785A}"/>
              </a:ext>
            </a:extLst>
          </p:cNvPr>
          <p:cNvSpPr/>
          <p:nvPr/>
        </p:nvSpPr>
        <p:spPr>
          <a:xfrm>
            <a:off x="6092374" y="5596105"/>
            <a:ext cx="5597236" cy="7394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2015C8A-F8D1-CA8B-FEA5-E9AB132EF06D}"/>
              </a:ext>
            </a:extLst>
          </p:cNvPr>
          <p:cNvSpPr/>
          <p:nvPr/>
        </p:nvSpPr>
        <p:spPr>
          <a:xfrm rot="4295505">
            <a:off x="4939813" y="5292949"/>
            <a:ext cx="2005354" cy="60631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94788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dissolve">
                                      <p:cBhvr>
                                        <p:cTn id="7" dur="500"/>
                                        <p:tgtEl>
                                          <p:spTgt spid="60"/>
                                        </p:tgtEl>
                                      </p:cBhvr>
                                    </p:animEffect>
                                  </p:childTnLst>
                                </p:cTn>
                              </p:par>
                              <p:par>
                                <p:cTn id="8" presetID="9" presetClass="entr" presetSubtype="0" fill="hold" nodeType="withEffect">
                                  <p:stCondLst>
                                    <p:cond delay="0"/>
                                  </p:stCondLst>
                                  <p:childTnLst>
                                    <p:set>
                                      <p:cBhvr>
                                        <p:cTn id="9" dur="1" fill="hold">
                                          <p:stCondLst>
                                            <p:cond delay="0"/>
                                          </p:stCondLst>
                                        </p:cTn>
                                        <p:tgtEl>
                                          <p:spTgt spid="48"/>
                                        </p:tgtEl>
                                        <p:attrNameLst>
                                          <p:attrName>style.visibility</p:attrName>
                                        </p:attrNameLst>
                                      </p:cBhvr>
                                      <p:to>
                                        <p:strVal val="visible"/>
                                      </p:to>
                                    </p:set>
                                    <p:animEffect transition="in" filter="dissolve">
                                      <p:cBhvr>
                                        <p:cTn id="10" dur="500"/>
                                        <p:tgtEl>
                                          <p:spTgt spid="48"/>
                                        </p:tgtEl>
                                      </p:cBhvr>
                                    </p:animEffect>
                                  </p:childTnLst>
                                </p:cTn>
                              </p:par>
                              <p:par>
                                <p:cTn id="11" presetID="9" presetClass="entr" presetSubtype="0" fill="hold" nodeType="withEffect">
                                  <p:stCondLst>
                                    <p:cond delay="0"/>
                                  </p:stCondLst>
                                  <p:childTnLst>
                                    <p:set>
                                      <p:cBhvr>
                                        <p:cTn id="12" dur="1" fill="hold">
                                          <p:stCondLst>
                                            <p:cond delay="0"/>
                                          </p:stCondLst>
                                        </p:cTn>
                                        <p:tgtEl>
                                          <p:spTgt spid="53"/>
                                        </p:tgtEl>
                                        <p:attrNameLst>
                                          <p:attrName>style.visibility</p:attrName>
                                        </p:attrNameLst>
                                      </p:cBhvr>
                                      <p:to>
                                        <p:strVal val="visible"/>
                                      </p:to>
                                    </p:set>
                                    <p:animEffect transition="in" filter="dissolve">
                                      <p:cBhvr>
                                        <p:cTn id="13" dur="500"/>
                                        <p:tgtEl>
                                          <p:spTgt spid="53"/>
                                        </p:tgtEl>
                                      </p:cBhvr>
                                    </p:animEffect>
                                  </p:childTnLst>
                                </p:cTn>
                              </p:par>
                              <p:par>
                                <p:cTn id="14" presetID="1" presetClass="exit"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hidden"/>
                                      </p:to>
                                    </p:set>
                                  </p:childTnLst>
                                </p:cTn>
                              </p:par>
                              <p:par>
                                <p:cTn id="16" presetID="1" presetClass="exit"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hidden"/>
                                      </p:to>
                                    </p:set>
                                  </p:childTnLst>
                                </p:cTn>
                              </p:par>
                              <p:par>
                                <p:cTn id="18" presetID="1" presetClass="exit"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62E47-47F3-2A82-A3BF-A79AE1C842B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64FFAD7-166A-7DAF-97CF-04F2FC2BA426}"/>
              </a:ext>
            </a:extLst>
          </p:cNvPr>
          <p:cNvSpPr>
            <a:spLocks noGrp="1"/>
          </p:cNvSpPr>
          <p:nvPr>
            <p:ph idx="1"/>
          </p:nvPr>
        </p:nvSpPr>
        <p:spPr>
          <a:xfrm>
            <a:off x="838200" y="584880"/>
            <a:ext cx="10515600" cy="6084206"/>
          </a:xfrm>
        </p:spPr>
        <p:txBody>
          <a:bodyPr>
            <a:normAutofit/>
          </a:bodyPr>
          <a:lstStyle/>
          <a:p>
            <a:r>
              <a:rPr lang="en-US" dirty="0"/>
              <a:t>Radiatively cooled tungsten solid target</a:t>
            </a:r>
          </a:p>
          <a:p>
            <a:r>
              <a:rPr lang="en-US" dirty="0"/>
              <a:t>Production of pions that scatter backwards</a:t>
            </a:r>
          </a:p>
          <a:p>
            <a:r>
              <a:rPr lang="en-US" dirty="0"/>
              <a:t>Charged pions decay into (anti-)muons and muon (anti-)neutrino via the diagrams below</a:t>
            </a:r>
          </a:p>
          <a:p>
            <a:endParaRPr lang="en-US" dirty="0"/>
          </a:p>
          <a:p>
            <a:endParaRPr lang="en-US" dirty="0"/>
          </a:p>
          <a:p>
            <a:endParaRPr lang="en-US" dirty="0"/>
          </a:p>
          <a:p>
            <a:endParaRPr lang="en-US" dirty="0"/>
          </a:p>
          <a:p>
            <a:endParaRPr lang="en-US" dirty="0"/>
          </a:p>
          <a:p>
            <a:endParaRPr lang="en-US" dirty="0"/>
          </a:p>
          <a:p>
            <a:endParaRPr lang="en-US" dirty="0"/>
          </a:p>
          <a:p>
            <a:r>
              <a:rPr lang="en-US" dirty="0"/>
              <a:t>Solenoid focuses pions into transport solenoid</a:t>
            </a:r>
          </a:p>
          <a:p>
            <a:pPr marL="0" indent="0">
              <a:buNone/>
            </a:pPr>
            <a:endParaRPr lang="en-US" dirty="0"/>
          </a:p>
        </p:txBody>
      </p:sp>
      <p:grpSp>
        <p:nvGrpSpPr>
          <p:cNvPr id="9" name="Group 8">
            <a:extLst>
              <a:ext uri="{FF2B5EF4-FFF2-40B4-BE49-F238E27FC236}">
                <a16:creationId xmlns:a16="http://schemas.microsoft.com/office/drawing/2014/main" id="{D25D1F80-903D-4B1B-E374-0EC5CFB3F264}"/>
              </a:ext>
            </a:extLst>
          </p:cNvPr>
          <p:cNvGrpSpPr/>
          <p:nvPr/>
        </p:nvGrpSpPr>
        <p:grpSpPr>
          <a:xfrm>
            <a:off x="2919490" y="2403934"/>
            <a:ext cx="5691110" cy="3769853"/>
            <a:chOff x="2201798" y="2139001"/>
            <a:chExt cx="5691110" cy="3859807"/>
          </a:xfrm>
        </p:grpSpPr>
        <p:pic>
          <p:nvPicPr>
            <p:cNvPr id="6" name="Picture 5">
              <a:extLst>
                <a:ext uri="{FF2B5EF4-FFF2-40B4-BE49-F238E27FC236}">
                  <a16:creationId xmlns:a16="http://schemas.microsoft.com/office/drawing/2014/main" id="{806892FC-780D-6EEC-A3CD-F1BFFE55BDCA}"/>
                </a:ext>
              </a:extLst>
            </p:cNvPr>
            <p:cNvPicPr>
              <a:picLocks noChangeAspect="1"/>
            </p:cNvPicPr>
            <p:nvPr/>
          </p:nvPicPr>
          <p:blipFill>
            <a:blip r:embed="rId3"/>
            <a:stretch>
              <a:fillRect/>
            </a:stretch>
          </p:blipFill>
          <p:spPr>
            <a:xfrm>
              <a:off x="2763704" y="2139001"/>
              <a:ext cx="4567299" cy="3471497"/>
            </a:xfrm>
            <a:prstGeom prst="rect">
              <a:avLst/>
            </a:prstGeom>
          </p:spPr>
        </p:pic>
        <p:sp>
          <p:nvSpPr>
            <p:cNvPr id="8" name="TextBox 7">
              <a:extLst>
                <a:ext uri="{FF2B5EF4-FFF2-40B4-BE49-F238E27FC236}">
                  <a16:creationId xmlns:a16="http://schemas.microsoft.com/office/drawing/2014/main" id="{4E0B62EF-5FB6-4152-ED15-07239ABEBE5D}"/>
                </a:ext>
              </a:extLst>
            </p:cNvPr>
            <p:cNvSpPr txBox="1"/>
            <p:nvPr/>
          </p:nvSpPr>
          <p:spPr>
            <a:xfrm>
              <a:off x="2201798" y="5414033"/>
              <a:ext cx="5691110" cy="584775"/>
            </a:xfrm>
            <a:prstGeom prst="rect">
              <a:avLst/>
            </a:prstGeom>
            <a:noFill/>
          </p:spPr>
          <p:txBody>
            <a:bodyPr wrap="none" rtlCol="0">
              <a:spAutoFit/>
            </a:bodyPr>
            <a:lstStyle/>
            <a:p>
              <a:pPr algn="ctr"/>
              <a:r>
                <a:rPr lang="en-US" sz="1600" dirty="0"/>
                <a:t>Hand-drawn diagrams for pion decay modeled after diagram in</a:t>
              </a:r>
            </a:p>
            <a:p>
              <a:pPr algn="ctr"/>
              <a:r>
                <a:rPr lang="en-US" sz="1600" dirty="0"/>
                <a:t>Intro. to Particle Physics by Griffiths </a:t>
              </a:r>
            </a:p>
          </p:txBody>
        </p:sp>
      </p:grpSp>
      <p:sp>
        <p:nvSpPr>
          <p:cNvPr id="2" name="Title 1">
            <a:extLst>
              <a:ext uri="{FF2B5EF4-FFF2-40B4-BE49-F238E27FC236}">
                <a16:creationId xmlns:a16="http://schemas.microsoft.com/office/drawing/2014/main" id="{82B6842A-4AF3-C463-1DA5-7CE439317F3A}"/>
              </a:ext>
            </a:extLst>
          </p:cNvPr>
          <p:cNvSpPr>
            <a:spLocks noGrp="1"/>
          </p:cNvSpPr>
          <p:nvPr>
            <p:ph type="title"/>
          </p:nvPr>
        </p:nvSpPr>
        <p:spPr>
          <a:xfrm>
            <a:off x="0" y="0"/>
            <a:ext cx="10515600" cy="549275"/>
          </a:xfrm>
        </p:spPr>
        <p:txBody>
          <a:bodyPr>
            <a:normAutofit/>
          </a:bodyPr>
          <a:lstStyle/>
          <a:p>
            <a:r>
              <a:rPr lang="en-US" sz="2500" u="sng" dirty="0">
                <a:solidFill>
                  <a:srgbClr val="C00000"/>
                </a:solidFill>
              </a:rPr>
              <a:t>Production Target and Solenoid</a:t>
            </a:r>
          </a:p>
        </p:txBody>
      </p:sp>
      <p:sp>
        <p:nvSpPr>
          <p:cNvPr id="5" name="Slide Number Placeholder 4">
            <a:extLst>
              <a:ext uri="{FF2B5EF4-FFF2-40B4-BE49-F238E27FC236}">
                <a16:creationId xmlns:a16="http://schemas.microsoft.com/office/drawing/2014/main" id="{73140265-9A11-5418-F1C1-89D833EB335C}"/>
              </a:ext>
            </a:extLst>
          </p:cNvPr>
          <p:cNvSpPr>
            <a:spLocks noGrp="1"/>
          </p:cNvSpPr>
          <p:nvPr>
            <p:ph type="sldNum" sz="quarter" idx="12"/>
          </p:nvPr>
        </p:nvSpPr>
        <p:spPr/>
        <p:txBody>
          <a:bodyPr/>
          <a:lstStyle/>
          <a:p>
            <a:fld id="{97E93708-6877-FF41-B53F-E17832C2698B}" type="slidenum">
              <a:rPr lang="en-US" smtClean="0"/>
              <a:t>48</a:t>
            </a:fld>
            <a:endParaRPr lang="en-US" dirty="0"/>
          </a:p>
        </p:txBody>
      </p:sp>
      <p:sp>
        <p:nvSpPr>
          <p:cNvPr id="7" name="Footer Placeholder 4">
            <a:extLst>
              <a:ext uri="{FF2B5EF4-FFF2-40B4-BE49-F238E27FC236}">
                <a16:creationId xmlns:a16="http://schemas.microsoft.com/office/drawing/2014/main" id="{0FF7954A-FF4C-4105-2DDB-708E9CBF967B}"/>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pic>
        <p:nvPicPr>
          <p:cNvPr id="10" name="Picture 9" descr="A diagram of a diagram of a machine&#10;&#10;AI-generated content may be incorrect.">
            <a:extLst>
              <a:ext uri="{FF2B5EF4-FFF2-40B4-BE49-F238E27FC236}">
                <a16:creationId xmlns:a16="http://schemas.microsoft.com/office/drawing/2014/main" id="{13BE6AA5-31AA-1D5F-96B8-672FFE18ED8B}"/>
              </a:ext>
            </a:extLst>
          </p:cNvPr>
          <p:cNvPicPr>
            <a:picLocks noChangeAspect="1"/>
          </p:cNvPicPr>
          <p:nvPr/>
        </p:nvPicPr>
        <p:blipFill>
          <a:blip r:embed="rId4"/>
          <a:stretch>
            <a:fillRect/>
          </a:stretch>
        </p:blipFill>
        <p:spPr>
          <a:xfrm>
            <a:off x="4152900" y="37419"/>
            <a:ext cx="4457700" cy="6413500"/>
          </a:xfrm>
          <a:prstGeom prst="rect">
            <a:avLst/>
          </a:prstGeom>
        </p:spPr>
      </p:pic>
      <p:sp>
        <p:nvSpPr>
          <p:cNvPr id="11" name="TextBox 10">
            <a:extLst>
              <a:ext uri="{FF2B5EF4-FFF2-40B4-BE49-F238E27FC236}">
                <a16:creationId xmlns:a16="http://schemas.microsoft.com/office/drawing/2014/main" id="{656F1EC4-47EB-FDFA-C6FB-40C95E15B77E}"/>
              </a:ext>
            </a:extLst>
          </p:cNvPr>
          <p:cNvSpPr txBox="1"/>
          <p:nvPr/>
        </p:nvSpPr>
        <p:spPr>
          <a:xfrm>
            <a:off x="6337006" y="1309741"/>
            <a:ext cx="6220004" cy="1200329"/>
          </a:xfrm>
          <a:prstGeom prst="rect">
            <a:avLst/>
          </a:prstGeom>
          <a:noFill/>
        </p:spPr>
        <p:txBody>
          <a:bodyPr wrap="square" rtlCol="0">
            <a:spAutoFit/>
          </a:bodyPr>
          <a:lstStyle/>
          <a:p>
            <a:r>
              <a:rPr lang="en-US" dirty="0"/>
              <a:t>Magnetic field density plot of production solenoid (top)</a:t>
            </a:r>
          </a:p>
          <a:p>
            <a:r>
              <a:rPr lang="en-US" dirty="0"/>
              <a:t>Magnetic flux along magnet axis (bottom);</a:t>
            </a:r>
          </a:p>
          <a:p>
            <a:r>
              <a:rPr lang="en-US" dirty="0"/>
              <a:t>from the Conceptual Design of Mu2e Production Solenoid</a:t>
            </a:r>
          </a:p>
          <a:p>
            <a:r>
              <a:rPr lang="en-US" dirty="0"/>
              <a:t>put out by </a:t>
            </a:r>
            <a:r>
              <a:rPr lang="en-US" dirty="0" err="1"/>
              <a:t>Kashikhin</a:t>
            </a:r>
            <a:r>
              <a:rPr lang="en-US" dirty="0"/>
              <a:t> et al.</a:t>
            </a:r>
          </a:p>
        </p:txBody>
      </p:sp>
    </p:spTree>
    <p:extLst>
      <p:ext uri="{BB962C8B-B14F-4D97-AF65-F5344CB8AC3E}">
        <p14:creationId xmlns:p14="http://schemas.microsoft.com/office/powerpoint/2010/main" val="71761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dissolv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10" end="10"/>
                                            </p:txEl>
                                          </p:spTgt>
                                        </p:tgtEl>
                                        <p:attrNameLst>
                                          <p:attrName>style.visibility</p:attrName>
                                        </p:attrNameLst>
                                      </p:cBhvr>
                                      <p:to>
                                        <p:strVal val="visible"/>
                                      </p:to>
                                    </p:set>
                                  </p:childTnLst>
                                </p:cTn>
                              </p:par>
                              <p:par>
                                <p:cTn id="22" presetID="1" presetClass="exit" presetSubtype="0" fill="hold" grpId="0" nodeType="withEffect">
                                  <p:stCondLst>
                                    <p:cond delay="0"/>
                                  </p:stCondLst>
                                  <p:childTnLst>
                                    <p:set>
                                      <p:cBhvr>
                                        <p:cTn id="23" dur="1" fill="hold">
                                          <p:stCondLst>
                                            <p:cond delay="0"/>
                                          </p:stCondLst>
                                        </p:cTn>
                                        <p:tgtEl>
                                          <p:spTgt spid="3">
                                            <p:txEl>
                                              <p:pRg st="0" end="0"/>
                                            </p:txEl>
                                          </p:spTgt>
                                        </p:tgtEl>
                                        <p:attrNameLst>
                                          <p:attrName>style.visibility</p:attrName>
                                        </p:attrNameLst>
                                      </p:cBhvr>
                                      <p:to>
                                        <p:strVal val="hidden"/>
                                      </p:to>
                                    </p:set>
                                  </p:childTnLst>
                                </p:cTn>
                              </p:par>
                              <p:par>
                                <p:cTn id="24" presetID="1" presetClass="exit" presetSubtype="0" fill="hold" grpId="0" nodeType="withEffect">
                                  <p:stCondLst>
                                    <p:cond delay="0"/>
                                  </p:stCondLst>
                                  <p:childTnLst>
                                    <p:set>
                                      <p:cBhvr>
                                        <p:cTn id="25" dur="1" fill="hold">
                                          <p:stCondLst>
                                            <p:cond delay="0"/>
                                          </p:stCondLst>
                                        </p:cTn>
                                        <p:tgtEl>
                                          <p:spTgt spid="3">
                                            <p:txEl>
                                              <p:pRg st="1" end="1"/>
                                            </p:txEl>
                                          </p:spTgt>
                                        </p:tgtEl>
                                        <p:attrNameLst>
                                          <p:attrName>style.visibility</p:attrName>
                                        </p:attrNameLst>
                                      </p:cBhvr>
                                      <p:to>
                                        <p:strVal val="hidden"/>
                                      </p:to>
                                    </p:set>
                                  </p:childTnLst>
                                </p:cTn>
                              </p:par>
                              <p:par>
                                <p:cTn id="26" presetID="1" presetClass="exit" presetSubtype="0" fill="hold" grpId="0" nodeType="withEffect">
                                  <p:stCondLst>
                                    <p:cond delay="0"/>
                                  </p:stCondLst>
                                  <p:childTnLst>
                                    <p:set>
                                      <p:cBhvr>
                                        <p:cTn id="27" dur="1" fill="hold">
                                          <p:stCondLst>
                                            <p:cond delay="0"/>
                                          </p:stCondLst>
                                        </p:cTn>
                                        <p:tgtEl>
                                          <p:spTgt spid="3">
                                            <p:txEl>
                                              <p:pRg st="2" end="2"/>
                                            </p:txEl>
                                          </p:spTgt>
                                        </p:tgtEl>
                                        <p:attrNameLst>
                                          <p:attrName>style.visibility</p:attrName>
                                        </p:attrNameLst>
                                      </p:cBhvr>
                                      <p:to>
                                        <p:strVal val="hidden"/>
                                      </p:to>
                                    </p:set>
                                  </p:childTnLst>
                                </p:cTn>
                              </p:par>
                              <p:par>
                                <p:cTn id="28" presetID="1" presetClass="exit" presetSubtype="0" fill="hold" grpId="0" nodeType="withEffect">
                                  <p:stCondLst>
                                    <p:cond delay="0"/>
                                  </p:stCondLst>
                                  <p:childTnLst>
                                    <p:set>
                                      <p:cBhvr>
                                        <p:cTn id="29" dur="1" fill="hold">
                                          <p:stCondLst>
                                            <p:cond delay="0"/>
                                          </p:stCondLst>
                                        </p:cTn>
                                        <p:tgtEl>
                                          <p:spTgt spid="3">
                                            <p:txEl>
                                              <p:pRg st="10" end="10"/>
                                            </p:txEl>
                                          </p:spTgt>
                                        </p:tgtEl>
                                        <p:attrNameLst>
                                          <p:attrName>style.visibility</p:attrName>
                                        </p:attrNameLst>
                                      </p:cBhvr>
                                      <p:to>
                                        <p:strVal val="hidden"/>
                                      </p:to>
                                    </p:set>
                                  </p:childTnLst>
                                </p:cTn>
                              </p:par>
                              <p:par>
                                <p:cTn id="30" presetID="1" presetClass="exit" presetSubtype="0" fill="hold" nodeType="withEffect">
                                  <p:stCondLst>
                                    <p:cond delay="0"/>
                                  </p:stCondLst>
                                  <p:childTnLst>
                                    <p:set>
                                      <p:cBhvr>
                                        <p:cTn id="31" dur="1" fill="hold">
                                          <p:stCondLst>
                                            <p:cond delay="0"/>
                                          </p:stCondLst>
                                        </p:cTn>
                                        <p:tgtEl>
                                          <p:spTgt spid="9"/>
                                        </p:tgtEl>
                                        <p:attrNameLst>
                                          <p:attrName>style.visibility</p:attrName>
                                        </p:attrNameLst>
                                      </p:cBhvr>
                                      <p:to>
                                        <p:strVal val="hidden"/>
                                      </p:to>
                                    </p:set>
                                  </p:childTnLst>
                                </p:cTn>
                              </p:par>
                              <p:par>
                                <p:cTn id="32" presetID="9"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dissolve">
                                      <p:cBhvr>
                                        <p:cTn id="34" dur="500"/>
                                        <p:tgtEl>
                                          <p:spTgt spid="11"/>
                                        </p:tgtEl>
                                      </p:cBhvr>
                                    </p:animEffect>
                                  </p:childTnLst>
                                </p:cTn>
                              </p:par>
                              <p:par>
                                <p:cTn id="35" presetID="9" presetClass="entr" presetSubtype="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dissolve">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EB438-CBCB-75E1-EE35-D82EF8BB24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D0441E-C4C3-9FE0-6B84-734868F378FC}"/>
              </a:ext>
            </a:extLst>
          </p:cNvPr>
          <p:cNvSpPr>
            <a:spLocks noGrp="1"/>
          </p:cNvSpPr>
          <p:nvPr>
            <p:ph type="title"/>
          </p:nvPr>
        </p:nvSpPr>
        <p:spPr>
          <a:xfrm>
            <a:off x="0" y="352425"/>
            <a:ext cx="9410700" cy="447675"/>
          </a:xfrm>
        </p:spPr>
        <p:txBody>
          <a:bodyPr>
            <a:normAutofit/>
          </a:bodyPr>
          <a:lstStyle/>
          <a:p>
            <a:r>
              <a:rPr lang="en-US" sz="2500" u="sng" dirty="0">
                <a:solidFill>
                  <a:srgbClr val="C00000"/>
                </a:solidFill>
              </a:rPr>
              <a:t>The Mu2e Experiment</a:t>
            </a:r>
          </a:p>
        </p:txBody>
      </p:sp>
      <p:pic>
        <p:nvPicPr>
          <p:cNvPr id="4" name="Content Placeholder 3">
            <a:extLst>
              <a:ext uri="{FF2B5EF4-FFF2-40B4-BE49-F238E27FC236}">
                <a16:creationId xmlns:a16="http://schemas.microsoft.com/office/drawing/2014/main" id="{795661CD-D324-3B69-BAA1-4B87D49A1109}"/>
              </a:ext>
            </a:extLst>
          </p:cNvPr>
          <p:cNvPicPr>
            <a:picLocks noGrp="1" noChangeAspect="1"/>
          </p:cNvPicPr>
          <p:nvPr>
            <p:ph idx="1"/>
          </p:nvPr>
        </p:nvPicPr>
        <p:blipFill>
          <a:blip r:embed="rId3"/>
          <a:srcRect l="8821" t="28310" r="46891" b="28629"/>
          <a:stretch>
            <a:fillRect/>
          </a:stretch>
        </p:blipFill>
        <p:spPr>
          <a:xfrm>
            <a:off x="1" y="1381116"/>
            <a:ext cx="12191999" cy="4264044"/>
          </a:xfrm>
          <a:prstGeom prst="rect">
            <a:avLst/>
          </a:prstGeom>
        </p:spPr>
      </p:pic>
      <p:sp>
        <p:nvSpPr>
          <p:cNvPr id="6" name="Slide Number Placeholder 5">
            <a:extLst>
              <a:ext uri="{FF2B5EF4-FFF2-40B4-BE49-F238E27FC236}">
                <a16:creationId xmlns:a16="http://schemas.microsoft.com/office/drawing/2014/main" id="{7074C90B-494E-3EE9-C996-F7739CD4229B}"/>
              </a:ext>
            </a:extLst>
          </p:cNvPr>
          <p:cNvSpPr>
            <a:spLocks noGrp="1"/>
          </p:cNvSpPr>
          <p:nvPr>
            <p:ph type="sldNum" sz="quarter" idx="12"/>
          </p:nvPr>
        </p:nvSpPr>
        <p:spPr/>
        <p:txBody>
          <a:bodyPr/>
          <a:lstStyle/>
          <a:p>
            <a:fld id="{97E93708-6877-FF41-B53F-E17832C2698B}" type="slidenum">
              <a:rPr lang="en-US" smtClean="0"/>
              <a:t>49</a:t>
            </a:fld>
            <a:endParaRPr lang="en-US"/>
          </a:p>
        </p:txBody>
      </p:sp>
      <p:sp>
        <p:nvSpPr>
          <p:cNvPr id="7" name="Footer Placeholder 4">
            <a:extLst>
              <a:ext uri="{FF2B5EF4-FFF2-40B4-BE49-F238E27FC236}">
                <a16:creationId xmlns:a16="http://schemas.microsoft.com/office/drawing/2014/main" id="{3D90705C-4B2C-122E-73D1-D9420F17B218}"/>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A927CF7B-E34A-A5A4-67F6-11DF6B22157C}"/>
                  </a:ext>
                </a:extLst>
              </p14:cNvPr>
              <p14:cNvContentPartPr/>
              <p14:nvPr/>
            </p14:nvContentPartPr>
            <p14:xfrm>
              <a:off x="457199" y="2146728"/>
              <a:ext cx="11457829" cy="2398292"/>
            </p14:xfrm>
          </p:contentPart>
        </mc:Choice>
        <mc:Fallback xmlns="">
          <p:pic>
            <p:nvPicPr>
              <p:cNvPr id="17" name="Ink 16">
                <a:extLst>
                  <a:ext uri="{FF2B5EF4-FFF2-40B4-BE49-F238E27FC236}">
                    <a16:creationId xmlns:a16="http://schemas.microsoft.com/office/drawing/2014/main" id="{A927CF7B-E34A-A5A4-67F6-11DF6B22157C}"/>
                  </a:ext>
                </a:extLst>
              </p:cNvPr>
              <p:cNvPicPr/>
              <p:nvPr/>
            </p:nvPicPr>
            <p:blipFill>
              <a:blip r:embed="rId5"/>
              <a:stretch>
                <a:fillRect/>
              </a:stretch>
            </p:blipFill>
            <p:spPr>
              <a:xfrm>
                <a:off x="433438" y="2122961"/>
                <a:ext cx="11504991" cy="2445826"/>
              </a:xfrm>
              <a:prstGeom prst="rect">
                <a:avLst/>
              </a:prstGeom>
            </p:spPr>
          </p:pic>
        </mc:Fallback>
      </mc:AlternateContent>
      <p:grpSp>
        <p:nvGrpSpPr>
          <p:cNvPr id="22" name="Group 21">
            <a:extLst>
              <a:ext uri="{FF2B5EF4-FFF2-40B4-BE49-F238E27FC236}">
                <a16:creationId xmlns:a16="http://schemas.microsoft.com/office/drawing/2014/main" id="{26E272B4-7CEB-6FA5-1332-BCB64BCF90EA}"/>
              </a:ext>
            </a:extLst>
          </p:cNvPr>
          <p:cNvGrpSpPr/>
          <p:nvPr/>
        </p:nvGrpSpPr>
        <p:grpSpPr>
          <a:xfrm>
            <a:off x="3947171" y="972949"/>
            <a:ext cx="1154880" cy="812880"/>
            <a:chOff x="3947171" y="972949"/>
            <a:chExt cx="1154880" cy="812880"/>
          </a:xfrm>
        </p:grpSpPr>
        <mc:AlternateContent xmlns:mc="http://schemas.openxmlformats.org/markup-compatibility/2006" xmlns:p14="http://schemas.microsoft.com/office/powerpoint/2010/main" xmlns:aink="http://schemas.microsoft.com/office/drawing/2016/ink">
          <mc:Choice Requires="p14 aink">
            <p:contentPart p14:bwMode="auto" r:id="rId6">
              <p14:nvContentPartPr>
                <p14:cNvPr id="18" name="Ink 17">
                  <a:extLst>
                    <a:ext uri="{FF2B5EF4-FFF2-40B4-BE49-F238E27FC236}">
                      <a16:creationId xmlns:a16="http://schemas.microsoft.com/office/drawing/2014/main" id="{369A12FB-BFB5-A903-2597-B13A14E28B63}"/>
                    </a:ext>
                  </a:extLst>
                </p14:cNvPr>
                <p14:cNvContentPartPr/>
                <p14:nvPr/>
              </p14:nvContentPartPr>
              <p14:xfrm>
                <a:off x="4056611" y="1307749"/>
                <a:ext cx="1045440" cy="478080"/>
              </p14:xfrm>
            </p:contentPart>
          </mc:Choice>
          <mc:Fallback xmlns="">
            <p:pic>
              <p:nvPicPr>
                <p:cNvPr id="18" name="Ink 17">
                  <a:extLst>
                    <a:ext uri="{FF2B5EF4-FFF2-40B4-BE49-F238E27FC236}">
                      <a16:creationId xmlns:a16="http://schemas.microsoft.com/office/drawing/2014/main" id="{369A12FB-BFB5-A903-2597-B13A14E28B63}"/>
                    </a:ext>
                  </a:extLst>
                </p:cNvPr>
                <p:cNvPicPr/>
                <p:nvPr/>
              </p:nvPicPr>
              <p:blipFill>
                <a:blip r:embed="rId7"/>
                <a:stretch>
                  <a:fillRect/>
                </a:stretch>
              </p:blipFill>
              <p:spPr>
                <a:xfrm>
                  <a:off x="4038971" y="1199749"/>
                  <a:ext cx="1081080" cy="69372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8">
              <p14:nvContentPartPr>
                <p14:cNvPr id="20" name="Ink 19">
                  <a:extLst>
                    <a:ext uri="{FF2B5EF4-FFF2-40B4-BE49-F238E27FC236}">
                      <a16:creationId xmlns:a16="http://schemas.microsoft.com/office/drawing/2014/main" id="{E800FDB7-880E-75ED-F0B4-894A1EF48394}"/>
                    </a:ext>
                  </a:extLst>
                </p14:cNvPr>
                <p14:cNvContentPartPr/>
                <p14:nvPr/>
              </p14:nvContentPartPr>
              <p14:xfrm>
                <a:off x="3947171" y="972949"/>
                <a:ext cx="1041840" cy="597240"/>
              </p14:xfrm>
            </p:contentPart>
          </mc:Choice>
          <mc:Fallback xmlns="">
            <p:pic>
              <p:nvPicPr>
                <p:cNvPr id="20" name="Ink 19">
                  <a:extLst>
                    <a:ext uri="{FF2B5EF4-FFF2-40B4-BE49-F238E27FC236}">
                      <a16:creationId xmlns:a16="http://schemas.microsoft.com/office/drawing/2014/main" id="{E800FDB7-880E-75ED-F0B4-894A1EF48394}"/>
                    </a:ext>
                  </a:extLst>
                </p:cNvPr>
                <p:cNvPicPr/>
                <p:nvPr/>
              </p:nvPicPr>
              <p:blipFill>
                <a:blip r:embed="rId9"/>
                <a:stretch>
                  <a:fillRect/>
                </a:stretch>
              </p:blipFill>
              <p:spPr>
                <a:xfrm>
                  <a:off x="3929531" y="865309"/>
                  <a:ext cx="1077480" cy="8128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
            <p14:nvContentPartPr>
              <p14:cNvPr id="25" name="Ink 24">
                <a:extLst>
                  <a:ext uri="{FF2B5EF4-FFF2-40B4-BE49-F238E27FC236}">
                    <a16:creationId xmlns:a16="http://schemas.microsoft.com/office/drawing/2014/main" id="{77D1950B-0D5E-B63A-407F-4B585193A617}"/>
                  </a:ext>
                </a:extLst>
              </p14:cNvPr>
              <p14:cNvContentPartPr/>
              <p14:nvPr/>
            </p14:nvContentPartPr>
            <p14:xfrm>
              <a:off x="3554051" y="1300189"/>
              <a:ext cx="1664280" cy="660240"/>
            </p14:xfrm>
          </p:contentPart>
        </mc:Choice>
        <mc:Fallback xmlns="">
          <p:pic>
            <p:nvPicPr>
              <p:cNvPr id="25" name="Ink 24">
                <a:extLst>
                  <a:ext uri="{FF2B5EF4-FFF2-40B4-BE49-F238E27FC236}">
                    <a16:creationId xmlns:a16="http://schemas.microsoft.com/office/drawing/2014/main" id="{77D1950B-0D5E-B63A-407F-4B585193A617}"/>
                  </a:ext>
                </a:extLst>
              </p:cNvPr>
              <p:cNvPicPr/>
              <p:nvPr/>
            </p:nvPicPr>
            <p:blipFill>
              <a:blip r:embed="rId11"/>
              <a:stretch>
                <a:fillRect/>
              </a:stretch>
            </p:blipFill>
            <p:spPr>
              <a:xfrm>
                <a:off x="3491051" y="1237549"/>
                <a:ext cx="1789920" cy="785880"/>
              </a:xfrm>
              <a:prstGeom prst="rect">
                <a:avLst/>
              </a:prstGeom>
            </p:spPr>
          </p:pic>
        </mc:Fallback>
      </mc:AlternateContent>
      <p:grpSp>
        <p:nvGrpSpPr>
          <p:cNvPr id="29" name="Group 28">
            <a:extLst>
              <a:ext uri="{FF2B5EF4-FFF2-40B4-BE49-F238E27FC236}">
                <a16:creationId xmlns:a16="http://schemas.microsoft.com/office/drawing/2014/main" id="{A5F39F02-7DCA-16C0-1720-EE8A8B52E27B}"/>
              </a:ext>
            </a:extLst>
          </p:cNvPr>
          <p:cNvGrpSpPr/>
          <p:nvPr/>
        </p:nvGrpSpPr>
        <p:grpSpPr>
          <a:xfrm>
            <a:off x="1041251" y="4179109"/>
            <a:ext cx="605520" cy="808200"/>
            <a:chOff x="1041251" y="4179109"/>
            <a:chExt cx="605520" cy="808200"/>
          </a:xfrm>
        </p:grpSpPr>
        <mc:AlternateContent xmlns:mc="http://schemas.openxmlformats.org/markup-compatibility/2006" xmlns:p14="http://schemas.microsoft.com/office/powerpoint/2010/main">
          <mc:Choice Requires="p14">
            <p:contentPart p14:bwMode="auto" r:id="rId12">
              <p14:nvContentPartPr>
                <p14:cNvPr id="26" name="Ink 25">
                  <a:extLst>
                    <a:ext uri="{FF2B5EF4-FFF2-40B4-BE49-F238E27FC236}">
                      <a16:creationId xmlns:a16="http://schemas.microsoft.com/office/drawing/2014/main" id="{43912925-7B90-1F90-7B9B-B5FC54ADB1AB}"/>
                    </a:ext>
                  </a:extLst>
                </p14:cNvPr>
                <p14:cNvContentPartPr/>
                <p14:nvPr/>
              </p14:nvContentPartPr>
              <p14:xfrm>
                <a:off x="1112531" y="4179109"/>
                <a:ext cx="534240" cy="808200"/>
              </p14:xfrm>
            </p:contentPart>
          </mc:Choice>
          <mc:Fallback xmlns="">
            <p:pic>
              <p:nvPicPr>
                <p:cNvPr id="26" name="Ink 25">
                  <a:extLst>
                    <a:ext uri="{FF2B5EF4-FFF2-40B4-BE49-F238E27FC236}">
                      <a16:creationId xmlns:a16="http://schemas.microsoft.com/office/drawing/2014/main" id="{43912925-7B90-1F90-7B9B-B5FC54ADB1AB}"/>
                    </a:ext>
                  </a:extLst>
                </p:cNvPr>
                <p:cNvPicPr/>
                <p:nvPr/>
              </p:nvPicPr>
              <p:blipFill>
                <a:blip r:embed="rId13"/>
                <a:stretch>
                  <a:fillRect/>
                </a:stretch>
              </p:blipFill>
              <p:spPr>
                <a:xfrm>
                  <a:off x="1049531" y="4116109"/>
                  <a:ext cx="659880" cy="933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7" name="Ink 26">
                  <a:extLst>
                    <a:ext uri="{FF2B5EF4-FFF2-40B4-BE49-F238E27FC236}">
                      <a16:creationId xmlns:a16="http://schemas.microsoft.com/office/drawing/2014/main" id="{D105C71D-0D6E-BAAA-48A6-F64AE210D169}"/>
                    </a:ext>
                  </a:extLst>
                </p14:cNvPr>
                <p14:cNvContentPartPr/>
                <p14:nvPr/>
              </p14:nvContentPartPr>
              <p14:xfrm>
                <a:off x="1041251" y="4194229"/>
                <a:ext cx="360" cy="360"/>
              </p14:xfrm>
            </p:contentPart>
          </mc:Choice>
          <mc:Fallback xmlns="">
            <p:pic>
              <p:nvPicPr>
                <p:cNvPr id="27" name="Ink 26">
                  <a:extLst>
                    <a:ext uri="{FF2B5EF4-FFF2-40B4-BE49-F238E27FC236}">
                      <a16:creationId xmlns:a16="http://schemas.microsoft.com/office/drawing/2014/main" id="{D105C71D-0D6E-BAAA-48A6-F64AE210D169}"/>
                    </a:ext>
                  </a:extLst>
                </p:cNvPr>
                <p:cNvPicPr/>
                <p:nvPr/>
              </p:nvPicPr>
              <p:blipFill>
                <a:blip r:embed="rId15"/>
                <a:stretch>
                  <a:fillRect/>
                </a:stretch>
              </p:blipFill>
              <p:spPr>
                <a:xfrm>
                  <a:off x="978611" y="4131589"/>
                  <a:ext cx="126000" cy="126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
            <p14:nvContentPartPr>
              <p14:cNvPr id="30" name="Ink 29">
                <a:extLst>
                  <a:ext uri="{FF2B5EF4-FFF2-40B4-BE49-F238E27FC236}">
                    <a16:creationId xmlns:a16="http://schemas.microsoft.com/office/drawing/2014/main" id="{97025DC6-00C3-4F49-9199-E7A53FB95D48}"/>
                  </a:ext>
                </a:extLst>
              </p14:cNvPr>
              <p14:cNvContentPartPr/>
              <p14:nvPr/>
            </p14:nvContentPartPr>
            <p14:xfrm>
              <a:off x="1629851" y="5002789"/>
              <a:ext cx="2934000" cy="1151280"/>
            </p14:xfrm>
          </p:contentPart>
        </mc:Choice>
        <mc:Fallback xmlns="">
          <p:pic>
            <p:nvPicPr>
              <p:cNvPr id="30" name="Ink 29">
                <a:extLst>
                  <a:ext uri="{FF2B5EF4-FFF2-40B4-BE49-F238E27FC236}">
                    <a16:creationId xmlns:a16="http://schemas.microsoft.com/office/drawing/2014/main" id="{97025DC6-00C3-4F49-9199-E7A53FB95D48}"/>
                  </a:ext>
                </a:extLst>
              </p:cNvPr>
              <p:cNvPicPr/>
              <p:nvPr/>
            </p:nvPicPr>
            <p:blipFill>
              <a:blip r:embed="rId17"/>
              <a:stretch>
                <a:fillRect/>
              </a:stretch>
            </p:blipFill>
            <p:spPr>
              <a:xfrm>
                <a:off x="1567211" y="4940149"/>
                <a:ext cx="3059640" cy="1276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1" name="Ink 30">
                <a:extLst>
                  <a:ext uri="{FF2B5EF4-FFF2-40B4-BE49-F238E27FC236}">
                    <a16:creationId xmlns:a16="http://schemas.microsoft.com/office/drawing/2014/main" id="{CAC2FAA9-A69C-5714-11BA-6C70C42EF6CC}"/>
                  </a:ext>
                </a:extLst>
              </p14:cNvPr>
              <p14:cNvContentPartPr/>
              <p14:nvPr/>
            </p14:nvContentPartPr>
            <p14:xfrm>
              <a:off x="2058251" y="5004589"/>
              <a:ext cx="4005000" cy="639360"/>
            </p14:xfrm>
          </p:contentPart>
        </mc:Choice>
        <mc:Fallback xmlns="">
          <p:pic>
            <p:nvPicPr>
              <p:cNvPr id="31" name="Ink 30">
                <a:extLst>
                  <a:ext uri="{FF2B5EF4-FFF2-40B4-BE49-F238E27FC236}">
                    <a16:creationId xmlns:a16="http://schemas.microsoft.com/office/drawing/2014/main" id="{CAC2FAA9-A69C-5714-11BA-6C70C42EF6CC}"/>
                  </a:ext>
                </a:extLst>
              </p:cNvPr>
              <p:cNvPicPr/>
              <p:nvPr/>
            </p:nvPicPr>
            <p:blipFill>
              <a:blip r:embed="rId19"/>
              <a:stretch>
                <a:fillRect/>
              </a:stretch>
            </p:blipFill>
            <p:spPr>
              <a:xfrm>
                <a:off x="1995611" y="4941589"/>
                <a:ext cx="4130640" cy="765000"/>
              </a:xfrm>
              <a:prstGeom prst="rect">
                <a:avLst/>
              </a:prstGeom>
            </p:spPr>
          </p:pic>
        </mc:Fallback>
      </mc:AlternateContent>
      <p:sp>
        <p:nvSpPr>
          <p:cNvPr id="32" name="Rectangle 31">
            <a:extLst>
              <a:ext uri="{FF2B5EF4-FFF2-40B4-BE49-F238E27FC236}">
                <a16:creationId xmlns:a16="http://schemas.microsoft.com/office/drawing/2014/main" id="{AF6CDEDF-FDF6-D989-CEFB-CC3B260D460B}"/>
              </a:ext>
            </a:extLst>
          </p:cNvPr>
          <p:cNvSpPr/>
          <p:nvPr/>
        </p:nvSpPr>
        <p:spPr>
          <a:xfrm>
            <a:off x="6670964" y="1570189"/>
            <a:ext cx="4862945" cy="6602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28484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xit" presetSubtype="0" fill="hold" grpId="0" nodeType="clickEffect">
                                  <p:stCondLst>
                                    <p:cond delay="0"/>
                                  </p:stCondLst>
                                  <p:childTnLst>
                                    <p:animEffect transition="out" filter="dissolve">
                                      <p:cBhvr>
                                        <p:cTn id="6" dur="500"/>
                                        <p:tgtEl>
                                          <p:spTgt spid="32"/>
                                        </p:tgtEl>
                                      </p:cBhvr>
                                    </p:animEffect>
                                    <p:set>
                                      <p:cBhvr>
                                        <p:cTn id="7" dur="1" fill="hold">
                                          <p:stCondLst>
                                            <p:cond delay="499"/>
                                          </p:stCondLst>
                                        </p:cTn>
                                        <p:tgtEl>
                                          <p:spTgt spid="32"/>
                                        </p:tgtEl>
                                        <p:attrNameLst>
                                          <p:attrName>style.visibility</p:attrName>
                                        </p:attrNameLst>
                                      </p:cBhvr>
                                      <p:to>
                                        <p:strVal val="hidden"/>
                                      </p:to>
                                    </p:set>
                                  </p:childTnLst>
                                </p:cTn>
                              </p:par>
                              <p:par>
                                <p:cTn id="8" presetID="9"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80B09-F1DB-D062-359B-9B0840D84550}"/>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5C05B921-9106-D0A7-610E-BC9F925F2E85}"/>
              </a:ext>
            </a:extLst>
          </p:cNvPr>
          <p:cNvGrpSpPr/>
          <p:nvPr/>
        </p:nvGrpSpPr>
        <p:grpSpPr>
          <a:xfrm>
            <a:off x="6667392" y="391619"/>
            <a:ext cx="4953215" cy="6252562"/>
            <a:chOff x="3059605" y="0"/>
            <a:chExt cx="4953215" cy="6252562"/>
          </a:xfrm>
        </p:grpSpPr>
        <p:pic>
          <p:nvPicPr>
            <p:cNvPr id="6" name="Picture 5">
              <a:extLst>
                <a:ext uri="{FF2B5EF4-FFF2-40B4-BE49-F238E27FC236}">
                  <a16:creationId xmlns:a16="http://schemas.microsoft.com/office/drawing/2014/main" id="{C6F75DF5-94BD-99E3-389B-52C8E2E7904B}"/>
                </a:ext>
              </a:extLst>
            </p:cNvPr>
            <p:cNvPicPr>
              <a:picLocks noChangeAspect="1"/>
            </p:cNvPicPr>
            <p:nvPr/>
          </p:nvPicPr>
          <p:blipFill>
            <a:blip r:embed="rId3"/>
            <a:stretch>
              <a:fillRect/>
            </a:stretch>
          </p:blipFill>
          <p:spPr>
            <a:xfrm>
              <a:off x="3423397" y="0"/>
              <a:ext cx="4225632" cy="5421565"/>
            </a:xfrm>
            <a:prstGeom prst="rect">
              <a:avLst/>
            </a:prstGeom>
          </p:spPr>
        </p:pic>
        <p:sp>
          <p:nvSpPr>
            <p:cNvPr id="8" name="TextBox 7">
              <a:extLst>
                <a:ext uri="{FF2B5EF4-FFF2-40B4-BE49-F238E27FC236}">
                  <a16:creationId xmlns:a16="http://schemas.microsoft.com/office/drawing/2014/main" id="{FDD5EA45-EA6A-5803-2875-E51E658D86FD}"/>
                </a:ext>
              </a:extLst>
            </p:cNvPr>
            <p:cNvSpPr txBox="1"/>
            <p:nvPr/>
          </p:nvSpPr>
          <p:spPr>
            <a:xfrm>
              <a:off x="3059605" y="5421565"/>
              <a:ext cx="4953215" cy="830997"/>
            </a:xfrm>
            <a:prstGeom prst="rect">
              <a:avLst/>
            </a:prstGeom>
            <a:noFill/>
          </p:spPr>
          <p:txBody>
            <a:bodyPr wrap="square" rtlCol="0">
              <a:spAutoFit/>
            </a:bodyPr>
            <a:lstStyle/>
            <a:p>
              <a:pPr algn="ctr"/>
              <a:r>
                <a:rPr lang="en-US" sz="1600" dirty="0"/>
                <a:t>Installed Transport Solenoid in the Mu2e Pit</a:t>
              </a:r>
            </a:p>
            <a:p>
              <a:pPr algn="ctr"/>
              <a:r>
                <a:rPr lang="en-US" sz="1600" dirty="0"/>
                <a:t>from the status updated published by Stefano Miscetti</a:t>
              </a:r>
            </a:p>
            <a:p>
              <a:pPr algn="ctr"/>
              <a:r>
                <a:rPr lang="en-US" sz="1600" dirty="0"/>
                <a:t>and the Mu2e Collaboration (2025)</a:t>
              </a:r>
            </a:p>
          </p:txBody>
        </p:sp>
      </p:grpSp>
      <p:sp>
        <p:nvSpPr>
          <p:cNvPr id="2" name="Title 1">
            <a:extLst>
              <a:ext uri="{FF2B5EF4-FFF2-40B4-BE49-F238E27FC236}">
                <a16:creationId xmlns:a16="http://schemas.microsoft.com/office/drawing/2014/main" id="{752E720B-F1FF-4C28-4E3A-EC869B0001D6}"/>
              </a:ext>
            </a:extLst>
          </p:cNvPr>
          <p:cNvSpPr>
            <a:spLocks noGrp="1"/>
          </p:cNvSpPr>
          <p:nvPr>
            <p:ph type="title"/>
          </p:nvPr>
        </p:nvSpPr>
        <p:spPr>
          <a:xfrm>
            <a:off x="0" y="0"/>
            <a:ext cx="10515600" cy="549275"/>
          </a:xfrm>
        </p:spPr>
        <p:txBody>
          <a:bodyPr>
            <a:normAutofit/>
          </a:bodyPr>
          <a:lstStyle/>
          <a:p>
            <a:r>
              <a:rPr lang="en-US" sz="2500" u="sng" dirty="0">
                <a:solidFill>
                  <a:srgbClr val="C00000"/>
                </a:solidFill>
              </a:rPr>
              <a:t>Transport Solenoid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9B5243-4BEB-D013-216C-A433CC2B549E}"/>
                  </a:ext>
                </a:extLst>
              </p:cNvPr>
              <p:cNvSpPr>
                <a:spLocks noGrp="1"/>
              </p:cNvSpPr>
              <p:nvPr>
                <p:ph idx="1"/>
              </p:nvPr>
            </p:nvSpPr>
            <p:spPr>
              <a:xfrm>
                <a:off x="838200" y="767443"/>
                <a:ext cx="10515600" cy="5409520"/>
              </a:xfrm>
            </p:spPr>
            <p:txBody>
              <a:bodyPr/>
              <a:lstStyle/>
              <a:p>
                <a:r>
                  <a:rPr lang="en-US" dirty="0"/>
                  <a:t>S-shaped structure serves three major functions</a:t>
                </a:r>
              </a:p>
              <a:p>
                <a:pPr lvl="1"/>
                <a:r>
                  <a:rPr lang="en-US" dirty="0"/>
                  <a:t>Allows for the selection of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ea typeface="Cambria Math" panose="02040503050406030204" pitchFamily="18" charset="0"/>
                          </a:rPr>
                          <m:t>𝜇</m:t>
                        </m:r>
                      </m:e>
                      <m:sup>
                        <m:r>
                          <a:rPr lang="en-US" b="0" i="1" smtClean="0">
                            <a:latin typeface="Cambria Math" panose="02040503050406030204" pitchFamily="18" charset="0"/>
                          </a:rPr>
                          <m:t>−</m:t>
                        </m:r>
                      </m:sup>
                    </m:sSup>
                  </m:oMath>
                </a14:m>
                <a:r>
                  <a:rPr lang="en-US" dirty="0"/>
                  <a:t> vs </a:t>
                </a:r>
                <a14:m>
                  <m:oMath xmlns:m="http://schemas.openxmlformats.org/officeDocument/2006/math">
                    <m:sSup>
                      <m:sSupPr>
                        <m:ctrlPr>
                          <a:rPr lang="en-US" i="1" smtClean="0">
                            <a:latin typeface="Cambria Math" panose="02040503050406030204" pitchFamily="18" charset="0"/>
                          </a:rPr>
                        </m:ctrlPr>
                      </m:sSupPr>
                      <m:e>
                        <m:r>
                          <a:rPr lang="en-US" i="1">
                            <a:latin typeface="Cambria Math" panose="02040503050406030204" pitchFamily="18" charset="0"/>
                            <a:ea typeface="Cambria Math" panose="02040503050406030204" pitchFamily="18" charset="0"/>
                          </a:rPr>
                          <m:t>𝜇</m:t>
                        </m:r>
                      </m:e>
                      <m:sup>
                        <m:r>
                          <a:rPr lang="en-US" b="0" i="1" smtClean="0">
                            <a:latin typeface="Cambria Math" panose="02040503050406030204" pitchFamily="18" charset="0"/>
                          </a:rPr>
                          <m:t>+</m:t>
                        </m:r>
                      </m:sup>
                    </m:sSup>
                  </m:oMath>
                </a14:m>
                <a:endParaRPr lang="en-US" dirty="0"/>
              </a:p>
              <a:p>
                <a:pPr lvl="2"/>
                <a:r>
                  <a:rPr lang="en-US" dirty="0"/>
                  <a:t>Vertical deviation from the path differs between positive and negative charges</a:t>
                </a:r>
              </a:p>
              <a:p>
                <a:pPr lvl="3"/>
                <a:r>
                  <a:rPr lang="en-US" dirty="0"/>
                  <a:t>Particle drift in solenoidal field </a:t>
                </a:r>
                <a:r>
                  <a:rPr lang="en-US" dirty="0">
                    <a:sym typeface="Wingdings" pitchFamily="2" charset="2"/>
                  </a:rPr>
                  <a:t> Jackson E&amp;M Problem 5.2</a:t>
                </a:r>
                <a:endParaRPr lang="en-US" dirty="0"/>
              </a:p>
              <a:p>
                <a:pPr lvl="2"/>
                <a:r>
                  <a:rPr lang="en-US" dirty="0"/>
                  <a:t>Orient magnetic fields to only allow negative muons from the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ea typeface="Cambria Math" panose="02040503050406030204" pitchFamily="18" charset="0"/>
                          </a:rPr>
                          <m:t>𝜋</m:t>
                        </m:r>
                      </m:e>
                      <m:sup>
                        <m:r>
                          <a:rPr lang="en-US" b="0" i="1" smtClean="0">
                            <a:latin typeface="Cambria Math" panose="02040503050406030204" pitchFamily="18" charset="0"/>
                          </a:rPr>
                          <m:t>−</m:t>
                        </m:r>
                      </m:sup>
                    </m:sSup>
                  </m:oMath>
                </a14:m>
                <a:r>
                  <a:rPr lang="en-US" dirty="0"/>
                  <a:t> decays</a:t>
                </a:r>
              </a:p>
              <a:p>
                <a:pPr lvl="1"/>
                <a:r>
                  <a:rPr lang="en-US" dirty="0"/>
                  <a:t> Prevents the accumulation of photons created from proton collision</a:t>
                </a:r>
              </a:p>
              <a:p>
                <a:pPr lvl="2"/>
                <a:r>
                  <a:rPr lang="en-US" dirty="0"/>
                  <a:t>Uncharged particles without moments do not bend in presence of magnetic field</a:t>
                </a:r>
              </a:p>
              <a:p>
                <a:pPr lvl="2"/>
                <a:r>
                  <a:rPr lang="en-US" dirty="0"/>
                  <a:t>go directly into the wall of the solenoid at bend</a:t>
                </a:r>
              </a:p>
              <a:p>
                <a:pPr lvl="1"/>
                <a:r>
                  <a:rPr lang="en-US" dirty="0"/>
                  <a:t>Particles with too large a momentum will hit solenoid walls and not make it into the detector</a:t>
                </a:r>
              </a:p>
              <a:p>
                <a:pPr lvl="2"/>
                <a:r>
                  <a:rPr lang="en-US" dirty="0"/>
                  <a:t>too large a radius of gyration </a:t>
                </a:r>
                <a14:m>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f>
                      <m:fPr>
                        <m:type m:val="skw"/>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ea typeface="Cambria Math" panose="02040503050406030204" pitchFamily="18" charset="0"/>
                              </a:rPr>
                              <m:t>⊥</m:t>
                            </m:r>
                          </m:sub>
                        </m:sSub>
                      </m:num>
                      <m:den>
                        <m:r>
                          <a:rPr lang="en-US" b="0" i="1" smtClean="0">
                            <a:latin typeface="Cambria Math" panose="02040503050406030204" pitchFamily="18" charset="0"/>
                          </a:rPr>
                          <m:t>0.3</m:t>
                        </m:r>
                        <m:r>
                          <a:rPr lang="en-US" b="0" i="1" smtClean="0">
                            <a:latin typeface="Cambria Math" panose="02040503050406030204" pitchFamily="18" charset="0"/>
                          </a:rPr>
                          <m:t>𝐵</m:t>
                        </m:r>
                      </m:den>
                    </m:f>
                  </m:oMath>
                </a14:m>
                <a:endParaRPr lang="en-US" dirty="0"/>
              </a:p>
              <a:p>
                <a:pPr lvl="2"/>
                <a:r>
                  <a:rPr lang="en-US" dirty="0"/>
                  <a:t>also true for a straight solenoid, but exaggerated effects in the S shape</a:t>
                </a:r>
              </a:p>
            </p:txBody>
          </p:sp>
        </mc:Choice>
        <mc:Fallback xmlns="">
          <p:sp>
            <p:nvSpPr>
              <p:cNvPr id="3" name="Content Placeholder 2">
                <a:extLst>
                  <a:ext uri="{FF2B5EF4-FFF2-40B4-BE49-F238E27FC236}">
                    <a16:creationId xmlns:a16="http://schemas.microsoft.com/office/drawing/2014/main" id="{C09B5243-4BEB-D013-216C-A433CC2B549E}"/>
                  </a:ext>
                </a:extLst>
              </p:cNvPr>
              <p:cNvSpPr>
                <a:spLocks noGrp="1" noRot="1" noChangeAspect="1" noMove="1" noResize="1" noEditPoints="1" noAdjustHandles="1" noChangeArrowheads="1" noChangeShapeType="1" noTextEdit="1"/>
              </p:cNvSpPr>
              <p:nvPr>
                <p:ph idx="1"/>
              </p:nvPr>
            </p:nvSpPr>
            <p:spPr>
              <a:xfrm>
                <a:off x="838200" y="767443"/>
                <a:ext cx="10515600" cy="5409520"/>
              </a:xfrm>
              <a:blipFill>
                <a:blip r:embed="rId4"/>
                <a:stretch>
                  <a:fillRect l="-1086" t="-1874" r="-121"/>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DE124331-FFFF-2448-D140-CCFCAF433D76}"/>
              </a:ext>
            </a:extLst>
          </p:cNvPr>
          <p:cNvSpPr>
            <a:spLocks noGrp="1"/>
          </p:cNvSpPr>
          <p:nvPr>
            <p:ph type="sldNum" sz="quarter" idx="12"/>
          </p:nvPr>
        </p:nvSpPr>
        <p:spPr/>
        <p:txBody>
          <a:bodyPr/>
          <a:lstStyle/>
          <a:p>
            <a:fld id="{97E93708-6877-FF41-B53F-E17832C2698B}" type="slidenum">
              <a:rPr lang="en-US" smtClean="0"/>
              <a:t>50</a:t>
            </a:fld>
            <a:endParaRPr lang="en-US"/>
          </a:p>
        </p:txBody>
      </p:sp>
      <p:sp>
        <p:nvSpPr>
          <p:cNvPr id="7" name="Footer Placeholder 4">
            <a:extLst>
              <a:ext uri="{FF2B5EF4-FFF2-40B4-BE49-F238E27FC236}">
                <a16:creationId xmlns:a16="http://schemas.microsoft.com/office/drawing/2014/main" id="{8E32100B-C11F-5AE1-9A07-B4DE594335A6}"/>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spTree>
    <p:extLst>
      <p:ext uri="{BB962C8B-B14F-4D97-AF65-F5344CB8AC3E}">
        <p14:creationId xmlns:p14="http://schemas.microsoft.com/office/powerpoint/2010/main" val="598612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nodeType="clickEffect">
                                  <p:stCondLst>
                                    <p:cond delay="0"/>
                                  </p:stCondLst>
                                  <p:childTnLst>
                                    <p:set>
                                      <p:cBhvr>
                                        <p:cTn id="36" dur="1" fill="hold">
                                          <p:stCondLst>
                                            <p:cond delay="0"/>
                                          </p:stCondLst>
                                        </p:cTn>
                                        <p:tgtEl>
                                          <p:spTgt spid="3">
                                            <p:txEl>
                                              <p:pRg st="0" end="0"/>
                                            </p:txEl>
                                          </p:spTgt>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3">
                                            <p:txEl>
                                              <p:pRg st="1" end="1"/>
                                            </p:txEl>
                                          </p:spTgt>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3">
                                            <p:txEl>
                                              <p:pRg st="2" end="2"/>
                                            </p:txEl>
                                          </p:spTgt>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3">
                                            <p:txEl>
                                              <p:pRg st="3" end="3"/>
                                            </p:txEl>
                                          </p:spTgt>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3">
                                            <p:txEl>
                                              <p:pRg st="4" end="4"/>
                                            </p:txEl>
                                          </p:spTgt>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3">
                                            <p:txEl>
                                              <p:pRg st="5" end="5"/>
                                            </p:txEl>
                                          </p:spTgt>
                                        </p:tgtEl>
                                        <p:attrNameLst>
                                          <p:attrName>style.visibility</p:attrName>
                                        </p:attrNameLst>
                                      </p:cBhvr>
                                      <p:to>
                                        <p:strVal val="hidden"/>
                                      </p:to>
                                    </p:set>
                                  </p:childTnLst>
                                </p:cTn>
                              </p:par>
                              <p:par>
                                <p:cTn id="47" presetID="1" presetClass="exit" presetSubtype="0" fill="hold" nodeType="withEffect">
                                  <p:stCondLst>
                                    <p:cond delay="0"/>
                                  </p:stCondLst>
                                  <p:childTnLst>
                                    <p:set>
                                      <p:cBhvr>
                                        <p:cTn id="48" dur="1" fill="hold">
                                          <p:stCondLst>
                                            <p:cond delay="0"/>
                                          </p:stCondLst>
                                        </p:cTn>
                                        <p:tgtEl>
                                          <p:spTgt spid="3">
                                            <p:txEl>
                                              <p:pRg st="6" end="6"/>
                                            </p:txEl>
                                          </p:spTgt>
                                        </p:tgtEl>
                                        <p:attrNameLst>
                                          <p:attrName>style.visibility</p:attrName>
                                        </p:attrNameLst>
                                      </p:cBhvr>
                                      <p:to>
                                        <p:strVal val="hidden"/>
                                      </p:to>
                                    </p:set>
                                  </p:childTnLst>
                                </p:cTn>
                              </p:par>
                              <p:par>
                                <p:cTn id="49" presetID="1" presetClass="exit" presetSubtype="0" fill="hold" nodeType="withEffect">
                                  <p:stCondLst>
                                    <p:cond delay="0"/>
                                  </p:stCondLst>
                                  <p:childTnLst>
                                    <p:set>
                                      <p:cBhvr>
                                        <p:cTn id="50" dur="1" fill="hold">
                                          <p:stCondLst>
                                            <p:cond delay="0"/>
                                          </p:stCondLst>
                                        </p:cTn>
                                        <p:tgtEl>
                                          <p:spTgt spid="3">
                                            <p:txEl>
                                              <p:pRg st="7" end="7"/>
                                            </p:txEl>
                                          </p:spTgt>
                                        </p:tgtEl>
                                        <p:attrNameLst>
                                          <p:attrName>style.visibility</p:attrName>
                                        </p:attrNameLst>
                                      </p:cBhvr>
                                      <p:to>
                                        <p:strVal val="hidden"/>
                                      </p:to>
                                    </p:set>
                                  </p:childTnLst>
                                </p:cTn>
                              </p:par>
                              <p:par>
                                <p:cTn id="51" presetID="1" presetClass="exit" presetSubtype="0" fill="hold" nodeType="withEffect">
                                  <p:stCondLst>
                                    <p:cond delay="0"/>
                                  </p:stCondLst>
                                  <p:childTnLst>
                                    <p:set>
                                      <p:cBhvr>
                                        <p:cTn id="52" dur="1" fill="hold">
                                          <p:stCondLst>
                                            <p:cond delay="0"/>
                                          </p:stCondLst>
                                        </p:cTn>
                                        <p:tgtEl>
                                          <p:spTgt spid="3">
                                            <p:txEl>
                                              <p:pRg st="8" end="8"/>
                                            </p:txEl>
                                          </p:spTgt>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3">
                                            <p:txEl>
                                              <p:pRg st="9" end="9"/>
                                            </p:txEl>
                                          </p:spTgt>
                                        </p:tgtEl>
                                        <p:attrNameLst>
                                          <p:attrName>style.visibility</p:attrName>
                                        </p:attrNameLst>
                                      </p:cBhvr>
                                      <p:to>
                                        <p:strVal val="hidden"/>
                                      </p:to>
                                    </p:set>
                                  </p:childTnLst>
                                </p:cTn>
                              </p:par>
                              <p:par>
                                <p:cTn id="55" presetID="1" presetClass="exit" presetSubtype="0" fill="hold" nodeType="withEffect">
                                  <p:stCondLst>
                                    <p:cond delay="0"/>
                                  </p:stCondLst>
                                  <p:childTnLst>
                                    <p:set>
                                      <p:cBhvr>
                                        <p:cTn id="56" dur="1" fill="hold">
                                          <p:stCondLst>
                                            <p:cond delay="0"/>
                                          </p:stCondLst>
                                        </p:cTn>
                                        <p:tgtEl>
                                          <p:spTgt spid="3">
                                            <p:txEl>
                                              <p:pRg st="10" end="10"/>
                                            </p:txEl>
                                          </p:spTgt>
                                        </p:tgtEl>
                                        <p:attrNameLst>
                                          <p:attrName>style.visibility</p:attrName>
                                        </p:attrNameLst>
                                      </p:cBhvr>
                                      <p:to>
                                        <p:strVal val="hidden"/>
                                      </p:to>
                                    </p:set>
                                  </p:childTnLst>
                                </p:cTn>
                              </p:par>
                              <p:par>
                                <p:cTn id="57" presetID="9" presetClass="entr" presetSubtype="0" fill="hold" nodeType="withEffect">
                                  <p:stCondLst>
                                    <p:cond delay="0"/>
                                  </p:stCondLst>
                                  <p:childTnLst>
                                    <p:set>
                                      <p:cBhvr>
                                        <p:cTn id="58" dur="1" fill="hold">
                                          <p:stCondLst>
                                            <p:cond delay="0"/>
                                          </p:stCondLst>
                                        </p:cTn>
                                        <p:tgtEl>
                                          <p:spTgt spid="9"/>
                                        </p:tgtEl>
                                        <p:attrNameLst>
                                          <p:attrName>style.visibility</p:attrName>
                                        </p:attrNameLst>
                                      </p:cBhvr>
                                      <p:to>
                                        <p:strVal val="visible"/>
                                      </p:to>
                                    </p:set>
                                    <p:animEffect transition="in" filter="dissolve">
                                      <p:cBhvr>
                                        <p:cTn id="5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2C3C3-09E7-2FB4-7D5B-93E47C1163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32CDBB-C585-FC6B-EFCC-DCFCA8BA1637}"/>
              </a:ext>
            </a:extLst>
          </p:cNvPr>
          <p:cNvSpPr>
            <a:spLocks noGrp="1"/>
          </p:cNvSpPr>
          <p:nvPr>
            <p:ph type="title"/>
          </p:nvPr>
        </p:nvSpPr>
        <p:spPr>
          <a:xfrm>
            <a:off x="0" y="352425"/>
            <a:ext cx="9410700" cy="447675"/>
          </a:xfrm>
        </p:spPr>
        <p:txBody>
          <a:bodyPr>
            <a:normAutofit/>
          </a:bodyPr>
          <a:lstStyle/>
          <a:p>
            <a:r>
              <a:rPr lang="en-US" sz="2500" u="sng" dirty="0">
                <a:solidFill>
                  <a:srgbClr val="C00000"/>
                </a:solidFill>
              </a:rPr>
              <a:t>The Mu2e Experiment</a:t>
            </a:r>
          </a:p>
        </p:txBody>
      </p:sp>
      <p:sp>
        <p:nvSpPr>
          <p:cNvPr id="6" name="Slide Number Placeholder 5">
            <a:extLst>
              <a:ext uri="{FF2B5EF4-FFF2-40B4-BE49-F238E27FC236}">
                <a16:creationId xmlns:a16="http://schemas.microsoft.com/office/drawing/2014/main" id="{FE25A0EB-F0BC-1D5A-79AC-241A4AF12B1D}"/>
              </a:ext>
            </a:extLst>
          </p:cNvPr>
          <p:cNvSpPr>
            <a:spLocks noGrp="1"/>
          </p:cNvSpPr>
          <p:nvPr>
            <p:ph type="sldNum" sz="quarter" idx="12"/>
          </p:nvPr>
        </p:nvSpPr>
        <p:spPr/>
        <p:txBody>
          <a:bodyPr/>
          <a:lstStyle/>
          <a:p>
            <a:fld id="{97E93708-6877-FF41-B53F-E17832C2698B}" type="slidenum">
              <a:rPr lang="en-US" smtClean="0"/>
              <a:t>51</a:t>
            </a:fld>
            <a:endParaRPr lang="en-US"/>
          </a:p>
        </p:txBody>
      </p:sp>
      <p:sp>
        <p:nvSpPr>
          <p:cNvPr id="7" name="Footer Placeholder 4">
            <a:extLst>
              <a:ext uri="{FF2B5EF4-FFF2-40B4-BE49-F238E27FC236}">
                <a16:creationId xmlns:a16="http://schemas.microsoft.com/office/drawing/2014/main" id="{2284E5F6-0E16-6FE5-D36D-A14DD3FFD5F6}"/>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pic>
        <p:nvPicPr>
          <p:cNvPr id="17" name="Content Placeholder 3">
            <a:extLst>
              <a:ext uri="{FF2B5EF4-FFF2-40B4-BE49-F238E27FC236}">
                <a16:creationId xmlns:a16="http://schemas.microsoft.com/office/drawing/2014/main" id="{48CA1715-892A-DB7D-8D2B-9EFD7873A3FB}"/>
              </a:ext>
            </a:extLst>
          </p:cNvPr>
          <p:cNvPicPr>
            <a:picLocks noChangeAspect="1"/>
          </p:cNvPicPr>
          <p:nvPr/>
        </p:nvPicPr>
        <p:blipFill>
          <a:blip r:embed="rId3"/>
          <a:srcRect l="36607" t="36561" r="32977" b="3522"/>
          <a:stretch>
            <a:fillRect/>
          </a:stretch>
        </p:blipFill>
        <p:spPr>
          <a:xfrm>
            <a:off x="2644486" y="1285339"/>
            <a:ext cx="6903027" cy="4891624"/>
          </a:xfrm>
          <a:prstGeom prst="rect">
            <a:avLst/>
          </a:prstGeom>
        </p:spPr>
      </p:pic>
      <p:sp>
        <p:nvSpPr>
          <p:cNvPr id="18" name="Rectangle 17">
            <a:extLst>
              <a:ext uri="{FF2B5EF4-FFF2-40B4-BE49-F238E27FC236}">
                <a16:creationId xmlns:a16="http://schemas.microsoft.com/office/drawing/2014/main" id="{8D83925A-6B85-E2F3-8654-DD0163281F2C}"/>
              </a:ext>
            </a:extLst>
          </p:cNvPr>
          <p:cNvSpPr/>
          <p:nvPr/>
        </p:nvSpPr>
        <p:spPr>
          <a:xfrm>
            <a:off x="2763982" y="4987636"/>
            <a:ext cx="3332018" cy="11893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FFE657A-1134-E415-FFB7-FBC8C87933BA}"/>
              </a:ext>
            </a:extLst>
          </p:cNvPr>
          <p:cNvSpPr/>
          <p:nvPr/>
        </p:nvSpPr>
        <p:spPr>
          <a:xfrm>
            <a:off x="7258917" y="3761510"/>
            <a:ext cx="3332018" cy="14291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4">
            <p14:nvContentPartPr>
              <p14:cNvPr id="20" name="Ink 19">
                <a:extLst>
                  <a:ext uri="{FF2B5EF4-FFF2-40B4-BE49-F238E27FC236}">
                    <a16:creationId xmlns:a16="http://schemas.microsoft.com/office/drawing/2014/main" id="{6AC123E4-D48D-BF24-EAF5-77FAD798C5C5}"/>
                  </a:ext>
                </a:extLst>
              </p14:cNvPr>
              <p14:cNvContentPartPr/>
              <p14:nvPr/>
            </p14:nvContentPartPr>
            <p14:xfrm>
              <a:off x="9130451" y="3029269"/>
              <a:ext cx="577440" cy="747720"/>
            </p14:xfrm>
          </p:contentPart>
        </mc:Choice>
        <mc:Fallback xmlns="">
          <p:pic>
            <p:nvPicPr>
              <p:cNvPr id="20" name="Ink 19">
                <a:extLst>
                  <a:ext uri="{FF2B5EF4-FFF2-40B4-BE49-F238E27FC236}">
                    <a16:creationId xmlns:a16="http://schemas.microsoft.com/office/drawing/2014/main" id="{6AC123E4-D48D-BF24-EAF5-77FAD798C5C5}"/>
                  </a:ext>
                </a:extLst>
              </p:cNvPr>
              <p:cNvPicPr/>
              <p:nvPr/>
            </p:nvPicPr>
            <p:blipFill>
              <a:blip r:embed="rId5"/>
              <a:stretch>
                <a:fillRect/>
              </a:stretch>
            </p:blipFill>
            <p:spPr>
              <a:xfrm>
                <a:off x="9067811" y="2966269"/>
                <a:ext cx="703080" cy="8733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066F5624-1080-7B21-E3BD-3740BA48DCE8}"/>
                  </a:ext>
                </a:extLst>
              </p14:cNvPr>
              <p14:cNvContentPartPr/>
              <p14:nvPr/>
            </p14:nvContentPartPr>
            <p14:xfrm>
              <a:off x="2901171" y="2482846"/>
              <a:ext cx="5185858" cy="742684"/>
            </p14:xfrm>
          </p:contentPart>
        </mc:Choice>
        <mc:Fallback xmlns="">
          <p:pic>
            <p:nvPicPr>
              <p:cNvPr id="25" name="Ink 24">
                <a:extLst>
                  <a:ext uri="{FF2B5EF4-FFF2-40B4-BE49-F238E27FC236}">
                    <a16:creationId xmlns:a16="http://schemas.microsoft.com/office/drawing/2014/main" id="{066F5624-1080-7B21-E3BD-3740BA48DCE8}"/>
                  </a:ext>
                </a:extLst>
              </p:cNvPr>
              <p:cNvPicPr/>
              <p:nvPr/>
            </p:nvPicPr>
            <p:blipFill>
              <a:blip r:embed="rId7"/>
              <a:stretch>
                <a:fillRect/>
              </a:stretch>
            </p:blipFill>
            <p:spPr>
              <a:xfrm>
                <a:off x="2877406" y="2459040"/>
                <a:ext cx="5233028" cy="789936"/>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7" name="Ink 26">
                <a:extLst>
                  <a:ext uri="{FF2B5EF4-FFF2-40B4-BE49-F238E27FC236}">
                    <a16:creationId xmlns:a16="http://schemas.microsoft.com/office/drawing/2014/main" id="{1722992C-8312-4E0C-5CF1-F792827A5E5D}"/>
                  </a:ext>
                </a:extLst>
              </p14:cNvPr>
              <p14:cNvContentPartPr/>
              <p14:nvPr/>
            </p14:nvContentPartPr>
            <p14:xfrm>
              <a:off x="8452571" y="1977709"/>
              <a:ext cx="1434600" cy="974520"/>
            </p14:xfrm>
          </p:contentPart>
        </mc:Choice>
        <mc:Fallback xmlns="">
          <p:pic>
            <p:nvPicPr>
              <p:cNvPr id="27" name="Ink 26">
                <a:extLst>
                  <a:ext uri="{FF2B5EF4-FFF2-40B4-BE49-F238E27FC236}">
                    <a16:creationId xmlns:a16="http://schemas.microsoft.com/office/drawing/2014/main" id="{1722992C-8312-4E0C-5CF1-F792827A5E5D}"/>
                  </a:ext>
                </a:extLst>
              </p:cNvPr>
              <p:cNvPicPr/>
              <p:nvPr/>
            </p:nvPicPr>
            <p:blipFill>
              <a:blip r:embed="rId9"/>
              <a:stretch>
                <a:fillRect/>
              </a:stretch>
            </p:blipFill>
            <p:spPr>
              <a:xfrm>
                <a:off x="8443931" y="1968709"/>
                <a:ext cx="1452240" cy="992160"/>
              </a:xfrm>
              <a:prstGeom prst="rect">
                <a:avLst/>
              </a:prstGeom>
            </p:spPr>
          </p:pic>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C78E72E-F9CA-49C8-6E60-76915DE7EF7B}"/>
                  </a:ext>
                </a:extLst>
              </p:cNvPr>
              <p:cNvSpPr txBox="1"/>
              <p:nvPr/>
            </p:nvSpPr>
            <p:spPr>
              <a:xfrm>
                <a:off x="4306815" y="1955540"/>
                <a:ext cx="827809"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sz="3200" i="1" smtClean="0">
                              <a:solidFill>
                                <a:srgbClr val="C00000"/>
                              </a:solidFill>
                              <a:latin typeface="Cambria Math" panose="02040503050406030204" pitchFamily="18" charset="0"/>
                            </a:rPr>
                          </m:ctrlPr>
                        </m:sSupPr>
                        <m:e>
                          <m:r>
                            <a:rPr lang="en-US" sz="3200" i="1" smtClean="0">
                              <a:solidFill>
                                <a:srgbClr val="C00000"/>
                              </a:solidFill>
                              <a:latin typeface="Cambria Math" panose="02040503050406030204" pitchFamily="18" charset="0"/>
                              <a:ea typeface="Cambria Math" panose="02040503050406030204" pitchFamily="18" charset="0"/>
                            </a:rPr>
                            <m:t>𝜇</m:t>
                          </m:r>
                        </m:e>
                        <m:sup>
                          <m:r>
                            <a:rPr lang="en-US" sz="3200" b="0" i="1" smtClean="0">
                              <a:solidFill>
                                <a:srgbClr val="C00000"/>
                              </a:solidFill>
                              <a:latin typeface="Cambria Math" panose="02040503050406030204" pitchFamily="18" charset="0"/>
                            </a:rPr>
                            <m:t>−</m:t>
                          </m:r>
                        </m:sup>
                      </m:sSup>
                    </m:oMath>
                  </m:oMathPara>
                </a14:m>
                <a:endParaRPr lang="en-US" dirty="0">
                  <a:solidFill>
                    <a:srgbClr val="C00000"/>
                  </a:solidFill>
                </a:endParaRPr>
              </a:p>
            </p:txBody>
          </p:sp>
        </mc:Choice>
        <mc:Fallback xmlns="">
          <p:sp>
            <p:nvSpPr>
              <p:cNvPr id="32" name="TextBox 31">
                <a:extLst>
                  <a:ext uri="{FF2B5EF4-FFF2-40B4-BE49-F238E27FC236}">
                    <a16:creationId xmlns:a16="http://schemas.microsoft.com/office/drawing/2014/main" id="{DC78E72E-F9CA-49C8-6E60-76915DE7EF7B}"/>
                  </a:ext>
                </a:extLst>
              </p:cNvPr>
              <p:cNvSpPr txBox="1">
                <a:spLocks noRot="1" noChangeAspect="1" noMove="1" noResize="1" noEditPoints="1" noAdjustHandles="1" noChangeArrowheads="1" noChangeShapeType="1" noTextEdit="1"/>
              </p:cNvSpPr>
              <p:nvPr/>
            </p:nvSpPr>
            <p:spPr>
              <a:xfrm>
                <a:off x="4306815" y="1955540"/>
                <a:ext cx="827809" cy="584775"/>
              </a:xfrm>
              <a:prstGeom prst="rect">
                <a:avLst/>
              </a:prstGeom>
              <a:blipFill>
                <a:blip r:embed="rId10"/>
                <a:stretch>
                  <a:fillRect b="-85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8824860-BFA6-9F84-63CD-CC3957428BA5}"/>
                  </a:ext>
                </a:extLst>
              </p:cNvPr>
              <p:cNvSpPr txBox="1"/>
              <p:nvPr/>
            </p:nvSpPr>
            <p:spPr>
              <a:xfrm>
                <a:off x="9085246" y="1863541"/>
                <a:ext cx="827809"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sz="3200" i="1" smtClean="0">
                              <a:solidFill>
                                <a:srgbClr val="002060"/>
                              </a:solidFill>
                              <a:latin typeface="Cambria Math" panose="02040503050406030204" pitchFamily="18" charset="0"/>
                            </a:rPr>
                          </m:ctrlPr>
                        </m:sSupPr>
                        <m:e>
                          <m:r>
                            <a:rPr lang="en-US" sz="3200" b="0" i="1" smtClean="0">
                              <a:solidFill>
                                <a:srgbClr val="002060"/>
                              </a:solidFill>
                              <a:latin typeface="Cambria Math" panose="02040503050406030204" pitchFamily="18" charset="0"/>
                            </a:rPr>
                            <m:t>𝑒</m:t>
                          </m:r>
                        </m:e>
                        <m:sup>
                          <m:r>
                            <a:rPr lang="en-US" sz="3200" b="0" i="1" smtClean="0">
                              <a:solidFill>
                                <a:srgbClr val="002060"/>
                              </a:solidFill>
                              <a:latin typeface="Cambria Math" panose="02040503050406030204" pitchFamily="18" charset="0"/>
                            </a:rPr>
                            <m:t>−</m:t>
                          </m:r>
                        </m:sup>
                      </m:sSup>
                    </m:oMath>
                  </m:oMathPara>
                </a14:m>
                <a:endParaRPr lang="en-US" dirty="0">
                  <a:solidFill>
                    <a:srgbClr val="002060"/>
                  </a:solidFill>
                </a:endParaRPr>
              </a:p>
            </p:txBody>
          </p:sp>
        </mc:Choice>
        <mc:Fallback xmlns="">
          <p:sp>
            <p:nvSpPr>
              <p:cNvPr id="33" name="TextBox 32">
                <a:extLst>
                  <a:ext uri="{FF2B5EF4-FFF2-40B4-BE49-F238E27FC236}">
                    <a16:creationId xmlns:a16="http://schemas.microsoft.com/office/drawing/2014/main" id="{48824860-BFA6-9F84-63CD-CC3957428BA5}"/>
                  </a:ext>
                </a:extLst>
              </p:cNvPr>
              <p:cNvSpPr txBox="1">
                <a:spLocks noRot="1" noChangeAspect="1" noMove="1" noResize="1" noEditPoints="1" noAdjustHandles="1" noChangeArrowheads="1" noChangeShapeType="1" noTextEdit="1"/>
              </p:cNvSpPr>
              <p:nvPr/>
            </p:nvSpPr>
            <p:spPr>
              <a:xfrm>
                <a:off x="9085246" y="1863541"/>
                <a:ext cx="827809" cy="584775"/>
              </a:xfrm>
              <a:prstGeom prst="rect">
                <a:avLst/>
              </a:prstGeom>
              <a:blipFill>
                <a:blip r:embed="rId11"/>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696016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dissolve">
                                      <p:cBhvr>
                                        <p:cTn id="7" dur="500"/>
                                        <p:tgtEl>
                                          <p:spTgt spid="32"/>
                                        </p:tgtEl>
                                      </p:cBhvr>
                                    </p:animEffect>
                                  </p:childTnLst>
                                </p:cTn>
                              </p:par>
                              <p:par>
                                <p:cTn id="8" presetID="9"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dissolve">
                                      <p:cBhvr>
                                        <p:cTn id="10" dur="500"/>
                                        <p:tgtEl>
                                          <p:spTgt spid="25"/>
                                        </p:tgtEl>
                                      </p:cBhvr>
                                    </p:animEffect>
                                  </p:childTnLst>
                                </p:cTn>
                              </p:par>
                              <p:par>
                                <p:cTn id="11" presetID="9"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dissolve">
                                      <p:cBhvr>
                                        <p:cTn id="13" dur="500"/>
                                        <p:tgtEl>
                                          <p:spTgt spid="27"/>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dissolve">
                                      <p:cBhvr>
                                        <p:cTn id="16" dur="500"/>
                                        <p:tgtEl>
                                          <p:spTgt spid="33"/>
                                        </p:tgtEl>
                                      </p:cBhvr>
                                    </p:animEffect>
                                  </p:childTnLst>
                                </p:cTn>
                              </p:par>
                              <p:par>
                                <p:cTn id="17" presetID="9" presetClass="exit" presetSubtype="0" fill="hold" grpId="0" nodeType="withEffect">
                                  <p:stCondLst>
                                    <p:cond delay="0"/>
                                  </p:stCondLst>
                                  <p:childTnLst>
                                    <p:animEffect transition="out" filter="dissolve">
                                      <p:cBhvr>
                                        <p:cTn id="18" dur="500"/>
                                        <p:tgtEl>
                                          <p:spTgt spid="18"/>
                                        </p:tgtEl>
                                      </p:cBhvr>
                                    </p:animEffect>
                                    <p:set>
                                      <p:cBhvr>
                                        <p:cTn id="19" dur="1" fill="hold">
                                          <p:stCondLst>
                                            <p:cond delay="4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32" grpId="0"/>
      <p:bldP spid="33"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102D0-315B-2E3F-FDC3-0318EA26EC3B}"/>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FC78F881-F8C5-3BD3-B237-855FF2FECEFD}"/>
              </a:ext>
            </a:extLst>
          </p:cNvPr>
          <p:cNvGrpSpPr/>
          <p:nvPr/>
        </p:nvGrpSpPr>
        <p:grpSpPr>
          <a:xfrm>
            <a:off x="4902200" y="274637"/>
            <a:ext cx="7917173" cy="5723841"/>
            <a:chOff x="2137413" y="588056"/>
            <a:chExt cx="7917173" cy="5723841"/>
          </a:xfrm>
        </p:grpSpPr>
        <p:pic>
          <p:nvPicPr>
            <p:cNvPr id="6" name="Picture 5" descr="A diagram of a blue and green circle&#10;&#10;AI-generated content may be incorrect.">
              <a:extLst>
                <a:ext uri="{FF2B5EF4-FFF2-40B4-BE49-F238E27FC236}">
                  <a16:creationId xmlns:a16="http://schemas.microsoft.com/office/drawing/2014/main" id="{8EE7EE83-BB4D-2973-AB9E-DEE971C280BC}"/>
                </a:ext>
              </a:extLst>
            </p:cNvPr>
            <p:cNvPicPr>
              <a:picLocks noChangeAspect="1"/>
            </p:cNvPicPr>
            <p:nvPr/>
          </p:nvPicPr>
          <p:blipFill>
            <a:blip r:embed="rId3"/>
            <a:stretch>
              <a:fillRect/>
            </a:stretch>
          </p:blipFill>
          <p:spPr>
            <a:xfrm>
              <a:off x="2137413" y="588056"/>
              <a:ext cx="7917173" cy="5361895"/>
            </a:xfrm>
            <a:prstGeom prst="rect">
              <a:avLst/>
            </a:prstGeom>
          </p:spPr>
        </p:pic>
        <p:sp>
          <p:nvSpPr>
            <p:cNvPr id="8" name="TextBox 7">
              <a:extLst>
                <a:ext uri="{FF2B5EF4-FFF2-40B4-BE49-F238E27FC236}">
                  <a16:creationId xmlns:a16="http://schemas.microsoft.com/office/drawing/2014/main" id="{6BB118F8-FDD3-E250-7B8C-E6ABE83A59BD}"/>
                </a:ext>
              </a:extLst>
            </p:cNvPr>
            <p:cNvSpPr txBox="1"/>
            <p:nvPr/>
          </p:nvSpPr>
          <p:spPr>
            <a:xfrm>
              <a:off x="2281076" y="5665566"/>
              <a:ext cx="7629846" cy="646331"/>
            </a:xfrm>
            <a:prstGeom prst="rect">
              <a:avLst/>
            </a:prstGeom>
            <a:noFill/>
          </p:spPr>
          <p:txBody>
            <a:bodyPr wrap="none" rtlCol="0">
              <a:spAutoFit/>
            </a:bodyPr>
            <a:lstStyle/>
            <a:p>
              <a:r>
                <a:rPr lang="en-US" dirty="0"/>
                <a:t>Simulated electron production for a mixed signal dataset constructed using</a:t>
              </a:r>
            </a:p>
            <a:p>
              <a:r>
                <a:rPr lang="en-US" dirty="0"/>
                <a:t>Geant4 simulation in Mu2e Geometry. Shaded region is the stopping target </a:t>
              </a:r>
            </a:p>
          </p:txBody>
        </p:sp>
      </p:grpSp>
      <p:sp>
        <p:nvSpPr>
          <p:cNvPr id="2" name="Title 1">
            <a:extLst>
              <a:ext uri="{FF2B5EF4-FFF2-40B4-BE49-F238E27FC236}">
                <a16:creationId xmlns:a16="http://schemas.microsoft.com/office/drawing/2014/main" id="{759DC644-3C98-8BE8-FDAA-EEB6FDC9FC6F}"/>
              </a:ext>
            </a:extLst>
          </p:cNvPr>
          <p:cNvSpPr>
            <a:spLocks noGrp="1"/>
          </p:cNvSpPr>
          <p:nvPr>
            <p:ph type="title"/>
          </p:nvPr>
        </p:nvSpPr>
        <p:spPr>
          <a:xfrm>
            <a:off x="0" y="0"/>
            <a:ext cx="10515600" cy="549275"/>
          </a:xfrm>
        </p:spPr>
        <p:txBody>
          <a:bodyPr>
            <a:normAutofit/>
          </a:bodyPr>
          <a:lstStyle/>
          <a:p>
            <a:r>
              <a:rPr lang="en-US" sz="2500" u="sng" dirty="0">
                <a:solidFill>
                  <a:srgbClr val="C00000"/>
                </a:solidFill>
              </a:rPr>
              <a:t>Stopping Target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CA8565-15D4-8B5C-2CB0-2FAE7064528F}"/>
                  </a:ext>
                </a:extLst>
              </p:cNvPr>
              <p:cNvSpPr>
                <a:spLocks noGrp="1"/>
              </p:cNvSpPr>
              <p:nvPr>
                <p:ph idx="1"/>
              </p:nvPr>
            </p:nvSpPr>
            <p:spPr>
              <a:xfrm>
                <a:off x="838200" y="584884"/>
                <a:ext cx="10515600" cy="5409520"/>
              </a:xfrm>
            </p:spPr>
            <p:txBody>
              <a:bodyPr>
                <a:normAutofit fontScale="92500" lnSpcReduction="10000"/>
              </a:bodyPr>
              <a:lstStyle/>
              <a:p>
                <a:r>
                  <a:rPr lang="en-US" dirty="0"/>
                  <a:t>Inside the stopping target, the muon knocks out an electron bound to an aluminum atom and sits in the k-shell</a:t>
                </a:r>
              </a:p>
              <a:p>
                <a:pPr lvl="1"/>
                <a:r>
                  <a:rPr lang="en-US" dirty="0"/>
                  <a:t>the K shell is the innermost nuclear shell of an atom, containing only an s-orbital</a:t>
                </a:r>
              </a:p>
              <a:p>
                <a:pPr lvl="1"/>
                <a:r>
                  <a:rPr lang="en-US" dirty="0"/>
                  <a:t>being at </a:t>
                </a:r>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=1</m:t>
                    </m:r>
                  </m:oMath>
                </a14:m>
                <a:r>
                  <a:rPr lang="en-US" dirty="0"/>
                  <a:t>, it can only have 2 spin ½ particles in it</a:t>
                </a:r>
              </a:p>
              <a:p>
                <a:pPr lvl="1"/>
                <a:r>
                  <a:rPr lang="en-US" dirty="0"/>
                  <a:t>Increase in the mass of the orbiting lepton draws the radius of this atom in closer to the nucleus (smaller Bohr radius if it were a hydrogen atom)</a:t>
                </a:r>
              </a:p>
              <a:p>
                <a:pPr lvl="1"/>
                <a:r>
                  <a:rPr lang="en-US" dirty="0"/>
                  <a:t>Aluminum nucleus has </a:t>
                </a:r>
                <a14:m>
                  <m:oMath xmlns:m="http://schemas.openxmlformats.org/officeDocument/2006/math">
                    <m:r>
                      <a:rPr lang="en-US" b="0" i="1" smtClean="0">
                        <a:latin typeface="Cambria Math" panose="02040503050406030204" pitchFamily="18" charset="0"/>
                      </a:rPr>
                      <m:t>𝑍</m:t>
                    </m:r>
                    <m:r>
                      <a:rPr lang="en-US" b="0" i="1" smtClean="0">
                        <a:latin typeface="Cambria Math" panose="02040503050406030204" pitchFamily="18" charset="0"/>
                      </a:rPr>
                      <m:t>=13</m:t>
                    </m:r>
                  </m:oMath>
                </a14:m>
                <a:endParaRPr lang="en-US" dirty="0"/>
              </a:p>
              <a:p>
                <a:r>
                  <a:rPr lang="en-US" dirty="0"/>
                  <a:t>168 grams of 99.99% aluminum</a:t>
                </a:r>
              </a:p>
              <a:p>
                <a:r>
                  <a:rPr lang="en-US" dirty="0"/>
                  <a:t>Annular construction: minimize damage of stopping target as products pass to beam dump </a:t>
                </a:r>
              </a:p>
              <a:p>
                <a:r>
                  <a:rPr lang="en-US" dirty="0"/>
                  <a:t>Muons sit in the potential of the aluminum nucleus and decay after a lifetime of </a:t>
                </a:r>
                <a14:m>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𝜏</m:t>
                        </m:r>
                      </m:e>
                      <m:sub>
                        <m:r>
                          <a:rPr lang="en-US" b="0" i="1" smtClean="0">
                            <a:latin typeface="Cambria Math" panose="02040503050406030204" pitchFamily="18" charset="0"/>
                            <a:ea typeface="Cambria Math" panose="02040503050406030204" pitchFamily="18" charset="0"/>
                          </a:rPr>
                          <m:t>𝜇</m:t>
                        </m:r>
                      </m:sub>
                    </m:sSub>
                    <m:r>
                      <a:rPr lang="en-US" b="0" i="1" smtClean="0">
                        <a:latin typeface="Cambria Math" panose="02040503050406030204" pitchFamily="18" charset="0"/>
                        <a:ea typeface="Cambria Math" panose="02040503050406030204" pitchFamily="18" charset="0"/>
                      </a:rPr>
                      <m:t>=864</m:t>
                    </m:r>
                  </m:oMath>
                </a14:m>
                <a:r>
                  <a:rPr lang="en-US" dirty="0"/>
                  <a:t> ns (compared to the 2.2 </a:t>
                </a:r>
                <a14:m>
                  <m:oMath xmlns:m="http://schemas.openxmlformats.org/officeDocument/2006/math">
                    <m:r>
                      <a:rPr lang="en-US" i="1" smtClean="0">
                        <a:latin typeface="Cambria Math" panose="02040503050406030204" pitchFamily="18" charset="0"/>
                        <a:ea typeface="Cambria Math" panose="02040503050406030204" pitchFamily="18" charset="0"/>
                      </a:rPr>
                      <m:t>𝜇</m:t>
                    </m:r>
                  </m:oMath>
                </a14:m>
                <a:r>
                  <a:rPr lang="en-US" dirty="0"/>
                  <a:t>s lifetime of a free muon)</a:t>
                </a:r>
              </a:p>
              <a:p>
                <a:pPr lvl="1"/>
                <a:r>
                  <a:rPr lang="en-US" dirty="0"/>
                  <a:t>electrons produced during this decay are monoenergetic with a conversion signature of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𝐶𝐸</m:t>
                        </m:r>
                      </m:sub>
                    </m:sSub>
                    <m:r>
                      <a:rPr lang="en-US" b="0" i="1" smtClean="0">
                        <a:latin typeface="Cambria Math" panose="02040503050406030204" pitchFamily="18" charset="0"/>
                      </a:rPr>
                      <m:t>=104.97</m:t>
                    </m:r>
                  </m:oMath>
                </a14:m>
                <a:r>
                  <a:rPr lang="en-US" dirty="0"/>
                  <a:t> MeV</a:t>
                </a:r>
              </a:p>
              <a:p>
                <a:endParaRPr lang="en-US" dirty="0"/>
              </a:p>
            </p:txBody>
          </p:sp>
        </mc:Choice>
        <mc:Fallback xmlns="">
          <p:sp>
            <p:nvSpPr>
              <p:cNvPr id="3" name="Content Placeholder 2">
                <a:extLst>
                  <a:ext uri="{FF2B5EF4-FFF2-40B4-BE49-F238E27FC236}">
                    <a16:creationId xmlns:a16="http://schemas.microsoft.com/office/drawing/2014/main" id="{03CA8565-15D4-8B5C-2CB0-2FAE7064528F}"/>
                  </a:ext>
                </a:extLst>
              </p:cNvPr>
              <p:cNvSpPr>
                <a:spLocks noGrp="1" noRot="1" noChangeAspect="1" noMove="1" noResize="1" noEditPoints="1" noAdjustHandles="1" noChangeArrowheads="1" noChangeShapeType="1" noTextEdit="1"/>
              </p:cNvSpPr>
              <p:nvPr>
                <p:ph idx="1"/>
              </p:nvPr>
            </p:nvSpPr>
            <p:spPr>
              <a:xfrm>
                <a:off x="838200" y="584884"/>
                <a:ext cx="10515600" cy="5409520"/>
              </a:xfrm>
              <a:blipFill>
                <a:blip r:embed="rId4"/>
                <a:stretch>
                  <a:fillRect l="-965" t="-2347" r="-483"/>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9F99B5C0-310A-DF4D-13BA-DF85B4302EC3}"/>
              </a:ext>
            </a:extLst>
          </p:cNvPr>
          <p:cNvSpPr>
            <a:spLocks noGrp="1"/>
          </p:cNvSpPr>
          <p:nvPr>
            <p:ph type="sldNum" sz="quarter" idx="12"/>
          </p:nvPr>
        </p:nvSpPr>
        <p:spPr/>
        <p:txBody>
          <a:bodyPr/>
          <a:lstStyle/>
          <a:p>
            <a:fld id="{97E93708-6877-FF41-B53F-E17832C2698B}" type="slidenum">
              <a:rPr lang="en-US" smtClean="0"/>
              <a:t>52</a:t>
            </a:fld>
            <a:endParaRPr lang="en-US" dirty="0"/>
          </a:p>
        </p:txBody>
      </p:sp>
      <p:sp>
        <p:nvSpPr>
          <p:cNvPr id="7" name="Footer Placeholder 4">
            <a:extLst>
              <a:ext uri="{FF2B5EF4-FFF2-40B4-BE49-F238E27FC236}">
                <a16:creationId xmlns:a16="http://schemas.microsoft.com/office/drawing/2014/main" id="{2D0A55C2-9874-380B-B569-972E52495423}"/>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spTree>
    <p:extLst>
      <p:ext uri="{BB962C8B-B14F-4D97-AF65-F5344CB8AC3E}">
        <p14:creationId xmlns:p14="http://schemas.microsoft.com/office/powerpoint/2010/main" val="598075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3">
                                            <p:txEl>
                                              <p:pRg st="0" end="0"/>
                                            </p:txEl>
                                          </p:spTgt>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3">
                                            <p:txEl>
                                              <p:pRg st="1" end="1"/>
                                            </p:txEl>
                                          </p:spTgt>
                                        </p:tgtEl>
                                        <p:attrNameLst>
                                          <p:attrName>style.visibility</p:attrName>
                                        </p:attrNameLst>
                                      </p:cBhvr>
                                      <p:to>
                                        <p:strVal val="hidden"/>
                                      </p:to>
                                    </p:set>
                                  </p:childTnLst>
                                </p:cTn>
                              </p:par>
                              <p:par>
                                <p:cTn id="29" presetID="1" presetClass="exit" presetSubtype="0" fill="hold" nodeType="withEffect">
                                  <p:stCondLst>
                                    <p:cond delay="0"/>
                                  </p:stCondLst>
                                  <p:childTnLst>
                                    <p:set>
                                      <p:cBhvr>
                                        <p:cTn id="30" dur="1" fill="hold">
                                          <p:stCondLst>
                                            <p:cond delay="0"/>
                                          </p:stCondLst>
                                        </p:cTn>
                                        <p:tgtEl>
                                          <p:spTgt spid="3">
                                            <p:txEl>
                                              <p:pRg st="2" end="2"/>
                                            </p:txEl>
                                          </p:spTgt>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0"/>
                                          </p:stCondLst>
                                        </p:cTn>
                                        <p:tgtEl>
                                          <p:spTgt spid="3">
                                            <p:txEl>
                                              <p:pRg st="3" end="3"/>
                                            </p:txEl>
                                          </p:spTgt>
                                        </p:tgtEl>
                                        <p:attrNameLst>
                                          <p:attrName>style.visibility</p:attrName>
                                        </p:attrNameLst>
                                      </p:cBhvr>
                                      <p:to>
                                        <p:strVal val="hidden"/>
                                      </p:to>
                                    </p:set>
                                  </p:childTnLst>
                                </p:cTn>
                              </p:par>
                              <p:par>
                                <p:cTn id="33" presetID="1" presetClass="exit"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hidden"/>
                                      </p:to>
                                    </p:set>
                                  </p:childTnLst>
                                </p:cTn>
                              </p:par>
                              <p:par>
                                <p:cTn id="35" presetID="1" presetClass="exit" presetSubtype="0" fill="hold" nodeType="withEffect">
                                  <p:stCondLst>
                                    <p:cond delay="0"/>
                                  </p:stCondLst>
                                  <p:childTnLst>
                                    <p:set>
                                      <p:cBhvr>
                                        <p:cTn id="36" dur="1" fill="hold">
                                          <p:stCondLst>
                                            <p:cond delay="0"/>
                                          </p:stCondLst>
                                        </p:cTn>
                                        <p:tgtEl>
                                          <p:spTgt spid="3">
                                            <p:txEl>
                                              <p:pRg st="5" end="5"/>
                                            </p:txEl>
                                          </p:spTgt>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3">
                                            <p:txEl>
                                              <p:pRg st="6" end="6"/>
                                            </p:txEl>
                                          </p:spTgt>
                                        </p:tgtEl>
                                        <p:attrNameLst>
                                          <p:attrName>style.visibility</p:attrName>
                                        </p:attrNameLst>
                                      </p:cBhvr>
                                      <p:to>
                                        <p:strVal val="hidden"/>
                                      </p:to>
                                    </p:set>
                                  </p:childTnLst>
                                </p:cTn>
                              </p:par>
                              <p:par>
                                <p:cTn id="39" presetID="9" presetClass="entr" presetSubtype="0" fill="hold"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dissolve">
                                      <p:cBhvr>
                                        <p:cTn id="41" dur="500"/>
                                        <p:tgtEl>
                                          <p:spTgt spid="9"/>
                                        </p:tgtEl>
                                      </p:cBhvr>
                                    </p:animEffect>
                                  </p:childTnLst>
                                </p:cTn>
                              </p:par>
                            </p:childTnLst>
                          </p:cTn>
                        </p:par>
                      </p:childTnLst>
                    </p:cTn>
                  </p:par>
                  <p:par>
                    <p:cTn id="42" fill="hold">
                      <p:stCondLst>
                        <p:cond delay="indefinite"/>
                      </p:stCondLst>
                      <p:childTnLst>
                        <p:par>
                          <p:cTn id="43" fill="hold">
                            <p:stCondLst>
                              <p:cond delay="0"/>
                            </p:stCondLst>
                            <p:childTnLst>
                              <p:par>
                                <p:cTn id="44" presetID="1" presetClass="exit" presetSubtype="0" fill="hold" nodeType="clickEffect">
                                  <p:stCondLst>
                                    <p:cond delay="0"/>
                                  </p:stCondLst>
                                  <p:childTnLst>
                                    <p:set>
                                      <p:cBhvr>
                                        <p:cTn id="45" dur="1" fill="hold">
                                          <p:stCondLst>
                                            <p:cond delay="0"/>
                                          </p:stCondLst>
                                        </p:cTn>
                                        <p:tgtEl>
                                          <p:spTgt spid="9"/>
                                        </p:tgtEl>
                                        <p:attrNameLst>
                                          <p:attrName>style.visibility</p:attrName>
                                        </p:attrNameLst>
                                      </p:cBhvr>
                                      <p:to>
                                        <p:strVal val="hidden"/>
                                      </p:to>
                                    </p:set>
                                  </p:childTnLst>
                                </p:cTn>
                              </p:par>
                              <p:par>
                                <p:cTn id="46" presetID="1" presetClass="entr" presetSubtype="0" fill="hold" nodeType="withEffect">
                                  <p:stCondLst>
                                    <p:cond delay="0"/>
                                  </p:stCondLst>
                                  <p:childTnLst>
                                    <p:set>
                                      <p:cBhvr>
                                        <p:cTn id="47" dur="1" fill="hold">
                                          <p:stCondLst>
                                            <p:cond delay="0"/>
                                          </p:stCondLst>
                                        </p:cTn>
                                        <p:tgtEl>
                                          <p:spTgt spid="3">
                                            <p:txEl>
                                              <p:pRg st="0" end="0"/>
                                            </p:txEl>
                                          </p:spTgt>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3">
                                            <p:txEl>
                                              <p:pRg st="1" end="1"/>
                                            </p:txEl>
                                          </p:spTgt>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3">
                                            <p:txEl>
                                              <p:pRg st="2" end="2"/>
                                            </p:txEl>
                                          </p:spTgt>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3">
                                            <p:txEl>
                                              <p:pRg st="3" end="3"/>
                                            </p:txEl>
                                          </p:spTgt>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3">
                                            <p:txEl>
                                              <p:pRg st="4" end="4"/>
                                            </p:txEl>
                                          </p:spTgt>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3">
                                            <p:txEl>
                                              <p:pRg st="5" end="5"/>
                                            </p:txEl>
                                          </p:spTgt>
                                        </p:tgtEl>
                                        <p:attrNameLst>
                                          <p:attrName>style.visibility</p:attrName>
                                        </p:attrNameLst>
                                      </p:cBhvr>
                                      <p:to>
                                        <p:strVal val="visible"/>
                                      </p:to>
                                    </p:set>
                                  </p:childTnLst>
                                </p:cTn>
                              </p:par>
                              <p:par>
                                <p:cTn id="58" presetID="1" presetClass="entr" presetSubtype="0" fill="hold" nodeType="withEffect">
                                  <p:stCondLst>
                                    <p:cond delay="0"/>
                                  </p:stCondLst>
                                  <p:childTnLst>
                                    <p:set>
                                      <p:cBhvr>
                                        <p:cTn id="59" dur="1" fill="hold">
                                          <p:stCondLst>
                                            <p:cond delay="0"/>
                                          </p:stCondLst>
                                        </p:cTn>
                                        <p:tgtEl>
                                          <p:spTgt spid="3">
                                            <p:txEl>
                                              <p:pRg st="6" end="6"/>
                                            </p:txEl>
                                          </p:spTgt>
                                        </p:tgtEl>
                                        <p:attrNameLst>
                                          <p:attrName>style.visibility</p:attrName>
                                        </p:attrNameLst>
                                      </p:cBhvr>
                                      <p:to>
                                        <p:strVal val="visible"/>
                                      </p:to>
                                    </p:set>
                                  </p:childTnLst>
                                </p:cTn>
                              </p:par>
                              <p:par>
                                <p:cTn id="60" presetID="1" presetClass="entr" presetSubtype="0" fill="hold" nodeType="withEffect">
                                  <p:stCondLst>
                                    <p:cond delay="0"/>
                                  </p:stCondLst>
                                  <p:childTnLst>
                                    <p:set>
                                      <p:cBhvr>
                                        <p:cTn id="61" dur="1" fill="hold">
                                          <p:stCondLst>
                                            <p:cond delay="0"/>
                                          </p:stCondLst>
                                        </p:cTn>
                                        <p:tgtEl>
                                          <p:spTgt spid="3">
                                            <p:txEl>
                                              <p:pRg st="7" end="7"/>
                                            </p:txEl>
                                          </p:spTgt>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4F3D3F-5E5B-A297-A213-9BEE2CA5E1A0}"/>
            </a:ext>
          </a:extLst>
        </p:cNvPr>
        <p:cNvGrpSpPr/>
        <p:nvPr/>
      </p:nvGrpSpPr>
      <p:grpSpPr>
        <a:xfrm>
          <a:off x="0" y="0"/>
          <a:ext cx="0" cy="0"/>
          <a:chOff x="0" y="0"/>
          <a:chExt cx="0" cy="0"/>
        </a:xfrm>
      </p:grpSpPr>
      <p:pic>
        <p:nvPicPr>
          <p:cNvPr id="18" name="Content Placeholder 3">
            <a:extLst>
              <a:ext uri="{FF2B5EF4-FFF2-40B4-BE49-F238E27FC236}">
                <a16:creationId xmlns:a16="http://schemas.microsoft.com/office/drawing/2014/main" id="{9320B991-1339-50A2-5CD4-4B8E0DB55E59}"/>
              </a:ext>
            </a:extLst>
          </p:cNvPr>
          <p:cNvPicPr>
            <a:picLocks noGrp="1" noChangeAspect="1"/>
          </p:cNvPicPr>
          <p:nvPr>
            <p:ph idx="1"/>
          </p:nvPr>
        </p:nvPicPr>
        <p:blipFill>
          <a:blip r:embed="rId3"/>
          <a:srcRect l="57172" t="24483" r="18045" b="18089"/>
          <a:stretch>
            <a:fillRect/>
          </a:stretch>
        </p:blipFill>
        <p:spPr>
          <a:xfrm>
            <a:off x="2781300" y="588449"/>
            <a:ext cx="7357730" cy="6133026"/>
          </a:xfrm>
          <a:prstGeom prst="rect">
            <a:avLst/>
          </a:prstGeom>
        </p:spPr>
      </p:pic>
      <mc:AlternateContent xmlns:mc="http://schemas.openxmlformats.org/markup-compatibility/2006" xmlns:p14="http://schemas.microsoft.com/office/powerpoint/2010/main">
        <mc:Choice Requires="p14">
          <p:contentPart p14:bwMode="auto" r:id="rId4">
            <p14:nvContentPartPr>
              <p14:cNvPr id="19" name="Ink 18">
                <a:extLst>
                  <a:ext uri="{FF2B5EF4-FFF2-40B4-BE49-F238E27FC236}">
                    <a16:creationId xmlns:a16="http://schemas.microsoft.com/office/drawing/2014/main" id="{C24ADC90-4159-579F-1947-D81AFD55E9E5}"/>
                  </a:ext>
                </a:extLst>
              </p14:cNvPr>
              <p14:cNvContentPartPr/>
              <p14:nvPr/>
            </p14:nvContentPartPr>
            <p14:xfrm>
              <a:off x="4150494" y="2530549"/>
              <a:ext cx="2590548" cy="1124413"/>
            </p14:xfrm>
          </p:contentPart>
        </mc:Choice>
        <mc:Fallback xmlns="">
          <p:pic>
            <p:nvPicPr>
              <p:cNvPr id="19" name="Ink 18">
                <a:extLst>
                  <a:ext uri="{FF2B5EF4-FFF2-40B4-BE49-F238E27FC236}">
                    <a16:creationId xmlns:a16="http://schemas.microsoft.com/office/drawing/2014/main" id="{C24ADC90-4159-579F-1947-D81AFD55E9E5}"/>
                  </a:ext>
                </a:extLst>
              </p:cNvPr>
              <p:cNvPicPr/>
              <p:nvPr/>
            </p:nvPicPr>
            <p:blipFill>
              <a:blip r:embed="rId5"/>
              <a:stretch>
                <a:fillRect/>
              </a:stretch>
            </p:blipFill>
            <p:spPr>
              <a:xfrm>
                <a:off x="4139691" y="2519734"/>
                <a:ext cx="2611794" cy="1145683"/>
              </a:xfrm>
              <a:prstGeom prst="rect">
                <a:avLst/>
              </a:prstGeom>
            </p:spPr>
          </p:pic>
        </mc:Fallback>
      </mc:AlternateContent>
      <p:sp>
        <p:nvSpPr>
          <p:cNvPr id="2" name="Title 1">
            <a:extLst>
              <a:ext uri="{FF2B5EF4-FFF2-40B4-BE49-F238E27FC236}">
                <a16:creationId xmlns:a16="http://schemas.microsoft.com/office/drawing/2014/main" id="{F2E4A9BA-4B4C-A10B-0A79-9F594CF4178F}"/>
              </a:ext>
            </a:extLst>
          </p:cNvPr>
          <p:cNvSpPr>
            <a:spLocks noGrp="1"/>
          </p:cNvSpPr>
          <p:nvPr>
            <p:ph type="title"/>
          </p:nvPr>
        </p:nvSpPr>
        <p:spPr>
          <a:xfrm>
            <a:off x="0" y="352425"/>
            <a:ext cx="9410700" cy="447675"/>
          </a:xfrm>
        </p:spPr>
        <p:txBody>
          <a:bodyPr>
            <a:normAutofit/>
          </a:bodyPr>
          <a:lstStyle/>
          <a:p>
            <a:r>
              <a:rPr lang="en-US" sz="2500" u="sng" dirty="0">
                <a:solidFill>
                  <a:srgbClr val="C00000"/>
                </a:solidFill>
              </a:rPr>
              <a:t>The Mu2e Experiment</a:t>
            </a:r>
          </a:p>
        </p:txBody>
      </p:sp>
      <p:sp>
        <p:nvSpPr>
          <p:cNvPr id="6" name="Slide Number Placeholder 5">
            <a:extLst>
              <a:ext uri="{FF2B5EF4-FFF2-40B4-BE49-F238E27FC236}">
                <a16:creationId xmlns:a16="http://schemas.microsoft.com/office/drawing/2014/main" id="{8028993D-F997-8273-A19C-13160E0F8E9C}"/>
              </a:ext>
            </a:extLst>
          </p:cNvPr>
          <p:cNvSpPr>
            <a:spLocks noGrp="1"/>
          </p:cNvSpPr>
          <p:nvPr>
            <p:ph type="sldNum" sz="quarter" idx="12"/>
          </p:nvPr>
        </p:nvSpPr>
        <p:spPr/>
        <p:txBody>
          <a:bodyPr/>
          <a:lstStyle/>
          <a:p>
            <a:fld id="{97E93708-6877-FF41-B53F-E17832C2698B}" type="slidenum">
              <a:rPr lang="en-US" smtClean="0"/>
              <a:t>53</a:t>
            </a:fld>
            <a:endParaRPr lang="en-US"/>
          </a:p>
        </p:txBody>
      </p:sp>
      <p:sp>
        <p:nvSpPr>
          <p:cNvPr id="7" name="Footer Placeholder 4">
            <a:extLst>
              <a:ext uri="{FF2B5EF4-FFF2-40B4-BE49-F238E27FC236}">
                <a16:creationId xmlns:a16="http://schemas.microsoft.com/office/drawing/2014/main" id="{A8CCDF9C-D261-749B-BC08-595131ED9749}"/>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0B0F8BD7-EE23-C91C-E7BC-9D52E1A3B72E}"/>
                  </a:ext>
                </a:extLst>
              </p:cNvPr>
              <p:cNvSpPr txBox="1"/>
              <p:nvPr/>
            </p:nvSpPr>
            <p:spPr>
              <a:xfrm>
                <a:off x="4705350" y="3429000"/>
                <a:ext cx="865109"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4000" i="1" smtClean="0">
                              <a:solidFill>
                                <a:srgbClr val="002060"/>
                              </a:solidFill>
                              <a:latin typeface="Cambria Math" panose="02040503050406030204" pitchFamily="18" charset="0"/>
                            </a:rPr>
                          </m:ctrlPr>
                        </m:sSupPr>
                        <m:e>
                          <m:r>
                            <a:rPr lang="en-US" sz="4000" b="0" i="1" smtClean="0">
                              <a:solidFill>
                                <a:srgbClr val="002060"/>
                              </a:solidFill>
                              <a:latin typeface="Cambria Math" panose="02040503050406030204" pitchFamily="18" charset="0"/>
                            </a:rPr>
                            <m:t>𝑒</m:t>
                          </m:r>
                        </m:e>
                        <m:sup>
                          <m:r>
                            <a:rPr lang="en-US" sz="4000" b="0" i="1" smtClean="0">
                              <a:solidFill>
                                <a:srgbClr val="002060"/>
                              </a:solidFill>
                              <a:latin typeface="Cambria Math" panose="02040503050406030204" pitchFamily="18" charset="0"/>
                            </a:rPr>
                            <m:t>−</m:t>
                          </m:r>
                        </m:sup>
                      </m:sSup>
                    </m:oMath>
                  </m:oMathPara>
                </a14:m>
                <a:endParaRPr lang="en-US" sz="4000" dirty="0">
                  <a:solidFill>
                    <a:srgbClr val="002060"/>
                  </a:solidFill>
                </a:endParaRPr>
              </a:p>
            </p:txBody>
          </p:sp>
        </mc:Choice>
        <mc:Fallback xmlns="">
          <p:sp>
            <p:nvSpPr>
              <p:cNvPr id="20" name="TextBox 19">
                <a:extLst>
                  <a:ext uri="{FF2B5EF4-FFF2-40B4-BE49-F238E27FC236}">
                    <a16:creationId xmlns:a16="http://schemas.microsoft.com/office/drawing/2014/main" id="{0B0F8BD7-EE23-C91C-E7BC-9D52E1A3B72E}"/>
                  </a:ext>
                </a:extLst>
              </p:cNvPr>
              <p:cNvSpPr txBox="1">
                <a:spLocks noRot="1" noChangeAspect="1" noMove="1" noResize="1" noEditPoints="1" noAdjustHandles="1" noChangeArrowheads="1" noChangeShapeType="1" noTextEdit="1"/>
              </p:cNvSpPr>
              <p:nvPr/>
            </p:nvSpPr>
            <p:spPr>
              <a:xfrm>
                <a:off x="4705350" y="3429000"/>
                <a:ext cx="865109" cy="7078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EDBB7ADE-79D2-84C1-60A9-7FFB46F98422}"/>
                  </a:ext>
                </a:extLst>
              </p14:cNvPr>
              <p14:cNvContentPartPr/>
              <p14:nvPr/>
            </p14:nvContentPartPr>
            <p14:xfrm>
              <a:off x="9150405" y="4119430"/>
              <a:ext cx="1001160" cy="1001880"/>
            </p14:xfrm>
          </p:contentPart>
        </mc:Choice>
        <mc:Fallback xmlns="">
          <p:pic>
            <p:nvPicPr>
              <p:cNvPr id="21" name="Ink 20">
                <a:extLst>
                  <a:ext uri="{FF2B5EF4-FFF2-40B4-BE49-F238E27FC236}">
                    <a16:creationId xmlns:a16="http://schemas.microsoft.com/office/drawing/2014/main" id="{EDBB7ADE-79D2-84C1-60A9-7FFB46F98422}"/>
                  </a:ext>
                </a:extLst>
              </p:cNvPr>
              <p:cNvPicPr/>
              <p:nvPr/>
            </p:nvPicPr>
            <p:blipFill>
              <a:blip r:embed="rId8"/>
              <a:stretch>
                <a:fillRect/>
              </a:stretch>
            </p:blipFill>
            <p:spPr>
              <a:xfrm>
                <a:off x="9087405" y="4056430"/>
                <a:ext cx="1126800" cy="1127520"/>
              </a:xfrm>
              <a:prstGeom prst="rect">
                <a:avLst/>
              </a:prstGeom>
            </p:spPr>
          </p:pic>
        </mc:Fallback>
      </mc:AlternateContent>
      <p:sp>
        <p:nvSpPr>
          <p:cNvPr id="22" name="Rectangle 21">
            <a:extLst>
              <a:ext uri="{FF2B5EF4-FFF2-40B4-BE49-F238E27FC236}">
                <a16:creationId xmlns:a16="http://schemas.microsoft.com/office/drawing/2014/main" id="{D553D0CE-FE73-D1DC-E4ED-EE9CAA109759}"/>
              </a:ext>
            </a:extLst>
          </p:cNvPr>
          <p:cNvSpPr/>
          <p:nvPr/>
        </p:nvSpPr>
        <p:spPr>
          <a:xfrm>
            <a:off x="6096000" y="4827181"/>
            <a:ext cx="4043030" cy="87187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B49A3A88-5011-40D6-FA29-29AB4FF187F7}"/>
              </a:ext>
            </a:extLst>
          </p:cNvPr>
          <p:cNvSpPr/>
          <p:nvPr/>
        </p:nvSpPr>
        <p:spPr>
          <a:xfrm>
            <a:off x="2052970" y="5328203"/>
            <a:ext cx="4043030" cy="87187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416314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xit" presetSubtype="0" fill="hold" grpId="0" nodeType="clickEffect">
                                  <p:stCondLst>
                                    <p:cond delay="0"/>
                                  </p:stCondLst>
                                  <p:childTnLst>
                                    <p:animEffect transition="out" filter="dissolve">
                                      <p:cBhvr>
                                        <p:cTn id="6" dur="500"/>
                                        <p:tgtEl>
                                          <p:spTgt spid="23"/>
                                        </p:tgtEl>
                                      </p:cBhvr>
                                    </p:animEffect>
                                    <p:set>
                                      <p:cBhvr>
                                        <p:cTn id="7" dur="1" fill="hold">
                                          <p:stCondLst>
                                            <p:cond delay="499"/>
                                          </p:stCondLst>
                                        </p:cTn>
                                        <p:tgtEl>
                                          <p:spTgt spid="23"/>
                                        </p:tgtEl>
                                        <p:attrNameLst>
                                          <p:attrName>style.visibility</p:attrName>
                                        </p:attrNameLst>
                                      </p:cBhvr>
                                      <p:to>
                                        <p:strVal val="hidden"/>
                                      </p:to>
                                    </p:set>
                                  </p:childTnLst>
                                </p:cTn>
                              </p:par>
                              <p:par>
                                <p:cTn id="8" presetID="9"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dissolve">
                                      <p:cBhvr>
                                        <p:cTn id="10" dur="500"/>
                                        <p:tgtEl>
                                          <p:spTgt spid="19"/>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dissolve">
                                      <p:cBhvr>
                                        <p:cTn id="13"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3"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ED7B9-6F8F-C5E2-E915-58FFC92CC5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18718-3695-EDB5-0B0E-3D60386B856E}"/>
              </a:ext>
            </a:extLst>
          </p:cNvPr>
          <p:cNvSpPr>
            <a:spLocks noGrp="1"/>
          </p:cNvSpPr>
          <p:nvPr>
            <p:ph type="title"/>
          </p:nvPr>
        </p:nvSpPr>
        <p:spPr>
          <a:xfrm>
            <a:off x="0" y="0"/>
            <a:ext cx="10515600" cy="646331"/>
          </a:xfrm>
        </p:spPr>
        <p:txBody>
          <a:bodyPr>
            <a:normAutofit/>
          </a:bodyPr>
          <a:lstStyle/>
          <a:p>
            <a:r>
              <a:rPr lang="en-US" sz="2500" u="sng" dirty="0">
                <a:solidFill>
                  <a:srgbClr val="C00000"/>
                </a:solidFill>
              </a:rPr>
              <a:t>Tracker</a:t>
            </a:r>
          </a:p>
        </p:txBody>
      </p:sp>
      <p:pic>
        <p:nvPicPr>
          <p:cNvPr id="6" name="Content Placeholder 5">
            <a:extLst>
              <a:ext uri="{FF2B5EF4-FFF2-40B4-BE49-F238E27FC236}">
                <a16:creationId xmlns:a16="http://schemas.microsoft.com/office/drawing/2014/main" id="{33C385F1-54B4-610D-E698-CCF7DD67961D}"/>
              </a:ext>
            </a:extLst>
          </p:cNvPr>
          <p:cNvPicPr>
            <a:picLocks noGrp="1" noChangeAspect="1"/>
          </p:cNvPicPr>
          <p:nvPr>
            <p:ph idx="1"/>
          </p:nvPr>
        </p:nvPicPr>
        <p:blipFill>
          <a:blip r:embed="rId3"/>
          <a:stretch>
            <a:fillRect/>
          </a:stretch>
        </p:blipFill>
        <p:spPr>
          <a:xfrm>
            <a:off x="1268670" y="6351"/>
            <a:ext cx="5727691" cy="5660308"/>
          </a:xfrm>
        </p:spPr>
      </p:pic>
      <p:sp>
        <p:nvSpPr>
          <p:cNvPr id="5" name="Slide Number Placeholder 4">
            <a:extLst>
              <a:ext uri="{FF2B5EF4-FFF2-40B4-BE49-F238E27FC236}">
                <a16:creationId xmlns:a16="http://schemas.microsoft.com/office/drawing/2014/main" id="{851473A8-E731-D4AA-DBC5-EB40335BC295}"/>
              </a:ext>
            </a:extLst>
          </p:cNvPr>
          <p:cNvSpPr>
            <a:spLocks noGrp="1"/>
          </p:cNvSpPr>
          <p:nvPr>
            <p:ph type="sldNum" sz="quarter" idx="12"/>
          </p:nvPr>
        </p:nvSpPr>
        <p:spPr/>
        <p:txBody>
          <a:bodyPr/>
          <a:lstStyle/>
          <a:p>
            <a:fld id="{97E93708-6877-FF41-B53F-E17832C2698B}" type="slidenum">
              <a:rPr lang="en-US" smtClean="0"/>
              <a:t>54</a:t>
            </a:fld>
            <a:endParaRPr lang="en-US"/>
          </a:p>
        </p:txBody>
      </p:sp>
      <p:sp>
        <p:nvSpPr>
          <p:cNvPr id="3" name="TextBox 2">
            <a:extLst>
              <a:ext uri="{FF2B5EF4-FFF2-40B4-BE49-F238E27FC236}">
                <a16:creationId xmlns:a16="http://schemas.microsoft.com/office/drawing/2014/main" id="{2A6CBD2E-0B16-77DB-064B-618AE7C10759}"/>
              </a:ext>
            </a:extLst>
          </p:cNvPr>
          <p:cNvSpPr txBox="1"/>
          <p:nvPr/>
        </p:nvSpPr>
        <p:spPr>
          <a:xfrm>
            <a:off x="0" y="539101"/>
            <a:ext cx="12192000" cy="6401753"/>
          </a:xfrm>
          <a:prstGeom prst="rect">
            <a:avLst/>
          </a:prstGeom>
          <a:noFill/>
        </p:spPr>
        <p:txBody>
          <a:bodyPr wrap="square" rtlCol="0">
            <a:spAutoFit/>
          </a:bodyPr>
          <a:lstStyle/>
          <a:p>
            <a:pPr marL="285750" indent="-285750">
              <a:buFont typeface="Arial" panose="020B0604020202020204" pitchFamily="34" charset="0"/>
              <a:buChar char="•"/>
            </a:pPr>
            <a:r>
              <a:rPr lang="en-US" sz="2800" dirty="0"/>
              <a:t>18 tiers of the tracker centered along the beam axis</a:t>
            </a:r>
          </a:p>
          <a:p>
            <a:pPr marL="742950" lvl="1" indent="-285750">
              <a:buFont typeface="Arial" panose="020B0604020202020204" pitchFamily="34" charset="0"/>
              <a:buChar char="•"/>
            </a:pPr>
            <a:r>
              <a:rPr lang="en-US" sz="2800" dirty="0"/>
              <a:t>each tier has 2 planes rotated 30 degrees between each other</a:t>
            </a:r>
          </a:p>
          <a:p>
            <a:pPr marL="742950" lvl="1" indent="-285750">
              <a:buFont typeface="Arial" panose="020B0604020202020204" pitchFamily="34" charset="0"/>
              <a:buChar char="•"/>
            </a:pPr>
            <a:r>
              <a:rPr lang="en-US" sz="2800" dirty="0"/>
              <a:t>each contains array of straw tubes filled with 80:20 split of argon:CO2 gas for the drift gas</a:t>
            </a:r>
          </a:p>
          <a:p>
            <a:pPr marL="1200150" lvl="2" indent="-285750">
              <a:buFont typeface="Arial" panose="020B0604020202020204" pitchFamily="34" charset="0"/>
              <a:buChar char="•"/>
            </a:pPr>
            <a:r>
              <a:rPr lang="en-US" sz="2800" dirty="0"/>
              <a:t>when a charged particle passes through the gas, the gas ionizes, creating a voltage difference measurable by the electronics of the system</a:t>
            </a:r>
          </a:p>
          <a:p>
            <a:pPr marL="1200150" lvl="2" indent="-285750">
              <a:buFont typeface="Arial" panose="020B0604020202020204" pitchFamily="34" charset="0"/>
              <a:buChar char="•"/>
            </a:pPr>
            <a:r>
              <a:rPr lang="en-US" sz="2800" dirty="0"/>
              <a:t>total of 20,736 straw tubes</a:t>
            </a:r>
          </a:p>
          <a:p>
            <a:pPr marL="285750" indent="-285750">
              <a:buFont typeface="Arial" panose="020B0604020202020204" pitchFamily="34" charset="0"/>
              <a:buChar char="•"/>
            </a:pPr>
            <a:r>
              <a:rPr lang="en-US" sz="2800" dirty="0"/>
              <a:t>Allows for the determining of path by following the discharge of straws during each detected event</a:t>
            </a:r>
          </a:p>
          <a:p>
            <a:pPr marL="742950" lvl="1" indent="-285750">
              <a:buFont typeface="Arial" panose="020B0604020202020204" pitchFamily="34" charset="0"/>
              <a:buChar char="•"/>
            </a:pPr>
            <a:r>
              <a:rPr lang="en-US" sz="2800" dirty="0"/>
              <a:t>eventually (in conjunction with the next apparatus) allows for reconstruction of the path taken by each event particle</a:t>
            </a:r>
          </a:p>
          <a:p>
            <a:pPr marL="285750" indent="-285750">
              <a:buFont typeface="Arial" panose="020B0604020202020204" pitchFamily="34" charset="0"/>
              <a:buChar char="•"/>
            </a:pPr>
            <a:r>
              <a:rPr lang="en-US" sz="2800" dirty="0"/>
              <a:t>Small resolution and minimum energy loss decreases effect of DIO </a:t>
            </a:r>
          </a:p>
          <a:p>
            <a:pPr marL="285750" indent="-285750">
              <a:buFont typeface="Arial" panose="020B0604020202020204" pitchFamily="34" charset="0"/>
              <a:buChar char="•"/>
            </a:pPr>
            <a:endParaRPr lang="en-US" sz="2800" dirty="0"/>
          </a:p>
          <a:p>
            <a:pPr marL="285750" indent="-285750">
              <a:buFont typeface="Arial" panose="020B0604020202020204" pitchFamily="34" charset="0"/>
              <a:buChar char="•"/>
            </a:pPr>
            <a:endParaRPr lang="en-US" dirty="0"/>
          </a:p>
        </p:txBody>
      </p:sp>
      <p:sp>
        <p:nvSpPr>
          <p:cNvPr id="4" name="Footer Placeholder 4">
            <a:extLst>
              <a:ext uri="{FF2B5EF4-FFF2-40B4-BE49-F238E27FC236}">
                <a16:creationId xmlns:a16="http://schemas.microsoft.com/office/drawing/2014/main" id="{00A812C1-B031-2F15-F6F1-00C18B21DA21}"/>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sp>
        <p:nvSpPr>
          <p:cNvPr id="8" name="TextBox 7">
            <a:extLst>
              <a:ext uri="{FF2B5EF4-FFF2-40B4-BE49-F238E27FC236}">
                <a16:creationId xmlns:a16="http://schemas.microsoft.com/office/drawing/2014/main" id="{895C49BE-2D70-7AB6-ACC9-FC560B72CCE9}"/>
              </a:ext>
            </a:extLst>
          </p:cNvPr>
          <p:cNvSpPr txBox="1"/>
          <p:nvPr/>
        </p:nvSpPr>
        <p:spPr>
          <a:xfrm>
            <a:off x="7272455" y="347881"/>
            <a:ext cx="4643451" cy="923330"/>
          </a:xfrm>
          <a:prstGeom prst="rect">
            <a:avLst/>
          </a:prstGeom>
          <a:noFill/>
        </p:spPr>
        <p:txBody>
          <a:bodyPr wrap="none" rtlCol="0">
            <a:spAutoFit/>
          </a:bodyPr>
          <a:lstStyle/>
          <a:p>
            <a:r>
              <a:rPr lang="en-US" dirty="0"/>
              <a:t>Small Black Circle: Michel Electrons</a:t>
            </a:r>
          </a:p>
          <a:p>
            <a:r>
              <a:rPr lang="en-US" dirty="0"/>
              <a:t>Larger Black Circle: Intermediate Momentum</a:t>
            </a:r>
          </a:p>
          <a:p>
            <a:r>
              <a:rPr lang="en-US" dirty="0"/>
              <a:t>Green Circle: Conversion electron</a:t>
            </a:r>
          </a:p>
        </p:txBody>
      </p:sp>
      <p:sp>
        <p:nvSpPr>
          <p:cNvPr id="9" name="TextBox 8">
            <a:extLst>
              <a:ext uri="{FF2B5EF4-FFF2-40B4-BE49-F238E27FC236}">
                <a16:creationId xmlns:a16="http://schemas.microsoft.com/office/drawing/2014/main" id="{684710EB-48B0-A619-1DF6-116A71B53831}"/>
              </a:ext>
            </a:extLst>
          </p:cNvPr>
          <p:cNvSpPr txBox="1"/>
          <p:nvPr/>
        </p:nvSpPr>
        <p:spPr>
          <a:xfrm>
            <a:off x="113407" y="5746879"/>
            <a:ext cx="8038215" cy="830997"/>
          </a:xfrm>
          <a:prstGeom prst="rect">
            <a:avLst/>
          </a:prstGeom>
          <a:noFill/>
        </p:spPr>
        <p:txBody>
          <a:bodyPr wrap="square" rtlCol="0">
            <a:spAutoFit/>
          </a:bodyPr>
          <a:lstStyle/>
          <a:p>
            <a:pPr algn="ctr"/>
            <a:r>
              <a:rPr lang="en-US" sz="1600" dirty="0"/>
              <a:t>Figure showing a side profile of the arrangement of detector plates, and the breakdown</a:t>
            </a:r>
          </a:p>
          <a:p>
            <a:pPr algn="ctr"/>
            <a:r>
              <a:rPr lang="en-US" sz="1600" dirty="0"/>
              <a:t> of different locations where electrons may intersect when moving through the detector;</a:t>
            </a:r>
          </a:p>
          <a:p>
            <a:pPr algn="ctr"/>
            <a:r>
              <a:rPr lang="en-US" sz="1600" dirty="0"/>
              <a:t>Bernstein 2019</a:t>
            </a:r>
          </a:p>
        </p:txBody>
      </p:sp>
    </p:spTree>
    <p:extLst>
      <p:ext uri="{BB962C8B-B14F-4D97-AF65-F5344CB8AC3E}">
        <p14:creationId xmlns:p14="http://schemas.microsoft.com/office/powerpoint/2010/main" val="623640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dissolv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dissolv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dissolv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dissolve">
                                      <p:cBhvr>
                                        <p:cTn id="32" dur="50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dissolve">
                                      <p:cBhvr>
                                        <p:cTn id="37" dur="500"/>
                                        <p:tgtEl>
                                          <p:spTgt spid="3">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dissolve">
                                      <p:cBhvr>
                                        <p:cTn id="42" dur="500"/>
                                        <p:tgtEl>
                                          <p:spTgt spid="9"/>
                                        </p:tgtEl>
                                      </p:cBhvr>
                                    </p:animEffect>
                                  </p:childTnLst>
                                </p:cTn>
                              </p:par>
                              <p:par>
                                <p:cTn id="43" presetID="9" presetClass="entr" presetSubtype="0" fill="hold" nodeType="withEffect">
                                  <p:stCondLst>
                                    <p:cond delay="0"/>
                                  </p:stCondLst>
                                  <p:childTnLst>
                                    <p:set>
                                      <p:cBhvr>
                                        <p:cTn id="44" dur="1" fill="hold">
                                          <p:stCondLst>
                                            <p:cond delay="0"/>
                                          </p:stCondLst>
                                        </p:cTn>
                                        <p:tgtEl>
                                          <p:spTgt spid="6"/>
                                        </p:tgtEl>
                                        <p:attrNameLst>
                                          <p:attrName>style.visibility</p:attrName>
                                        </p:attrNameLst>
                                      </p:cBhvr>
                                      <p:to>
                                        <p:strVal val="visible"/>
                                      </p:to>
                                    </p:set>
                                    <p:animEffect transition="in" filter="dissolve">
                                      <p:cBhvr>
                                        <p:cTn id="45" dur="500"/>
                                        <p:tgtEl>
                                          <p:spTgt spid="6"/>
                                        </p:tgtEl>
                                      </p:cBhvr>
                                    </p:animEffect>
                                  </p:childTnLst>
                                </p:cTn>
                              </p:par>
                              <p:par>
                                <p:cTn id="46" presetID="9" presetClass="entr" presetSubtype="0" fill="hold" grpId="0" nodeType="withEffect">
                                  <p:stCondLst>
                                    <p:cond delay="0"/>
                                  </p:stCondLst>
                                  <p:childTnLst>
                                    <p:set>
                                      <p:cBhvr>
                                        <p:cTn id="47" dur="1" fill="hold">
                                          <p:stCondLst>
                                            <p:cond delay="0"/>
                                          </p:stCondLst>
                                        </p:cTn>
                                        <p:tgtEl>
                                          <p:spTgt spid="8"/>
                                        </p:tgtEl>
                                        <p:attrNameLst>
                                          <p:attrName>style.visibility</p:attrName>
                                        </p:attrNameLst>
                                      </p:cBhvr>
                                      <p:to>
                                        <p:strVal val="visible"/>
                                      </p:to>
                                    </p:set>
                                    <p:animEffect transition="in" filter="dissolve">
                                      <p:cBhvr>
                                        <p:cTn id="48" dur="500"/>
                                        <p:tgtEl>
                                          <p:spTgt spid="8"/>
                                        </p:tgtEl>
                                      </p:cBhvr>
                                    </p:animEffect>
                                  </p:childTnLst>
                                </p:cTn>
                              </p:par>
                              <p:par>
                                <p:cTn id="49" presetID="1" presetClass="exit" presetSubtype="0" fill="hold" nodeType="withEffect">
                                  <p:stCondLst>
                                    <p:cond delay="0"/>
                                  </p:stCondLst>
                                  <p:childTnLst>
                                    <p:set>
                                      <p:cBhvr>
                                        <p:cTn id="50" dur="1" fill="hold">
                                          <p:stCondLst>
                                            <p:cond delay="0"/>
                                          </p:stCondLst>
                                        </p:cTn>
                                        <p:tgtEl>
                                          <p:spTgt spid="3">
                                            <p:txEl>
                                              <p:pRg st="0" end="0"/>
                                            </p:txEl>
                                          </p:spTgt>
                                        </p:tgtEl>
                                        <p:attrNameLst>
                                          <p:attrName>style.visibility</p:attrName>
                                        </p:attrNameLst>
                                      </p:cBhvr>
                                      <p:to>
                                        <p:strVal val="hidden"/>
                                      </p:to>
                                    </p:set>
                                  </p:childTnLst>
                                </p:cTn>
                              </p:par>
                              <p:par>
                                <p:cTn id="51" presetID="1" presetClass="exit" presetSubtype="0" fill="hold" nodeType="withEffect">
                                  <p:stCondLst>
                                    <p:cond delay="0"/>
                                  </p:stCondLst>
                                  <p:childTnLst>
                                    <p:set>
                                      <p:cBhvr>
                                        <p:cTn id="52" dur="1" fill="hold">
                                          <p:stCondLst>
                                            <p:cond delay="0"/>
                                          </p:stCondLst>
                                        </p:cTn>
                                        <p:tgtEl>
                                          <p:spTgt spid="3">
                                            <p:txEl>
                                              <p:pRg st="1" end="1"/>
                                            </p:txEl>
                                          </p:spTgt>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3">
                                            <p:txEl>
                                              <p:pRg st="2" end="2"/>
                                            </p:txEl>
                                          </p:spTgt>
                                        </p:tgtEl>
                                        <p:attrNameLst>
                                          <p:attrName>style.visibility</p:attrName>
                                        </p:attrNameLst>
                                      </p:cBhvr>
                                      <p:to>
                                        <p:strVal val="hidden"/>
                                      </p:to>
                                    </p:set>
                                  </p:childTnLst>
                                </p:cTn>
                              </p:par>
                              <p:par>
                                <p:cTn id="55" presetID="1" presetClass="exit" presetSubtype="0" fill="hold" nodeType="withEffect">
                                  <p:stCondLst>
                                    <p:cond delay="0"/>
                                  </p:stCondLst>
                                  <p:childTnLst>
                                    <p:set>
                                      <p:cBhvr>
                                        <p:cTn id="56" dur="1" fill="hold">
                                          <p:stCondLst>
                                            <p:cond delay="0"/>
                                          </p:stCondLst>
                                        </p:cTn>
                                        <p:tgtEl>
                                          <p:spTgt spid="3">
                                            <p:txEl>
                                              <p:pRg st="3" end="3"/>
                                            </p:txEl>
                                          </p:spTgt>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3">
                                            <p:txEl>
                                              <p:pRg st="4" end="4"/>
                                            </p:txEl>
                                          </p:spTgt>
                                        </p:tgtEl>
                                        <p:attrNameLst>
                                          <p:attrName>style.visibility</p:attrName>
                                        </p:attrNameLst>
                                      </p:cBhvr>
                                      <p:to>
                                        <p:strVal val="hidden"/>
                                      </p:to>
                                    </p:set>
                                  </p:childTnLst>
                                </p:cTn>
                              </p:par>
                              <p:par>
                                <p:cTn id="59" presetID="1" presetClass="exit" presetSubtype="0" fill="hold" nodeType="withEffect">
                                  <p:stCondLst>
                                    <p:cond delay="0"/>
                                  </p:stCondLst>
                                  <p:childTnLst>
                                    <p:set>
                                      <p:cBhvr>
                                        <p:cTn id="60" dur="1" fill="hold">
                                          <p:stCondLst>
                                            <p:cond delay="0"/>
                                          </p:stCondLst>
                                        </p:cTn>
                                        <p:tgtEl>
                                          <p:spTgt spid="3">
                                            <p:txEl>
                                              <p:pRg st="5" end="5"/>
                                            </p:txEl>
                                          </p:spTgt>
                                        </p:tgtEl>
                                        <p:attrNameLst>
                                          <p:attrName>style.visibility</p:attrName>
                                        </p:attrNameLst>
                                      </p:cBhvr>
                                      <p:to>
                                        <p:strVal val="hidden"/>
                                      </p:to>
                                    </p:set>
                                  </p:childTnLst>
                                </p:cTn>
                              </p:par>
                              <p:par>
                                <p:cTn id="61" presetID="1" presetClass="exit" presetSubtype="0" fill="hold" nodeType="withEffect">
                                  <p:stCondLst>
                                    <p:cond delay="0"/>
                                  </p:stCondLst>
                                  <p:childTnLst>
                                    <p:set>
                                      <p:cBhvr>
                                        <p:cTn id="62" dur="1" fill="hold">
                                          <p:stCondLst>
                                            <p:cond delay="0"/>
                                          </p:stCondLst>
                                        </p:cTn>
                                        <p:tgtEl>
                                          <p:spTgt spid="3">
                                            <p:txEl>
                                              <p:pRg st="6" end="6"/>
                                            </p:txEl>
                                          </p:spTgt>
                                        </p:tgtEl>
                                        <p:attrNameLst>
                                          <p:attrName>style.visibility</p:attrName>
                                        </p:attrNameLst>
                                      </p:cBhvr>
                                      <p:to>
                                        <p:strVal val="hidden"/>
                                      </p:to>
                                    </p:set>
                                  </p:childTnLst>
                                </p:cTn>
                              </p:par>
                              <p:par>
                                <p:cTn id="63" presetID="1" presetClass="exit" presetSubtype="0" fill="hold" nodeType="withEffect">
                                  <p:stCondLst>
                                    <p:cond delay="0"/>
                                  </p:stCondLst>
                                  <p:childTnLst>
                                    <p:set>
                                      <p:cBhvr>
                                        <p:cTn id="64" dur="1" fill="hold">
                                          <p:stCondLst>
                                            <p:cond delay="0"/>
                                          </p:stCondLst>
                                        </p:cTn>
                                        <p:tgtEl>
                                          <p:spTgt spid="3">
                                            <p:txEl>
                                              <p:pRg st="7" end="7"/>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820A31-362D-5C94-FBBA-9011055906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E10895-1DFD-2EB0-59F3-4CFABBC27F45}"/>
              </a:ext>
            </a:extLst>
          </p:cNvPr>
          <p:cNvSpPr>
            <a:spLocks noGrp="1"/>
          </p:cNvSpPr>
          <p:nvPr>
            <p:ph type="title"/>
          </p:nvPr>
        </p:nvSpPr>
        <p:spPr>
          <a:xfrm>
            <a:off x="0" y="352425"/>
            <a:ext cx="9410700" cy="447675"/>
          </a:xfrm>
        </p:spPr>
        <p:txBody>
          <a:bodyPr>
            <a:normAutofit/>
          </a:bodyPr>
          <a:lstStyle/>
          <a:p>
            <a:r>
              <a:rPr lang="en-US" sz="2500" u="sng" dirty="0">
                <a:solidFill>
                  <a:srgbClr val="C00000"/>
                </a:solidFill>
              </a:rPr>
              <a:t>The Mu2e Experiment</a:t>
            </a:r>
          </a:p>
        </p:txBody>
      </p:sp>
      <p:pic>
        <p:nvPicPr>
          <p:cNvPr id="4" name="Content Placeholder 3">
            <a:extLst>
              <a:ext uri="{FF2B5EF4-FFF2-40B4-BE49-F238E27FC236}">
                <a16:creationId xmlns:a16="http://schemas.microsoft.com/office/drawing/2014/main" id="{35F200A0-0920-FF32-627B-A05FE27147BF}"/>
              </a:ext>
            </a:extLst>
          </p:cNvPr>
          <p:cNvPicPr>
            <a:picLocks noGrp="1" noChangeAspect="1"/>
          </p:cNvPicPr>
          <p:nvPr>
            <p:ph idx="1"/>
          </p:nvPr>
        </p:nvPicPr>
        <p:blipFill>
          <a:blip r:embed="rId3"/>
          <a:srcRect l="68751" t="24483" r="6467" b="24483"/>
          <a:stretch>
            <a:fillRect/>
          </a:stretch>
        </p:blipFill>
        <p:spPr>
          <a:xfrm>
            <a:off x="2553082" y="800100"/>
            <a:ext cx="7085835" cy="5248769"/>
          </a:xfrm>
          <a:prstGeom prst="rect">
            <a:avLst/>
          </a:prstGeom>
        </p:spPr>
      </p:pic>
      <p:sp>
        <p:nvSpPr>
          <p:cNvPr id="6" name="Slide Number Placeholder 5">
            <a:extLst>
              <a:ext uri="{FF2B5EF4-FFF2-40B4-BE49-F238E27FC236}">
                <a16:creationId xmlns:a16="http://schemas.microsoft.com/office/drawing/2014/main" id="{CBF05A22-57A1-4173-8A0C-EE5A7B1BFEDB}"/>
              </a:ext>
            </a:extLst>
          </p:cNvPr>
          <p:cNvSpPr>
            <a:spLocks noGrp="1"/>
          </p:cNvSpPr>
          <p:nvPr>
            <p:ph type="sldNum" sz="quarter" idx="12"/>
          </p:nvPr>
        </p:nvSpPr>
        <p:spPr/>
        <p:txBody>
          <a:bodyPr/>
          <a:lstStyle/>
          <a:p>
            <a:fld id="{97E93708-6877-FF41-B53F-E17832C2698B}" type="slidenum">
              <a:rPr lang="en-US" smtClean="0"/>
              <a:t>55</a:t>
            </a:fld>
            <a:endParaRPr lang="en-US"/>
          </a:p>
        </p:txBody>
      </p:sp>
      <p:sp>
        <p:nvSpPr>
          <p:cNvPr id="7" name="Footer Placeholder 4">
            <a:extLst>
              <a:ext uri="{FF2B5EF4-FFF2-40B4-BE49-F238E27FC236}">
                <a16:creationId xmlns:a16="http://schemas.microsoft.com/office/drawing/2014/main" id="{60B711B0-27B7-E34C-38F5-76EE351ED2D9}"/>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sp>
        <p:nvSpPr>
          <p:cNvPr id="17" name="Rectangle 16">
            <a:extLst>
              <a:ext uri="{FF2B5EF4-FFF2-40B4-BE49-F238E27FC236}">
                <a16:creationId xmlns:a16="http://schemas.microsoft.com/office/drawing/2014/main" id="{5E251A6B-A571-46CA-0213-17004BB015D0}"/>
              </a:ext>
            </a:extLst>
          </p:cNvPr>
          <p:cNvSpPr/>
          <p:nvPr/>
        </p:nvSpPr>
        <p:spPr>
          <a:xfrm>
            <a:off x="2553082" y="4960406"/>
            <a:ext cx="3508075" cy="8281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4">
            <p14:nvContentPartPr>
              <p14:cNvPr id="19" name="Ink 18">
                <a:extLst>
                  <a:ext uri="{FF2B5EF4-FFF2-40B4-BE49-F238E27FC236}">
                    <a16:creationId xmlns:a16="http://schemas.microsoft.com/office/drawing/2014/main" id="{28887BAF-87B8-9520-2CEA-8CFD3EBF78DF}"/>
                  </a:ext>
                </a:extLst>
              </p14:cNvPr>
              <p14:cNvContentPartPr/>
              <p14:nvPr/>
            </p14:nvContentPartPr>
            <p14:xfrm>
              <a:off x="2379525" y="2754310"/>
              <a:ext cx="594720" cy="774360"/>
            </p14:xfrm>
          </p:contentPart>
        </mc:Choice>
        <mc:Fallback xmlns="">
          <p:pic>
            <p:nvPicPr>
              <p:cNvPr id="19" name="Ink 18">
                <a:extLst>
                  <a:ext uri="{FF2B5EF4-FFF2-40B4-BE49-F238E27FC236}">
                    <a16:creationId xmlns:a16="http://schemas.microsoft.com/office/drawing/2014/main" id="{28887BAF-87B8-9520-2CEA-8CFD3EBF78DF}"/>
                  </a:ext>
                </a:extLst>
              </p:cNvPr>
              <p:cNvPicPr/>
              <p:nvPr/>
            </p:nvPicPr>
            <p:blipFill>
              <a:blip r:embed="rId5"/>
              <a:stretch>
                <a:fillRect/>
              </a:stretch>
            </p:blipFill>
            <p:spPr>
              <a:xfrm>
                <a:off x="2343885" y="2718670"/>
                <a:ext cx="666360" cy="846000"/>
              </a:xfrm>
              <a:prstGeom prst="rect">
                <a:avLst/>
              </a:prstGeom>
            </p:spPr>
          </p:pic>
        </mc:Fallback>
      </mc:AlternateContent>
      <p:grpSp>
        <p:nvGrpSpPr>
          <p:cNvPr id="23" name="Group 22">
            <a:extLst>
              <a:ext uri="{FF2B5EF4-FFF2-40B4-BE49-F238E27FC236}">
                <a16:creationId xmlns:a16="http://schemas.microsoft.com/office/drawing/2014/main" id="{5AB25E1D-78F6-6DA9-DB3E-3425701739C2}"/>
              </a:ext>
            </a:extLst>
          </p:cNvPr>
          <p:cNvGrpSpPr/>
          <p:nvPr/>
        </p:nvGrpSpPr>
        <p:grpSpPr>
          <a:xfrm>
            <a:off x="6040725" y="1640110"/>
            <a:ext cx="1304640" cy="910440"/>
            <a:chOff x="6040725" y="1640110"/>
            <a:chExt cx="1304640" cy="910440"/>
          </a:xfrm>
        </p:grpSpPr>
        <mc:AlternateContent xmlns:mc="http://schemas.openxmlformats.org/markup-compatibility/2006" xmlns:p14="http://schemas.microsoft.com/office/powerpoint/2010/main">
          <mc:Choice Requires="p14">
            <p:contentPart p14:bwMode="auto" r:id="rId6">
              <p14:nvContentPartPr>
                <p14:cNvPr id="20" name="Ink 19">
                  <a:extLst>
                    <a:ext uri="{FF2B5EF4-FFF2-40B4-BE49-F238E27FC236}">
                      <a16:creationId xmlns:a16="http://schemas.microsoft.com/office/drawing/2014/main" id="{985EE94C-EE0A-5E7F-BC40-ECD2023E5043}"/>
                    </a:ext>
                  </a:extLst>
                </p14:cNvPr>
                <p14:cNvContentPartPr/>
                <p14:nvPr/>
              </p14:nvContentPartPr>
              <p14:xfrm>
                <a:off x="6040725" y="2154550"/>
                <a:ext cx="562680" cy="396000"/>
              </p14:xfrm>
            </p:contentPart>
          </mc:Choice>
          <mc:Fallback xmlns="">
            <p:pic>
              <p:nvPicPr>
                <p:cNvPr id="20" name="Ink 19">
                  <a:extLst>
                    <a:ext uri="{FF2B5EF4-FFF2-40B4-BE49-F238E27FC236}">
                      <a16:creationId xmlns:a16="http://schemas.microsoft.com/office/drawing/2014/main" id="{985EE94C-EE0A-5E7F-BC40-ECD2023E5043}"/>
                    </a:ext>
                  </a:extLst>
                </p:cNvPr>
                <p:cNvPicPr/>
                <p:nvPr/>
              </p:nvPicPr>
              <p:blipFill>
                <a:blip r:embed="rId7"/>
                <a:stretch>
                  <a:fillRect/>
                </a:stretch>
              </p:blipFill>
              <p:spPr>
                <a:xfrm>
                  <a:off x="6005085" y="2118550"/>
                  <a:ext cx="634320" cy="4676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1" name="Ink 20">
                  <a:extLst>
                    <a:ext uri="{FF2B5EF4-FFF2-40B4-BE49-F238E27FC236}">
                      <a16:creationId xmlns:a16="http://schemas.microsoft.com/office/drawing/2014/main" id="{5813F70C-2149-591B-7F4F-3DB106784BEB}"/>
                    </a:ext>
                  </a:extLst>
                </p14:cNvPr>
                <p14:cNvContentPartPr/>
                <p14:nvPr/>
              </p14:nvContentPartPr>
              <p14:xfrm>
                <a:off x="6841005" y="1640110"/>
                <a:ext cx="504360" cy="425880"/>
              </p14:xfrm>
            </p:contentPart>
          </mc:Choice>
          <mc:Fallback xmlns="">
            <p:pic>
              <p:nvPicPr>
                <p:cNvPr id="21" name="Ink 20">
                  <a:extLst>
                    <a:ext uri="{FF2B5EF4-FFF2-40B4-BE49-F238E27FC236}">
                      <a16:creationId xmlns:a16="http://schemas.microsoft.com/office/drawing/2014/main" id="{5813F70C-2149-591B-7F4F-3DB106784BEB}"/>
                    </a:ext>
                  </a:extLst>
                </p:cNvPr>
                <p:cNvPicPr/>
                <p:nvPr/>
              </p:nvPicPr>
              <p:blipFill>
                <a:blip r:embed="rId9"/>
                <a:stretch>
                  <a:fillRect/>
                </a:stretch>
              </p:blipFill>
              <p:spPr>
                <a:xfrm>
                  <a:off x="6805365" y="1604110"/>
                  <a:ext cx="576000" cy="497520"/>
                </a:xfrm>
                <a:prstGeom prst="rect">
                  <a:avLst/>
                </a:prstGeom>
              </p:spPr>
            </p:pic>
          </mc:Fallback>
        </mc:AlternateContent>
      </p:gr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2F025786-7601-C387-3640-697592AC4266}"/>
                  </a:ext>
                </a:extLst>
              </p:cNvPr>
              <p:cNvSpPr txBox="1"/>
              <p:nvPr/>
            </p:nvSpPr>
            <p:spPr>
              <a:xfrm>
                <a:off x="7694421" y="1282986"/>
                <a:ext cx="797719" cy="64633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3600" i="1" smtClean="0">
                              <a:solidFill>
                                <a:srgbClr val="002060"/>
                              </a:solidFill>
                              <a:latin typeface="Cambria Math" panose="02040503050406030204" pitchFamily="18" charset="0"/>
                            </a:rPr>
                          </m:ctrlPr>
                        </m:sSupPr>
                        <m:e>
                          <m:r>
                            <a:rPr lang="en-US" sz="3600" b="0" i="1" smtClean="0">
                              <a:solidFill>
                                <a:srgbClr val="002060"/>
                              </a:solidFill>
                              <a:latin typeface="Cambria Math" panose="02040503050406030204" pitchFamily="18" charset="0"/>
                            </a:rPr>
                            <m:t>𝑒</m:t>
                          </m:r>
                        </m:e>
                        <m:sup>
                          <m:r>
                            <a:rPr lang="en-US" sz="3600" b="0" i="1" smtClean="0">
                              <a:solidFill>
                                <a:srgbClr val="002060"/>
                              </a:solidFill>
                              <a:latin typeface="Cambria Math" panose="02040503050406030204" pitchFamily="18" charset="0"/>
                            </a:rPr>
                            <m:t>−</m:t>
                          </m:r>
                        </m:sup>
                      </m:sSup>
                    </m:oMath>
                  </m:oMathPara>
                </a14:m>
                <a:endParaRPr lang="en-US" sz="3600" dirty="0">
                  <a:solidFill>
                    <a:srgbClr val="002060"/>
                  </a:solidFill>
                </a:endParaRPr>
              </a:p>
            </p:txBody>
          </p:sp>
        </mc:Choice>
        <mc:Fallback xmlns="">
          <p:sp>
            <p:nvSpPr>
              <p:cNvPr id="24" name="TextBox 23">
                <a:extLst>
                  <a:ext uri="{FF2B5EF4-FFF2-40B4-BE49-F238E27FC236}">
                    <a16:creationId xmlns:a16="http://schemas.microsoft.com/office/drawing/2014/main" id="{2F025786-7601-C387-3640-697592AC4266}"/>
                  </a:ext>
                </a:extLst>
              </p:cNvPr>
              <p:cNvSpPr txBox="1">
                <a:spLocks noRot="1" noChangeAspect="1" noMove="1" noResize="1" noEditPoints="1" noAdjustHandles="1" noChangeArrowheads="1" noChangeShapeType="1" noTextEdit="1"/>
              </p:cNvSpPr>
              <p:nvPr/>
            </p:nvSpPr>
            <p:spPr>
              <a:xfrm>
                <a:off x="7694421" y="1282986"/>
                <a:ext cx="797719" cy="646331"/>
              </a:xfrm>
              <a:prstGeom prst="rect">
                <a:avLst/>
              </a:prstGeom>
              <a:blipFill>
                <a:blip r:embed="rId10"/>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031380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xit" presetSubtype="0" fill="hold" grpId="0" nodeType="clickEffect">
                                  <p:stCondLst>
                                    <p:cond delay="0"/>
                                  </p:stCondLst>
                                  <p:childTnLst>
                                    <p:animEffect transition="out" filter="dissolve">
                                      <p:cBhvr>
                                        <p:cTn id="6" dur="500"/>
                                        <p:tgtEl>
                                          <p:spTgt spid="17"/>
                                        </p:tgtEl>
                                      </p:cBhvr>
                                    </p:animEffect>
                                    <p:set>
                                      <p:cBhvr>
                                        <p:cTn id="7" dur="1" fill="hold">
                                          <p:stCondLst>
                                            <p:cond delay="499"/>
                                          </p:stCondLst>
                                        </p:cTn>
                                        <p:tgtEl>
                                          <p:spTgt spid="17"/>
                                        </p:tgtEl>
                                        <p:attrNameLst>
                                          <p:attrName>style.visibility</p:attrName>
                                        </p:attrNameLst>
                                      </p:cBhvr>
                                      <p:to>
                                        <p:strVal val="hidden"/>
                                      </p:to>
                                    </p:set>
                                  </p:childTnLst>
                                </p:cTn>
                              </p:par>
                              <p:par>
                                <p:cTn id="8" presetID="9" presetClass="entr" presetSubtype="0"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dissolve">
                                      <p:cBhvr>
                                        <p:cTn id="10" dur="500"/>
                                        <p:tgtEl>
                                          <p:spTgt spid="24"/>
                                        </p:tgtEl>
                                      </p:cBhvr>
                                    </p:animEffect>
                                  </p:childTnLst>
                                </p:cTn>
                              </p:par>
                              <p:par>
                                <p:cTn id="11" presetID="9"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dissolve">
                                      <p:cBhvr>
                                        <p:cTn id="13" dur="500"/>
                                        <p:tgtEl>
                                          <p:spTgt spid="19"/>
                                        </p:tgtEl>
                                      </p:cBhvr>
                                    </p:animEffect>
                                  </p:childTnLst>
                                </p:cTn>
                              </p:par>
                              <p:par>
                                <p:cTn id="14" presetID="9" presetClass="entr" presetSubtype="0"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dissolve">
                                      <p:cBhvr>
                                        <p:cTn id="16"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24"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29539-141F-D3A7-BEE6-EB329B14E6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29088F-D872-6BB7-1D92-2BF7CBE4BE4F}"/>
              </a:ext>
            </a:extLst>
          </p:cNvPr>
          <p:cNvSpPr>
            <a:spLocks noGrp="1"/>
          </p:cNvSpPr>
          <p:nvPr>
            <p:ph type="title"/>
          </p:nvPr>
        </p:nvSpPr>
        <p:spPr>
          <a:xfrm>
            <a:off x="0" y="0"/>
            <a:ext cx="10515600" cy="549275"/>
          </a:xfrm>
        </p:spPr>
        <p:txBody>
          <a:bodyPr>
            <a:normAutofit/>
          </a:bodyPr>
          <a:lstStyle/>
          <a:p>
            <a:r>
              <a:rPr lang="en-US" sz="2500" u="sng" dirty="0">
                <a:solidFill>
                  <a:srgbClr val="C00000"/>
                </a:solidFill>
              </a:rPr>
              <a:t>Calorimeter</a:t>
            </a:r>
          </a:p>
        </p:txBody>
      </p:sp>
      <p:sp>
        <p:nvSpPr>
          <p:cNvPr id="5" name="Slide Number Placeholder 4">
            <a:extLst>
              <a:ext uri="{FF2B5EF4-FFF2-40B4-BE49-F238E27FC236}">
                <a16:creationId xmlns:a16="http://schemas.microsoft.com/office/drawing/2014/main" id="{B205A2F2-1448-BB45-919B-26085AC61780}"/>
              </a:ext>
            </a:extLst>
          </p:cNvPr>
          <p:cNvSpPr>
            <a:spLocks noGrp="1"/>
          </p:cNvSpPr>
          <p:nvPr>
            <p:ph type="sldNum" sz="quarter" idx="12"/>
          </p:nvPr>
        </p:nvSpPr>
        <p:spPr/>
        <p:txBody>
          <a:bodyPr/>
          <a:lstStyle/>
          <a:p>
            <a:fld id="{97E93708-6877-FF41-B53F-E17832C2698B}" type="slidenum">
              <a:rPr lang="en-US" smtClean="0"/>
              <a:t>56</a:t>
            </a:fld>
            <a:endParaRPr lang="en-US"/>
          </a:p>
        </p:txBody>
      </p:sp>
      <p:sp>
        <p:nvSpPr>
          <p:cNvPr id="10" name="Content Placeholder 9">
            <a:extLst>
              <a:ext uri="{FF2B5EF4-FFF2-40B4-BE49-F238E27FC236}">
                <a16:creationId xmlns:a16="http://schemas.microsoft.com/office/drawing/2014/main" id="{D0D90DCF-D995-AE0C-8C1B-EEE35138E428}"/>
              </a:ext>
            </a:extLst>
          </p:cNvPr>
          <p:cNvSpPr>
            <a:spLocks noGrp="1"/>
          </p:cNvSpPr>
          <p:nvPr>
            <p:ph idx="1"/>
          </p:nvPr>
        </p:nvSpPr>
        <p:spPr>
          <a:xfrm>
            <a:off x="838200" y="549274"/>
            <a:ext cx="10515600" cy="5937249"/>
          </a:xfrm>
        </p:spPr>
        <p:txBody>
          <a:bodyPr>
            <a:normAutofit fontScale="77500" lnSpcReduction="20000"/>
          </a:bodyPr>
          <a:lstStyle/>
          <a:p>
            <a:r>
              <a:rPr lang="en-US" dirty="0"/>
              <a:t>Constructed from undoped CsI crystals</a:t>
            </a:r>
          </a:p>
          <a:p>
            <a:pPr lvl="1"/>
            <a:r>
              <a:rPr lang="en-US" dirty="0"/>
              <a:t>Very prominent scintillator in particle physics on account of its specific wavelength emitted </a:t>
            </a:r>
          </a:p>
          <a:p>
            <a:pPr lvl="1"/>
            <a:r>
              <a:rPr lang="en-US" dirty="0"/>
              <a:t>Light taken in by photosensors (Silicon Photomultiplier, </a:t>
            </a:r>
            <a:r>
              <a:rPr lang="en-US" dirty="0" err="1"/>
              <a:t>SiPMs</a:t>
            </a:r>
            <a:r>
              <a:rPr lang="en-US" dirty="0"/>
              <a:t>)</a:t>
            </a:r>
          </a:p>
          <a:p>
            <a:pPr lvl="1"/>
            <a:r>
              <a:rPr lang="en-US" dirty="0"/>
              <a:t>Converted to signal read in by DAQ</a:t>
            </a:r>
          </a:p>
          <a:p>
            <a:pPr lvl="1"/>
            <a:r>
              <a:rPr lang="en-US" dirty="0"/>
              <a:t>Annular construction: minimize damage of detector systems as products pass to beam dump </a:t>
            </a:r>
          </a:p>
          <a:p>
            <a:r>
              <a:rPr lang="en-US" dirty="0"/>
              <a:t>Two disk system to make sure helices of conversion electrons are not missed (separation of approximately 1 wavelength of the helix)</a:t>
            </a:r>
          </a:p>
          <a:p>
            <a:r>
              <a:rPr lang="en-US" dirty="0"/>
              <a:t>Purpose: Particle identification</a:t>
            </a:r>
          </a:p>
          <a:p>
            <a:pPr lvl="1"/>
            <a:r>
              <a:rPr lang="en-US" dirty="0"/>
              <a:t>differentiation between electrons and muons by mass difference</a:t>
            </a:r>
          </a:p>
          <a:p>
            <a:pPr lvl="2"/>
            <a:r>
              <a:rPr lang="en-US" dirty="0"/>
              <a:t>electrons cause radiative “showers”, muons are heavier and do not radiate as much</a:t>
            </a:r>
          </a:p>
          <a:p>
            <a:r>
              <a:rPr lang="en-US" dirty="0"/>
              <a:t>Purpose: Improvement of track reconstruction</a:t>
            </a:r>
          </a:p>
          <a:p>
            <a:pPr lvl="1"/>
            <a:r>
              <a:rPr lang="en-US" dirty="0"/>
              <a:t>“seed” for reconstruction: start</a:t>
            </a:r>
            <a:r>
              <a:rPr lang="en-US" dirty="0">
                <a:sym typeface="Wingdings" pitchFamily="2" charset="2"/>
              </a:rPr>
              <a:t> at calorimeter and work backwards to decrease computation time. Mark out hits in the calorimeter crystal clusters first</a:t>
            </a:r>
            <a:endParaRPr lang="en-US" dirty="0"/>
          </a:p>
          <a:p>
            <a:pPr lvl="1"/>
            <a:r>
              <a:rPr lang="en-US" dirty="0"/>
              <a:t>consistency check: making sure the tracks line up in a possible fit (Kinematic Kalman Fit)</a:t>
            </a:r>
          </a:p>
          <a:p>
            <a:pPr lvl="1"/>
            <a:r>
              <a:rPr lang="en-US" dirty="0"/>
              <a:t>can reconstruct position/direction of shower, time of hit, and energy deposited by the shower of particles that hit the calorimeter</a:t>
            </a:r>
          </a:p>
          <a:p>
            <a:r>
              <a:rPr lang="en-US" dirty="0"/>
              <a:t>Purpose: Triggering</a:t>
            </a:r>
          </a:p>
          <a:p>
            <a:pPr lvl="1"/>
            <a:r>
              <a:rPr lang="en-US" dirty="0"/>
              <a:t>specific energy ranges on the shower can choose what data to store and where, as we have a monoenergetic signal electron</a:t>
            </a:r>
          </a:p>
          <a:p>
            <a:pPr lvl="1"/>
            <a:endParaRPr lang="en-US" dirty="0"/>
          </a:p>
        </p:txBody>
      </p:sp>
      <p:sp>
        <p:nvSpPr>
          <p:cNvPr id="12" name="Footer Placeholder 4">
            <a:extLst>
              <a:ext uri="{FF2B5EF4-FFF2-40B4-BE49-F238E27FC236}">
                <a16:creationId xmlns:a16="http://schemas.microsoft.com/office/drawing/2014/main" id="{AEDE8D7F-8570-030C-904B-D096054CC29A}"/>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grpSp>
        <p:nvGrpSpPr>
          <p:cNvPr id="4" name="Group 3">
            <a:extLst>
              <a:ext uri="{FF2B5EF4-FFF2-40B4-BE49-F238E27FC236}">
                <a16:creationId xmlns:a16="http://schemas.microsoft.com/office/drawing/2014/main" id="{49F51474-9B86-8DBE-E437-D29F9BFF28DC}"/>
              </a:ext>
            </a:extLst>
          </p:cNvPr>
          <p:cNvGrpSpPr/>
          <p:nvPr/>
        </p:nvGrpSpPr>
        <p:grpSpPr>
          <a:xfrm>
            <a:off x="6395483" y="95250"/>
            <a:ext cx="8240233" cy="6845298"/>
            <a:chOff x="1975883" y="6351"/>
            <a:chExt cx="8240233" cy="6845298"/>
          </a:xfrm>
        </p:grpSpPr>
        <p:pic>
          <p:nvPicPr>
            <p:cNvPr id="11" name="Content Placeholder 5">
              <a:extLst>
                <a:ext uri="{FF2B5EF4-FFF2-40B4-BE49-F238E27FC236}">
                  <a16:creationId xmlns:a16="http://schemas.microsoft.com/office/drawing/2014/main" id="{BFB5ADE3-B921-D54A-070B-ACDB4F04706A}"/>
                </a:ext>
              </a:extLst>
            </p:cNvPr>
            <p:cNvPicPr>
              <a:picLocks noChangeAspect="1"/>
            </p:cNvPicPr>
            <p:nvPr/>
          </p:nvPicPr>
          <p:blipFill>
            <a:blip r:embed="rId3"/>
            <a:stretch>
              <a:fillRect/>
            </a:stretch>
          </p:blipFill>
          <p:spPr>
            <a:xfrm>
              <a:off x="1975883" y="6351"/>
              <a:ext cx="8240233" cy="6640863"/>
            </a:xfrm>
            <a:prstGeom prst="rect">
              <a:avLst/>
            </a:prstGeom>
          </p:spPr>
        </p:pic>
        <p:sp>
          <p:nvSpPr>
            <p:cNvPr id="3" name="TextBox 2">
              <a:extLst>
                <a:ext uri="{FF2B5EF4-FFF2-40B4-BE49-F238E27FC236}">
                  <a16:creationId xmlns:a16="http://schemas.microsoft.com/office/drawing/2014/main" id="{3967AF52-ACBC-007C-7820-04205236D581}"/>
                </a:ext>
              </a:extLst>
            </p:cNvPr>
            <p:cNvSpPr txBox="1"/>
            <p:nvPr/>
          </p:nvSpPr>
          <p:spPr>
            <a:xfrm>
              <a:off x="2734534" y="6205318"/>
              <a:ext cx="6722931" cy="646331"/>
            </a:xfrm>
            <a:prstGeom prst="rect">
              <a:avLst/>
            </a:prstGeom>
            <a:noFill/>
          </p:spPr>
          <p:txBody>
            <a:bodyPr wrap="none" rtlCol="0">
              <a:spAutoFit/>
            </a:bodyPr>
            <a:lstStyle/>
            <a:p>
              <a:r>
                <a:rPr lang="en-US" dirty="0"/>
                <a:t>Calorimeter diagram with the annulus and the two disk orientation</a:t>
              </a:r>
            </a:p>
            <a:p>
              <a:pPr algn="ctr"/>
              <a:r>
                <a:rPr lang="en-US" dirty="0"/>
                <a:t>from Bernstein (2019)</a:t>
              </a:r>
            </a:p>
          </p:txBody>
        </p:sp>
      </p:grpSp>
    </p:spTree>
    <p:extLst>
      <p:ext uri="{BB962C8B-B14F-4D97-AF65-F5344CB8AC3E}">
        <p14:creationId xmlns:p14="http://schemas.microsoft.com/office/powerpoint/2010/main" val="3532594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
                                            <p:txEl>
                                              <p:pRg st="9" end="9"/>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xEl>
                                              <p:pRg st="10" end="1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0">
                                            <p:txEl>
                                              <p:pRg st="11" end="11"/>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0">
                                            <p:txEl>
                                              <p:pRg st="12" end="12"/>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0">
                                            <p:txEl>
                                              <p:pRg st="13" end="13"/>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0">
                                            <p:txEl>
                                              <p:pRg st="14" end="14"/>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nodeType="clickEffect">
                                  <p:stCondLst>
                                    <p:cond delay="0"/>
                                  </p:stCondLst>
                                  <p:childTnLst>
                                    <p:set>
                                      <p:cBhvr>
                                        <p:cTn id="46" dur="1" fill="hold">
                                          <p:stCondLst>
                                            <p:cond delay="0"/>
                                          </p:stCondLst>
                                        </p:cTn>
                                        <p:tgtEl>
                                          <p:spTgt spid="10">
                                            <p:txEl>
                                              <p:pRg st="0" end="0"/>
                                            </p:txEl>
                                          </p:spTgt>
                                        </p:tgtEl>
                                        <p:attrNameLst>
                                          <p:attrName>style.visibility</p:attrName>
                                        </p:attrNameLst>
                                      </p:cBhvr>
                                      <p:to>
                                        <p:strVal val="hidden"/>
                                      </p:to>
                                    </p:set>
                                  </p:childTnLst>
                                </p:cTn>
                              </p:par>
                              <p:par>
                                <p:cTn id="47" presetID="1" presetClass="exit" presetSubtype="0" fill="hold" nodeType="withEffect">
                                  <p:stCondLst>
                                    <p:cond delay="0"/>
                                  </p:stCondLst>
                                  <p:childTnLst>
                                    <p:set>
                                      <p:cBhvr>
                                        <p:cTn id="48" dur="1" fill="hold">
                                          <p:stCondLst>
                                            <p:cond delay="0"/>
                                          </p:stCondLst>
                                        </p:cTn>
                                        <p:tgtEl>
                                          <p:spTgt spid="10">
                                            <p:txEl>
                                              <p:pRg st="1" end="1"/>
                                            </p:txEl>
                                          </p:spTgt>
                                        </p:tgtEl>
                                        <p:attrNameLst>
                                          <p:attrName>style.visibility</p:attrName>
                                        </p:attrNameLst>
                                      </p:cBhvr>
                                      <p:to>
                                        <p:strVal val="hidden"/>
                                      </p:to>
                                    </p:set>
                                  </p:childTnLst>
                                </p:cTn>
                              </p:par>
                              <p:par>
                                <p:cTn id="49" presetID="1" presetClass="exit" presetSubtype="0" fill="hold" nodeType="withEffect">
                                  <p:stCondLst>
                                    <p:cond delay="0"/>
                                  </p:stCondLst>
                                  <p:childTnLst>
                                    <p:set>
                                      <p:cBhvr>
                                        <p:cTn id="50" dur="1" fill="hold">
                                          <p:stCondLst>
                                            <p:cond delay="0"/>
                                          </p:stCondLst>
                                        </p:cTn>
                                        <p:tgtEl>
                                          <p:spTgt spid="10">
                                            <p:txEl>
                                              <p:pRg st="2" end="2"/>
                                            </p:txEl>
                                          </p:spTgt>
                                        </p:tgtEl>
                                        <p:attrNameLst>
                                          <p:attrName>style.visibility</p:attrName>
                                        </p:attrNameLst>
                                      </p:cBhvr>
                                      <p:to>
                                        <p:strVal val="hidden"/>
                                      </p:to>
                                    </p:set>
                                  </p:childTnLst>
                                </p:cTn>
                              </p:par>
                              <p:par>
                                <p:cTn id="51" presetID="1" presetClass="exit" presetSubtype="0" fill="hold" nodeType="withEffect">
                                  <p:stCondLst>
                                    <p:cond delay="0"/>
                                  </p:stCondLst>
                                  <p:childTnLst>
                                    <p:set>
                                      <p:cBhvr>
                                        <p:cTn id="52" dur="1" fill="hold">
                                          <p:stCondLst>
                                            <p:cond delay="0"/>
                                          </p:stCondLst>
                                        </p:cTn>
                                        <p:tgtEl>
                                          <p:spTgt spid="10">
                                            <p:txEl>
                                              <p:pRg st="3" end="3"/>
                                            </p:txEl>
                                          </p:spTgt>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10">
                                            <p:txEl>
                                              <p:pRg st="4" end="4"/>
                                            </p:txEl>
                                          </p:spTgt>
                                        </p:tgtEl>
                                        <p:attrNameLst>
                                          <p:attrName>style.visibility</p:attrName>
                                        </p:attrNameLst>
                                      </p:cBhvr>
                                      <p:to>
                                        <p:strVal val="hidden"/>
                                      </p:to>
                                    </p:set>
                                  </p:childTnLst>
                                </p:cTn>
                              </p:par>
                              <p:par>
                                <p:cTn id="55" presetID="1" presetClass="exit" presetSubtype="0" fill="hold" nodeType="withEffect">
                                  <p:stCondLst>
                                    <p:cond delay="0"/>
                                  </p:stCondLst>
                                  <p:childTnLst>
                                    <p:set>
                                      <p:cBhvr>
                                        <p:cTn id="56" dur="1" fill="hold">
                                          <p:stCondLst>
                                            <p:cond delay="0"/>
                                          </p:stCondLst>
                                        </p:cTn>
                                        <p:tgtEl>
                                          <p:spTgt spid="10">
                                            <p:txEl>
                                              <p:pRg st="5" end="5"/>
                                            </p:txEl>
                                          </p:spTgt>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10">
                                            <p:txEl>
                                              <p:pRg st="6" end="6"/>
                                            </p:txEl>
                                          </p:spTgt>
                                        </p:tgtEl>
                                        <p:attrNameLst>
                                          <p:attrName>style.visibility</p:attrName>
                                        </p:attrNameLst>
                                      </p:cBhvr>
                                      <p:to>
                                        <p:strVal val="hidden"/>
                                      </p:to>
                                    </p:set>
                                  </p:childTnLst>
                                </p:cTn>
                              </p:par>
                              <p:par>
                                <p:cTn id="59" presetID="1" presetClass="exit" presetSubtype="0" fill="hold" nodeType="withEffect">
                                  <p:stCondLst>
                                    <p:cond delay="0"/>
                                  </p:stCondLst>
                                  <p:childTnLst>
                                    <p:set>
                                      <p:cBhvr>
                                        <p:cTn id="60" dur="1" fill="hold">
                                          <p:stCondLst>
                                            <p:cond delay="0"/>
                                          </p:stCondLst>
                                        </p:cTn>
                                        <p:tgtEl>
                                          <p:spTgt spid="10">
                                            <p:txEl>
                                              <p:pRg st="7" end="7"/>
                                            </p:txEl>
                                          </p:spTgt>
                                        </p:tgtEl>
                                        <p:attrNameLst>
                                          <p:attrName>style.visibility</p:attrName>
                                        </p:attrNameLst>
                                      </p:cBhvr>
                                      <p:to>
                                        <p:strVal val="hidden"/>
                                      </p:to>
                                    </p:set>
                                  </p:childTnLst>
                                </p:cTn>
                              </p:par>
                              <p:par>
                                <p:cTn id="61" presetID="1" presetClass="exit" presetSubtype="0" fill="hold" nodeType="withEffect">
                                  <p:stCondLst>
                                    <p:cond delay="0"/>
                                  </p:stCondLst>
                                  <p:childTnLst>
                                    <p:set>
                                      <p:cBhvr>
                                        <p:cTn id="62" dur="1" fill="hold">
                                          <p:stCondLst>
                                            <p:cond delay="0"/>
                                          </p:stCondLst>
                                        </p:cTn>
                                        <p:tgtEl>
                                          <p:spTgt spid="10">
                                            <p:txEl>
                                              <p:pRg st="8" end="8"/>
                                            </p:txEl>
                                          </p:spTgt>
                                        </p:tgtEl>
                                        <p:attrNameLst>
                                          <p:attrName>style.visibility</p:attrName>
                                        </p:attrNameLst>
                                      </p:cBhvr>
                                      <p:to>
                                        <p:strVal val="hidden"/>
                                      </p:to>
                                    </p:set>
                                  </p:childTnLst>
                                </p:cTn>
                              </p:par>
                              <p:par>
                                <p:cTn id="63" presetID="1" presetClass="exit" presetSubtype="0" fill="hold" nodeType="withEffect">
                                  <p:stCondLst>
                                    <p:cond delay="0"/>
                                  </p:stCondLst>
                                  <p:childTnLst>
                                    <p:set>
                                      <p:cBhvr>
                                        <p:cTn id="64" dur="1" fill="hold">
                                          <p:stCondLst>
                                            <p:cond delay="0"/>
                                          </p:stCondLst>
                                        </p:cTn>
                                        <p:tgtEl>
                                          <p:spTgt spid="10">
                                            <p:txEl>
                                              <p:pRg st="9" end="9"/>
                                            </p:txEl>
                                          </p:spTgt>
                                        </p:tgtEl>
                                        <p:attrNameLst>
                                          <p:attrName>style.visibility</p:attrName>
                                        </p:attrNameLst>
                                      </p:cBhvr>
                                      <p:to>
                                        <p:strVal val="hidden"/>
                                      </p:to>
                                    </p:set>
                                  </p:childTnLst>
                                </p:cTn>
                              </p:par>
                              <p:par>
                                <p:cTn id="65" presetID="1" presetClass="exit" presetSubtype="0" fill="hold" nodeType="withEffect">
                                  <p:stCondLst>
                                    <p:cond delay="0"/>
                                  </p:stCondLst>
                                  <p:childTnLst>
                                    <p:set>
                                      <p:cBhvr>
                                        <p:cTn id="66" dur="1" fill="hold">
                                          <p:stCondLst>
                                            <p:cond delay="0"/>
                                          </p:stCondLst>
                                        </p:cTn>
                                        <p:tgtEl>
                                          <p:spTgt spid="10">
                                            <p:txEl>
                                              <p:pRg st="10" end="10"/>
                                            </p:txEl>
                                          </p:spTgt>
                                        </p:tgtEl>
                                        <p:attrNameLst>
                                          <p:attrName>style.visibility</p:attrName>
                                        </p:attrNameLst>
                                      </p:cBhvr>
                                      <p:to>
                                        <p:strVal val="hidden"/>
                                      </p:to>
                                    </p:set>
                                  </p:childTnLst>
                                </p:cTn>
                              </p:par>
                              <p:par>
                                <p:cTn id="67" presetID="1" presetClass="exit" presetSubtype="0" fill="hold" nodeType="withEffect">
                                  <p:stCondLst>
                                    <p:cond delay="0"/>
                                  </p:stCondLst>
                                  <p:childTnLst>
                                    <p:set>
                                      <p:cBhvr>
                                        <p:cTn id="68" dur="1" fill="hold">
                                          <p:stCondLst>
                                            <p:cond delay="0"/>
                                          </p:stCondLst>
                                        </p:cTn>
                                        <p:tgtEl>
                                          <p:spTgt spid="10">
                                            <p:txEl>
                                              <p:pRg st="11" end="11"/>
                                            </p:txEl>
                                          </p:spTgt>
                                        </p:tgtEl>
                                        <p:attrNameLst>
                                          <p:attrName>style.visibility</p:attrName>
                                        </p:attrNameLst>
                                      </p:cBhvr>
                                      <p:to>
                                        <p:strVal val="hidden"/>
                                      </p:to>
                                    </p:set>
                                  </p:childTnLst>
                                </p:cTn>
                              </p:par>
                              <p:par>
                                <p:cTn id="69" presetID="1" presetClass="exit" presetSubtype="0" fill="hold" nodeType="withEffect">
                                  <p:stCondLst>
                                    <p:cond delay="0"/>
                                  </p:stCondLst>
                                  <p:childTnLst>
                                    <p:set>
                                      <p:cBhvr>
                                        <p:cTn id="70" dur="1" fill="hold">
                                          <p:stCondLst>
                                            <p:cond delay="0"/>
                                          </p:stCondLst>
                                        </p:cTn>
                                        <p:tgtEl>
                                          <p:spTgt spid="10">
                                            <p:txEl>
                                              <p:pRg st="12" end="12"/>
                                            </p:txEl>
                                          </p:spTgt>
                                        </p:tgtEl>
                                        <p:attrNameLst>
                                          <p:attrName>style.visibility</p:attrName>
                                        </p:attrNameLst>
                                      </p:cBhvr>
                                      <p:to>
                                        <p:strVal val="hidden"/>
                                      </p:to>
                                    </p:set>
                                  </p:childTnLst>
                                </p:cTn>
                              </p:par>
                              <p:par>
                                <p:cTn id="71" presetID="1" presetClass="exit" presetSubtype="0" fill="hold" nodeType="withEffect">
                                  <p:stCondLst>
                                    <p:cond delay="0"/>
                                  </p:stCondLst>
                                  <p:childTnLst>
                                    <p:set>
                                      <p:cBhvr>
                                        <p:cTn id="72" dur="1" fill="hold">
                                          <p:stCondLst>
                                            <p:cond delay="0"/>
                                          </p:stCondLst>
                                        </p:cTn>
                                        <p:tgtEl>
                                          <p:spTgt spid="10">
                                            <p:txEl>
                                              <p:pRg st="13" end="13"/>
                                            </p:txEl>
                                          </p:spTgt>
                                        </p:tgtEl>
                                        <p:attrNameLst>
                                          <p:attrName>style.visibility</p:attrName>
                                        </p:attrNameLst>
                                      </p:cBhvr>
                                      <p:to>
                                        <p:strVal val="hidden"/>
                                      </p:to>
                                    </p:set>
                                  </p:childTnLst>
                                </p:cTn>
                              </p:par>
                              <p:par>
                                <p:cTn id="73" presetID="1" presetClass="exit" presetSubtype="0" fill="hold" nodeType="withEffect">
                                  <p:stCondLst>
                                    <p:cond delay="0"/>
                                  </p:stCondLst>
                                  <p:childTnLst>
                                    <p:set>
                                      <p:cBhvr>
                                        <p:cTn id="74" dur="1" fill="hold">
                                          <p:stCondLst>
                                            <p:cond delay="0"/>
                                          </p:stCondLst>
                                        </p:cTn>
                                        <p:tgtEl>
                                          <p:spTgt spid="10">
                                            <p:txEl>
                                              <p:pRg st="14" end="14"/>
                                            </p:txEl>
                                          </p:spTgt>
                                        </p:tgtEl>
                                        <p:attrNameLst>
                                          <p:attrName>style.visibility</p:attrName>
                                        </p:attrNameLst>
                                      </p:cBhvr>
                                      <p:to>
                                        <p:strVal val="hidden"/>
                                      </p:to>
                                    </p:set>
                                  </p:childTnLst>
                                </p:cTn>
                              </p:par>
                              <p:par>
                                <p:cTn id="75" presetID="9" presetClass="entr" presetSubtype="0" fill="hold" nodeType="withEffect">
                                  <p:stCondLst>
                                    <p:cond delay="0"/>
                                  </p:stCondLst>
                                  <p:childTnLst>
                                    <p:set>
                                      <p:cBhvr>
                                        <p:cTn id="76" dur="1" fill="hold">
                                          <p:stCondLst>
                                            <p:cond delay="0"/>
                                          </p:stCondLst>
                                        </p:cTn>
                                        <p:tgtEl>
                                          <p:spTgt spid="4"/>
                                        </p:tgtEl>
                                        <p:attrNameLst>
                                          <p:attrName>style.visibility</p:attrName>
                                        </p:attrNameLst>
                                      </p:cBhvr>
                                      <p:to>
                                        <p:strVal val="visible"/>
                                      </p:to>
                                    </p:set>
                                    <p:animEffect transition="in" filter="dissolve">
                                      <p:cBhvr>
                                        <p:cTn id="7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57F60EB5-129C-6ACE-8756-40458FFB2C2C}"/>
              </a:ext>
            </a:extLst>
          </p:cNvPr>
          <p:cNvSpPr>
            <a:spLocks noGrp="1"/>
          </p:cNvSpPr>
          <p:nvPr>
            <p:ph type="ftr" sz="quarter" idx="11"/>
          </p:nvPr>
        </p:nvSpPr>
        <p:spPr/>
        <p:txBody>
          <a:bodyPr/>
          <a:lstStyle/>
          <a:p>
            <a:r>
              <a:rPr lang="en-US"/>
              <a:t>Boldy Sensitivity Study Mu2e</a:t>
            </a:r>
          </a:p>
        </p:txBody>
      </p:sp>
      <p:sp>
        <p:nvSpPr>
          <p:cNvPr id="5" name="Slide Number Placeholder 4">
            <a:extLst>
              <a:ext uri="{FF2B5EF4-FFF2-40B4-BE49-F238E27FC236}">
                <a16:creationId xmlns:a16="http://schemas.microsoft.com/office/drawing/2014/main" id="{436548BF-1B03-5ABC-F42B-442BB060B87B}"/>
              </a:ext>
            </a:extLst>
          </p:cNvPr>
          <p:cNvSpPr>
            <a:spLocks noGrp="1"/>
          </p:cNvSpPr>
          <p:nvPr>
            <p:ph type="sldNum" sz="quarter" idx="12"/>
          </p:nvPr>
        </p:nvSpPr>
        <p:spPr/>
        <p:txBody>
          <a:bodyPr/>
          <a:lstStyle/>
          <a:p>
            <a:fld id="{C0E0CB54-3DBF-E947-906E-85E307CF7971}" type="slidenum">
              <a:rPr lang="en-US" smtClean="0"/>
              <a:t>57</a:t>
            </a:fld>
            <a:endParaRPr lang="en-US"/>
          </a:p>
        </p:txBody>
      </p:sp>
      <p:pic>
        <p:nvPicPr>
          <p:cNvPr id="7" name="Picture 6">
            <a:extLst>
              <a:ext uri="{FF2B5EF4-FFF2-40B4-BE49-F238E27FC236}">
                <a16:creationId xmlns:a16="http://schemas.microsoft.com/office/drawing/2014/main" id="{25BBBDC4-7699-7F82-1619-0C7B0283D850}"/>
              </a:ext>
            </a:extLst>
          </p:cNvPr>
          <p:cNvPicPr>
            <a:picLocks noChangeAspect="1"/>
          </p:cNvPicPr>
          <p:nvPr/>
        </p:nvPicPr>
        <p:blipFill>
          <a:blip r:embed="rId2"/>
          <a:stretch>
            <a:fillRect/>
          </a:stretch>
        </p:blipFill>
        <p:spPr>
          <a:xfrm>
            <a:off x="152400" y="136525"/>
            <a:ext cx="7772400" cy="437265"/>
          </a:xfrm>
          <a:prstGeom prst="rect">
            <a:avLst/>
          </a:prstGeom>
        </p:spPr>
      </p:pic>
    </p:spTree>
    <p:extLst>
      <p:ext uri="{BB962C8B-B14F-4D97-AF65-F5344CB8AC3E}">
        <p14:creationId xmlns:p14="http://schemas.microsoft.com/office/powerpoint/2010/main" val="19576278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1654</TotalTime>
  <Words>5072</Words>
  <Application>Microsoft Macintosh PowerPoint</Application>
  <PresentationFormat>Widescreen</PresentationFormat>
  <Paragraphs>535</Paragraphs>
  <Slides>57</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57</vt:i4>
      </vt:variant>
    </vt:vector>
  </HeadingPairs>
  <TitlesOfParts>
    <vt:vector size="63" baseType="lpstr">
      <vt:lpstr>Aptos</vt:lpstr>
      <vt:lpstr>Aptos Display</vt:lpstr>
      <vt:lpstr>Arial</vt:lpstr>
      <vt:lpstr>Cambria Math</vt:lpstr>
      <vt:lpstr>Wingdings</vt:lpstr>
      <vt:lpstr>Office Theme</vt:lpstr>
      <vt:lpstr>A Sensitivity Study of the μ^- e^-→e^- e^- Process in the Mu2e Experiment</vt:lpstr>
      <vt:lpstr>PowerPoint Presentation</vt:lpstr>
      <vt:lpstr>Theoretical Motivation</vt:lpstr>
      <vt:lpstr>PowerPoint Presentation</vt:lpstr>
      <vt:lpstr>PowerPoint Presentation</vt:lpstr>
      <vt:lpstr>PowerPoint Presentation</vt:lpstr>
      <vt:lpstr>PowerPoint Presentation</vt:lpstr>
      <vt:lpstr>PowerPoint Presentation</vt:lpstr>
      <vt:lpstr>Current Limits Placed as Stated by Calibbi</vt:lpstr>
      <vt:lpstr>The Mu2e Experiment</vt:lpstr>
      <vt:lpstr>PowerPoint Presentation</vt:lpstr>
      <vt:lpstr>PowerPoint Presentation</vt:lpstr>
      <vt:lpstr>Relevant Backgrounds and Mitigation </vt:lpstr>
      <vt:lpstr>Event Identification and Signal</vt:lpstr>
      <vt:lpstr>PowerPoint Presentation</vt:lpstr>
      <vt:lpstr>PowerPoint Presentation</vt:lpstr>
      <vt:lpstr>PowerPoint Presentation</vt:lpstr>
      <vt:lpstr>PowerPoint Presentation</vt:lpstr>
      <vt:lpstr>Vertexing Algorithm</vt:lpstr>
      <vt:lpstr>Initial Investigation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Goals and Deliverables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lpstr>Backup Slides</vt:lpstr>
      <vt:lpstr>Geometric Vertexing Description</vt:lpstr>
      <vt:lpstr>Muon-Lifetime Considerations</vt:lpstr>
      <vt:lpstr>Back-of-Envelope Wall Clock Hours Prediction (Pt. 1)</vt:lpstr>
      <vt:lpstr>Back-of-Envelope Wall Clock Hours Prediction (Pt. 2)</vt:lpstr>
      <vt:lpstr>PowerPoint Presentation</vt:lpstr>
      <vt:lpstr>Half-Field DS Field Designation</vt:lpstr>
      <vt:lpstr>Mu2e Experiment Background Slides</vt:lpstr>
      <vt:lpstr>Proton Beam</vt:lpstr>
      <vt:lpstr>The Mu2e Experiment</vt:lpstr>
      <vt:lpstr>Production Target and Solenoid</vt:lpstr>
      <vt:lpstr>The Mu2e Experiment</vt:lpstr>
      <vt:lpstr>Transport Solenoid</vt:lpstr>
      <vt:lpstr>The Mu2e Experiment</vt:lpstr>
      <vt:lpstr>Stopping Target</vt:lpstr>
      <vt:lpstr>The Mu2e Experiment</vt:lpstr>
      <vt:lpstr>Tracker</vt:lpstr>
      <vt:lpstr>The Mu2e Experiment</vt:lpstr>
      <vt:lpstr>Calorimeter</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Boldy, Andrew</dc:creator>
  <cp:lastModifiedBy>Boldy, Andrew</cp:lastModifiedBy>
  <cp:revision>6</cp:revision>
  <dcterms:created xsi:type="dcterms:W3CDTF">2026-09-30T14:38:07Z</dcterms:created>
  <dcterms:modified xsi:type="dcterms:W3CDTF">2026-10-07T19:02:38Z</dcterms:modified>
</cp:coreProperties>
</file>