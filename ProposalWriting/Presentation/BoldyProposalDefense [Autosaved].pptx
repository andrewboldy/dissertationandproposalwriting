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9" r:id="rId3"/>
    <p:sldId id="257" r:id="rId4"/>
    <p:sldId id="264" r:id="rId5"/>
    <p:sldId id="265" r:id="rId6"/>
    <p:sldId id="266" r:id="rId7"/>
    <p:sldId id="258" r:id="rId8"/>
    <p:sldId id="285" r:id="rId9"/>
    <p:sldId id="286" r:id="rId10"/>
    <p:sldId id="287" r:id="rId11"/>
    <p:sldId id="260" r:id="rId12"/>
    <p:sldId id="267" r:id="rId13"/>
    <p:sldId id="269" r:id="rId14"/>
    <p:sldId id="268" r:id="rId15"/>
    <p:sldId id="297" r:id="rId16"/>
    <p:sldId id="292" r:id="rId17"/>
    <p:sldId id="261" r:id="rId18"/>
    <p:sldId id="270" r:id="rId19"/>
    <p:sldId id="274" r:id="rId20"/>
    <p:sldId id="271" r:id="rId21"/>
    <p:sldId id="275" r:id="rId22"/>
    <p:sldId id="272" r:id="rId23"/>
    <p:sldId id="276" r:id="rId24"/>
    <p:sldId id="273" r:id="rId25"/>
    <p:sldId id="288" r:id="rId26"/>
    <p:sldId id="262" r:id="rId27"/>
    <p:sldId id="277" r:id="rId28"/>
    <p:sldId id="278" r:id="rId29"/>
    <p:sldId id="279" r:id="rId30"/>
    <p:sldId id="280" r:id="rId31"/>
    <p:sldId id="281" r:id="rId32"/>
    <p:sldId id="282" r:id="rId33"/>
    <p:sldId id="296" r:id="rId34"/>
    <p:sldId id="289" r:id="rId35"/>
    <p:sldId id="263" r:id="rId36"/>
    <p:sldId id="283" r:id="rId37"/>
    <p:sldId id="284" r:id="rId38"/>
    <p:sldId id="290" r:id="rId39"/>
    <p:sldId id="295" r:id="rId40"/>
    <p:sldId id="293" r:id="rId41"/>
    <p:sldId id="291" r:id="rId42"/>
    <p:sldId id="294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82"/>
    <p:restoredTop sz="94741"/>
  </p:normalViewPr>
  <p:slideViewPr>
    <p:cSldViewPr snapToGrid="0">
      <p:cViewPr varScale="1">
        <p:scale>
          <a:sx n="196" d="100"/>
          <a:sy n="196" d="100"/>
        </p:scale>
        <p:origin x="231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16.9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9 24575,'0'5'0,"0"1"0,0-2 0,0 1 0,0-1 0,0-1 0,0 1 0,0 0 0,1 0 0,-1-2 0,1 1 0,-1-1 0,0 1 0,0 1 0,0-2 0,0 2 0,0-2 0,0 0 0,0 0 0,0 0 0,0 0 0,0 0 0,0 0 0,0 0 0,0 0 0,0 0 0,0 1 0,0-1 0,0 0 0,0-2 0,0-2 0,-1-2 0,0-2 0,1 0 0,0 0 0,0 1 0,-1-1 0,0 3 0,0-1 0,1 0 0,-1 0 0,0 1 0,1 1 0,-1 0 0,0 0 0,1 0 0,0 0 0,0-2 0,0 0 0,-1-1 0,1 0 0,-1 0 0,1 1 0,0 1 0,0 2 0,0 4 0,0 0 0,0 3 0,0-2 0,1 3 0,-1-2 0,2 2 0,-1-2 0,1 0 0,-1-1 0,1-1 0,-1-1 0,0 0 0,0 0 0,-1-1 0,1 1 0,-1 0 0,1-1 0,-1 1 0,1-1 0,0 1 0,0 0 0,-1 0 0,1 0 0,-1 0 0,1 1 0,-1-1 0,1 0 0,-1 0 0,1 0 0,-1 1 0,1 0 0,-1-1 0,1 1 0,0-1 0,-1 0 0,0 1 0,0-1 0,0 0 0,0 0 0,0 0 0,0 0 0,0 0 0,0 0 0,0-1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6.839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1 24575,'0'6'0,"0"0"0,0 0 0,0 1 0,1 2 0,1 1 0,0 1 0,2 1 0,-1-1 0,0 0 0,-2-3 0,1-2 0,-2-2 0,1 0 0,0-1 0,0 2 0,0 0 0,0-1 0,-1-1 0,1 0 0,0-2 0,0 0 0,-1-1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0:04:49.347"/>
    </inkml:context>
    <inkml:brush xml:id="br0">
      <inkml:brushProperty name="width" value="0.035" units="cm"/>
      <inkml:brushProperty name="height" value="0.035" units="cm"/>
      <inkml:brushProperty name="color" value="#FFFFFF"/>
    </inkml:brush>
  </inkml:definitions>
  <inkml:trace contextRef="#ctx0" brushRef="#br0">0 0 24575,'0'10'0,"1"0"0,0 0 0,3 3 0,-1-5 0,5 5 0,-1-1 0,1 0 0,-1-1 0,-3-5 0,-1-2 0,-2 0 0,0-2 0,0 0 0,0 1 0,-1-1 0,1-1 0,-1 1 0,1 0 0,-1 1 0,0 1 0,0-1 0,0 0 0,0 0 0,0-1 0,0 2 0,1-1 0,0 1 0,-1 1 0,0-1 0,0 0 0,0-2 0,0-1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28.548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0 0 24575,'0'18'0,"2"-2"0,2 8 0,0-11 0,2 4 0,-2-9 0,0 0 0,-1 0 0,1 0 0,0-1 0,-1 2 0,1 1 0,0 3 0,1-1 0,-1 1 0,0-2 0,1 1 0,-1-2 0,0-1 0,-1-2 0,0-1 0,1 0 0,1 2 0,1 0 0,-1 0 0,0-1 0,-2-1 0,0-3 0,-2 1 0,0-1 0,1 0 0,0 1 0,0-1 0,0 0 0,1 1 0,-2-1 0,0 0 0,1 0 0,0 1 0,0 0 0,1 1 0,-1-2 0,-1-1 0,-1-1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3:30.777"/>
    </inkml:context>
    <inkml:brush xml:id="br0">
      <inkml:brushProperty name="width" value="0.05" units="cm"/>
      <inkml:brushProperty name="height" value="0.05" units="cm"/>
      <inkml:brushProperty name="color" value="#004F8B"/>
    </inkml:brush>
  </inkml:definitions>
  <inkml:trace contextRef="#ctx0" brushRef="#br0">220 1 24575,'-7'6'0,"-2"2"0,-7 9 0,2-2 0,-4 6 0,4-4 0,-3 4 0,1 2 0,-1 2 0,1-2 0,1-1 0,4-5 0,3-4 0,1-1 0,3-5 0,-1 2 0,2-3 0,0 0 0,0 0 0,0 0 0,0-1 0,1-1 0,0 0 0,1-1 0,-1 1 0,1-2 0,0 0 0,0 1 0,0-2 0,1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29.938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 0 24575,'11'19'0,"-1"-2"0,-4-9 0,0 0 0,0 0 0,1 0 0,-1 1 0,1 1 0,-1-1 0,0 0 0,0-2 0,-2-2 0,0-1 0,0 0 0,0 1 0,2 1 0,0 0 0,1 0 0,0 1 0,1 1 0,-1-1 0,-1 0 0,0-1 0,-2 0 0,0-2 0,-1 0 0,0-1 0,-2-1 0,1-1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13T01:55:32.354"/>
    </inkml:context>
    <inkml:brush xml:id="br0">
      <inkml:brushProperty name="width" value="0.05" units="cm"/>
      <inkml:brushProperty name="height" value="0.05" units="cm"/>
      <inkml:brushProperty name="color" value="#E71225"/>
    </inkml:brush>
  </inkml:definitions>
  <inkml:trace contextRef="#ctx0" brushRef="#br0">142 0 24575,'0'13'0,"0"4"0,-7 8 0,3-6 0,-6 2 0,6-13 0,-1 0 0,1-2 0,0 2 0,1 0 0,0-1 0,0-1 0,0 0 0,0 0 0,1-1 0,0-1 0,0 0 0,-1 1 0,-1 1 0,0 1 0,-2 2 0,0 0 0,-1-2 0,2-2 0,1-2 0,0-2 0,0 2 0,0-1 0,0-1 0,-1 1 0,0-2 0,0 2 0,1-1 0,0 1 0,2-1 0,-1-1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E120CA-99AD-3943-B60B-43DCF85265B8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A0B777-3965-FF47-A281-DBF5FB877E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062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ADA29-8318-D603-C004-805D298F99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2A94F2-EC83-4C3F-DCB0-100AD66339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31A2A0-8D99-3250-8423-FE121BE79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05E061-EB09-174B-A0D5-FC5974A2AFFB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EF34E-7A6C-AA45-3955-F58A9CB51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1AE82-0854-D175-78E4-7539A0CBC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412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A1545-32A9-92AE-8C11-B53C28832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18CC5-0922-C12A-EC37-B5A8F49F12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778F3-70D8-98D5-CD36-548AD17B2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44F94-749A-F843-B6E1-57F25A03E432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6CA82D-ED6B-97B2-FF50-206219D2B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1FD3E-17D8-54B5-0BD4-7D8692DD0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72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BB855-F25B-400C-7D5F-8999C8F90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629FF-0C01-B418-3274-696BE94CB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C9E23A-4E3D-F2F6-8F39-20E5EBF8C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3C7A3E-56A5-C84D-976C-B35F3FE89F79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284ECD-DE36-80D2-6F00-F7BF71298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B1E7C-6380-0684-385D-03DF96DAE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50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CE43F-1CDC-9EE8-8197-3AF30A2AA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28F771-AA18-152C-86C0-1C811F573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3D804A-BB03-1F77-8EAC-8CF5258F4B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C417A-09EF-BB79-76F5-BF1F1CF27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B52015-7C28-484D-B145-D28E2A08F900}" type="datetime1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81ECD-3BB8-17D5-565B-FA6D33C95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326F01-EF2A-0337-6EFB-1314DC45C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633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58B6-FDD6-8EDB-FF38-A3CDB7632D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8457C-29F1-E8B4-6CB4-662BEBF38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A20BFC-CE81-0B82-5A50-D80BAD501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4CD25A-B1EF-B90E-DEB9-B4108F9E43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1B69B2-2D6B-FA04-892B-9AC82BC8F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D27A68-ECD1-D102-8FCE-CA188D178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991B3-1372-E242-8B38-E6436435C338}" type="datetime1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AC61A33-2E33-2E18-5A1F-3D2E95070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463CCE-4474-633D-865F-B028B40EA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174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9070C-76D2-B19E-7C9A-995DA816E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740FC2-1268-D46B-4D32-92B7F5D9A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EF1DF-064D-3A44-9645-D74AED0CCD60}" type="datetime1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B86468-5152-1449-7F77-9048D686C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A93AE3-896E-250D-6C2C-150223120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823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8AAAA5-0822-1283-0082-D8E3150FD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2D0E8-747A-794C-8F8A-E949892A428B}" type="datetime1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A32AF4E-3556-4F00-DD61-2AC81EE22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C4183-63DD-779F-6A3F-299DB1D8D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244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BB275-0A8F-E65C-081D-4DF0F555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8DBB0-C3D2-9177-E075-377E767F7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B20C18-FF8F-0C9A-8AA2-5A126ABFE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DBDA23-993B-4DF8-4934-DD3BBEF8D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69CB82-7A51-6E4C-81E6-424375AAB724}" type="datetime1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1420B8-2B43-3A5C-8934-7D7B64469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9884AC-DBA9-11A1-5518-26454E5A5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597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FF0E1-1502-CF12-D7A4-AA697564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1E79F3-9E9A-3747-5CA7-7185A4023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00B97D-AF0C-3B9C-2470-6DC0464CE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2D5494-E5EC-0C28-39BA-C3E375415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931E28-5FD3-854B-AAE6-645D4F1C2615}" type="datetime1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17C0F3-E093-D65F-D919-ACBD22806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03B56-8556-1770-EB25-B1B8F5904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947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F4E46-F0AB-A681-8740-BC699603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77255F-086B-6814-3097-EE9AE078FE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71FCB7-85C2-E789-7804-C3212CBA0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252E1-B88E-3342-B0A7-CCAE0CA75BBB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C080F1-DCEE-028C-8BCD-A61DBEBF1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ACD8E-E67A-21F3-1966-28066381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89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B89AF7-ADF5-FF00-7906-AE0C3BF7B5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F2BA14-D59C-CEE6-6CDC-F3B8415F1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281CF-D204-4125-D555-B6A3DF4D0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CE6763-50BE-5B49-B87C-4D19468B7C96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8A5483-71F5-7BE0-D7A1-5B94D55CC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0DAAD7-3A7E-9795-99F8-AFED8D624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376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65E2F0-FE44-AEF6-4BFF-76387632B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AAB237-5922-E195-C483-96835DC317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7F3D14-F1C7-4D21-886C-479CEA2091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6B83F-07D0-CF48-A32E-56605F2D4971}" type="datetime1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4CCB5-7F79-D7A1-91BC-CB6F888360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930F-328B-7149-6776-603353577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0CB54-3DBF-E947-906E-85E307CF79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974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7.xml"/><Relationship Id="rId3" Type="http://schemas.openxmlformats.org/officeDocument/2006/relationships/image" Target="../media/image80.png"/><Relationship Id="rId21" Type="http://schemas.openxmlformats.org/officeDocument/2006/relationships/image" Target="../media/image19.png"/><Relationship Id="rId7" Type="http://schemas.openxmlformats.org/officeDocument/2006/relationships/image" Target="../media/image10.png"/><Relationship Id="rId12" Type="http://schemas.openxmlformats.org/officeDocument/2006/relationships/customXml" Target="../ink/ink4.xml"/><Relationship Id="rId17" Type="http://schemas.openxmlformats.org/officeDocument/2006/relationships/image" Target="../media/image16.png"/><Relationship Id="rId2" Type="http://schemas.openxmlformats.org/officeDocument/2006/relationships/image" Target="../media/image70.png"/><Relationship Id="rId16" Type="http://schemas.openxmlformats.org/officeDocument/2006/relationships/customXml" Target="../ink/ink6.xml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24" Type="http://schemas.openxmlformats.org/officeDocument/2006/relationships/image" Target="../media/image22.png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23" Type="http://schemas.openxmlformats.org/officeDocument/2006/relationships/image" Target="../media/image21.png"/><Relationship Id="rId10" Type="http://schemas.openxmlformats.org/officeDocument/2006/relationships/image" Target="../media/image12.png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5.xml"/><Relationship Id="rId22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</p:spPr>
            <p:txBody>
              <a:bodyPr>
                <a:normAutofit/>
              </a:bodyPr>
              <a:lstStyle/>
              <a:p>
                <a:r>
                  <a:rPr lang="en-US" sz="4400" dirty="0"/>
                  <a:t>A Sensitivity Study of 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4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4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4400" dirty="0"/>
                  <a:t> Process in the Mu2e Experiment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2B63DFC-B388-D9E6-02A1-3DE95E8C2A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524000" y="609998"/>
                <a:ext cx="9144000" cy="1400312"/>
              </a:xfrm>
              <a:blipFill>
                <a:blip r:embed="rId2"/>
                <a:stretch>
                  <a:fillRect l="-2635" t="-7207" b="-19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DCE78075-FA41-9743-1AAA-482CF74521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995558"/>
            <a:ext cx="9144000" cy="1655762"/>
          </a:xfrm>
        </p:spPr>
        <p:txBody>
          <a:bodyPr/>
          <a:lstStyle/>
          <a:p>
            <a:r>
              <a:rPr lang="en-US" dirty="0"/>
              <a:t>Andrew Boldy</a:t>
            </a:r>
          </a:p>
          <a:p>
            <a:r>
              <a:rPr lang="en-US" dirty="0"/>
              <a:t>University of South Carolina</a:t>
            </a:r>
          </a:p>
          <a:p>
            <a:r>
              <a:rPr lang="en-US" dirty="0"/>
              <a:t>October 8</a:t>
            </a:r>
            <a:r>
              <a:rPr lang="en-US" baseline="30000" dirty="0"/>
              <a:t>th</a:t>
            </a:r>
            <a:r>
              <a:rPr lang="en-US" dirty="0"/>
              <a:t>, 2026</a:t>
            </a:r>
          </a:p>
        </p:txBody>
      </p:sp>
      <p:pic>
        <p:nvPicPr>
          <p:cNvPr id="4" name="Picture 3" descr="A diagram of a sphere with arrows&#10;&#10;AI-generated content may be incorrect.">
            <a:extLst>
              <a:ext uri="{FF2B5EF4-FFF2-40B4-BE49-F238E27FC236}">
                <a16:creationId xmlns:a16="http://schemas.microsoft.com/office/drawing/2014/main" id="{B8237D6A-5730-CB52-B6FF-A8B91ECEC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2735" y="4429919"/>
            <a:ext cx="3416300" cy="2108200"/>
          </a:xfrm>
          <a:prstGeom prst="rect">
            <a:avLst/>
          </a:prstGeom>
        </p:spPr>
      </p:pic>
      <p:pic>
        <p:nvPicPr>
          <p:cNvPr id="5" name="Picture 4" descr="A black background with red text&#10;&#10;AI-generated content may be incorrect.">
            <a:extLst>
              <a:ext uri="{FF2B5EF4-FFF2-40B4-BE49-F238E27FC236}">
                <a16:creationId xmlns:a16="http://schemas.microsoft.com/office/drawing/2014/main" id="{53E7FD38-B46A-5A15-CE39-05E1609BC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965" y="5223271"/>
            <a:ext cx="4791700" cy="1024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27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A332-8AD9-D920-5DDD-DB6A3CFB3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Motivation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D99F40-0606-45BC-B3FF-4A6F5EFB4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599A0-AD5C-762A-1521-8A1BBCA31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14B3D-D399-16FE-F903-639EFF7B7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221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185E4-2D81-D0B6-1538-D0309E1C74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4"/>
            <a:ext cx="12192000" cy="575242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56C43-9187-1D95-38CE-90813B843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C6CBE-50E4-BD42-75A7-63B22C871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CC302B8-E003-5FBF-8535-6F8D3B2E6A2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The Standard Model of Particle Physics</a:t>
            </a:r>
          </a:p>
        </p:txBody>
      </p:sp>
    </p:spTree>
    <p:extLst>
      <p:ext uri="{BB962C8B-B14F-4D97-AF65-F5344CB8AC3E}">
        <p14:creationId xmlns:p14="http://schemas.microsoft.com/office/powerpoint/2010/main" val="3848536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AB05C-D1ED-58F5-BF6C-BFA57B0D0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0BACF-2A07-8166-205D-A9011A259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171392-E5AC-CE2F-5495-5F8534D2E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9F52FC-1594-13EE-16BA-2E65C360A67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Flavor, Leptons, and Charged Lepton Flavor Violation</a:t>
            </a:r>
          </a:p>
        </p:txBody>
      </p:sp>
    </p:spTree>
    <p:extLst>
      <p:ext uri="{BB962C8B-B14F-4D97-AF65-F5344CB8AC3E}">
        <p14:creationId xmlns:p14="http://schemas.microsoft.com/office/powerpoint/2010/main" val="669870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DAC76081-EEC6-66E5-6E2E-142868FA2D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9050" y="2794794"/>
            <a:ext cx="9613900" cy="2413000"/>
          </a:xfr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4D8BF8-E238-E659-656D-A7C11364F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7C9535-E36D-A180-D48C-5426F9A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1B63A3F8-35E4-0EB8-CA33-64A1F6989F6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0"/>
                <a:ext cx="10515600" cy="596630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75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2800" dirty="0">
                    <a:solidFill>
                      <a:srgbClr val="C00000"/>
                    </a:solidFill>
                  </a:rPr>
                  <a:t>The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28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C00000"/>
                    </a:solidFill>
                  </a:rPr>
                  <a:t> Process </a:t>
                </a:r>
              </a:p>
            </p:txBody>
          </p:sp>
        </mc:Choice>
        <mc:Fallback>
          <p:sp>
            <p:nvSpPr>
              <p:cNvPr id="3" name="Title 1">
                <a:extLst>
                  <a:ext uri="{FF2B5EF4-FFF2-40B4-BE49-F238E27FC236}">
                    <a16:creationId xmlns:a16="http://schemas.microsoft.com/office/drawing/2014/main" id="{1B63A3F8-35E4-0EB8-CA33-64A1F6989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0515600" cy="596630"/>
              </a:xfrm>
              <a:prstGeom prst="rect">
                <a:avLst/>
              </a:prstGeom>
              <a:blipFill>
                <a:blip r:embed="rId3"/>
                <a:stretch>
                  <a:fillRect l="-1206" t="-6250" b="-145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7345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3CAA-16E5-D7E9-22CB-0B4DC863D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3"/>
            <a:ext cx="12192000" cy="599571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FEE70D-3C0A-17C0-01F3-A88D794E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DD0A70-BD65-6179-740B-62B7B709C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6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9FF6A48-4823-EAF6-CB6F-70A68BF119E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Experimental Tests of CLFV Models and the Future</a:t>
            </a:r>
          </a:p>
        </p:txBody>
      </p:sp>
    </p:spTree>
    <p:extLst>
      <p:ext uri="{BB962C8B-B14F-4D97-AF65-F5344CB8AC3E}">
        <p14:creationId xmlns:p14="http://schemas.microsoft.com/office/powerpoint/2010/main" val="3985553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31C8-0D61-FAC3-E34D-35B6966BB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Mu2e Experiment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E8180-E664-79B1-AC71-9C5770AD7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0378D-63BD-7C4B-A77A-B3EEC2B28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A0451-3DAD-69CF-AC45-A9C1AFB59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256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137A-485D-0274-8DC0-9D6BB96A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Experimental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7986AA-BB7E-80A3-D709-9E275171F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Detection of the coherent conversion of </a:t>
            </a:r>
          </a:p>
          <a:p>
            <a:r>
              <a:rPr lang="en-US" dirty="0"/>
              <a:t>K-shell conversion</a:t>
            </a:r>
          </a:p>
          <a:p>
            <a:r>
              <a:rPr lang="en-US" dirty="0"/>
              <a:t>Monoenergetic (104.973 MeV) single electron signature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1230D72-72D5-3941-CD0B-1865EB1E4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808" y="1881513"/>
            <a:ext cx="1991541" cy="31749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A811A3-D9FD-DD4F-0F3B-68964BD9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1E8DE2-014F-63F7-AB4F-A3B6F3963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8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DE701D7-7C9B-664B-8E22-BF0C3979243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Primary Experimental Goals of the Mu2e Experiment</a:t>
            </a:r>
          </a:p>
        </p:txBody>
      </p:sp>
    </p:spTree>
    <p:extLst>
      <p:ext uri="{BB962C8B-B14F-4D97-AF65-F5344CB8AC3E}">
        <p14:creationId xmlns:p14="http://schemas.microsoft.com/office/powerpoint/2010/main" val="718307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38086-5BCE-5D12-CE7E-196C58130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F68DE-F940-1E30-B16B-4A91096C4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Production</a:t>
            </a:r>
          </a:p>
          <a:p>
            <a:r>
              <a:rPr lang="en-US" dirty="0"/>
              <a:t>Transport</a:t>
            </a:r>
          </a:p>
          <a:p>
            <a:r>
              <a:rPr lang="en-US" dirty="0"/>
              <a:t>Detector</a:t>
            </a:r>
          </a:p>
          <a:p>
            <a:pPr lvl="1"/>
            <a:r>
              <a:rPr lang="en-US" dirty="0"/>
              <a:t>Tracker</a:t>
            </a:r>
          </a:p>
          <a:p>
            <a:pPr lvl="1"/>
            <a:r>
              <a:rPr lang="en-US" dirty="0"/>
              <a:t>Calorimeter</a:t>
            </a:r>
          </a:p>
          <a:p>
            <a:pPr lvl="1"/>
            <a:r>
              <a:rPr lang="en-US" dirty="0"/>
              <a:t>Detector Solenoid</a:t>
            </a:r>
          </a:p>
          <a:p>
            <a:r>
              <a:rPr lang="en-US" dirty="0"/>
              <a:t>Computing</a:t>
            </a:r>
          </a:p>
          <a:p>
            <a:pPr lvl="1"/>
            <a:r>
              <a:rPr lang="en-US" dirty="0"/>
              <a:t>Trigger</a:t>
            </a:r>
          </a:p>
          <a:p>
            <a:pPr lvl="1"/>
            <a:r>
              <a:rPr lang="en-US" dirty="0"/>
              <a:t>DAQ and DQM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14C16F-256D-43FC-74CC-ACCC7641C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8E0276-1DD3-A3CD-7377-30DD6DE7D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BBD662-1FFB-2DE5-3313-B60C630AB3F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Mu2e Experiment Design</a:t>
            </a:r>
          </a:p>
        </p:txBody>
      </p:sp>
    </p:spTree>
    <p:extLst>
      <p:ext uri="{BB962C8B-B14F-4D97-AF65-F5344CB8AC3E}">
        <p14:creationId xmlns:p14="http://schemas.microsoft.com/office/powerpoint/2010/main" val="108527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D7683-6D47-BCC4-B9B0-A0A36F4CB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Relevant Backgrounds and Mitigation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2567C-C18A-9A04-B0E1-F7AAD3099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Muon Decay-in-Orbit</a:t>
            </a:r>
          </a:p>
          <a:p>
            <a:r>
              <a:rPr lang="en-US" dirty="0"/>
              <a:t>Radiative Muon Capture (RMC)</a:t>
            </a:r>
          </a:p>
          <a:p>
            <a:r>
              <a:rPr lang="en-US" dirty="0"/>
              <a:t>Radiative Pion Capture (RPC)</a:t>
            </a:r>
          </a:p>
          <a:p>
            <a:r>
              <a:rPr lang="en-US" dirty="0"/>
              <a:t>Electromagnetic Production Processes</a:t>
            </a:r>
          </a:p>
          <a:p>
            <a:r>
              <a:rPr lang="en-US" dirty="0"/>
              <a:t>Beam Flash</a:t>
            </a:r>
          </a:p>
          <a:p>
            <a:r>
              <a:rPr lang="en-US" dirty="0"/>
              <a:t>Cosmic Ray Muons and Byproducts</a:t>
            </a:r>
          </a:p>
          <a:p>
            <a:r>
              <a:rPr lang="en-US" dirty="0"/>
              <a:t>Reconstruction Error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790F6C-CC2F-1A6E-8CE5-D3E3540FB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8C638-A98D-1870-B400-BD16FF271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AF30B85-8622-FF04-2703-3943E8517E7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Relevant Backgrounds and Mitigation Techniques</a:t>
            </a:r>
          </a:p>
        </p:txBody>
      </p:sp>
    </p:spTree>
    <p:extLst>
      <p:ext uri="{BB962C8B-B14F-4D97-AF65-F5344CB8AC3E}">
        <p14:creationId xmlns:p14="http://schemas.microsoft.com/office/powerpoint/2010/main" val="386529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D05EE-5BCF-1E62-4B49-C064E4A51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Event Identification and Signal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9F4BFB-56E8-774D-5516-22DB6A662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4B29F7-58E5-025E-5FDE-D1010304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2385C-1898-9FB8-690C-00E0D306D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7971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7F49C-740A-1627-71C5-04F73EC3A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            Process Signal Characteristics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Two electron tracks reconstructed</a:t>
                </a:r>
              </a:p>
              <a:p>
                <a:r>
                  <a:rPr lang="en-US" dirty="0"/>
                  <a:t>Invariant energy of the final state should be roughly equal to the mass of the muon</a:t>
                </a:r>
              </a:p>
              <a:p>
                <a:pPr lvl="1"/>
                <a:r>
                  <a:rPr lang="en-US" dirty="0"/>
                  <a:t>Single electron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52.18</m:t>
                    </m:r>
                  </m:oMath>
                </a14:m>
                <a:r>
                  <a:rPr lang="en-US" dirty="0"/>
                  <a:t> MeV (inside peak of Michel spectrum)</a:t>
                </a:r>
              </a:p>
              <a:p>
                <a:r>
                  <a:rPr lang="en-US" dirty="0"/>
                  <a:t>Approximately back-to-back distribution (opening angle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≈180°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Common origin position and time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804ECB-C4A6-72A2-F12A-F24CB69D7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8409CA-E789-935D-E265-27ED72C52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223A33-DB1A-BC63-1827-24224DB4D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2762A-2239-A2F0-DF82-CA61FB7C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365" y="831056"/>
            <a:ext cx="2794000" cy="3937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F4D19819-A4B6-C926-3895-93903E2D5D1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0"/>
                <a:ext cx="10515600" cy="57068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75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28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C00000"/>
                    </a:solidFill>
                  </a:rPr>
                  <a:t> Process Signal Characteristics</a:t>
                </a:r>
              </a:p>
            </p:txBody>
          </p:sp>
        </mc:Choice>
        <mc:Fallback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F4D19819-A4B6-C926-3895-93903E2D5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0515600" cy="570689"/>
              </a:xfrm>
              <a:prstGeom prst="rect">
                <a:avLst/>
              </a:prstGeom>
              <a:blipFill>
                <a:blip r:embed="rId4"/>
                <a:stretch>
                  <a:fillRect l="-241" t="-8696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6390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9223B-E7F6-BC0F-6932-C4216FD59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EC396-957A-9948-E447-80C5532EC5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Half strength magnetic field in the DS solenoid</a:t>
            </a:r>
          </a:p>
          <a:p>
            <a:r>
              <a:rPr lang="en-US" dirty="0"/>
              <a:t>Reduction in proton beam power (reduction of POTs)</a:t>
            </a:r>
          </a:p>
          <a:p>
            <a:r>
              <a:rPr lang="en-US" dirty="0"/>
              <a:t>Multi-track trigger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DA664-D779-E7A0-EDB9-037F42478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6FF232-F424-E5D7-321D-747FBE6C93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13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792DCE-6A75-7027-6A53-3DF0F89D04F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Experimental Configuration Requirements</a:t>
            </a:r>
          </a:p>
        </p:txBody>
      </p:sp>
    </p:spTree>
    <p:extLst>
      <p:ext uri="{BB962C8B-B14F-4D97-AF65-F5344CB8AC3E}">
        <p14:creationId xmlns:p14="http://schemas.microsoft.com/office/powerpoint/2010/main" val="25069876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ABB6-7B21-3D6E-E425-886468933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82BC7-D665-4282-10FB-7CD5404EA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1B301-098C-B82B-44C0-C13B4F081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D17FC-75C4-917B-3FEE-4954D6147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00B18C0-31B9-1095-3934-6600F13D2C5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Vertexing Procedure for Finding a Common Origin Position (Part 1)</a:t>
            </a:r>
          </a:p>
        </p:txBody>
      </p:sp>
    </p:spTree>
    <p:extLst>
      <p:ext uri="{BB962C8B-B14F-4D97-AF65-F5344CB8AC3E}">
        <p14:creationId xmlns:p14="http://schemas.microsoft.com/office/powerpoint/2010/main" val="2599709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0ED4D-C33E-E5F8-CA97-18BC36576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24542"/>
            <a:ext cx="12192000" cy="593180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14EE09-88E0-1DF0-128C-9477717F7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6E375-625A-8CD1-030C-51B6D698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15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483BED-3804-C48B-82FB-BA93C95D4AF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Vertexing Procedure for Finding a Common Origin Position (Part 2)</a:t>
            </a:r>
          </a:p>
        </p:txBody>
      </p:sp>
    </p:spTree>
    <p:extLst>
      <p:ext uri="{BB962C8B-B14F-4D97-AF65-F5344CB8AC3E}">
        <p14:creationId xmlns:p14="http://schemas.microsoft.com/office/powerpoint/2010/main" val="21639410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87E71-FBD5-B525-1899-66EE901D8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700" y="48364"/>
            <a:ext cx="10515600" cy="513023"/>
          </a:xfrm>
          <a:ln>
            <a:solidFill>
              <a:srgbClr val="C00000"/>
            </a:solidFill>
          </a:ln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Vertexing Algorithm</a:t>
            </a:r>
          </a:p>
        </p:txBody>
      </p:sp>
      <p:sp>
        <p:nvSpPr>
          <p:cNvPr id="4" name="Can 3">
            <a:extLst>
              <a:ext uri="{FF2B5EF4-FFF2-40B4-BE49-F238E27FC236}">
                <a16:creationId xmlns:a16="http://schemas.microsoft.com/office/drawing/2014/main" id="{9E84DA9A-039C-A2A8-2EFA-B9136A26A348}"/>
              </a:ext>
            </a:extLst>
          </p:cNvPr>
          <p:cNvSpPr/>
          <p:nvPr/>
        </p:nvSpPr>
        <p:spPr>
          <a:xfrm rot="5400000">
            <a:off x="3771900" y="2534444"/>
            <a:ext cx="4013200" cy="2933700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c 6">
            <a:extLst>
              <a:ext uri="{FF2B5EF4-FFF2-40B4-BE49-F238E27FC236}">
                <a16:creationId xmlns:a16="http://schemas.microsoft.com/office/drawing/2014/main" id="{28CDBAC7-D533-1382-1254-D72B5B365496}"/>
              </a:ext>
            </a:extLst>
          </p:cNvPr>
          <p:cNvSpPr/>
          <p:nvPr/>
        </p:nvSpPr>
        <p:spPr>
          <a:xfrm>
            <a:off x="4514852" y="1994694"/>
            <a:ext cx="304800" cy="4013200"/>
          </a:xfrm>
          <a:prstGeom prst="arc">
            <a:avLst>
              <a:gd name="adj1" fmla="val 16200000"/>
              <a:gd name="adj2" fmla="val 2699959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901078C-6DFA-D45F-599B-E646AA75C693}"/>
              </a:ext>
            </a:extLst>
          </p:cNvPr>
          <p:cNvSpPr/>
          <p:nvPr/>
        </p:nvSpPr>
        <p:spPr>
          <a:xfrm flipV="1">
            <a:off x="4362450" y="1994694"/>
            <a:ext cx="457202" cy="4013200"/>
          </a:xfrm>
          <a:prstGeom prst="arc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948651-A309-5283-AA4A-9F1E6F1B1AD7}"/>
              </a:ext>
            </a:extLst>
          </p:cNvPr>
          <p:cNvSpPr/>
          <p:nvPr/>
        </p:nvSpPr>
        <p:spPr>
          <a:xfrm>
            <a:off x="6825343" y="3429000"/>
            <a:ext cx="45719" cy="24492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37DBB4D-1EFF-44ED-8E03-03D2F21191B2}"/>
              </a:ext>
            </a:extLst>
          </p:cNvPr>
          <p:cNvSpPr/>
          <p:nvPr/>
        </p:nvSpPr>
        <p:spPr>
          <a:xfrm>
            <a:off x="4621531" y="4832169"/>
            <a:ext cx="45719" cy="244929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/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C8CB407-A6A5-D9F1-C24B-6A89DFB09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4255" y="4652407"/>
                <a:ext cx="1731821" cy="302226"/>
              </a:xfrm>
              <a:prstGeom prst="rect">
                <a:avLst/>
              </a:prstGeom>
              <a:blipFill>
                <a:blip r:embed="rId2"/>
                <a:stretch>
                  <a:fillRect r="-5755" b="-14815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/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E7C3CFF-042A-BA56-B6BB-9A4648C2D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941" y="5831431"/>
                <a:ext cx="1792434" cy="298928"/>
              </a:xfrm>
              <a:prstGeom prst="rect">
                <a:avLst/>
              </a:prstGeom>
              <a:blipFill>
                <a:blip r:embed="rId3"/>
                <a:stretch>
                  <a:fillRect r="-3472" b="-23077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F58678-A114-15F3-3A62-0C50B94C5518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1172439" y="4954634"/>
            <a:ext cx="3449092" cy="105326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1A6E2EAE-7552-5F6E-DCEA-558AF9094398}"/>
              </a:ext>
            </a:extLst>
          </p:cNvPr>
          <p:cNvSpPr/>
          <p:nvPr/>
        </p:nvSpPr>
        <p:spPr>
          <a:xfrm>
            <a:off x="1013112" y="5964105"/>
            <a:ext cx="159327" cy="16625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C0128F-272E-6055-5C13-830EB897371B}"/>
              </a:ext>
            </a:extLst>
          </p:cNvPr>
          <p:cNvSpPr txBox="1"/>
          <p:nvPr/>
        </p:nvSpPr>
        <p:spPr>
          <a:xfrm>
            <a:off x="242574" y="6241496"/>
            <a:ext cx="1700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Detector Origin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D7FC67E-7C50-95BA-9786-A10585841108}"/>
              </a:ext>
            </a:extLst>
          </p:cNvPr>
          <p:cNvCxnSpPr>
            <a:cxnSpLocks/>
            <a:stCxn id="24" idx="7"/>
            <a:endCxn id="14" idx="2"/>
          </p:cNvCxnSpPr>
          <p:nvPr/>
        </p:nvCxnSpPr>
        <p:spPr>
          <a:xfrm flipV="1">
            <a:off x="1149106" y="3551465"/>
            <a:ext cx="5676237" cy="2436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14:cNvPr>
              <p14:cNvContentPartPr/>
              <p14:nvPr/>
            </p14:nvContentPartPr>
            <p14:xfrm>
              <a:off x="4359355" y="5017950"/>
              <a:ext cx="9360" cy="439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ABEC8D9-5031-9D15-BD89-C45E5006BC8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53235" y="5011830"/>
                <a:ext cx="21600" cy="5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14:cNvPr>
              <p14:cNvContentPartPr/>
              <p14:nvPr/>
            </p14:nvContentPartPr>
            <p14:xfrm>
              <a:off x="4413715" y="5001030"/>
              <a:ext cx="9720" cy="493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401E46F9-E430-A55C-65B5-EF0E108393F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07595" y="4994910"/>
                <a:ext cx="21960" cy="6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14:cNvPr>
              <p14:cNvContentPartPr/>
              <p14:nvPr/>
            </p14:nvContentPartPr>
            <p14:xfrm>
              <a:off x="4490035" y="4973670"/>
              <a:ext cx="20160" cy="622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E4761F57-C5D9-1A7E-AA00-6BDEB6C442F3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83915" y="4967550"/>
                <a:ext cx="32400" cy="74520"/>
              </a:xfrm>
              <a:prstGeom prst="rect">
                <a:avLst/>
              </a:prstGeom>
            </p:spPr>
          </p:pic>
        </mc:Fallback>
      </mc:AlternateContent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7D7FE76-3E8E-895E-21C2-E01F49550308}"/>
              </a:ext>
            </a:extLst>
          </p:cNvPr>
          <p:cNvCxnSpPr>
            <a:cxnSpLocks/>
            <a:stCxn id="14" idx="6"/>
          </p:cNvCxnSpPr>
          <p:nvPr/>
        </p:nvCxnSpPr>
        <p:spPr>
          <a:xfrm>
            <a:off x="6871062" y="3551465"/>
            <a:ext cx="687206" cy="122464"/>
          </a:xfrm>
          <a:prstGeom prst="straightConnector1">
            <a:avLst/>
          </a:prstGeom>
          <a:ln w="317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/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BFEA669-164C-6A6B-95D0-07EA8DDF46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6767" y="3252536"/>
                <a:ext cx="1914274" cy="298928"/>
              </a:xfrm>
              <a:prstGeom prst="rect">
                <a:avLst/>
              </a:prstGeom>
              <a:blipFill>
                <a:blip r:embed="rId10"/>
                <a:stretch>
                  <a:fillRect l="-1299" r="-3247" b="-23077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861E8FF-2D21-1437-FAD3-24EFA8FD5C69}"/>
              </a:ext>
            </a:extLst>
          </p:cNvPr>
          <p:cNvCxnSpPr>
            <a:cxnSpLocks/>
          </p:cNvCxnSpPr>
          <p:nvPr/>
        </p:nvCxnSpPr>
        <p:spPr>
          <a:xfrm flipH="1">
            <a:off x="3824375" y="4954633"/>
            <a:ext cx="812700" cy="322042"/>
          </a:xfrm>
          <a:prstGeom prst="straightConnector1">
            <a:avLst/>
          </a:prstGeom>
          <a:ln w="317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/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7A94E9-6F64-5DE0-301D-A4BC46224A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5959" y="4529942"/>
                <a:ext cx="1914274" cy="298928"/>
              </a:xfrm>
              <a:prstGeom prst="rect">
                <a:avLst/>
              </a:prstGeom>
              <a:blipFill>
                <a:blip r:embed="rId11"/>
                <a:stretch>
                  <a:fillRect l="-1299" r="-3896" b="-18519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0C69304-D82A-2F78-A82F-EDAF9CDF88BD}"/>
              </a:ext>
            </a:extLst>
          </p:cNvPr>
          <p:cNvCxnSpPr>
            <a:cxnSpLocks/>
          </p:cNvCxnSpPr>
          <p:nvPr/>
        </p:nvCxnSpPr>
        <p:spPr>
          <a:xfrm flipH="1" flipV="1">
            <a:off x="3366076" y="2963119"/>
            <a:ext cx="5627453" cy="956717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91BBC56-5662-8609-1AE3-41023B59DDEF}"/>
              </a:ext>
            </a:extLst>
          </p:cNvPr>
          <p:cNvGrpSpPr/>
          <p:nvPr/>
        </p:nvGrpSpPr>
        <p:grpSpPr>
          <a:xfrm>
            <a:off x="5017554" y="3188608"/>
            <a:ext cx="79560" cy="121320"/>
            <a:chOff x="5017554" y="3188608"/>
            <a:chExt cx="79560" cy="12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14:cNvPr>
                <p14:cNvContentPartPr/>
                <p14:nvPr/>
              </p14:nvContentPartPr>
              <p14:xfrm>
                <a:off x="5037354" y="3188608"/>
                <a:ext cx="49320" cy="121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EEE98EB-8EE2-2894-BC1E-80CDBDA03B5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028354" y="3179608"/>
                  <a:ext cx="6696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14:cNvPr>
                <p14:cNvContentPartPr/>
                <p14:nvPr/>
              </p14:nvContentPartPr>
              <p14:xfrm>
                <a:off x="5017554" y="3195088"/>
                <a:ext cx="79560" cy="11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28CC27E-1AA1-D432-E6D4-3DB35E4762F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08554" y="3186448"/>
                  <a:ext cx="97200" cy="129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9BAF2BF-7DBD-7934-531B-226E4E07D175}"/>
              </a:ext>
            </a:extLst>
          </p:cNvPr>
          <p:cNvCxnSpPr>
            <a:cxnSpLocks/>
          </p:cNvCxnSpPr>
          <p:nvPr/>
        </p:nvCxnSpPr>
        <p:spPr>
          <a:xfrm flipV="1">
            <a:off x="3078760" y="3791824"/>
            <a:ext cx="4412609" cy="1778466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1" name="Group 70">
            <a:extLst>
              <a:ext uri="{FF2B5EF4-FFF2-40B4-BE49-F238E27FC236}">
                <a16:creationId xmlns:a16="http://schemas.microsoft.com/office/drawing/2014/main" id="{1EB857A6-CA2D-0B11-D143-58A27F219DF6}"/>
              </a:ext>
            </a:extLst>
          </p:cNvPr>
          <p:cNvGrpSpPr/>
          <p:nvPr/>
        </p:nvGrpSpPr>
        <p:grpSpPr>
          <a:xfrm>
            <a:off x="6941960" y="3964726"/>
            <a:ext cx="59040" cy="85680"/>
            <a:chOff x="6954176" y="4747928"/>
            <a:chExt cx="59040" cy="8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14:cNvPr>
                <p14:cNvContentPartPr/>
                <p14:nvPr/>
              </p14:nvContentPartPr>
              <p14:xfrm>
                <a:off x="6954176" y="4754048"/>
                <a:ext cx="59040" cy="734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46F1BE6-8CAD-7165-D7D1-5067CDDF99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945536" y="4745048"/>
                  <a:ext cx="76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14:cNvPr>
                <p14:cNvContentPartPr/>
                <p14:nvPr/>
              </p14:nvContentPartPr>
              <p14:xfrm>
                <a:off x="6961376" y="4747928"/>
                <a:ext cx="51120" cy="856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EAA37F75-00CE-76F0-8A0D-6F9B525918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952376" y="4738928"/>
                  <a:ext cx="68760" cy="103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76" name="Oval 75">
            <a:extLst>
              <a:ext uri="{FF2B5EF4-FFF2-40B4-BE49-F238E27FC236}">
                <a16:creationId xmlns:a16="http://schemas.microsoft.com/office/drawing/2014/main" id="{49417978-D658-E832-85E8-914BFD551944}"/>
              </a:ext>
            </a:extLst>
          </p:cNvPr>
          <p:cNvSpPr/>
          <p:nvPr/>
        </p:nvSpPr>
        <p:spPr>
          <a:xfrm>
            <a:off x="5670958" y="3306688"/>
            <a:ext cx="94268" cy="102870"/>
          </a:xfrm>
          <a:prstGeom prst="ellipse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A340A5CA-5187-8399-6F42-DDB1DA87ADFD}"/>
              </a:ext>
            </a:extLst>
          </p:cNvPr>
          <p:cNvSpPr/>
          <p:nvPr/>
        </p:nvSpPr>
        <p:spPr>
          <a:xfrm>
            <a:off x="5670958" y="4456747"/>
            <a:ext cx="94268" cy="10287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5C0BCCF7-8F25-0438-1F50-F8114274A02C}"/>
              </a:ext>
            </a:extLst>
          </p:cNvPr>
          <p:cNvCxnSpPr>
            <a:stCxn id="76" idx="4"/>
            <a:endCxn id="77" idx="0"/>
          </p:cNvCxnSpPr>
          <p:nvPr/>
        </p:nvCxnSpPr>
        <p:spPr>
          <a:xfrm>
            <a:off x="5718092" y="3409558"/>
            <a:ext cx="0" cy="1047189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>
            <a:extLst>
              <a:ext uri="{FF2B5EF4-FFF2-40B4-BE49-F238E27FC236}">
                <a16:creationId xmlns:a16="http://schemas.microsoft.com/office/drawing/2014/main" id="{3CE4E045-4C69-97CA-B4C8-E1FEC63F885D}"/>
              </a:ext>
            </a:extLst>
          </p:cNvPr>
          <p:cNvSpPr/>
          <p:nvPr/>
        </p:nvSpPr>
        <p:spPr>
          <a:xfrm>
            <a:off x="5671774" y="3895034"/>
            <a:ext cx="94268" cy="10287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/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898D6215-7EC2-A2EB-A7EB-C288938DDE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6621" y="3919836"/>
                <a:ext cx="570322" cy="317972"/>
              </a:xfrm>
              <a:prstGeom prst="rect">
                <a:avLst/>
              </a:prstGeom>
              <a:blipFill>
                <a:blip r:embed="rId20"/>
                <a:stretch>
                  <a:fillRect l="-4167" r="-6250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/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C6D793A-4475-8060-36E4-646B9EB71E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8260" y="5390948"/>
                <a:ext cx="570322" cy="317972"/>
              </a:xfrm>
              <a:prstGeom prst="rect">
                <a:avLst/>
              </a:prstGeom>
              <a:blipFill>
                <a:blip r:embed="rId21"/>
                <a:stretch>
                  <a:fillRect l="-6383" r="-85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/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A1D79A0-2952-349C-3FED-2277CFB682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931" y="2863419"/>
                <a:ext cx="619612" cy="317972"/>
              </a:xfrm>
              <a:prstGeom prst="rect">
                <a:avLst/>
              </a:prstGeom>
              <a:blipFill>
                <a:blip r:embed="rId22"/>
                <a:stretch>
                  <a:fillRect l="-3846" r="-11538" b="-25000"/>
                </a:stretch>
              </a:blipFill>
              <a:ln w="254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/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noFill/>
              <a:ln w="25400">
                <a:solidFill>
                  <a:srgbClr val="FF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0C2DBE4C-C4BB-4FF5-38CD-D4B2A1F87F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0050" y="4677512"/>
                <a:ext cx="641529" cy="317972"/>
              </a:xfrm>
              <a:prstGeom prst="rect">
                <a:avLst/>
              </a:prstGeom>
              <a:blipFill>
                <a:blip r:embed="rId23"/>
                <a:stretch>
                  <a:fillRect l="-3704" r="-11111" b="-25000"/>
                </a:stretch>
              </a:blipFill>
              <a:ln w="254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43DB1F7A-3AEA-A436-6749-811B7DFBCD48}"/>
              </a:ext>
            </a:extLst>
          </p:cNvPr>
          <p:cNvCxnSpPr>
            <a:stCxn id="24" idx="7"/>
            <a:endCxn id="76" idx="2"/>
          </p:cNvCxnSpPr>
          <p:nvPr/>
        </p:nvCxnSpPr>
        <p:spPr>
          <a:xfrm flipV="1">
            <a:off x="1149106" y="3358123"/>
            <a:ext cx="4521852" cy="2630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24EE1275-1303-7C69-8492-EF0CE0C7CCA1}"/>
              </a:ext>
            </a:extLst>
          </p:cNvPr>
          <p:cNvCxnSpPr>
            <a:stCxn id="24" idx="7"/>
            <a:endCxn id="77" idx="2"/>
          </p:cNvCxnSpPr>
          <p:nvPr/>
        </p:nvCxnSpPr>
        <p:spPr>
          <a:xfrm flipV="1">
            <a:off x="1149106" y="4508182"/>
            <a:ext cx="4521852" cy="148027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2CA69F2-B1E1-BB70-B518-D049E686F63C}"/>
              </a:ext>
            </a:extLst>
          </p:cNvPr>
          <p:cNvCxnSpPr>
            <a:stCxn id="24" idx="7"/>
            <a:endCxn id="80" idx="2"/>
          </p:cNvCxnSpPr>
          <p:nvPr/>
        </p:nvCxnSpPr>
        <p:spPr>
          <a:xfrm flipV="1">
            <a:off x="1149106" y="3946469"/>
            <a:ext cx="4522668" cy="2041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/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𝒱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6E89E422-4248-D5AD-BAAE-0CBC6A321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4954" y="3579172"/>
                <a:ext cx="469783" cy="3693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Slide Number Placeholder 94">
            <a:extLst>
              <a:ext uri="{FF2B5EF4-FFF2-40B4-BE49-F238E27FC236}">
                <a16:creationId xmlns:a16="http://schemas.microsoft.com/office/drawing/2014/main" id="{9DB13F89-86DA-74A7-B9D7-9893F3D3B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D574F-46AC-454F-80BB-50D9197C01E0}" type="slidenum">
              <a:rPr lang="en-US" smtClean="0"/>
              <a:t>16</a:t>
            </a:fld>
            <a:endParaRPr lang="en-US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EB0E0410-33DF-5292-20D3-1B0BF0AF81A5}"/>
              </a:ext>
            </a:extLst>
          </p:cNvPr>
          <p:cNvSpPr txBox="1"/>
          <p:nvPr/>
        </p:nvSpPr>
        <p:spPr>
          <a:xfrm>
            <a:off x="4667250" y="1156996"/>
            <a:ext cx="2158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Selected Target Foil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2C2D50-7FB0-56CE-9AB9-F5A22E66B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</p:spTree>
    <p:extLst>
      <p:ext uri="{BB962C8B-B14F-4D97-AF65-F5344CB8AC3E}">
        <p14:creationId xmlns:p14="http://schemas.microsoft.com/office/powerpoint/2010/main" val="327583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9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0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8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0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9" grpId="0" animBg="1"/>
      <p:bldP spid="19" grpId="1" animBg="1"/>
      <p:bldP spid="20" grpId="0" animBg="1"/>
      <p:bldP spid="20" grpId="1" animBg="1"/>
      <p:bldP spid="48" grpId="0" animBg="1"/>
      <p:bldP spid="48" grpId="1" animBg="1"/>
      <p:bldP spid="51" grpId="0" animBg="1"/>
      <p:bldP spid="51" grpId="1" animBg="1"/>
      <p:bldP spid="76" grpId="0" animBg="1"/>
      <p:bldP spid="77" grpId="0" animBg="1"/>
      <p:bldP spid="80" grpId="0" animBg="1"/>
      <p:bldP spid="82" grpId="0" animBg="1"/>
      <p:bldP spid="83" grpId="0" animBg="1"/>
      <p:bldP spid="84" grpId="0" animBg="1"/>
      <p:bldP spid="85" grpId="0" animBg="1"/>
      <p:bldP spid="9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1E461-791C-F508-7FE5-4F200E76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Investigation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2C1A3B-C708-DC78-1E76-5A56F9A3F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D68E5D-7C88-4811-0E20-322DD2F43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87BC8B-5FFB-F088-7715-A624A689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0222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AF71-8E34-2CAA-7AB0-F0179C17C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Toy-Generator Creation and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023601-D1BA-D1E2-CE47-90BA3D838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511B34-7D40-9518-EF04-C0A146244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22E9C2-160B-2E87-3324-E8ED63156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18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9BA1F0-6847-47E2-1B99-5D16C86746D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Toy-Generator Creation and Validation</a:t>
            </a:r>
          </a:p>
        </p:txBody>
      </p:sp>
    </p:spTree>
    <p:extLst>
      <p:ext uri="{BB962C8B-B14F-4D97-AF65-F5344CB8AC3E}">
        <p14:creationId xmlns:p14="http://schemas.microsoft.com/office/powerpoint/2010/main" val="10168972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FA2D8-E18F-941D-45BA-0DB33D627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387DE-6109-B68C-13F9-520F603C7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5FBC7C-7406-88C4-CE80-56D5900F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D064DD-40B5-426A-3AD2-B8CC54810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04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CFFC3-E975-E0F8-4BFD-C28C957E3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Products (from Stops)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4FC29-36B1-2974-B23B-46E1A335B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E6755-FD7F-C93C-0C8A-8FCC6E7E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F45E0-CF42-AFB8-C99E-FE4FD0730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4A75C05-EE76-B1F4-4732-23B89B31512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Analysis Products Produced from Muon Stops</a:t>
            </a:r>
          </a:p>
        </p:txBody>
      </p:sp>
    </p:spTree>
    <p:extLst>
      <p:ext uri="{BB962C8B-B14F-4D97-AF65-F5344CB8AC3E}">
        <p14:creationId xmlns:p14="http://schemas.microsoft.com/office/powerpoint/2010/main" val="17978301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0E51E-E5A7-FA6A-5A09-17F9C6D24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B519-D25D-CD44-8434-451C610EA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B5469-6CFD-57DE-7A43-05E09DB73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728134-85D7-009E-6BDC-FE46F516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9228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68E33-2728-D6B4-AA72-1603BD57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Candidacy Cuts for Vertexing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26FED9-452A-EC21-922F-5FECBDAC6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994E62-85EE-3976-2FFC-E1B2C03DA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4AE26-57D9-56C3-A23A-C9DAAED2D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22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B6C83B-2E04-5927-B5CF-03728C4EC4E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Candidacy Cuts for Vertexing Procedure</a:t>
            </a:r>
          </a:p>
        </p:txBody>
      </p:sp>
    </p:spTree>
    <p:extLst>
      <p:ext uri="{BB962C8B-B14F-4D97-AF65-F5344CB8AC3E}">
        <p14:creationId xmlns:p14="http://schemas.microsoft.com/office/powerpoint/2010/main" val="1099049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17C15-BC85-89E1-57CC-D1FA92DA8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9AA495-1A5F-4283-19B1-0B43176FC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9F854-1AEC-B963-BF42-83D445655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D8E94-2436-805D-6C21-A58214C36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76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F8309C-832E-1138-7AA0-3DDACD61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Vertexer</a:t>
            </a:r>
            <a:r>
              <a:rPr lang="en-US" dirty="0"/>
              <a:t> Resolution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DC180-9A16-0047-42C5-B6FC0ED6A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5F511-8EC4-4F36-E354-F182E83C5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0E545-F89C-C5B5-4698-CE126550D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24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10C72E-FDA7-7374-9F7E-7569CC10A4C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Resolution of Rudimentary Vertex Proof of Concept</a:t>
            </a:r>
          </a:p>
        </p:txBody>
      </p:sp>
    </p:spTree>
    <p:extLst>
      <p:ext uri="{BB962C8B-B14F-4D97-AF65-F5344CB8AC3E}">
        <p14:creationId xmlns:p14="http://schemas.microsoft.com/office/powerpoint/2010/main" val="295315380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70231-B259-3118-64A6-CA658979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FBD9C-B25F-3D68-8122-C71AABEAB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9F9F17-ADD4-7E43-F604-9315B910C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DA68BD-D7EF-3AE1-B746-ADA5CE60A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7862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7BEF6-3922-DF92-934A-A50EAADF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and Deliverables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AF08C-8838-ADF0-A14F-EF626FD37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F3CDDE-7524-5326-94E1-D8AA0350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EE1E3D-CEFD-E977-7771-1611CC593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3490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9B161-21B7-E5E6-A68F-12F38802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Vertexer</a:t>
            </a:r>
            <a:r>
              <a:rPr lang="en-US" dirty="0"/>
              <a:t>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34485-C336-718B-C230-D651BA0A32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2EB45-D49B-88DA-947F-7039EE639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705AC-D735-D500-4CFD-415696D25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27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080FBC-DFA4-04BD-D5F5-39ECDA29081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Improvements to Vertexing Procedure</a:t>
            </a:r>
          </a:p>
        </p:txBody>
      </p:sp>
    </p:spTree>
    <p:extLst>
      <p:ext uri="{BB962C8B-B14F-4D97-AF65-F5344CB8AC3E}">
        <p14:creationId xmlns:p14="http://schemas.microsoft.com/office/powerpoint/2010/main" val="134210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94AB4-2094-057F-2C85-626AF64D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Mixing of Relevant Backgrounds with Process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99EC3-B19A-42E0-3396-2DD015FEE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8C9DF4-AB99-AC42-9D56-02020CFA2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903803-F5ED-2DBF-3BA8-57149DFC0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963DDD82-1C4B-6E5A-D844-2CD4FEDBE04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0"/>
                <a:ext cx="10515600" cy="551234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975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2800" dirty="0">
                    <a:solidFill>
                      <a:srgbClr val="C00000"/>
                    </a:solidFill>
                  </a:rPr>
                  <a:t>Mixing of Relevant Backgrounds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p>
                    <m:r>
                      <a:rPr lang="en-US" sz="28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  <m:sSup>
                      <m:sSupPr>
                        <m:ctrlPr>
                          <a:rPr lang="en-US" sz="28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srgbClr val="C00000"/>
                    </a:solidFill>
                  </a:rPr>
                  <a:t> Process</a:t>
                </a:r>
              </a:p>
            </p:txBody>
          </p:sp>
        </mc:Choice>
        <mc:Fallback>
          <p:sp>
            <p:nvSpPr>
              <p:cNvPr id="4" name="Title 1">
                <a:extLst>
                  <a:ext uri="{FF2B5EF4-FFF2-40B4-BE49-F238E27FC236}">
                    <a16:creationId xmlns:a16="http://schemas.microsoft.com/office/drawing/2014/main" id="{963DDD82-1C4B-6E5A-D844-2CD4FEDBE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0"/>
                <a:ext cx="10515600" cy="551234"/>
              </a:xfrm>
              <a:prstGeom prst="rect">
                <a:avLst/>
              </a:prstGeom>
              <a:blipFill>
                <a:blip r:embed="rId2"/>
                <a:stretch>
                  <a:fillRect l="-1206" t="-11364" b="-20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59475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7BF2B-5112-4B4D-10C3-5AF970544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Theoretical Refinement of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302AA-96B5-20A7-F655-E3EA4E836B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8CABE1-3614-081A-0AE0-C615D9BBF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1CC947-510A-ADCF-B979-DE48CD4E9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29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9947902-4FCD-8C78-F95F-A5B992EF745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Theoretical Refinement of Toy-Generator</a:t>
            </a:r>
          </a:p>
        </p:txBody>
      </p:sp>
    </p:spTree>
    <p:extLst>
      <p:ext uri="{BB962C8B-B14F-4D97-AF65-F5344CB8AC3E}">
        <p14:creationId xmlns:p14="http://schemas.microsoft.com/office/powerpoint/2010/main" val="10442516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47FA9-7EA7-7F99-9C52-F7F52DA585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Sensitivity Study and Statistical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4709D-DC9C-AAFC-608C-7A940CC82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287775-36FF-0178-266E-DFB8530F6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6A29E0-900E-A4E1-4F2F-A8EE2275A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30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ADF3DD6-B251-5C20-C427-B28A63FFE32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Full Sensitivity Study and Statistical Analysis</a:t>
            </a:r>
          </a:p>
        </p:txBody>
      </p:sp>
    </p:spTree>
    <p:extLst>
      <p:ext uri="{BB962C8B-B14F-4D97-AF65-F5344CB8AC3E}">
        <p14:creationId xmlns:p14="http://schemas.microsoft.com/office/powerpoint/2010/main" val="34584795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D62CE-5A2C-7C21-97D4-D62909939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Approaches to Improve Argument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C2519-85BE-4DAD-8C77-85B9CC8DE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1427A-4F06-7FEB-E7EA-E5CC9BDD0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19D7F-B668-3F0B-DE26-776CC8A1F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31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40EA959-CF40-261F-1F32-493B0FBD941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Additional Approaches to Improve Sensitivity Estimate and Increase Event ID Accuracy</a:t>
            </a:r>
          </a:p>
        </p:txBody>
      </p:sp>
    </p:spTree>
    <p:extLst>
      <p:ext uri="{BB962C8B-B14F-4D97-AF65-F5344CB8AC3E}">
        <p14:creationId xmlns:p14="http://schemas.microsoft.com/office/powerpoint/2010/main" val="140999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8DCCEE-F6E7-0A1C-8C4B-C538663A3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Professional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FB4EB-5C21-B80A-9106-2C474B5D43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B7D25-D2D3-AEC4-A220-42EB0919A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5E1946-A889-012A-0B0A-65380A21E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32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B6F1459-D94F-6704-9904-3D221FCD1C1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Presentations and Description of Efforts to Collaboration and Beyond</a:t>
            </a:r>
          </a:p>
        </p:txBody>
      </p:sp>
    </p:spTree>
    <p:extLst>
      <p:ext uri="{BB962C8B-B14F-4D97-AF65-F5344CB8AC3E}">
        <p14:creationId xmlns:p14="http://schemas.microsoft.com/office/powerpoint/2010/main" val="3589066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9D99B-40BF-62FD-3259-626DC28F1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0A4E-F4CA-5280-6975-74FBD5529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AD59E6-61A1-C07E-06CE-52367ABE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338A63-4134-AA43-15EE-B4C3BFB9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33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93738B7-A13F-DEA1-6318-3AF1AE6C6BB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5195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7B11-9A70-8920-F876-2027D8483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72B878-C847-1AEA-D2C5-68F68A7D2F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D7FEB2-6A47-3523-C991-2D1B073CE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71287-A856-92BF-6CDA-24980018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9725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E0E4E-125A-776B-1C5F-6DE179C7C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Slides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53537D-A747-5FEE-1BC4-A4A2D9CF9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3A0B7-DAAC-3511-91D2-731A96130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4B460-7284-923C-30C8-7F65F0901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076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6D5EB-46AB-09CF-64DA-308FFCFBE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Geometric Vertexing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1355BB-5C5E-482A-9ABD-AD566D995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4E05CD-2061-3B5C-B390-F2E364599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94CDF-C221-79CC-574E-C3DCDAA6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36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D7D70CF-911E-C5FB-6BB0-4BB7425647C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Geometric Vertexing Description and Derivation</a:t>
            </a:r>
          </a:p>
        </p:txBody>
      </p:sp>
    </p:spTree>
    <p:extLst>
      <p:ext uri="{BB962C8B-B14F-4D97-AF65-F5344CB8AC3E}">
        <p14:creationId xmlns:p14="http://schemas.microsoft.com/office/powerpoint/2010/main" val="4135552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2E749-E201-3232-DAB3-1F82C7BD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Muon-Lifetime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A0A40-ADB9-7214-8562-5917CC41F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B171F-6537-D2FD-07BF-BE5BF1FF3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0A4A5-DAA8-D675-F330-E5A537364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37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518CAF-DE97-FA65-0F07-668E1C32A4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Muon Lifetime Consideration and Calculation </a:t>
            </a:r>
          </a:p>
        </p:txBody>
      </p:sp>
    </p:spTree>
    <p:extLst>
      <p:ext uri="{BB962C8B-B14F-4D97-AF65-F5344CB8AC3E}">
        <p14:creationId xmlns:p14="http://schemas.microsoft.com/office/powerpoint/2010/main" val="37003797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2427-717E-10B7-499E-D36E90151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1)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Number of signal events needed:</a:t>
                </a:r>
              </a:p>
              <a:p>
                <a:endParaRPr lang="en-US" dirty="0"/>
              </a:p>
              <a:p>
                <a:r>
                  <a:rPr lang="en-US" dirty="0"/>
                  <a:t>Live time required: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Useful parents being stopped muons means we can determine the rate of the stopped muons from:</a:t>
                </a:r>
              </a:p>
              <a:p>
                <a:endParaRPr lang="en-US" dirty="0"/>
              </a:p>
              <a:p>
                <a:r>
                  <a:rPr lang="en-US" dirty="0"/>
                  <a:t>Live time in quantities of the beam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𝑃𝑂𝑇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/>
                  <a:t>), stops, and efficiency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 that efficiency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) is comprised of multiple different efficiencies </a:t>
                </a:r>
                <a:r>
                  <a:rPr lang="en-US" dirty="0" err="1"/>
                  <a:t>multipled</a:t>
                </a:r>
                <a:r>
                  <a:rPr lang="en-US" dirty="0"/>
                  <a:t> together: 						           found via simulation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E336D6-6E62-DF3A-041D-E5CCA5F86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24542"/>
                <a:ext cx="12192000" cy="6002383"/>
              </a:xfrm>
              <a:blipFill>
                <a:blip r:embed="rId2"/>
                <a:stretch>
                  <a:fillRect l="-1145" t="-2326" r="-1249" b="-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2106C-7645-E655-5150-04AC88AF6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957589-9CDF-38F6-21A5-9EE820819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765FAF5-D931-54B8-7EDF-89CDC48CEA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2051" y="1748228"/>
            <a:ext cx="5991497" cy="714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DE9E62-73D9-6DA4-90AE-5AC38D2ED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799" y="985309"/>
            <a:ext cx="7772400" cy="349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73DCB2-6819-2A40-2EBA-2BE6DE3AE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5925" y="3311660"/>
            <a:ext cx="6043748" cy="706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9ACD0-2F37-5D3C-7836-6EA6226B56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66108" y="4602120"/>
            <a:ext cx="6383382" cy="6206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F2C81D3-3CC5-53FB-BFDC-9B9D267EFB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7543" y="5960987"/>
            <a:ext cx="5622267" cy="20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041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290EE-BEC6-0A6E-2D4B-BA3D8AFA5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74765"/>
            <a:ext cx="12192000" cy="5602197"/>
          </a:xfrm>
        </p:spPr>
        <p:txBody>
          <a:bodyPr/>
          <a:lstStyle/>
          <a:p>
            <a:r>
              <a:rPr lang="en-US" dirty="0"/>
              <a:t>Values to use in the calculation: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AA0C7B-4F8E-1302-0E82-E9D410A19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D8746-9439-C22E-5A2C-4A7E7556C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39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E1F9AE-A6BD-D5CA-2031-9DD933346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424543"/>
          </a:xfrm>
        </p:spPr>
        <p:txBody>
          <a:bodyPr>
            <a:normAutofit fontScale="90000"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Back-of-Envelope Wall Clock Hours Prediction (Pt. 1)</a:t>
            </a:r>
          </a:p>
        </p:txBody>
      </p:sp>
    </p:spTree>
    <p:extLst>
      <p:ext uri="{BB962C8B-B14F-4D97-AF65-F5344CB8AC3E}">
        <p14:creationId xmlns:p14="http://schemas.microsoft.com/office/powerpoint/2010/main" val="34646254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424542"/>
                <a:ext cx="12192000" cy="5931807"/>
              </a:xfrm>
            </p:spPr>
            <p:txBody>
              <a:bodyPr/>
              <a:lstStyle/>
              <a:p>
                <a:r>
                  <a:rPr lang="en-US" dirty="0"/>
                  <a:t>Assumptions</a:t>
                </a:r>
              </a:p>
              <a:p>
                <a:pPr lvl="1"/>
                <a:r>
                  <a:rPr lang="en-US" dirty="0"/>
                  <a:t> static magnetic field (</a:t>
                </a:r>
                <a14:m>
                  <m:oMath xmlns:m="http://schemas.openxmlformats.org/officeDocument/2006/math">
                    <m:f>
                      <m:fPr>
                        <m:type m:val="skw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) with no external electric field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Nonrelativistic motion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) for particles moving in field</a:t>
                </a:r>
              </a:p>
              <a:p>
                <a:pPr lvl="1"/>
                <a:r>
                  <a:rPr lang="en-US" dirty="0"/>
                  <a:t>Magnetic field assumed to be solely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-direction,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and changes gradually with change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927CEA1-D624-33D2-7572-4EEE4D3E60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424542"/>
                <a:ext cx="12192000" cy="5931807"/>
              </a:xfrm>
              <a:blipFill>
                <a:blip r:embed="rId2"/>
                <a:stretch>
                  <a:fillRect l="-937" t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1E7B7-AC56-AC04-FC72-2A42DC36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E38203-0F9F-9692-AE5F-9A58BE39F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40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ACEEC5F-DC2E-1200-0085-D8BB40A603A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Magnetic Mirror Effect Derivation (Pt. 1)</a:t>
            </a:r>
          </a:p>
        </p:txBody>
      </p:sp>
    </p:spTree>
    <p:extLst>
      <p:ext uri="{BB962C8B-B14F-4D97-AF65-F5344CB8AC3E}">
        <p14:creationId xmlns:p14="http://schemas.microsoft.com/office/powerpoint/2010/main" val="842777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CEB7-3DE4-573B-EDA2-1B6FBA276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Half-Field DS Field Designation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F44E5-A5F9-A925-1B54-76981E1B3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AFF79-62CF-7ECE-22F4-A18DC570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DD962C-32BE-EAAC-8D7A-405AFEF0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41</a:t>
            </a:fld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68356BF-0515-B375-CAA4-90B2F56C5AB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0515600" cy="4245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>
                <a:solidFill>
                  <a:srgbClr val="C00000"/>
                </a:solidFill>
              </a:rPr>
              <a:t>Half-Field DS Field Necessity Derivation</a:t>
            </a:r>
          </a:p>
        </p:txBody>
      </p:sp>
    </p:spTree>
    <p:extLst>
      <p:ext uri="{BB962C8B-B14F-4D97-AF65-F5344CB8AC3E}">
        <p14:creationId xmlns:p14="http://schemas.microsoft.com/office/powerpoint/2010/main" val="33998097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F60EB5-129C-6ACE-8756-40458FFB2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Boldy Sensitivity Study Mu2e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6548BF-1B03-5ABC-F42B-442BB060B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0CB54-3DBF-E947-906E-85E307CF7971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BBBDC4-7699-7F82-1619-0C7B0283D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36525"/>
            <a:ext cx="7772400" cy="43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627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531</TotalTime>
  <Words>825</Words>
  <Application>Microsoft Macintosh PowerPoint</Application>
  <PresentationFormat>Widescreen</PresentationFormat>
  <Paragraphs>196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Cambria Math</vt:lpstr>
      <vt:lpstr>Office Theme</vt:lpstr>
      <vt:lpstr>A Sensitivity Study of the μ^- e^-→e^- e^- Process in the Mu2e Experiment</vt:lpstr>
      <vt:lpstr>Theoretical Motivation</vt:lpstr>
      <vt:lpstr>PowerPoint Presentation</vt:lpstr>
      <vt:lpstr>PowerPoint Presentation</vt:lpstr>
      <vt:lpstr>PowerPoint Presentation</vt:lpstr>
      <vt:lpstr>PowerPoint Presentation</vt:lpstr>
      <vt:lpstr>The Mu2e Experiment</vt:lpstr>
      <vt:lpstr>Primary Experimental Goals</vt:lpstr>
      <vt:lpstr>Design</vt:lpstr>
      <vt:lpstr>Relevant Backgrounds and Mitigation </vt:lpstr>
      <vt:lpstr>Event Identification and Signal</vt:lpstr>
      <vt:lpstr>                           Process Signal Characteristics</vt:lpstr>
      <vt:lpstr>Experimental Requirements</vt:lpstr>
      <vt:lpstr>Vertexing</vt:lpstr>
      <vt:lpstr>PowerPoint Presentation</vt:lpstr>
      <vt:lpstr>Vertexing Algorithm</vt:lpstr>
      <vt:lpstr>Initial Investigation</vt:lpstr>
      <vt:lpstr>Toy-Generator Creation and Validation</vt:lpstr>
      <vt:lpstr>PowerPoint Presentation</vt:lpstr>
      <vt:lpstr>Analysis Products (from Stops)</vt:lpstr>
      <vt:lpstr>PowerPoint Presentation</vt:lpstr>
      <vt:lpstr>Candidacy Cuts for Vertexing</vt:lpstr>
      <vt:lpstr>PowerPoint Presentation</vt:lpstr>
      <vt:lpstr>Vertexer Resolution</vt:lpstr>
      <vt:lpstr>PowerPoint Presentation</vt:lpstr>
      <vt:lpstr>Goals and Deliverables</vt:lpstr>
      <vt:lpstr>Vertexer Improvements</vt:lpstr>
      <vt:lpstr>Mixing of Relevant Backgrounds with Process</vt:lpstr>
      <vt:lpstr>Theoretical Refinement of Generator</vt:lpstr>
      <vt:lpstr>Full Sensitivity Study and Statistical Analysis</vt:lpstr>
      <vt:lpstr>Additional Approaches to Improve Argument</vt:lpstr>
      <vt:lpstr>Additional Professional Development</vt:lpstr>
      <vt:lpstr>Summary</vt:lpstr>
      <vt:lpstr>Thank you</vt:lpstr>
      <vt:lpstr>Backup Slides</vt:lpstr>
      <vt:lpstr>Geometric Vertexing Description</vt:lpstr>
      <vt:lpstr>Muon-Lifetime Considerations</vt:lpstr>
      <vt:lpstr>Back-of-Envelope Wall Clock Hours Prediction (Pt. 1)</vt:lpstr>
      <vt:lpstr>Back-of-Envelope Wall Clock Hours Prediction (Pt. 1)</vt:lpstr>
      <vt:lpstr>PowerPoint Presentation</vt:lpstr>
      <vt:lpstr>Half-Field DS Field Designation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Boldy, Andrew</dc:creator>
  <cp:lastModifiedBy>Boldy, Andrew</cp:lastModifiedBy>
  <cp:revision>4</cp:revision>
  <dcterms:created xsi:type="dcterms:W3CDTF">2026-09-30T14:38:07Z</dcterms:created>
  <dcterms:modified xsi:type="dcterms:W3CDTF">2026-10-02T20:41:01Z</dcterms:modified>
</cp:coreProperties>
</file>