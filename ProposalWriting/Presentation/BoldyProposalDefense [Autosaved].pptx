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5"/>
  </p:notesMasterIdLst>
  <p:sldIdLst>
    <p:sldId id="256" r:id="rId2"/>
    <p:sldId id="320" r:id="rId3"/>
    <p:sldId id="323" r:id="rId4"/>
    <p:sldId id="350" r:id="rId5"/>
    <p:sldId id="351" r:id="rId6"/>
    <p:sldId id="353" r:id="rId7"/>
    <p:sldId id="257" r:id="rId8"/>
    <p:sldId id="352" r:id="rId9"/>
    <p:sldId id="354" r:id="rId10"/>
    <p:sldId id="315" r:id="rId11"/>
    <p:sldId id="324" r:id="rId12"/>
    <p:sldId id="285" r:id="rId13"/>
    <p:sldId id="325" r:id="rId14"/>
    <p:sldId id="326" r:id="rId15"/>
    <p:sldId id="327" r:id="rId16"/>
    <p:sldId id="328" r:id="rId17"/>
    <p:sldId id="329" r:id="rId18"/>
    <p:sldId id="355" r:id="rId19"/>
    <p:sldId id="258" r:id="rId20"/>
    <p:sldId id="348" r:id="rId21"/>
    <p:sldId id="349" r:id="rId22"/>
    <p:sldId id="259" r:id="rId23"/>
    <p:sldId id="331" r:id="rId24"/>
    <p:sldId id="332" r:id="rId25"/>
    <p:sldId id="333" r:id="rId26"/>
    <p:sldId id="275" r:id="rId27"/>
    <p:sldId id="339" r:id="rId28"/>
    <p:sldId id="340" r:id="rId29"/>
    <p:sldId id="334" r:id="rId30"/>
    <p:sldId id="335" r:id="rId31"/>
    <p:sldId id="336" r:id="rId32"/>
    <p:sldId id="337" r:id="rId33"/>
    <p:sldId id="338" r:id="rId34"/>
    <p:sldId id="260" r:id="rId35"/>
    <p:sldId id="341" r:id="rId36"/>
    <p:sldId id="342" r:id="rId37"/>
    <p:sldId id="343" r:id="rId38"/>
    <p:sldId id="344" r:id="rId39"/>
    <p:sldId id="345" r:id="rId40"/>
    <p:sldId id="346" r:id="rId41"/>
    <p:sldId id="289" r:id="rId42"/>
    <p:sldId id="347" r:id="rId43"/>
    <p:sldId id="263" r:id="rId44"/>
    <p:sldId id="283" r:id="rId45"/>
    <p:sldId id="284" r:id="rId46"/>
    <p:sldId id="290" r:id="rId47"/>
    <p:sldId id="295" r:id="rId48"/>
    <p:sldId id="293" r:id="rId49"/>
    <p:sldId id="291" r:id="rId50"/>
    <p:sldId id="300" r:id="rId51"/>
    <p:sldId id="301" r:id="rId52"/>
    <p:sldId id="303" r:id="rId53"/>
    <p:sldId id="305" r:id="rId54"/>
    <p:sldId id="307" r:id="rId55"/>
    <p:sldId id="309" r:id="rId56"/>
    <p:sldId id="311" r:id="rId57"/>
    <p:sldId id="318" r:id="rId58"/>
    <p:sldId id="270" r:id="rId59"/>
    <p:sldId id="277" r:id="rId60"/>
    <p:sldId id="278" r:id="rId61"/>
    <p:sldId id="312" r:id="rId62"/>
    <p:sldId id="313" r:id="rId63"/>
    <p:sldId id="294"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00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69"/>
    <p:restoredTop sz="94741"/>
  </p:normalViewPr>
  <p:slideViewPr>
    <p:cSldViewPr snapToGrid="0">
      <p:cViewPr>
        <p:scale>
          <a:sx n="185" d="100"/>
          <a:sy n="185" d="100"/>
        </p:scale>
        <p:origin x="1128" y="4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0:04:16.989"/>
    </inkml:context>
    <inkml:brush xml:id="br0">
      <inkml:brushProperty name="width" value="0.035" units="cm"/>
      <inkml:brushProperty name="height" value="0.035" units="cm"/>
    </inkml:brush>
  </inkml:definitions>
  <inkml:trace contextRef="#ctx0" brushRef="#br0">10 9 24575,'0'5'0,"0"1"0,0-2 0,0 1 0,0-1 0,0-1 0,0 1 0,0 0 0,1 0 0,-1-2 0,1 1 0,-1-1 0,0 1 0,0 1 0,0-2 0,0 2 0,0-2 0,0 0 0,0 0 0,0 0 0,0 0 0,0 0 0,0 0 0,0 0 0,0 0 0,0 0 0,0 1 0,0-1 0,0 0 0,0-2 0,0-2 0,-1-2 0,0-2 0,1 0 0,0 0 0,0 1 0,-1-1 0,0 3 0,0-1 0,1 0 0,-1 0 0,0 1 0,1 1 0,-1 0 0,0 0 0,1 0 0,0 0 0,0-2 0,0 0 0,-1-1 0,1 0 0,-1 0 0,1 1 0,0 1 0,0 2 0,0 4 0,0 0 0,0 3 0,0-2 0,1 3 0,-1-2 0,2 2 0,-1-2 0,1 0 0,-1-1 0,1-1 0,-1-1 0,0 0 0,0 0 0,-1-1 0,1 1 0,-1 0 0,1-1 0,-1 1 0,1-1 0,0 1 0,0 0 0,-1 0 0,1 0 0,-1 0 0,1 1 0,-1-1 0,1 0 0,-1 0 0,1 0 0,-1 1 0,1 0 0,-1-1 0,1 1 0,0-1 0,-1 0 0,0 1 0,0-1 0,0 0 0,0 0 0,0 0 0,0 0 0,0 0 0,0 0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0:04:46.839"/>
    </inkml:context>
    <inkml:brush xml:id="br0">
      <inkml:brushProperty name="width" value="0.035" units="cm"/>
      <inkml:brushProperty name="height" value="0.035" units="cm"/>
      <inkml:brushProperty name="color" value="#FFFFFF"/>
    </inkml:brush>
  </inkml:definitions>
  <inkml:trace contextRef="#ctx0" brushRef="#br0">0 1 24575,'0'6'0,"0"0"0,0 0 0,0 1 0,1 2 0,1 1 0,0 1 0,2 1 0,-1-1 0,0 0 0,-2-3 0,1-2 0,-2-2 0,1 0 0,0-1 0,0 2 0,0 0 0,0-1 0,-1-1 0,1 0 0,0-2 0,0 0 0,-1-1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0:04:49.347"/>
    </inkml:context>
    <inkml:brush xml:id="br0">
      <inkml:brushProperty name="width" value="0.035" units="cm"/>
      <inkml:brushProperty name="height" value="0.035" units="cm"/>
      <inkml:brushProperty name="color" value="#FFFFFF"/>
    </inkml:brush>
  </inkml:definitions>
  <inkml:trace contextRef="#ctx0" brushRef="#br0">0 0 24575,'0'10'0,"1"0"0,0 0 0,3 3 0,-1-5 0,5 5 0,-1-1 0,1 0 0,-1-1 0,-3-5 0,-1-2 0,-2 0 0,0-2 0,0 0 0,0 1 0,-1-1 0,1-1 0,-1 1 0,1 0 0,-1 1 0,0 1 0,0-1 0,0 0 0,0 0 0,0-1 0,0 2 0,1-1 0,0 1 0,-1 1 0,0-1 0,0 0 0,0-2 0,0-1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1:53:28.548"/>
    </inkml:context>
    <inkml:brush xml:id="br0">
      <inkml:brushProperty name="width" value="0.05" units="cm"/>
      <inkml:brushProperty name="height" value="0.05" units="cm"/>
      <inkml:brushProperty name="color" value="#1F3A68"/>
    </inkml:brush>
  </inkml:definitions>
  <inkml:trace contextRef="#ctx0" brushRef="#br0">0 0 24575,'0'18'0,"2"-2"0,2 8 0,0-11 0,2 4 0,-2-9 0,0 0 0,-1 0 0,1 0 0,0-1 0,-1 2 0,1 1 0,0 3 0,1-1 0,-1 1 0,0-2 0,1 1 0,-1-2 0,0-1 0,-1-2 0,0-1 0,1 0 0,1 2 0,1 0 0,-1 0 0,0-1 0,-2-1 0,0-3 0,-2 1 0,0-1 0,1 0 0,0 1 0,0-1 0,0 0 0,1 1 0,-2-1 0,0 0 0,1 0 0,0 1 0,0 0 0,1 1 0,-1-2 0,-1-1 0,-1-1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1:53:30.777"/>
    </inkml:context>
    <inkml:brush xml:id="br0">
      <inkml:brushProperty name="width" value="0.05" units="cm"/>
      <inkml:brushProperty name="height" value="0.05" units="cm"/>
      <inkml:brushProperty name="color" value="#1F3A68"/>
    </inkml:brush>
  </inkml:definitions>
  <inkml:trace contextRef="#ctx0" brushRef="#br0">220 1 24575,'-7'6'0,"-2"2"0,-7 9 0,2-2 0,-4 6 0,4-4 0,-3 4 0,1 2 0,-1 2 0,1-2 0,1-1 0,4-5 0,3-4 0,1-1 0,3-5 0,-1 2 0,2-3 0,0 0 0,0 0 0,0 0 0,0-1 0,1-1 0,0 0 0,1-1 0,-1 1 0,1-2 0,0 0 0,0 1 0,0-2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1:55:29.938"/>
    </inkml:context>
    <inkml:brush xml:id="br0">
      <inkml:brushProperty name="width" value="0.05" units="cm"/>
      <inkml:brushProperty name="height" value="0.05" units="cm"/>
      <inkml:brushProperty name="color" value="#73000A"/>
    </inkml:brush>
  </inkml:definitions>
  <inkml:trace contextRef="#ctx0" brushRef="#br0">1 0 24575,'11'19'0,"-1"-2"0,-4-9 0,0 0 0,0 0 0,1 0 0,-1 1 0,1 1 0,-1-1 0,0 0 0,0-2 0,-2-2 0,0-1 0,0 0 0,0 1 0,2 1 0,0 0 0,1 0 0,0 1 0,1 1 0,-1-1 0,-1 0 0,0-1 0,-2 0 0,0-2 0,-1 0 0,0-1 0,-2-1 0,1-1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3T01:55:32.354"/>
    </inkml:context>
    <inkml:brush xml:id="br0">
      <inkml:brushProperty name="width" value="0.05" units="cm"/>
      <inkml:brushProperty name="height" value="0.05" units="cm"/>
      <inkml:brushProperty name="color" value="#73000A"/>
    </inkml:brush>
  </inkml:definitions>
  <inkml:trace contextRef="#ctx0" brushRef="#br0">142 0 24575,'0'13'0,"0"4"0,-7 8 0,3-6 0,-6 2 0,6-13 0,-1 0 0,1-2 0,0 2 0,1 0 0,0-1 0,0-1 0,0 0 0,0 0 0,1-1 0,0-1 0,0 0 0,-1 1 0,-1 1 0,0 1 0,-2 2 0,0 0 0,-1-2 0,2-2 0,1-2 0,0-2 0,0 2 0,0-1 0,0-1 0,-1 1 0,0-2 0,0 2 0,1-1 0,0 1 0,2-1 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E120CA-99AD-3943-B60B-43DCF85265B8}" type="datetimeFigureOut">
              <a:rPr lang="en-US" smtClean="0"/>
              <a:t>10/7/26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0B777-3965-FF47-A281-DBF5FB877E85}" type="slidenum">
              <a:rPr lang="en-US" smtClean="0"/>
              <a:t>‹#›</a:t>
            </a:fld>
            <a:endParaRPr lang="en-US"/>
          </a:p>
        </p:txBody>
      </p:sp>
    </p:spTree>
    <p:extLst>
      <p:ext uri="{BB962C8B-B14F-4D97-AF65-F5344CB8AC3E}">
        <p14:creationId xmlns:p14="http://schemas.microsoft.com/office/powerpoint/2010/main" val="1900062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slide keeps every cell in place and highlights the leptons. Apply the Morph transition to the next slide for a smooth color change.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laws follow from Noether: translations give energy-momentum, rotations give angular momentum, gauge symmetries give charge and color. B, L, and the three flavor numbers follow from the particle content only (accidental). Neutrino oscillations already show L_e, L_mu, L_tau are not exact.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muon decay: the weak charged current changes quark flavor (d to u) through CKM mixing, so flavor is not a fundamental conservation law. Lepton flavor is conserved in the Standard Model only because of its particle content. Q-value uses m_n = 939.57, m_p = 938.27, m_e = 0.511 MeV.</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LaTeX for a native equation: \mathcal{L}_{SMEFT}=\mathcal{L}_{SM}^{(4)}+\frac{1}{\Lambda}\sum_a C_a^{(5)}\mathcal{O}_a^{(5)}+\frac{1}{\Lambda^2}\sum_b C_b^{(6)}\mathcal{O}_b^{(6)}+\cdots
Sources: Brivio and Trott (2019) for SMEFT; Koike et al. (2010) for the D=6 Lagrangian of mu- e- -&gt; e- e-; Kumar and Petrov (2026) for axion-like particle models. Photonic and contact contributions differ in their dependence on Z (Uesaka et al. 2016).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Lagrangian -&gt; Feynman rules -&gt; amplitude; amplitude squared with Fermi golden rule -&gt; rate; in the muonic atom Gamma = sigma v_rel |psi_1s(0)|^2 with |psi|^2 = (Z-1)^3 alpha^3 m_e^3 / pi (Koike et al. 2010); Br = tau Gamma; N_sig = N_stop eps Br; zero events gives Br &lt; 2.44/(N_stop eps) at 90% CL (Feldman-Cousins).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muonic Al lifetime 864 ns versus pion lifetime 26 ns, so a delayed live window removes prompt RPC and beam flash. Extinction between pulses must stay at or below 1e-10. RMC photon endpoint in Al sits near 102 MeV, below the 104.97 MeV conversion energy. At half field the DIO peak lands on the straws, which drives the beam-power reduction studied in Goal 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values refer to the detector solenoid at the tracker: nominal 1 T, half field 0.5 T. Helix radius scales as p_T/(0.3 B), so halving B doubles the radius of a 52.8 MeV electron, matching a 105 MeV electron at full field. Beam-power reduction fraction remains to be determined in simulation.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LaTeX for native PowerPoint equations (Insert &gt; Equation &gt; LaTeX):
3: f(\Delta t)=\frac{1}{\tau_\mu} e^{-\Delta t/\tau_\mu}
4: E_1=E_2=\frac{m_\mu}{2}\approx 52.8\ \mathrm{MeV}
5: |\mathbf{p}|=\sqrt{E_i^2-m_e^2},\ \mathbf{p}_1=|\mathbf{p}|\hat{n},\ \mathbf{p}_2=-|\mathbf{p}|\hat{n}
6: p_1^\mu=(E_1,\mathbf{p}_1),\ p_2^\mu=(E_2,\mathbf{p}_2),\ \mathbf{p}_1=-\mathbf{p}_2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Survival numbers from Table 2 of the proposal: 100,000 stops, 66,545 surviving primaries, 50,792 after digitization, 50,792 after reconstruction. The drop at primary generation reflects geometric acceptance; digitization removes events without enough detector hits. Reconstruction keeps every digitized event at this stage. Selection cuts follow on slide 32.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stages (gray) come from geometric acceptance and detector response. The three analysis cuts (shaded) take 50,792 reconstructed events to 16,771 candidates, keeping 33.0% of reconstructed events. The calorimeter cut is the most open to relaxation for higher acceptance.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Colors follow the ROOT plot. Truth is a single spike at m_mu/2. The reconstructed peak sits slightly below because electrons lose energy crossing the stopping-target foils and tracker material, which also builds the long low-momentum tail. The 50 to 53 MeV/c window keeps the peak and removes the tail.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is minimized instead of |D| because |D| is non-negative, so both share the same minimum and F avoids the square root.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forms: s* = [(w0·p1) − (p1·p2)(w0·p2)] / [1 − (p1·p2)^2], t* = [(w0·p1)(p1·p2) − (w0·p2)] / [1 − (p1·p2)^2]. Note the denominator 1 − a^2 vanishes when the two directions are parallel or antiparallel (a = ±1); near back-to-back directions make the solution numerically sensitive. The vertex is the midpoint r_V = (r1* + r2*)/2, with the plus sign.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conclusion band: the deliverable is a decision tool for the collaboration. Numbers: 16,771 of 100,000 stops survive (16.8%); vertex resolution sigma 63.6 mm in x, 61.1 mm in y, 288.6 mm in z. Current mu- e- -&gt; e- e- limit of 1.0e-12 is inferred by crossing symmetry from SINDRUM mu+ -&gt; e+ e- e+ (1988).</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proton beam will be utilizing the Fermilab Delivery Ring to supply a stream of 8 GeV kinetic energy protons in a time-pulsed format. This pulse will have a Full width half max of 250 ns and a separation of 1,695 ns for reasons that will be discussed a little later. </a:t>
            </a:r>
          </a:p>
          <a:p>
            <a:r>
              <a:rPr lang="en-US" dirty="0"/>
              <a:t>A quick sneak peak into why we will be discussing these things is in this diagram. Notice how the selection window for events exists between these pulses. This is part of the </a:t>
            </a:r>
            <a:r>
              <a:rPr lang="en-US" dirty="0" err="1"/>
              <a:t>inginuity</a:t>
            </a:r>
            <a:r>
              <a:rPr lang="en-US" dirty="0"/>
              <a:t> of the Mu2e experiment in its intensity of muon beams and its avoidance of backgrounds. </a:t>
            </a:r>
          </a:p>
          <a:p>
            <a:r>
              <a:rPr lang="en-US" dirty="0"/>
              <a:t>the anticipated protons on target is 3.6 x 10 to the 20</a:t>
            </a:r>
          </a:p>
        </p:txBody>
      </p:sp>
      <p:sp>
        <p:nvSpPr>
          <p:cNvPr id="4" name="Slide Number Placeholder 3"/>
          <p:cNvSpPr>
            <a:spLocks noGrp="1"/>
          </p:cNvSpPr>
          <p:nvPr>
            <p:ph type="sldNum" sz="quarter" idx="5"/>
          </p:nvPr>
        </p:nvSpPr>
        <p:spPr/>
        <p:txBody>
          <a:bodyPr/>
          <a:lstStyle/>
          <a:p>
            <a:fld id="{5FBA8C5B-1EA6-824C-9815-9E09DEFC71FC}" type="slidenum">
              <a:rPr lang="en-US" smtClean="0"/>
              <a:t>51</a:t>
            </a:fld>
            <a:endParaRPr lang="en-US"/>
          </a:p>
        </p:txBody>
      </p:sp>
    </p:spTree>
    <p:extLst>
      <p:ext uri="{BB962C8B-B14F-4D97-AF65-F5344CB8AC3E}">
        <p14:creationId xmlns:p14="http://schemas.microsoft.com/office/powerpoint/2010/main" val="39288818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production target is a radiatively cooled solid tungsten target. </a:t>
            </a:r>
          </a:p>
          <a:p>
            <a:r>
              <a:rPr lang="en-US" dirty="0"/>
              <a:t>upon collision with the target, the protons cause a process to produce pions that scatter backwards and begin to travel further down the experimental path</a:t>
            </a:r>
          </a:p>
          <a:p>
            <a:r>
              <a:rPr lang="en-US" dirty="0"/>
              <a:t>all types of pions can be scattered, and specifically the pions of interest are the negative ones. pions decay into muons and neutrinos according to the diagrams below and these are what will propagate into the next component</a:t>
            </a:r>
          </a:p>
          <a:p>
            <a:r>
              <a:rPr lang="en-US" dirty="0"/>
              <a:t>here is an image of the magnetic field density of the solenoid and the flux along the field axis from the Production Solenoid conceptual design</a:t>
            </a:r>
          </a:p>
        </p:txBody>
      </p:sp>
      <p:sp>
        <p:nvSpPr>
          <p:cNvPr id="4" name="Slide Number Placeholder 3"/>
          <p:cNvSpPr>
            <a:spLocks noGrp="1"/>
          </p:cNvSpPr>
          <p:nvPr>
            <p:ph type="sldNum" sz="quarter" idx="5"/>
          </p:nvPr>
        </p:nvSpPr>
        <p:spPr/>
        <p:txBody>
          <a:bodyPr/>
          <a:lstStyle/>
          <a:p>
            <a:fld id="{5FBA8C5B-1EA6-824C-9815-9E09DEFC71FC}" type="slidenum">
              <a:rPr lang="en-US" smtClean="0"/>
              <a:t>52</a:t>
            </a:fld>
            <a:endParaRPr lang="en-US"/>
          </a:p>
        </p:txBody>
      </p:sp>
    </p:spTree>
    <p:extLst>
      <p:ext uri="{BB962C8B-B14F-4D97-AF65-F5344CB8AC3E}">
        <p14:creationId xmlns:p14="http://schemas.microsoft.com/office/powerpoint/2010/main" val="1723313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reason for this S shape? there are in fact three major functions</a:t>
            </a:r>
          </a:p>
          <a:p>
            <a:r>
              <a:rPr lang="en-US" dirty="0"/>
              <a:t>the first is that it allows for selection of muon vs anti muon going in the direction of the detector</a:t>
            </a:r>
          </a:p>
          <a:p>
            <a:r>
              <a:rPr lang="en-US" dirty="0"/>
              <a:t>vertical deviation from the path differs between positive and negative charges and there is a vertical deviation from the path on account of particle drift in the solenoidal field, something that is mentioned in a problem in Jacksons classical electromagnetism text</a:t>
            </a:r>
          </a:p>
          <a:p>
            <a:r>
              <a:rPr lang="en-US" dirty="0"/>
              <a:t>Next is that is prevents the accumulation of energetic photons that may alter the signals or cause undue firings of photomultipliers -- since they are uncharged they do not bend in the presence of a magnetic field and go directly into the wall of the solenoid at the bend</a:t>
            </a:r>
          </a:p>
          <a:p>
            <a:r>
              <a:rPr lang="en-US" dirty="0"/>
              <a:t>Finally, it acts a momentum selector (of sorts), as particles with too large a momentum will hit the solenoid walls and not make it into the  detector system. this is due to the increase of perpendicular component of momentum adjusting the radial motion of the particle in the magnetic field (radius of gyration)</a:t>
            </a:r>
          </a:p>
          <a:p>
            <a:endParaRPr lang="en-US" dirty="0"/>
          </a:p>
          <a:p>
            <a:r>
              <a:rPr lang="en-US" dirty="0"/>
              <a:t>Here is a recent image of the fully installed transport solenoid in the Mu2e pit at Fermilab</a:t>
            </a:r>
          </a:p>
        </p:txBody>
      </p:sp>
      <p:sp>
        <p:nvSpPr>
          <p:cNvPr id="4" name="Slide Number Placeholder 3"/>
          <p:cNvSpPr>
            <a:spLocks noGrp="1"/>
          </p:cNvSpPr>
          <p:nvPr>
            <p:ph type="sldNum" sz="quarter" idx="5"/>
          </p:nvPr>
        </p:nvSpPr>
        <p:spPr/>
        <p:txBody>
          <a:bodyPr/>
          <a:lstStyle/>
          <a:p>
            <a:fld id="{5FBA8C5B-1EA6-824C-9815-9E09DEFC71FC}" type="slidenum">
              <a:rPr lang="en-US" smtClean="0"/>
              <a:t>53</a:t>
            </a:fld>
            <a:endParaRPr lang="en-US"/>
          </a:p>
        </p:txBody>
      </p:sp>
    </p:spTree>
    <p:extLst>
      <p:ext uri="{BB962C8B-B14F-4D97-AF65-F5344CB8AC3E}">
        <p14:creationId xmlns:p14="http://schemas.microsoft.com/office/powerpoint/2010/main" val="42601634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muon travels and kicks out an electron bound to the aluminum atom and finds rest inside the n=1 or K shell. The K shell, not having any orbitals except the single s orbital can only hold two spin 1/2 particles. An interesting calculation one could do here is look at what would happen to the Bohr radius at the ground level of the hydrogen atom in this situation. It happens that the </a:t>
            </a:r>
            <a:r>
              <a:rPr lang="en-US" dirty="0" err="1"/>
              <a:t>Borh</a:t>
            </a:r>
            <a:r>
              <a:rPr lang="en-US" dirty="0"/>
              <a:t> radius could actually have a probability of overlapping with the nuclear radius itself.</a:t>
            </a:r>
          </a:p>
          <a:p>
            <a:r>
              <a:rPr lang="en-US" dirty="0"/>
              <a:t>The Aluminum is much larger than a hydrogen atom sitting at a Z of 13, and neutrons included to boot, but this aluminum is well equipped to help us stud the effects we are looking for, being 168 grams, its lightweight and can be suspended and it has an annular construction so as to minimize the damage of the stopping targets as products pass to the beam dump</a:t>
            </a:r>
          </a:p>
          <a:p>
            <a:endParaRPr lang="en-US" dirty="0"/>
          </a:p>
          <a:p>
            <a:r>
              <a:rPr lang="en-US" dirty="0"/>
              <a:t>this is an image of electron origin positions plotted using ROOT from mixed process Geant4 Simulation files utilizing the Mu2e geometry. The shaded region with high frequency is the stopping target.</a:t>
            </a:r>
          </a:p>
          <a:p>
            <a:endParaRPr lang="en-US" dirty="0"/>
          </a:p>
          <a:p>
            <a:r>
              <a:rPr lang="en-US" dirty="0"/>
              <a:t>muons in the potential of the aluminum nucleus have a much shorter lifetime, sitting at only </a:t>
            </a:r>
            <a:r>
              <a:rPr lang="en-US" dirty="0" err="1"/>
              <a:t>aroud</a:t>
            </a:r>
            <a:r>
              <a:rPr lang="en-US" dirty="0"/>
              <a:t> 864 ns compared to the 2.2 microsecond for a free muon. Further, electrons produced by this reaction (called conversion electrons) are monoenergetic, producing a signature of 104.973 MeV</a:t>
            </a:r>
          </a:p>
        </p:txBody>
      </p:sp>
      <p:sp>
        <p:nvSpPr>
          <p:cNvPr id="4" name="Slide Number Placeholder 3"/>
          <p:cNvSpPr>
            <a:spLocks noGrp="1"/>
          </p:cNvSpPr>
          <p:nvPr>
            <p:ph type="sldNum" sz="quarter" idx="5"/>
          </p:nvPr>
        </p:nvSpPr>
        <p:spPr/>
        <p:txBody>
          <a:bodyPr/>
          <a:lstStyle/>
          <a:p>
            <a:fld id="{5FBA8C5B-1EA6-824C-9815-9E09DEFC71FC}" type="slidenum">
              <a:rPr lang="en-US" smtClean="0"/>
              <a:t>54</a:t>
            </a:fld>
            <a:endParaRPr lang="en-US"/>
          </a:p>
        </p:txBody>
      </p:sp>
    </p:spTree>
    <p:extLst>
      <p:ext uri="{BB962C8B-B14F-4D97-AF65-F5344CB8AC3E}">
        <p14:creationId xmlns:p14="http://schemas.microsoft.com/office/powerpoint/2010/main" val="31700338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tracker is comprised of 18 separate tiers each with 2 planes offset by an angle of 30 degrees containing a number of straw tubes. </a:t>
            </a:r>
          </a:p>
          <a:p>
            <a:r>
              <a:rPr lang="en-US" dirty="0"/>
              <a:t>These straw tubes function by the ionization of an inert gas (argon and CO2 mixture) which then sends a signal to the electronics of the system letting the system know a particle has now passed through it. After passing through the system the trajectories can be determined by coincidence of signals from the various straws. This allows us to reconstruct the path and analyze it, along with the next component</a:t>
            </a:r>
          </a:p>
          <a:p>
            <a:r>
              <a:rPr lang="en-US" dirty="0"/>
              <a:t>Small energy resolution and minimum losses allow us to decrease the effect of a particularly detrimental background called Decay in Orbit (DIO) which we will come back to</a:t>
            </a:r>
          </a:p>
          <a:p>
            <a:endParaRPr lang="en-US" dirty="0"/>
          </a:p>
          <a:p>
            <a:r>
              <a:rPr lang="en-US" dirty="0"/>
              <a:t>here is an image that shows that detector plates construction with some acceptance regions shown for various momenta electrons passing through. Note how the </a:t>
            </a:r>
            <a:r>
              <a:rPr lang="en-US" dirty="0" err="1"/>
              <a:t>michel</a:t>
            </a:r>
            <a:r>
              <a:rPr lang="en-US" dirty="0"/>
              <a:t> electrons (those that go like the Standard Model decay, are not incident on the straws, while the green circle shows the conversion electrons are) </a:t>
            </a:r>
          </a:p>
        </p:txBody>
      </p:sp>
      <p:sp>
        <p:nvSpPr>
          <p:cNvPr id="4" name="Slide Number Placeholder 3"/>
          <p:cNvSpPr>
            <a:spLocks noGrp="1"/>
          </p:cNvSpPr>
          <p:nvPr>
            <p:ph type="sldNum" sz="quarter" idx="5"/>
          </p:nvPr>
        </p:nvSpPr>
        <p:spPr/>
        <p:txBody>
          <a:bodyPr/>
          <a:lstStyle/>
          <a:p>
            <a:fld id="{5FBA8C5B-1EA6-824C-9815-9E09DEFC71FC}" type="slidenum">
              <a:rPr lang="en-US" smtClean="0"/>
              <a:t>55</a:t>
            </a:fld>
            <a:endParaRPr lang="en-US"/>
          </a:p>
        </p:txBody>
      </p:sp>
    </p:spTree>
    <p:extLst>
      <p:ext uri="{BB962C8B-B14F-4D97-AF65-F5344CB8AC3E}">
        <p14:creationId xmlns:p14="http://schemas.microsoft.com/office/powerpoint/2010/main" val="30496180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calo is constructed from undoped cesium iodide crystals which are a very prominent scintillating material in particle physics on account of its wavelength and versatility. Light from the scintillators is taken in and amplified by the Silicon photomultiplier tubes and then converted to a signal read in from DAQ.</a:t>
            </a:r>
          </a:p>
          <a:p>
            <a:r>
              <a:rPr lang="en-US" dirty="0"/>
              <a:t>The two disk system with spacing of about one half helix wavelength allows us to make sure the </a:t>
            </a:r>
            <a:r>
              <a:rPr lang="en-US" dirty="0" err="1"/>
              <a:t>helicies</a:t>
            </a:r>
            <a:r>
              <a:rPr lang="en-US" dirty="0"/>
              <a:t> do not miss one of the plates before heading to the beam dump</a:t>
            </a:r>
          </a:p>
          <a:p>
            <a:r>
              <a:rPr lang="en-US" dirty="0"/>
              <a:t>This purpose is three-fold. First for identification of particles on account of the radiative showering difference between electrons and muons (and other particle). Next is the improvement of track reconstruction. If we want to decrease the computational power needed, its easiest to start where the electron ended and work backwards to give us our fits. Thirdly it allows us to have an energy trigger which is very important for this specific reaction.</a:t>
            </a:r>
          </a:p>
          <a:p>
            <a:endParaRPr lang="en-US" dirty="0"/>
          </a:p>
          <a:p>
            <a:r>
              <a:rPr lang="en-US" dirty="0"/>
              <a:t>here is an image of the calorimeter in its mockup diagram</a:t>
            </a:r>
          </a:p>
        </p:txBody>
      </p:sp>
      <p:sp>
        <p:nvSpPr>
          <p:cNvPr id="4" name="Slide Number Placeholder 3"/>
          <p:cNvSpPr>
            <a:spLocks noGrp="1"/>
          </p:cNvSpPr>
          <p:nvPr>
            <p:ph type="sldNum" sz="quarter" idx="5"/>
          </p:nvPr>
        </p:nvSpPr>
        <p:spPr/>
        <p:txBody>
          <a:bodyPr/>
          <a:lstStyle/>
          <a:p>
            <a:fld id="{5FBA8C5B-1EA6-824C-9815-9E09DEFC71FC}" type="slidenum">
              <a:rPr lang="en-US" smtClean="0"/>
              <a:t>56</a:t>
            </a:fld>
            <a:endParaRPr lang="en-US"/>
          </a:p>
        </p:txBody>
      </p:sp>
    </p:spTree>
    <p:extLst>
      <p:ext uri="{BB962C8B-B14F-4D97-AF65-F5344CB8AC3E}">
        <p14:creationId xmlns:p14="http://schemas.microsoft.com/office/powerpoint/2010/main" val="1924377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ADA29-8318-D603-C004-805D298F99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2A94F2-EC83-4C3F-DCB0-100AD66339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31A2A0-8D99-3250-8423-FE121BE79D8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F6EF34E-7A6C-AA45-3955-F58A9CB51D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31AE82-0854-D175-78E4-7539A0CBCD73}"/>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2015412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A1545-32A9-92AE-8C11-B53C28832B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518CC5-0922-C12A-EC37-B5A8F49F12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F778F3-70D8-98D5-CD36-548AD17B266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F6CA82D-ED6B-97B2-FF50-206219D2BD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51FD3E-17D8-54B5-0BD4-7D8692DD0301}"/>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158372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B855-F25B-400C-7D5F-8999C8F901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8629FF-0C01-B418-3274-696BE94CBB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9E23A-4E3D-F2F6-8F39-20E5EBF8CFA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0284ECD-DE36-80D2-6F00-F7BF712986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B1E7C-6380-0684-385D-03DF96DAEBBF}"/>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345950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CE43F-1CDC-9EE8-8197-3AF30A2AAA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28F771-AA18-152C-86C0-1C811F5738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3D804A-BB03-1F77-8EAC-8CF5258F4B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9C417A-09EF-BB79-76F5-BF1F1CF27DF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A881ECD-3BB8-17D5-565B-FA6D33C95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326F01-EF2A-0337-6EFB-1314DC45C060}"/>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2254633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58B6-FDD6-8EDB-FF38-A3CDB7632D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C8457C-29F1-E8B4-6CB4-662BEBF38A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A20BFC-CE81-0B82-5A50-D80BAD5012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4CD25A-B1EF-B90E-DEB9-B4108F9E43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1B69B2-2D6B-FA04-892B-9AC82BC8FD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D27A68-ECD1-D102-8FCE-CA188D178F4D}"/>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AC61A33-2E33-2E18-5A1F-3D2E950708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463CCE-4474-633D-865F-B028B40EAB82}"/>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1408174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070C-76D2-B19E-7C9A-995DA816E7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740FC2-1268-D46B-4D32-92B7F5D9A04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4B86468-5152-1449-7F77-9048D686CF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A93AE3-896E-250D-6C2C-150223120FB9}"/>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1413823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8AAAA5-0822-1283-0082-D8E3150FDC5B}"/>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A32AF4E-3556-4F00-DD61-2AC81EE22F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BC4183-63DD-779F-6A3F-299DB1D8DD7B}"/>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2804624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BB275-0A8F-E65C-081D-4DF0F555C1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88DBB0-C3D2-9177-E075-377E767F7F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B20C18-FF8F-0C9A-8AA2-5A126ABFE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DBDA23-993B-4DF8-4934-DD3BBEF8DCF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91420B8-2B43-3A5C-8934-7D7B644692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9884AC-DBA9-11A1-5518-26454E5A5796}"/>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3336959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FF0E1-1502-CF12-D7A4-AA697564EC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1E79F3-9E9A-3747-5CA7-7185A4023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00B97D-AF0C-3B9C-2470-6DC0464CE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D5494-E5EC-0C28-39BA-C3E3754153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E17C0F3-E093-D65F-D919-ACBD228062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303B56-8556-1770-EB25-B1B8F5904B48}"/>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2649947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F4E46-F0AB-A681-8740-BC69960319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77255F-086B-6814-3097-EE9AE078FE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1FCB7-85C2-E789-7804-C3212CBA0A6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0C080F1-DCEE-028C-8BCD-A61DBEBF1E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CACD8E-E67A-21F3-1966-28066381F18D}"/>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375568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B89AF7-ADF5-FF00-7906-AE0C3BF7B5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F2BA14-D59C-CEE6-6CDC-F3B8415F11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3281CF-D204-4125-D555-B6A3DF4D00F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08A5483-71F5-7BE0-D7A1-5B94D55CC6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0DAAD7-3A7E-9795-99F8-AFED8D624D8D}"/>
              </a:ext>
            </a:extLst>
          </p:cNvPr>
          <p:cNvSpPr>
            <a:spLocks noGrp="1"/>
          </p:cNvSpPr>
          <p:nvPr>
            <p:ph type="sldNum" sz="quarter" idx="12"/>
          </p:nvPr>
        </p:nvSpPr>
        <p:spPr/>
        <p:txBody>
          <a:bodyPr/>
          <a:lstStyle/>
          <a:p>
            <a:fld id="{C0E0CB54-3DBF-E947-906E-85E307CF7971}" type="slidenum">
              <a:rPr lang="en-US" smtClean="0"/>
              <a:t>‹#›</a:t>
            </a:fld>
            <a:endParaRPr lang="en-US"/>
          </a:p>
        </p:txBody>
      </p:sp>
    </p:spTree>
    <p:extLst>
      <p:ext uri="{BB962C8B-B14F-4D97-AF65-F5344CB8AC3E}">
        <p14:creationId xmlns:p14="http://schemas.microsoft.com/office/powerpoint/2010/main" val="2824376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6709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65E2F0-FE44-AEF6-4BFF-76387632B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AAB237-5922-E195-C483-96835DC317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7F3D14-F1C7-4D21-886C-479CEA2091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2F4CCB5-7F79-D7A1-91BC-CB6F888360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E50930F-328B-7149-6776-6033535770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E0CB54-3DBF-E947-906E-85E307CF7971}" type="slidenum">
              <a:rPr lang="en-US" smtClean="0"/>
              <a:t>‹#›</a:t>
            </a:fld>
            <a:endParaRPr lang="en-US"/>
          </a:p>
        </p:txBody>
      </p:sp>
    </p:spTree>
    <p:extLst>
      <p:ext uri="{BB962C8B-B14F-4D97-AF65-F5344CB8AC3E}">
        <p14:creationId xmlns:p14="http://schemas.microsoft.com/office/powerpoint/2010/main" val="367397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Eq12" Type="http://schemas.openxmlformats.org/officeDocument/2006/relationships/image" Target="../media/smeq_0_12.png"/><Relationship Id="rIdEq17" Type="http://schemas.openxmlformats.org/officeDocument/2006/relationships/image" Target="../media/smeq_0_17.png"/><Relationship Id="rIdEq25" Type="http://schemas.openxmlformats.org/officeDocument/2006/relationships/image" Target="../media/smeq_0_25.png"/><Relationship Id="rIdEq3" Type="http://schemas.openxmlformats.org/officeDocument/2006/relationships/image" Target="../media/smeq_0_3.png"/><Relationship Id="rIdEq8" Type="http://schemas.openxmlformats.org/officeDocument/2006/relationships/image" Target="../media/smeq_0_8.png"/><Relationship Id="rIdEq20" Type="http://schemas.openxmlformats.org/officeDocument/2006/relationships/image" Target="../media/smeq_0_20.png"/><Relationship Id="rIdEq33" Type="http://schemas.openxmlformats.org/officeDocument/2006/relationships/image" Target="../media/smeq_0_33.png"/><Relationship Id="rIdEq7" Type="http://schemas.openxmlformats.org/officeDocument/2006/relationships/image" Target="../media/smeq_0_7.png"/><Relationship Id="rIdEq11" Type="http://schemas.openxmlformats.org/officeDocument/2006/relationships/image" Target="../media/smeq_0_11.png"/><Relationship Id="rIdEq16" Type="http://schemas.openxmlformats.org/officeDocument/2006/relationships/image" Target="../media/smeq_0_16.png"/><Relationship Id="rIdEq24" Type="http://schemas.openxmlformats.org/officeDocument/2006/relationships/image" Target="../media/smeq_0_24.png"/><Relationship Id="rIdEq29" Type="http://schemas.openxmlformats.org/officeDocument/2006/relationships/image" Target="../media/smeq_0_29.png"/><Relationship Id="rIdEq32" Type="http://schemas.openxmlformats.org/officeDocument/2006/relationships/image" Target="../media/smeq_0_32.png"/><Relationship Id="rIdEq37" Type="http://schemas.openxmlformats.org/officeDocument/2006/relationships/image" Target="../media/smeq_0_37.png"/><Relationship Id="rId2" Type="http://schemas.openxmlformats.org/officeDocument/2006/relationships/notesSlide" Target="../notesSlides/notesSlide3.xml"/><Relationship Id="rIdEq2" Type="http://schemas.openxmlformats.org/officeDocument/2006/relationships/image" Target="../media/smeq_0_2.png"/><Relationship Id="rIdEq15" Type="http://schemas.openxmlformats.org/officeDocument/2006/relationships/image" Target="../media/smeq_0_15.png"/><Relationship Id="rIdEq28" Type="http://schemas.openxmlformats.org/officeDocument/2006/relationships/image" Target="../media/smeq_0_28.png"/><Relationship Id="rId1" Type="http://schemas.openxmlformats.org/officeDocument/2006/relationships/slideLayout" Target="../slideLayouts/slideLayout12.xml"/><Relationship Id="rIdEq1" Type="http://schemas.openxmlformats.org/officeDocument/2006/relationships/image" Target="../media/smeq_0_1.png"/><Relationship Id="rIdEq6" Type="http://schemas.openxmlformats.org/officeDocument/2006/relationships/image" Target="../media/smeq_0_6.png"/><Relationship Id="rIdEq10" Type="http://schemas.openxmlformats.org/officeDocument/2006/relationships/image" Target="../media/smeq_0_10.png"/><Relationship Id="rIdEq23" Type="http://schemas.openxmlformats.org/officeDocument/2006/relationships/image" Target="../media/smeq_0_23.png"/><Relationship Id="rIdEq31" Type="http://schemas.openxmlformats.org/officeDocument/2006/relationships/image" Target="../media/smeq_0_31.png"/><Relationship Id="rIdEq36" Type="http://schemas.openxmlformats.org/officeDocument/2006/relationships/image" Target="../media/smeq_0_36.png"/><Relationship Id="rIdEq14" Type="http://schemas.openxmlformats.org/officeDocument/2006/relationships/image" Target="../media/smeq_0_14.png"/><Relationship Id="rIdEq19" Type="http://schemas.openxmlformats.org/officeDocument/2006/relationships/image" Target="../media/smeq_0_19.png"/><Relationship Id="rIdEq22" Type="http://schemas.openxmlformats.org/officeDocument/2006/relationships/image" Target="../media/smeq_0_22.png"/><Relationship Id="rIdEq27" Type="http://schemas.openxmlformats.org/officeDocument/2006/relationships/image" Target="../media/smeq_0_27.png"/><Relationship Id="rIdEq35" Type="http://schemas.openxmlformats.org/officeDocument/2006/relationships/image" Target="../media/smeq_0_35.png"/><Relationship Id="rIdEq5" Type="http://schemas.openxmlformats.org/officeDocument/2006/relationships/image" Target="../media/smeq_0_5.png"/><Relationship Id="rIdEq18" Type="http://schemas.openxmlformats.org/officeDocument/2006/relationships/image" Target="../media/smeq_0_18.png"/><Relationship Id="rIdEq30" Type="http://schemas.openxmlformats.org/officeDocument/2006/relationships/image" Target="../media/smeq_0_30.png"/><Relationship Id="rIdEq4" Type="http://schemas.openxmlformats.org/officeDocument/2006/relationships/image" Target="../media/smeq_0_4.png"/><Relationship Id="rIdEq9" Type="http://schemas.openxmlformats.org/officeDocument/2006/relationships/image" Target="../media/smeq_0_9.png"/><Relationship Id="rIdEq13" Type="http://schemas.openxmlformats.org/officeDocument/2006/relationships/image" Target="../media/smeq_0_13.png"/><Relationship Id="rIdEq21" Type="http://schemas.openxmlformats.org/officeDocument/2006/relationships/image" Target="../media/smeq_0_21.png"/><Relationship Id="rIdEq26" Type="http://schemas.openxmlformats.org/officeDocument/2006/relationships/image" Target="../media/smeq_0_26.png"/><Relationship Id="rIdEq34" Type="http://schemas.openxmlformats.org/officeDocument/2006/relationships/image" Target="../media/smeq_0_34.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Eq38" Type="http://schemas.openxmlformats.org/officeDocument/2006/relationships/image" Target="../media/smeq_1_38.png"/><Relationship Id="rIdEq46" Type="http://schemas.openxmlformats.org/officeDocument/2006/relationships/image" Target="../media/smeq_1_46.png"/><Relationship Id="rIdEq59" Type="http://schemas.openxmlformats.org/officeDocument/2006/relationships/image" Target="../media/smeq_1_59.png"/><Relationship Id="rIdEq41" Type="http://schemas.openxmlformats.org/officeDocument/2006/relationships/image" Target="../media/smeq_1_41.png"/><Relationship Id="rIdEq54" Type="http://schemas.openxmlformats.org/officeDocument/2006/relationships/image" Target="../media/smeq_1_54.png"/><Relationship Id="rIdEq62" Type="http://schemas.openxmlformats.org/officeDocument/2006/relationships/image" Target="../media/smeq_1_62.png"/><Relationship Id="rIdEq67" Type="http://schemas.openxmlformats.org/officeDocument/2006/relationships/image" Target="../media/smeq_1_67.png"/><Relationship Id="rIdEq70" Type="http://schemas.openxmlformats.org/officeDocument/2006/relationships/image" Target="../media/smeq_1_70.png"/><Relationship Id="rIdEq45" Type="http://schemas.openxmlformats.org/officeDocument/2006/relationships/image" Target="../media/smeq_1_45.png"/><Relationship Id="rIdEq58" Type="http://schemas.openxmlformats.org/officeDocument/2006/relationships/image" Target="../media/smeq_1_58.png"/><Relationship Id="rIdEq66" Type="http://schemas.openxmlformats.org/officeDocument/2006/relationships/image" Target="../media/smeq_1_66.png"/><Relationship Id="rId2" Type="http://schemas.openxmlformats.org/officeDocument/2006/relationships/notesSlide" Target="../notesSlides/notesSlide4.xml"/><Relationship Id="rIdEq40" Type="http://schemas.openxmlformats.org/officeDocument/2006/relationships/image" Target="../media/smeq_1_40.png"/><Relationship Id="rIdEq49" Type="http://schemas.openxmlformats.org/officeDocument/2006/relationships/image" Target="../media/smeq_1_49.png"/><Relationship Id="rIdEq53" Type="http://schemas.openxmlformats.org/officeDocument/2006/relationships/image" Target="../media/smeq_1_53.png"/><Relationship Id="rIdEq61" Type="http://schemas.openxmlformats.org/officeDocument/2006/relationships/image" Target="../media/smeq_1_61.png"/><Relationship Id="rIdEq74" Type="http://schemas.openxmlformats.org/officeDocument/2006/relationships/image" Target="../media/smeq_1_74.png"/><Relationship Id="rId1" Type="http://schemas.openxmlformats.org/officeDocument/2006/relationships/slideLayout" Target="../slideLayouts/slideLayout12.xml"/><Relationship Id="rIdEq44" Type="http://schemas.openxmlformats.org/officeDocument/2006/relationships/image" Target="../media/smeq_1_44.png"/><Relationship Id="rIdEq52" Type="http://schemas.openxmlformats.org/officeDocument/2006/relationships/image" Target="../media/smeq_1_52.png"/><Relationship Id="rIdEq57" Type="http://schemas.openxmlformats.org/officeDocument/2006/relationships/image" Target="../media/smeq_1_57.png"/><Relationship Id="rIdEq65" Type="http://schemas.openxmlformats.org/officeDocument/2006/relationships/image" Target="../media/smeq_1_65.png"/><Relationship Id="rIdEq73" Type="http://schemas.openxmlformats.org/officeDocument/2006/relationships/image" Target="../media/smeq_1_73.png"/><Relationship Id="rIdEq48" Type="http://schemas.openxmlformats.org/officeDocument/2006/relationships/image" Target="../media/smeq_1_48.png"/><Relationship Id="rIdEq56" Type="http://schemas.openxmlformats.org/officeDocument/2006/relationships/image" Target="../media/smeq_1_56.png"/><Relationship Id="rIdEq60" Type="http://schemas.openxmlformats.org/officeDocument/2006/relationships/image" Target="../media/smeq_1_60.png"/><Relationship Id="rIdEq69" Type="http://schemas.openxmlformats.org/officeDocument/2006/relationships/image" Target="../media/smeq_1_69.png"/><Relationship Id="rIdEq39" Type="http://schemas.openxmlformats.org/officeDocument/2006/relationships/image" Target="../media/smeq_1_39.png"/><Relationship Id="rIdEq43" Type="http://schemas.openxmlformats.org/officeDocument/2006/relationships/image" Target="../media/smeq_1_43.png"/><Relationship Id="rIdEq51" Type="http://schemas.openxmlformats.org/officeDocument/2006/relationships/image" Target="../media/smeq_1_51.png"/><Relationship Id="rIdEq64" Type="http://schemas.openxmlformats.org/officeDocument/2006/relationships/image" Target="../media/smeq_1_64.png"/><Relationship Id="rIdEq72" Type="http://schemas.openxmlformats.org/officeDocument/2006/relationships/image" Target="../media/smeq_1_72.png"/><Relationship Id="rIdEq42" Type="http://schemas.openxmlformats.org/officeDocument/2006/relationships/image" Target="../media/smeq_1_42.png"/><Relationship Id="rIdEq47" Type="http://schemas.openxmlformats.org/officeDocument/2006/relationships/image" Target="../media/smeq_1_47.png"/><Relationship Id="rIdEq55" Type="http://schemas.openxmlformats.org/officeDocument/2006/relationships/image" Target="../media/smeq_1_55.png"/><Relationship Id="rIdEq63" Type="http://schemas.openxmlformats.org/officeDocument/2006/relationships/image" Target="../media/smeq_1_63.png"/><Relationship Id="rIdEq68" Type="http://schemas.openxmlformats.org/officeDocument/2006/relationships/image" Target="../media/smeq_1_68.png"/><Relationship Id="rIdEq50" Type="http://schemas.openxmlformats.org/officeDocument/2006/relationships/image" Target="../media/smeq_1_50.png"/><Relationship Id="rIdEq71" Type="http://schemas.openxmlformats.org/officeDocument/2006/relationships/image" Target="../media/smeq_1_7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41.png"/><Relationship Id="rId18" Type="http://schemas.openxmlformats.org/officeDocument/2006/relationships/customXml" Target="../ink/ink7.xml"/><Relationship Id="rIdV2" Type="http://schemas.openxmlformats.org/officeDocument/2006/relationships/image" Target="../media/fallback_vtx2.png"/><Relationship Id="rId21" Type="http://schemas.openxmlformats.org/officeDocument/2006/relationships/image" Target="../media/image62.png"/><Relationship Id="rId7" Type="http://schemas.openxmlformats.org/officeDocument/2006/relationships/image" Target="../media/image100.png"/><Relationship Id="rId12" Type="http://schemas.openxmlformats.org/officeDocument/2006/relationships/customXml" Target="../ink/ink4.xml"/><Relationship Id="rId17" Type="http://schemas.openxmlformats.org/officeDocument/2006/relationships/image" Target="../media/image160.png"/><Relationship Id="rIdV1" Type="http://schemas.openxmlformats.org/officeDocument/2006/relationships/image" Target="../media/fallback_vtx1.png"/><Relationship Id="rId2" Type="http://schemas.openxmlformats.org/officeDocument/2006/relationships/customXml" Target="../ink/ink1.xml"/><Relationship Id="rId16" Type="http://schemas.openxmlformats.org/officeDocument/2006/relationships/customXml" Target="../ink/ink6.xml"/><Relationship Id="rId20" Type="http://schemas.openxmlformats.org/officeDocument/2006/relationships/image" Target="../media/image61.png"/><Relationship Id="rId1" Type="http://schemas.openxmlformats.org/officeDocument/2006/relationships/slideLayout" Target="../slideLayouts/slideLayout2.xml"/><Relationship Id="rIdV0" Type="http://schemas.openxmlformats.org/officeDocument/2006/relationships/image" Target="../media/fallback_vtx0.png"/><Relationship Id="rId6" Type="http://schemas.openxmlformats.org/officeDocument/2006/relationships/customXml" Target="../ink/ink2.xml"/><Relationship Id="rId11" Type="http://schemas.openxmlformats.org/officeDocument/2006/relationships/image" Target="../media/image60.png"/><Relationship Id="rId24" Type="http://schemas.openxmlformats.org/officeDocument/2006/relationships/image" Target="../media/image220.png"/><Relationship Id="rId5" Type="http://schemas.openxmlformats.org/officeDocument/2006/relationships/image" Target="../media/image90.png"/><Relationship Id="rId15" Type="http://schemas.openxmlformats.org/officeDocument/2006/relationships/image" Target="../media/image151.png"/><Relationship Id="rId10" Type="http://schemas.openxmlformats.org/officeDocument/2006/relationships/image" Target="../media/image120.png"/><Relationship Id="rId19" Type="http://schemas.openxmlformats.org/officeDocument/2006/relationships/image" Target="../media/image171.png"/><Relationship Id="rId9" Type="http://schemas.openxmlformats.org/officeDocument/2006/relationships/image" Target="../media/image110.png"/><Relationship Id="rId14" Type="http://schemas.openxmlformats.org/officeDocument/2006/relationships/customXml" Target="../ink/ink5.xml"/><Relationship Id="rIdV3" Type="http://schemas.openxmlformats.org/officeDocument/2006/relationships/image" Target="../media/fallback_vtx3.pn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5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5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5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60.png"/></Relationships>
</file>

<file path=ppt/slides/_rels/slide5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89.png"/><Relationship Id="rId4" Type="http://schemas.openxmlformats.org/officeDocument/2006/relationships/image" Target="../media/image88.png"/></Relationships>
</file>

<file path=ppt/slides/_rels/slide58.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36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2B63DFC-B388-D9E6-02A1-3DE95E8C2AEF}"/>
                  </a:ext>
                </a:extLst>
              </p:cNvPr>
              <p:cNvSpPr>
                <a:spLocks noGrp="1"/>
              </p:cNvSpPr>
              <p:nvPr>
                <p:ph type="ctrTitle"/>
              </p:nvPr>
            </p:nvSpPr>
            <p:spPr>
              <a:xfrm>
                <a:off x="1524000" y="609998"/>
                <a:ext cx="9144000" cy="1400312"/>
              </a:xfrm>
            </p:spPr>
            <p:txBody>
              <a:bodyPr>
                <a:normAutofit/>
              </a:bodyPr>
              <a:lstStyle/>
              <a:p>
                <a:r>
                  <a:rPr lang="en-US" sz="4400" dirty="0"/>
                  <a:t>A Sensitivity Study of the </a:t>
                </a:r>
                <a14:m>
                  <m:oMath xmlns:m="http://schemas.openxmlformats.org/officeDocument/2006/math">
                    <m:sSup>
                      <m:sSupPr>
                        <m:ctrlPr>
                          <a:rPr lang="en-US" sz="4400" i="1" smtClean="0">
                            <a:latin typeface="Cambria Math" panose="02040503050406030204" pitchFamily="18" charset="0"/>
                            <a:ea typeface="Cambria Math" panose="02040503050406030204" pitchFamily="18" charset="0"/>
                          </a:rPr>
                        </m:ctrlPr>
                      </m:sSupPr>
                      <m:e>
                        <m:r>
                          <a:rPr lang="en-US" sz="4400" i="1" smtClean="0">
                            <a:latin typeface="Cambria Math" panose="02040503050406030204" pitchFamily="18" charset="0"/>
                            <a:ea typeface="Cambria Math" panose="02040503050406030204" pitchFamily="18" charset="0"/>
                          </a:rPr>
                          <m:t>𝜇</m:t>
                        </m:r>
                      </m:e>
                      <m:sup>
                        <m:r>
                          <a:rPr lang="en-US" sz="4400" b="0" i="1" smtClean="0">
                            <a:latin typeface="Cambria Math" panose="02040503050406030204" pitchFamily="18" charset="0"/>
                          </a:rPr>
                          <m:t>−</m:t>
                        </m:r>
                      </m:sup>
                    </m:sSup>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𝑒</m:t>
                        </m:r>
                      </m:e>
                      <m:sup>
                        <m:r>
                          <a:rPr lang="en-US" sz="4400" b="0" i="1" smtClean="0">
                            <a:latin typeface="Cambria Math" panose="02040503050406030204" pitchFamily="18" charset="0"/>
                          </a:rPr>
                          <m:t>−</m:t>
                        </m:r>
                      </m:sup>
                    </m:sSup>
                    <m:r>
                      <a:rPr lang="en-US" sz="4400" i="1" smtClean="0">
                        <a:latin typeface="Cambria Math" panose="02040503050406030204" pitchFamily="18" charset="0"/>
                        <a:ea typeface="Cambria Math" panose="02040503050406030204" pitchFamily="18" charset="0"/>
                      </a:rPr>
                      <m:t>→</m:t>
                    </m:r>
                    <m:sSup>
                      <m:sSupPr>
                        <m:ctrlPr>
                          <a:rPr lang="en-US" sz="4400" b="0" i="1" smtClean="0">
                            <a:latin typeface="Cambria Math" panose="02040503050406030204" pitchFamily="18" charset="0"/>
                            <a:ea typeface="Cambria Math" panose="02040503050406030204" pitchFamily="18" charset="0"/>
                          </a:rPr>
                        </m:ctrlPr>
                      </m:sSupPr>
                      <m:e>
                        <m:r>
                          <a:rPr lang="en-US" sz="4400" b="0" i="1" smtClean="0">
                            <a:latin typeface="Cambria Math" panose="02040503050406030204" pitchFamily="18" charset="0"/>
                            <a:ea typeface="Cambria Math" panose="02040503050406030204" pitchFamily="18" charset="0"/>
                          </a:rPr>
                          <m:t>𝑒</m:t>
                        </m:r>
                      </m:e>
                      <m:sup>
                        <m:r>
                          <a:rPr lang="en-US" sz="4400" b="0" i="1" smtClean="0">
                            <a:latin typeface="Cambria Math" panose="02040503050406030204" pitchFamily="18" charset="0"/>
                            <a:ea typeface="Cambria Math" panose="02040503050406030204" pitchFamily="18" charset="0"/>
                          </a:rPr>
                          <m:t>−</m:t>
                        </m:r>
                      </m:sup>
                    </m:sSup>
                    <m:sSup>
                      <m:sSupPr>
                        <m:ctrlPr>
                          <a:rPr lang="en-US" sz="4400" b="0" i="1" smtClean="0">
                            <a:latin typeface="Cambria Math" panose="02040503050406030204" pitchFamily="18" charset="0"/>
                            <a:ea typeface="Cambria Math" panose="02040503050406030204" pitchFamily="18" charset="0"/>
                          </a:rPr>
                        </m:ctrlPr>
                      </m:sSupPr>
                      <m:e>
                        <m:r>
                          <a:rPr lang="en-US" sz="4400" b="0" i="1" smtClean="0">
                            <a:latin typeface="Cambria Math" panose="02040503050406030204" pitchFamily="18" charset="0"/>
                            <a:ea typeface="Cambria Math" panose="02040503050406030204" pitchFamily="18" charset="0"/>
                          </a:rPr>
                          <m:t>𝑒</m:t>
                        </m:r>
                      </m:e>
                      <m:sup>
                        <m:r>
                          <a:rPr lang="en-US" sz="4400" b="0" i="1" smtClean="0">
                            <a:latin typeface="Cambria Math" panose="02040503050406030204" pitchFamily="18" charset="0"/>
                            <a:ea typeface="Cambria Math" panose="02040503050406030204" pitchFamily="18" charset="0"/>
                          </a:rPr>
                          <m:t>−</m:t>
                        </m:r>
                      </m:sup>
                    </m:sSup>
                  </m:oMath>
                </a14:m>
                <a:r>
                  <a:rPr lang="en-US" sz="4400" dirty="0"/>
                  <a:t> Process in the Mu2e Experiment</a:t>
                </a:r>
              </a:p>
            </p:txBody>
          </p:sp>
        </mc:Choice>
        <mc:Fallback xmlns="">
          <p:sp>
            <p:nvSpPr>
              <p:cNvPr id="2" name="Title 1">
                <a:extLst>
                  <a:ext uri="{FF2B5EF4-FFF2-40B4-BE49-F238E27FC236}">
                    <a16:creationId xmlns:a16="http://schemas.microsoft.com/office/drawing/2014/main" id="{42B63DFC-B388-D9E6-02A1-3DE95E8C2AEF}"/>
                  </a:ext>
                </a:extLst>
              </p:cNvPr>
              <p:cNvSpPr>
                <a:spLocks noGrp="1" noRot="1" noChangeAspect="1" noMove="1" noResize="1" noEditPoints="1" noAdjustHandles="1" noChangeArrowheads="1" noChangeShapeType="1" noTextEdit="1"/>
              </p:cNvSpPr>
              <p:nvPr>
                <p:ph type="ctrTitle"/>
              </p:nvPr>
            </p:nvSpPr>
            <p:spPr>
              <a:xfrm>
                <a:off x="1524000" y="609998"/>
                <a:ext cx="9144000" cy="1400312"/>
              </a:xfrm>
              <a:blipFill>
                <a:blip r:embed="rId2"/>
                <a:stretch>
                  <a:fillRect l="-2635" t="-7207" b="-19820"/>
                </a:stretch>
              </a:blipFill>
            </p:spPr>
            <p:txBody>
              <a:bodyPr/>
              <a:lstStyle/>
              <a:p>
                <a:r>
                  <a:rPr lang="en-US">
                    <a:noFill/>
                  </a:rPr>
                  <a:t> </a:t>
                </a:r>
              </a:p>
            </p:txBody>
          </p:sp>
        </mc:Fallback>
      </mc:AlternateContent>
      <p:sp>
        <p:nvSpPr>
          <p:cNvPr id="3" name="Subtitle 2">
            <a:extLst>
              <a:ext uri="{FF2B5EF4-FFF2-40B4-BE49-F238E27FC236}">
                <a16:creationId xmlns:a16="http://schemas.microsoft.com/office/drawing/2014/main" id="{DCE78075-FA41-9743-1AAA-482CF7452162}"/>
              </a:ext>
            </a:extLst>
          </p:cNvPr>
          <p:cNvSpPr>
            <a:spLocks noGrp="1"/>
          </p:cNvSpPr>
          <p:nvPr>
            <p:ph type="subTitle" idx="1"/>
          </p:nvPr>
        </p:nvSpPr>
        <p:spPr>
          <a:xfrm>
            <a:off x="1524000" y="1995557"/>
            <a:ext cx="9144000" cy="2644681"/>
          </a:xfrm>
        </p:spPr>
        <p:txBody>
          <a:bodyPr>
            <a:normAutofit lnSpcReduction="10000"/>
          </a:bodyPr>
          <a:lstStyle/>
          <a:p>
            <a:r>
              <a:rPr lang="en-US" dirty="0"/>
              <a:t>Andrew Boldy</a:t>
            </a:r>
          </a:p>
          <a:p>
            <a:r>
              <a:rPr lang="en-US" dirty="0"/>
              <a:t>Major Professor: Dr. Dave Tedeschi</a:t>
            </a:r>
          </a:p>
          <a:p>
            <a:r>
              <a:rPr lang="en-US" dirty="0"/>
              <a:t>USC Committee Members: Dr. Alexey Petrov, Dr. Matthias Schindler</a:t>
            </a:r>
          </a:p>
          <a:p>
            <a:r>
              <a:rPr lang="en-US" dirty="0"/>
              <a:t>External Committee Member: Dr. Bertrand </a:t>
            </a:r>
            <a:r>
              <a:rPr lang="en-US" dirty="0" err="1"/>
              <a:t>Echenard</a:t>
            </a:r>
            <a:r>
              <a:rPr lang="en-US" dirty="0"/>
              <a:t> (Cal Tech)</a:t>
            </a:r>
          </a:p>
          <a:p>
            <a:r>
              <a:rPr lang="en-US" dirty="0"/>
              <a:t>University of South Carolina</a:t>
            </a:r>
          </a:p>
          <a:p>
            <a:r>
              <a:rPr lang="en-US" dirty="0"/>
              <a:t>October 8</a:t>
            </a:r>
            <a:r>
              <a:rPr lang="en-US" baseline="30000" dirty="0"/>
              <a:t>th</a:t>
            </a:r>
            <a:r>
              <a:rPr lang="en-US" dirty="0"/>
              <a:t>, 2026</a:t>
            </a:r>
          </a:p>
        </p:txBody>
      </p:sp>
      <p:pic>
        <p:nvPicPr>
          <p:cNvPr id="4" name="Picture 3" descr="A diagram of a sphere with arrows&#10;&#10;AI-generated content may be incorrect.">
            <a:extLst>
              <a:ext uri="{FF2B5EF4-FFF2-40B4-BE49-F238E27FC236}">
                <a16:creationId xmlns:a16="http://schemas.microsoft.com/office/drawing/2014/main" id="{B8237D6A-5730-CB52-B6FF-A8B91ECEC5B4}"/>
              </a:ext>
            </a:extLst>
          </p:cNvPr>
          <p:cNvPicPr>
            <a:picLocks noChangeAspect="1"/>
          </p:cNvPicPr>
          <p:nvPr/>
        </p:nvPicPr>
        <p:blipFill>
          <a:blip r:embed="rId3"/>
          <a:stretch>
            <a:fillRect/>
          </a:stretch>
        </p:blipFill>
        <p:spPr>
          <a:xfrm>
            <a:off x="8462735" y="4429919"/>
            <a:ext cx="3416300" cy="2108200"/>
          </a:xfrm>
          <a:prstGeom prst="rect">
            <a:avLst/>
          </a:prstGeom>
        </p:spPr>
      </p:pic>
      <p:pic>
        <p:nvPicPr>
          <p:cNvPr id="5" name="Picture 4" descr="A black background with red text&#10;&#10;AI-generated content may be incorrect.">
            <a:extLst>
              <a:ext uri="{FF2B5EF4-FFF2-40B4-BE49-F238E27FC236}">
                <a16:creationId xmlns:a16="http://schemas.microsoft.com/office/drawing/2014/main" id="{53E7FD38-B46A-5A15-CE39-05E1609BC364}"/>
              </a:ext>
            </a:extLst>
          </p:cNvPr>
          <p:cNvPicPr>
            <a:picLocks noChangeAspect="1"/>
          </p:cNvPicPr>
          <p:nvPr/>
        </p:nvPicPr>
        <p:blipFill>
          <a:blip r:embed="rId4"/>
          <a:stretch>
            <a:fillRect/>
          </a:stretch>
        </p:blipFill>
        <p:spPr>
          <a:xfrm>
            <a:off x="312965" y="5223271"/>
            <a:ext cx="4791700" cy="1024731"/>
          </a:xfrm>
          <a:prstGeom prst="rect">
            <a:avLst/>
          </a:prstGeom>
        </p:spPr>
      </p:pic>
    </p:spTree>
    <p:extLst>
      <p:ext uri="{BB962C8B-B14F-4D97-AF65-F5344CB8AC3E}">
        <p14:creationId xmlns:p14="http://schemas.microsoft.com/office/powerpoint/2010/main" val="2831427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600" b="1" dirty="0">
                <a:solidFill>
                  <a:schemeClr val="tx1"/>
                </a:solidFill>
                <a:latin typeface="+mj-lt" pitchFamily="34" charset="0"/>
                <a:ea typeface="+mj-lt" pitchFamily="34" charset="-122"/>
                <a:cs typeface="+mj-lt" pitchFamily="34" charset="-120"/>
              </a:rPr>
              <a:t>Presentation Roadmap</a:t>
            </a:r>
            <a:endParaRPr lang="en-US" sz="3600" dirty="0"/>
          </a:p>
        </p:txBody>
      </p:sp>
      <p:sp>
        <p:nvSpPr>
          <p:cNvPr id="3" name="row1"/>
          <p:cNvSpPr/>
          <p:nvPr/>
        </p:nvSpPr>
        <p:spPr>
          <a:xfrm>
            <a:off x="457200" y="1325880"/>
            <a:ext cx="11274552" cy="914400"/>
          </a:xfrm>
          <a:prstGeom prst="roundRect">
            <a:avLst>
              <a:gd name="adj" fmla="val 12000"/>
            </a:avLst>
          </a:prstGeom>
          <a:solidFill>
            <a:schemeClr val="bg2"/>
          </a:solidFill>
          <a:ln/>
        </p:spPr>
        <p:txBody>
          <a:bodyPr/>
          <a:lstStyle/>
          <a:p>
            <a:endParaRPr lang="en-US"/>
          </a:p>
        </p:txBody>
      </p:sp>
      <p:sp>
        <p:nvSpPr>
          <p:cNvPr id="4" name="num1"/>
          <p:cNvSpPr/>
          <p:nvPr/>
        </p:nvSpPr>
        <p:spPr>
          <a:xfrm>
            <a:off x="685800" y="1481328"/>
            <a:ext cx="603504" cy="603504"/>
          </a:xfrm>
          <a:prstGeom prst="ellipse">
            <a:avLst/>
          </a:prstGeom>
          <a:solidFill>
            <a:srgbClr val="73000A"/>
          </a:solidFill>
          <a:ln/>
        </p:spPr>
        <p:txBody>
          <a:bodyPr/>
          <a:lstStyle/>
          <a:p>
            <a:endParaRPr lang="en-US"/>
          </a:p>
        </p:txBody>
      </p:sp>
      <p:sp>
        <p:nvSpPr>
          <p:cNvPr id="5" name="Text 3"/>
          <p:cNvSpPr txBox="1"/>
          <p:nvPr/>
        </p:nvSpPr>
        <p:spPr>
          <a:xfrm>
            <a:off x="685800" y="1481328"/>
            <a:ext cx="603504" cy="603504"/>
          </a:xfrm>
          <a:prstGeom prst="rect">
            <a:avLst/>
          </a:prstGeom>
          <a:noFill/>
          <a:ln/>
        </p:spPr>
        <p:txBody>
          <a:bodyPr wrap="square" lIns="0" tIns="0" rIns="0" bIns="0" rtlCol="0" anchor="ctr"/>
          <a:lstStyle/>
          <a:p>
            <a:pPr marL="0" indent="0" algn="ctr">
              <a:buNone/>
            </a:pPr>
            <a:r>
              <a:rPr lang="en-US" sz="2200" b="1" dirty="0">
                <a:solidFill>
                  <a:schemeClr val="bg1"/>
                </a:solidFill>
                <a:latin typeface="+mj-lt" pitchFamily="34" charset="0"/>
                <a:ea typeface="+mj-lt" pitchFamily="34" charset="-122"/>
                <a:cs typeface="+mj-lt" pitchFamily="34" charset="-120"/>
              </a:rPr>
              <a:t>1</a:t>
            </a:r>
            <a:endParaRPr lang="en-US" sz="2200" dirty="0"/>
          </a:p>
        </p:txBody>
      </p:sp>
      <p:sp>
        <p:nvSpPr>
          <p:cNvPr id="6" name="Text 4"/>
          <p:cNvSpPr txBox="1"/>
          <p:nvPr/>
        </p:nvSpPr>
        <p:spPr>
          <a:xfrm>
            <a:off x="1600200" y="1417320"/>
            <a:ext cx="7863840" cy="38404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Theoretical Motivation</a:t>
            </a:r>
            <a:endParaRPr lang="en-US" sz="2200" dirty="0"/>
          </a:p>
        </p:txBody>
      </p:sp>
      <p:sp>
        <p:nvSpPr>
          <p:cNvPr id="7" name="Text 5"/>
          <p:cNvSpPr txBox="1"/>
          <p:nvPr/>
        </p:nvSpPr>
        <p:spPr>
          <a:xfrm>
            <a:off x="1600200" y="1801368"/>
            <a:ext cx="8138160" cy="347472"/>
          </a:xfrm>
          <a:prstGeom prst="rect">
            <a:avLst/>
          </a:prstGeom>
          <a:noFill/>
          <a:ln/>
        </p:spPr>
        <p:txBody>
          <a:bodyPr wrap="square" lIns="0" tIns="0" rIns="0" bIns="0" rtlCol="0" anchor="t"/>
          <a:lstStyle/>
          <a:p>
            <a:pPr marL="0" indent="0">
              <a:buNone/>
            </a:pPr>
            <a:r>
              <a:rPr lang="en-US" sz="1500" dirty="0">
                <a:solidFill>
                  <a:schemeClr val="tx2"/>
                </a:solidFill>
                <a:latin typeface="+mn-lt" pitchFamily="34" charset="0"/>
                <a:ea typeface="+mn-lt" pitchFamily="34" charset="-122"/>
                <a:cs typeface="+mn-lt" pitchFamily="34" charset="-120"/>
              </a:rPr>
              <a:t>The Standard Model, charged lepton flavor violation specifically μ⁻e⁻ → e⁻e⁻ as a stand-out process</a:t>
            </a:r>
            <a:endParaRPr lang="en-US" sz="1500" dirty="0"/>
          </a:p>
        </p:txBody>
      </p:sp>
      <p:sp>
        <p:nvSpPr>
          <p:cNvPr id="8" name="Text 6"/>
          <p:cNvSpPr txBox="1"/>
          <p:nvPr/>
        </p:nvSpPr>
        <p:spPr>
          <a:xfrm>
            <a:off x="9875520" y="1481328"/>
            <a:ext cx="1645920" cy="603504"/>
          </a:xfrm>
          <a:prstGeom prst="rect">
            <a:avLst/>
          </a:prstGeom>
          <a:noFill/>
          <a:ln/>
        </p:spPr>
        <p:txBody>
          <a:bodyPr wrap="square" lIns="0" tIns="0" rIns="0" bIns="0" rtlCol="0" anchor="ctr"/>
          <a:lstStyle/>
          <a:p>
            <a:pPr marL="0" indent="0" algn="r">
              <a:buNone/>
            </a:pPr>
            <a:r>
              <a:rPr lang="en-US" sz="1400" i="1" dirty="0">
                <a:solidFill>
                  <a:srgbClr val="73000A"/>
                </a:solidFill>
                <a:latin typeface="+mn-lt" pitchFamily="34" charset="0"/>
                <a:ea typeface="+mn-lt" pitchFamily="34" charset="-122"/>
                <a:cs typeface="+mn-lt" pitchFamily="34" charset="-120"/>
              </a:rPr>
              <a:t>Slides 3–11</a:t>
            </a:r>
            <a:endParaRPr lang="en-US" sz="1400" dirty="0">
              <a:solidFill>
                <a:srgbClr val="73000A"/>
              </a:solidFill>
            </a:endParaRPr>
          </a:p>
        </p:txBody>
      </p:sp>
      <p:sp>
        <p:nvSpPr>
          <p:cNvPr id="9" name="num2"/>
          <p:cNvSpPr/>
          <p:nvPr/>
        </p:nvSpPr>
        <p:spPr>
          <a:xfrm>
            <a:off x="685800" y="2505456"/>
            <a:ext cx="603504" cy="603504"/>
          </a:xfrm>
          <a:prstGeom prst="ellipse">
            <a:avLst/>
          </a:prstGeom>
          <a:solidFill>
            <a:srgbClr val="73000A"/>
          </a:solidFill>
          <a:ln/>
        </p:spPr>
        <p:txBody>
          <a:bodyPr/>
          <a:lstStyle/>
          <a:p>
            <a:endParaRPr lang="en-US"/>
          </a:p>
        </p:txBody>
      </p:sp>
      <p:sp>
        <p:nvSpPr>
          <p:cNvPr id="10" name="Text 8"/>
          <p:cNvSpPr txBox="1"/>
          <p:nvPr/>
        </p:nvSpPr>
        <p:spPr>
          <a:xfrm>
            <a:off x="685800" y="2514600"/>
            <a:ext cx="603504" cy="594360"/>
          </a:xfrm>
          <a:prstGeom prst="rect">
            <a:avLst/>
          </a:prstGeom>
          <a:noFill/>
          <a:ln/>
        </p:spPr>
        <p:txBody>
          <a:bodyPr wrap="square" lIns="0" tIns="0" rIns="0" bIns="0" rtlCol="0" anchor="ctr"/>
          <a:lstStyle/>
          <a:p>
            <a:pPr marL="0" indent="0" algn="ctr">
              <a:buNone/>
            </a:pPr>
            <a:r>
              <a:rPr lang="en-US" sz="2200" b="1" dirty="0">
                <a:solidFill>
                  <a:schemeClr val="bg1"/>
                </a:solidFill>
                <a:latin typeface="+mj-lt" pitchFamily="34" charset="0"/>
                <a:ea typeface="+mj-lt" pitchFamily="34" charset="-122"/>
                <a:cs typeface="+mj-lt" pitchFamily="34" charset="-120"/>
              </a:rPr>
              <a:t>2</a:t>
            </a:r>
            <a:endParaRPr lang="en-US" sz="2200" dirty="0"/>
          </a:p>
        </p:txBody>
      </p:sp>
      <p:sp>
        <p:nvSpPr>
          <p:cNvPr id="11" name="Text 9"/>
          <p:cNvSpPr txBox="1"/>
          <p:nvPr/>
        </p:nvSpPr>
        <p:spPr>
          <a:xfrm>
            <a:off x="1600200" y="2441448"/>
            <a:ext cx="7863840" cy="38404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The Mu2e Experiment</a:t>
            </a:r>
            <a:endParaRPr lang="en-US" sz="2200" dirty="0"/>
          </a:p>
        </p:txBody>
      </p:sp>
      <p:sp>
        <p:nvSpPr>
          <p:cNvPr id="12" name="Text 10"/>
          <p:cNvSpPr txBox="1"/>
          <p:nvPr/>
        </p:nvSpPr>
        <p:spPr>
          <a:xfrm>
            <a:off x="1600200" y="2825496"/>
            <a:ext cx="8138160" cy="347472"/>
          </a:xfrm>
          <a:prstGeom prst="rect">
            <a:avLst/>
          </a:prstGeom>
          <a:noFill/>
          <a:ln/>
        </p:spPr>
        <p:txBody>
          <a:bodyPr wrap="square" lIns="0" tIns="0" rIns="0" bIns="0" rtlCol="0" anchor="t"/>
          <a:lstStyle/>
          <a:p>
            <a:pPr marL="0" indent="0">
              <a:buNone/>
            </a:pPr>
            <a:r>
              <a:rPr lang="en-US" sz="1500" dirty="0">
                <a:solidFill>
                  <a:schemeClr val="tx2"/>
                </a:solidFill>
                <a:latin typeface="+mn-lt" pitchFamily="34" charset="0"/>
                <a:ea typeface="+mn-lt" pitchFamily="34" charset="-122"/>
                <a:cs typeface="+mn-lt" pitchFamily="34" charset="-120"/>
              </a:rPr>
              <a:t>How Mu2e produces, stops, and detects muons, and the backgrounds it must suppress</a:t>
            </a:r>
            <a:endParaRPr lang="en-US" sz="1500" dirty="0"/>
          </a:p>
        </p:txBody>
      </p:sp>
      <p:sp>
        <p:nvSpPr>
          <p:cNvPr id="13" name="Text 11"/>
          <p:cNvSpPr txBox="1"/>
          <p:nvPr/>
        </p:nvSpPr>
        <p:spPr>
          <a:xfrm>
            <a:off x="9875520" y="2505456"/>
            <a:ext cx="1645920" cy="603504"/>
          </a:xfrm>
          <a:prstGeom prst="rect">
            <a:avLst/>
          </a:prstGeom>
          <a:noFill/>
          <a:ln/>
        </p:spPr>
        <p:txBody>
          <a:bodyPr wrap="square" lIns="0" tIns="0" rIns="0" bIns="0" rtlCol="0" anchor="ctr"/>
          <a:lstStyle/>
          <a:p>
            <a:pPr marL="0" indent="0" algn="r">
              <a:buNone/>
            </a:pPr>
            <a:r>
              <a:rPr lang="en-US" sz="1400" i="1" dirty="0">
                <a:solidFill>
                  <a:srgbClr val="73000A"/>
                </a:solidFill>
                <a:latin typeface="+mn-lt" pitchFamily="34" charset="0"/>
                <a:ea typeface="+mn-lt" pitchFamily="34" charset="-122"/>
                <a:cs typeface="+mn-lt" pitchFamily="34" charset="-120"/>
              </a:rPr>
              <a:t>Slides 12–20</a:t>
            </a:r>
            <a:endParaRPr lang="en-US" sz="1400" dirty="0">
              <a:solidFill>
                <a:srgbClr val="73000A"/>
              </a:solidFill>
            </a:endParaRPr>
          </a:p>
        </p:txBody>
      </p:sp>
      <p:sp>
        <p:nvSpPr>
          <p:cNvPr id="14" name="row3"/>
          <p:cNvSpPr/>
          <p:nvPr/>
        </p:nvSpPr>
        <p:spPr>
          <a:xfrm>
            <a:off x="457200" y="3374136"/>
            <a:ext cx="11274552" cy="914400"/>
          </a:xfrm>
          <a:prstGeom prst="roundRect">
            <a:avLst>
              <a:gd name="adj" fmla="val 12000"/>
            </a:avLst>
          </a:prstGeom>
          <a:solidFill>
            <a:schemeClr val="bg2"/>
          </a:solidFill>
          <a:ln/>
        </p:spPr>
        <p:txBody>
          <a:bodyPr/>
          <a:lstStyle/>
          <a:p>
            <a:endParaRPr lang="en-US"/>
          </a:p>
        </p:txBody>
      </p:sp>
      <p:sp>
        <p:nvSpPr>
          <p:cNvPr id="15" name="num3"/>
          <p:cNvSpPr/>
          <p:nvPr/>
        </p:nvSpPr>
        <p:spPr>
          <a:xfrm>
            <a:off x="685800" y="3529584"/>
            <a:ext cx="603504" cy="603504"/>
          </a:xfrm>
          <a:prstGeom prst="ellipse">
            <a:avLst/>
          </a:prstGeom>
          <a:solidFill>
            <a:srgbClr val="73000A"/>
          </a:solidFill>
          <a:ln/>
        </p:spPr>
        <p:txBody>
          <a:bodyPr/>
          <a:lstStyle/>
          <a:p>
            <a:endParaRPr lang="en-US"/>
          </a:p>
        </p:txBody>
      </p:sp>
      <p:sp>
        <p:nvSpPr>
          <p:cNvPr id="16" name="Text 14"/>
          <p:cNvSpPr txBox="1"/>
          <p:nvPr/>
        </p:nvSpPr>
        <p:spPr>
          <a:xfrm>
            <a:off x="685800" y="3529584"/>
            <a:ext cx="603504" cy="603504"/>
          </a:xfrm>
          <a:prstGeom prst="rect">
            <a:avLst/>
          </a:prstGeom>
          <a:noFill/>
          <a:ln/>
        </p:spPr>
        <p:txBody>
          <a:bodyPr wrap="square" lIns="0" tIns="0" rIns="0" bIns="0" rtlCol="0" anchor="ctr"/>
          <a:lstStyle/>
          <a:p>
            <a:pPr marL="0" indent="0" algn="ctr">
              <a:buNone/>
            </a:pPr>
            <a:r>
              <a:rPr lang="en-US" sz="2200" b="1" dirty="0">
                <a:solidFill>
                  <a:schemeClr val="bg1"/>
                </a:solidFill>
                <a:latin typeface="+mj-lt" pitchFamily="34" charset="0"/>
                <a:ea typeface="+mj-lt" pitchFamily="34" charset="-122"/>
                <a:cs typeface="+mj-lt" pitchFamily="34" charset="-120"/>
              </a:rPr>
              <a:t>3</a:t>
            </a:r>
            <a:endParaRPr lang="en-US" sz="2200" dirty="0"/>
          </a:p>
        </p:txBody>
      </p:sp>
      <p:sp>
        <p:nvSpPr>
          <p:cNvPr id="17" name="Text 15"/>
          <p:cNvSpPr txBox="1"/>
          <p:nvPr/>
        </p:nvSpPr>
        <p:spPr>
          <a:xfrm>
            <a:off x="1600200" y="3465576"/>
            <a:ext cx="7863840" cy="38404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Event Identification and Signal</a:t>
            </a:r>
            <a:endParaRPr lang="en-US" sz="2200" dirty="0"/>
          </a:p>
        </p:txBody>
      </p:sp>
      <p:sp>
        <p:nvSpPr>
          <p:cNvPr id="18" name="Text 16"/>
          <p:cNvSpPr txBox="1"/>
          <p:nvPr/>
        </p:nvSpPr>
        <p:spPr>
          <a:xfrm>
            <a:off x="1600200" y="3849624"/>
            <a:ext cx="8138160" cy="347472"/>
          </a:xfrm>
          <a:prstGeom prst="rect">
            <a:avLst/>
          </a:prstGeom>
          <a:noFill/>
          <a:ln/>
        </p:spPr>
        <p:txBody>
          <a:bodyPr wrap="square" lIns="0" tIns="0" rIns="0" bIns="0" rtlCol="0" anchor="t"/>
          <a:lstStyle/>
          <a:p>
            <a:pPr marL="0" indent="0">
              <a:buNone/>
            </a:pPr>
            <a:r>
              <a:rPr lang="en-US" sz="1500" dirty="0">
                <a:solidFill>
                  <a:schemeClr val="tx2"/>
                </a:solidFill>
                <a:latin typeface="+mn-lt" pitchFamily="34" charset="0"/>
                <a:ea typeface="+mn-lt" pitchFamily="34" charset="-122"/>
                <a:cs typeface="+mn-lt" pitchFamily="34" charset="-120"/>
              </a:rPr>
              <a:t>Two back-to-back 52.8 MeV electrons from one common vertex, and the run conditions to see them</a:t>
            </a:r>
            <a:endParaRPr lang="en-US" sz="1500" dirty="0"/>
          </a:p>
        </p:txBody>
      </p:sp>
      <p:sp>
        <p:nvSpPr>
          <p:cNvPr id="19" name="Text 17"/>
          <p:cNvSpPr txBox="1"/>
          <p:nvPr/>
        </p:nvSpPr>
        <p:spPr>
          <a:xfrm>
            <a:off x="9875520" y="3529584"/>
            <a:ext cx="1645920" cy="603504"/>
          </a:xfrm>
          <a:prstGeom prst="rect">
            <a:avLst/>
          </a:prstGeom>
          <a:noFill/>
          <a:ln/>
        </p:spPr>
        <p:txBody>
          <a:bodyPr wrap="square" lIns="0" tIns="0" rIns="0" bIns="0" rtlCol="0" anchor="ctr"/>
          <a:lstStyle/>
          <a:p>
            <a:pPr marL="0" indent="0" algn="r">
              <a:buNone/>
            </a:pPr>
            <a:r>
              <a:rPr lang="en-US" sz="1400" i="1" dirty="0">
                <a:solidFill>
                  <a:srgbClr val="73000A"/>
                </a:solidFill>
                <a:latin typeface="+mn-lt" pitchFamily="34" charset="0"/>
                <a:ea typeface="+mn-lt" pitchFamily="34" charset="-122"/>
                <a:cs typeface="+mn-lt" pitchFamily="34" charset="-120"/>
              </a:rPr>
              <a:t>Slides 21–26</a:t>
            </a:r>
            <a:endParaRPr lang="en-US" sz="1400" dirty="0">
              <a:solidFill>
                <a:srgbClr val="73000A"/>
              </a:solidFill>
            </a:endParaRPr>
          </a:p>
        </p:txBody>
      </p:sp>
      <p:sp>
        <p:nvSpPr>
          <p:cNvPr id="20" name="num4"/>
          <p:cNvSpPr/>
          <p:nvPr/>
        </p:nvSpPr>
        <p:spPr>
          <a:xfrm>
            <a:off x="685800" y="4553712"/>
            <a:ext cx="603504" cy="603504"/>
          </a:xfrm>
          <a:prstGeom prst="ellipse">
            <a:avLst/>
          </a:prstGeom>
          <a:solidFill>
            <a:srgbClr val="73000A"/>
          </a:solidFill>
          <a:ln/>
        </p:spPr>
        <p:txBody>
          <a:bodyPr/>
          <a:lstStyle/>
          <a:p>
            <a:endParaRPr lang="en-US"/>
          </a:p>
        </p:txBody>
      </p:sp>
      <p:sp>
        <p:nvSpPr>
          <p:cNvPr id="21" name="Text 19"/>
          <p:cNvSpPr txBox="1"/>
          <p:nvPr/>
        </p:nvSpPr>
        <p:spPr>
          <a:xfrm>
            <a:off x="685800" y="4553712"/>
            <a:ext cx="603504" cy="603504"/>
          </a:xfrm>
          <a:prstGeom prst="rect">
            <a:avLst/>
          </a:prstGeom>
          <a:noFill/>
          <a:ln/>
        </p:spPr>
        <p:txBody>
          <a:bodyPr wrap="square" lIns="0" tIns="0" rIns="0" bIns="0" rtlCol="0" anchor="ctr"/>
          <a:lstStyle/>
          <a:p>
            <a:pPr marL="0" indent="0" algn="ctr">
              <a:buNone/>
            </a:pPr>
            <a:r>
              <a:rPr lang="en-US" sz="2200" b="1" dirty="0">
                <a:solidFill>
                  <a:schemeClr val="bg1"/>
                </a:solidFill>
                <a:latin typeface="+mj-lt" pitchFamily="34" charset="0"/>
                <a:ea typeface="+mj-lt" pitchFamily="34" charset="-122"/>
                <a:cs typeface="+mj-lt" pitchFamily="34" charset="-120"/>
              </a:rPr>
              <a:t>4</a:t>
            </a:r>
            <a:endParaRPr lang="en-US" sz="2200" dirty="0"/>
          </a:p>
        </p:txBody>
      </p:sp>
      <p:sp>
        <p:nvSpPr>
          <p:cNvPr id="22" name="Text 20"/>
          <p:cNvSpPr txBox="1"/>
          <p:nvPr/>
        </p:nvSpPr>
        <p:spPr>
          <a:xfrm>
            <a:off x="1600200" y="4489704"/>
            <a:ext cx="7863840" cy="38404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Initial Investigation</a:t>
            </a:r>
            <a:endParaRPr lang="en-US" sz="2200" dirty="0"/>
          </a:p>
        </p:txBody>
      </p:sp>
      <p:sp>
        <p:nvSpPr>
          <p:cNvPr id="23" name="Text 21"/>
          <p:cNvSpPr txBox="1"/>
          <p:nvPr/>
        </p:nvSpPr>
        <p:spPr>
          <a:xfrm>
            <a:off x="1600200" y="4873752"/>
            <a:ext cx="8138160" cy="347472"/>
          </a:xfrm>
          <a:prstGeom prst="rect">
            <a:avLst/>
          </a:prstGeom>
          <a:noFill/>
          <a:ln/>
        </p:spPr>
        <p:txBody>
          <a:bodyPr wrap="square" lIns="0" tIns="0" rIns="0" bIns="0" rtlCol="0" anchor="t"/>
          <a:lstStyle/>
          <a:p>
            <a:pPr marL="0" indent="0">
              <a:buNone/>
            </a:pPr>
            <a:r>
              <a:rPr lang="en-US" sz="1500" dirty="0">
                <a:solidFill>
                  <a:schemeClr val="tx2"/>
                </a:solidFill>
                <a:latin typeface="+mn-lt" pitchFamily="34" charset="0"/>
                <a:ea typeface="+mn-lt" pitchFamily="34" charset="-122"/>
                <a:cs typeface="+mn-lt" pitchFamily="34" charset="-120"/>
              </a:rPr>
              <a:t>Validated toy generator, 16.8% candidate efficiency, first reconstructed common vertex</a:t>
            </a:r>
            <a:endParaRPr lang="en-US" sz="1500" dirty="0"/>
          </a:p>
        </p:txBody>
      </p:sp>
      <p:sp>
        <p:nvSpPr>
          <p:cNvPr id="24" name="Text 22"/>
          <p:cNvSpPr txBox="1"/>
          <p:nvPr/>
        </p:nvSpPr>
        <p:spPr>
          <a:xfrm>
            <a:off x="9875520" y="4553712"/>
            <a:ext cx="1645920" cy="603504"/>
          </a:xfrm>
          <a:prstGeom prst="rect">
            <a:avLst/>
          </a:prstGeom>
          <a:noFill/>
          <a:ln/>
        </p:spPr>
        <p:txBody>
          <a:bodyPr wrap="square" lIns="0" tIns="0" rIns="0" bIns="0" rtlCol="0" anchor="ctr"/>
          <a:lstStyle/>
          <a:p>
            <a:pPr marL="0" indent="0" algn="r">
              <a:buNone/>
            </a:pPr>
            <a:r>
              <a:rPr lang="en-US" sz="1400" i="1" dirty="0">
                <a:solidFill>
                  <a:srgbClr val="73000A"/>
                </a:solidFill>
                <a:latin typeface="+mn-lt" pitchFamily="34" charset="0"/>
                <a:ea typeface="+mn-lt" pitchFamily="34" charset="-122"/>
                <a:cs typeface="+mn-lt" pitchFamily="34" charset="-120"/>
              </a:rPr>
              <a:t>Slides 27–35</a:t>
            </a:r>
            <a:endParaRPr lang="en-US" sz="1400" dirty="0">
              <a:solidFill>
                <a:srgbClr val="73000A"/>
              </a:solidFill>
            </a:endParaRPr>
          </a:p>
        </p:txBody>
      </p:sp>
      <p:sp>
        <p:nvSpPr>
          <p:cNvPr id="25" name="row5"/>
          <p:cNvSpPr/>
          <p:nvPr/>
        </p:nvSpPr>
        <p:spPr>
          <a:xfrm>
            <a:off x="457200" y="5422392"/>
            <a:ext cx="11274552" cy="914400"/>
          </a:xfrm>
          <a:prstGeom prst="roundRect">
            <a:avLst>
              <a:gd name="adj" fmla="val 12000"/>
            </a:avLst>
          </a:prstGeom>
          <a:solidFill>
            <a:schemeClr val="bg2"/>
          </a:solidFill>
          <a:ln/>
        </p:spPr>
        <p:txBody>
          <a:bodyPr/>
          <a:lstStyle/>
          <a:p>
            <a:endParaRPr lang="en-US"/>
          </a:p>
        </p:txBody>
      </p:sp>
      <p:sp>
        <p:nvSpPr>
          <p:cNvPr id="26" name="num5"/>
          <p:cNvSpPr/>
          <p:nvPr/>
        </p:nvSpPr>
        <p:spPr>
          <a:xfrm>
            <a:off x="685800" y="5577840"/>
            <a:ext cx="603504" cy="603504"/>
          </a:xfrm>
          <a:prstGeom prst="ellipse">
            <a:avLst/>
          </a:prstGeom>
          <a:solidFill>
            <a:srgbClr val="73000A"/>
          </a:solidFill>
          <a:ln/>
        </p:spPr>
        <p:txBody>
          <a:bodyPr/>
          <a:lstStyle/>
          <a:p>
            <a:endParaRPr lang="en-US"/>
          </a:p>
        </p:txBody>
      </p:sp>
      <p:sp>
        <p:nvSpPr>
          <p:cNvPr id="27" name="Text 25"/>
          <p:cNvSpPr txBox="1"/>
          <p:nvPr/>
        </p:nvSpPr>
        <p:spPr>
          <a:xfrm>
            <a:off x="685800" y="5577840"/>
            <a:ext cx="603504" cy="603504"/>
          </a:xfrm>
          <a:prstGeom prst="rect">
            <a:avLst/>
          </a:prstGeom>
          <a:noFill/>
          <a:ln/>
        </p:spPr>
        <p:txBody>
          <a:bodyPr wrap="square" lIns="0" tIns="0" rIns="0" bIns="0" rtlCol="0" anchor="ctr"/>
          <a:lstStyle/>
          <a:p>
            <a:pPr marL="0" indent="0" algn="ctr">
              <a:buNone/>
            </a:pPr>
            <a:r>
              <a:rPr lang="en-US" sz="2200" b="1" dirty="0">
                <a:solidFill>
                  <a:schemeClr val="bg1"/>
                </a:solidFill>
                <a:latin typeface="+mj-lt" pitchFamily="34" charset="0"/>
                <a:ea typeface="+mj-lt" pitchFamily="34" charset="-122"/>
                <a:cs typeface="+mj-lt" pitchFamily="34" charset="-120"/>
              </a:rPr>
              <a:t>5</a:t>
            </a:r>
            <a:endParaRPr lang="en-US" sz="2200" dirty="0"/>
          </a:p>
        </p:txBody>
      </p:sp>
      <p:sp>
        <p:nvSpPr>
          <p:cNvPr id="28" name="Text 26"/>
          <p:cNvSpPr txBox="1"/>
          <p:nvPr/>
        </p:nvSpPr>
        <p:spPr>
          <a:xfrm>
            <a:off x="1600200" y="5513832"/>
            <a:ext cx="7863840" cy="38404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Goals and Deliverables</a:t>
            </a:r>
            <a:endParaRPr lang="en-US" sz="2200" dirty="0"/>
          </a:p>
        </p:txBody>
      </p:sp>
      <p:sp>
        <p:nvSpPr>
          <p:cNvPr id="29" name="Text 27"/>
          <p:cNvSpPr txBox="1"/>
          <p:nvPr/>
        </p:nvSpPr>
        <p:spPr>
          <a:xfrm>
            <a:off x="1600200" y="5897880"/>
            <a:ext cx="8138160" cy="347472"/>
          </a:xfrm>
          <a:prstGeom prst="rect">
            <a:avLst/>
          </a:prstGeom>
          <a:noFill/>
          <a:ln/>
        </p:spPr>
        <p:txBody>
          <a:bodyPr wrap="square" lIns="0" tIns="0" rIns="0" bIns="0" rtlCol="0" anchor="t"/>
          <a:lstStyle/>
          <a:p>
            <a:pPr marL="0" indent="0">
              <a:buNone/>
            </a:pPr>
            <a:r>
              <a:rPr lang="en-US" sz="1500" dirty="0">
                <a:solidFill>
                  <a:schemeClr val="tx2"/>
                </a:solidFill>
                <a:latin typeface="+mn-lt" pitchFamily="34" charset="0"/>
                <a:ea typeface="+mn-lt" pitchFamily="34" charset="-122"/>
                <a:cs typeface="+mn-lt" pitchFamily="34" charset="-120"/>
              </a:rPr>
              <a:t>Helical vertexing, background mixing, theory-driven generator, full sensitivity estimate</a:t>
            </a:r>
            <a:endParaRPr lang="en-US" sz="1500" dirty="0"/>
          </a:p>
        </p:txBody>
      </p:sp>
      <p:sp>
        <p:nvSpPr>
          <p:cNvPr id="30" name="Text 28"/>
          <p:cNvSpPr txBox="1"/>
          <p:nvPr/>
        </p:nvSpPr>
        <p:spPr>
          <a:xfrm>
            <a:off x="9875520" y="5577840"/>
            <a:ext cx="1645920" cy="603504"/>
          </a:xfrm>
          <a:prstGeom prst="rect">
            <a:avLst/>
          </a:prstGeom>
          <a:noFill/>
          <a:ln/>
        </p:spPr>
        <p:txBody>
          <a:bodyPr wrap="square" lIns="0" tIns="0" rIns="0" bIns="0" rtlCol="0" anchor="ctr"/>
          <a:lstStyle/>
          <a:p>
            <a:pPr marL="0" indent="0" algn="r">
              <a:buNone/>
            </a:pPr>
            <a:r>
              <a:rPr lang="en-US" sz="1400" i="1" dirty="0">
                <a:solidFill>
                  <a:srgbClr val="73000A"/>
                </a:solidFill>
                <a:latin typeface="+mn-lt" pitchFamily="34" charset="0"/>
                <a:ea typeface="+mn-lt" pitchFamily="34" charset="-122"/>
                <a:cs typeface="+mn-lt" pitchFamily="34" charset="-120"/>
              </a:rPr>
              <a:t>Slides 36–43</a:t>
            </a:r>
            <a:endParaRPr lang="en-US" sz="1400" dirty="0">
              <a:solidFill>
                <a:srgbClr val="73000A"/>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5486400" cy="365760"/>
          </a:xfrm>
          <a:prstGeom prst="rect">
            <a:avLst/>
          </a:prstGeom>
          <a:noFill/>
          <a:ln/>
        </p:spPr>
        <p:txBody>
          <a:bodyPr wrap="square" lIns="0" tIns="0" rIns="0" bIns="0" rtlCol="0" anchor="ctr"/>
          <a:lstStyle/>
          <a:p>
            <a:pPr marL="0" indent="0">
              <a:buNone/>
            </a:pPr>
            <a:r>
              <a:rPr lang="en-US" sz="1600" i="1" dirty="0">
                <a:solidFill>
                  <a:srgbClr val="73000A"/>
                </a:solidFill>
                <a:latin typeface="+mn-lt" pitchFamily="34" charset="0"/>
                <a:ea typeface="+mn-lt" pitchFamily="34" charset="-122"/>
                <a:cs typeface="+mn-lt" pitchFamily="34" charset="-120"/>
              </a:rPr>
              <a:t>Section 1 of 5</a:t>
            </a:r>
            <a:endParaRPr lang="en-US" sz="1600" dirty="0">
              <a:solidFill>
                <a:srgbClr val="73000A"/>
              </a:solidFill>
            </a:endParaRPr>
          </a:p>
        </p:txBody>
      </p:sp>
      <p:sp>
        <p:nvSpPr>
          <p:cNvPr id="3" name="Section title"/>
          <p:cNvSpPr txBox="1"/>
          <p:nvPr/>
        </p:nvSpPr>
        <p:spPr>
          <a:xfrm>
            <a:off x="548640" y="685800"/>
            <a:ext cx="11064240" cy="548640"/>
          </a:xfrm>
          <a:prstGeom prst="rect">
            <a:avLst/>
          </a:prstGeom>
          <a:noFill/>
          <a:ln/>
        </p:spPr>
        <p:txBody>
          <a:bodyPr wrap="square" lIns="0" tIns="0" rIns="0" bIns="0" rtlCol="0" anchor="ctr"/>
          <a:lstStyle/>
          <a:p>
            <a:pPr marL="0" indent="0">
              <a:buNone/>
            </a:pPr>
            <a:r>
              <a:rPr lang="en-US" sz="3200" b="1" dirty="0">
                <a:solidFill>
                  <a:schemeClr val="tx1"/>
                </a:solidFill>
                <a:latin typeface="+mj-lt" pitchFamily="34" charset="0"/>
                <a:ea typeface="+mj-lt" pitchFamily="34" charset="-122"/>
                <a:cs typeface="+mj-lt" pitchFamily="34" charset="-120"/>
              </a:rPr>
              <a:t>Theoretical Motivation</a:t>
            </a:r>
            <a:endParaRPr lang="en-US" sz="3200" dirty="0"/>
          </a:p>
        </p:txBody>
      </p:sp>
      <p:sp>
        <p:nvSpPr>
          <p:cNvPr id="4" name="current"/>
          <p:cNvSpPr/>
          <p:nvPr/>
        </p:nvSpPr>
        <p:spPr>
          <a:xfrm>
            <a:off x="457200" y="1435608"/>
            <a:ext cx="11274552" cy="914400"/>
          </a:xfrm>
          <a:prstGeom prst="roundRect">
            <a:avLst>
              <a:gd name="adj" fmla="val 12000"/>
            </a:avLst>
          </a:prstGeom>
          <a:solidFill>
            <a:srgbClr val="73000A"/>
          </a:solidFill>
          <a:ln/>
        </p:spPr>
        <p:txBody>
          <a:bodyPr/>
          <a:lstStyle/>
          <a:p>
            <a:endParaRPr lang="en-US"/>
          </a:p>
        </p:txBody>
      </p:sp>
      <p:sp>
        <p:nvSpPr>
          <p:cNvPr id="5" name="Shape 3"/>
          <p:cNvSpPr/>
          <p:nvPr/>
        </p:nvSpPr>
        <p:spPr>
          <a:xfrm>
            <a:off x="685800" y="1591056"/>
            <a:ext cx="603504" cy="603504"/>
          </a:xfrm>
          <a:prstGeom prst="ellipse">
            <a:avLst/>
          </a:prstGeom>
          <a:solidFill>
            <a:schemeClr val="bg1"/>
          </a:solidFill>
          <a:ln/>
        </p:spPr>
        <p:txBody>
          <a:bodyPr/>
          <a:lstStyle/>
          <a:p>
            <a:endParaRPr lang="en-US"/>
          </a:p>
        </p:txBody>
      </p:sp>
      <p:sp>
        <p:nvSpPr>
          <p:cNvPr id="6" name="Text 4"/>
          <p:cNvSpPr txBox="1"/>
          <p:nvPr/>
        </p:nvSpPr>
        <p:spPr>
          <a:xfrm>
            <a:off x="685800" y="1591056"/>
            <a:ext cx="603504" cy="603504"/>
          </a:xfrm>
          <a:prstGeom prst="rect">
            <a:avLst/>
          </a:prstGeom>
          <a:noFill/>
          <a:ln/>
        </p:spPr>
        <p:txBody>
          <a:bodyPr wrap="square" lIns="0" tIns="0" rIns="0" bIns="0" rtlCol="0" anchor="ctr"/>
          <a:lstStyle/>
          <a:p>
            <a:pPr marL="0" indent="0" algn="ctr">
              <a:buNone/>
            </a:pPr>
            <a:r>
              <a:rPr lang="en-US" sz="2200" b="1" dirty="0">
                <a:solidFill>
                  <a:srgbClr val="73000A"/>
                </a:solidFill>
                <a:latin typeface="+mj-lt" pitchFamily="34" charset="0"/>
                <a:ea typeface="+mj-lt" pitchFamily="34" charset="-122"/>
                <a:cs typeface="+mj-lt" pitchFamily="34" charset="-120"/>
              </a:rPr>
              <a:t>1</a:t>
            </a:r>
            <a:endParaRPr lang="en-US" sz="2200" dirty="0">
              <a:solidFill>
                <a:srgbClr val="73000A"/>
              </a:solidFill>
            </a:endParaRPr>
          </a:p>
        </p:txBody>
      </p:sp>
      <p:sp>
        <p:nvSpPr>
          <p:cNvPr id="7" name="Text 5"/>
          <p:cNvSpPr txBox="1"/>
          <p:nvPr/>
        </p:nvSpPr>
        <p:spPr>
          <a:xfrm>
            <a:off x="1600200" y="1527048"/>
            <a:ext cx="7863840" cy="384048"/>
          </a:xfrm>
          <a:prstGeom prst="rect">
            <a:avLst/>
          </a:prstGeom>
          <a:noFill/>
          <a:ln/>
        </p:spPr>
        <p:txBody>
          <a:bodyPr wrap="square" lIns="0" tIns="0" rIns="0" bIns="0" rtlCol="0" anchor="ctr"/>
          <a:lstStyle/>
          <a:p>
            <a:pPr marL="0" indent="0">
              <a:buNone/>
            </a:pPr>
            <a:r>
              <a:rPr lang="en-US" sz="2200" b="1" dirty="0">
                <a:solidFill>
                  <a:schemeClr val="bg1"/>
                </a:solidFill>
                <a:latin typeface="+mj-lt" pitchFamily="34" charset="0"/>
                <a:ea typeface="+mj-lt" pitchFamily="34" charset="-122"/>
                <a:cs typeface="+mj-lt" pitchFamily="34" charset="-120"/>
              </a:rPr>
              <a:t>Theoretical Motivation</a:t>
            </a:r>
            <a:endParaRPr lang="en-US" sz="2200" dirty="0"/>
          </a:p>
        </p:txBody>
      </p:sp>
      <p:sp>
        <p:nvSpPr>
          <p:cNvPr id="8" name="Text 6"/>
          <p:cNvSpPr txBox="1"/>
          <p:nvPr/>
        </p:nvSpPr>
        <p:spPr>
          <a:xfrm>
            <a:off x="1600200" y="1911096"/>
            <a:ext cx="8138160" cy="347472"/>
          </a:xfrm>
          <a:prstGeom prst="rect">
            <a:avLst/>
          </a:prstGeom>
          <a:noFill/>
          <a:ln/>
        </p:spPr>
        <p:txBody>
          <a:bodyPr wrap="square" lIns="0" tIns="0" rIns="0" bIns="0" rtlCol="0" anchor="t"/>
          <a:lstStyle/>
          <a:p>
            <a:pPr marL="0" indent="0">
              <a:buNone/>
            </a:pPr>
            <a:r>
              <a:rPr lang="en-US" sz="1500" i="1" dirty="0">
                <a:solidFill>
                  <a:schemeClr val="bg1"/>
                </a:solidFill>
                <a:latin typeface="+mn-lt" pitchFamily="34" charset="0"/>
                <a:ea typeface="+mn-lt" pitchFamily="34" charset="-122"/>
                <a:cs typeface="+mn-lt" pitchFamily="34" charset="-120"/>
              </a:rPr>
              <a:t>Why search for charged lepton flavor violation?</a:t>
            </a:r>
            <a:endParaRPr lang="en-US" sz="1500" dirty="0"/>
          </a:p>
        </p:txBody>
      </p:sp>
      <p:sp>
        <p:nvSpPr>
          <p:cNvPr id="9" name="Text 7"/>
          <p:cNvSpPr txBox="1"/>
          <p:nvPr/>
        </p:nvSpPr>
        <p:spPr>
          <a:xfrm>
            <a:off x="9875520" y="1591056"/>
            <a:ext cx="1645920" cy="603504"/>
          </a:xfrm>
          <a:prstGeom prst="rect">
            <a:avLst/>
          </a:prstGeom>
          <a:noFill/>
          <a:ln/>
        </p:spPr>
        <p:txBody>
          <a:bodyPr wrap="square" lIns="0" tIns="0" rIns="0" bIns="0" rtlCol="0" anchor="ctr"/>
          <a:lstStyle/>
          <a:p>
            <a:pPr marL="0" indent="0" algn="r">
              <a:buNone/>
            </a:pPr>
            <a:r>
              <a:rPr lang="en-US" sz="1400" i="1" dirty="0">
                <a:solidFill>
                  <a:schemeClr val="bg1"/>
                </a:solidFill>
                <a:latin typeface="+mn-lt" pitchFamily="34" charset="0"/>
                <a:ea typeface="+mn-lt" pitchFamily="34" charset="-122"/>
                <a:cs typeface="+mn-lt" pitchFamily="34" charset="-120"/>
              </a:rPr>
              <a:t>Slides 3–11</a:t>
            </a:r>
            <a:endParaRPr lang="en-US" sz="1400" dirty="0"/>
          </a:p>
        </p:txBody>
      </p:sp>
      <p:sp>
        <p:nvSpPr>
          <p:cNvPr id="10" name="Shape 8"/>
          <p:cNvSpPr/>
          <p:nvPr/>
        </p:nvSpPr>
        <p:spPr>
          <a:xfrm>
            <a:off x="685800" y="2615184"/>
            <a:ext cx="603504" cy="603504"/>
          </a:xfrm>
          <a:prstGeom prst="ellipse">
            <a:avLst/>
          </a:prstGeom>
          <a:solidFill>
            <a:schemeClr val="bg2"/>
          </a:solidFill>
          <a:ln/>
        </p:spPr>
        <p:txBody>
          <a:bodyPr/>
          <a:lstStyle/>
          <a:p>
            <a:endParaRPr lang="en-US"/>
          </a:p>
        </p:txBody>
      </p:sp>
      <p:sp>
        <p:nvSpPr>
          <p:cNvPr id="11" name="Text 9"/>
          <p:cNvSpPr txBox="1"/>
          <p:nvPr/>
        </p:nvSpPr>
        <p:spPr>
          <a:xfrm>
            <a:off x="685800" y="2615184"/>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2</a:t>
            </a:r>
            <a:endParaRPr lang="en-US" sz="2200" dirty="0"/>
          </a:p>
        </p:txBody>
      </p:sp>
      <p:sp>
        <p:nvSpPr>
          <p:cNvPr id="12" name="Text 10"/>
          <p:cNvSpPr txBox="1"/>
          <p:nvPr/>
        </p:nvSpPr>
        <p:spPr>
          <a:xfrm>
            <a:off x="1600200" y="2551176"/>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The Mu2e Experiment</a:t>
            </a:r>
            <a:endParaRPr lang="en-US" sz="2200" dirty="0"/>
          </a:p>
        </p:txBody>
      </p:sp>
      <p:sp>
        <p:nvSpPr>
          <p:cNvPr id="13" name="Text 11"/>
          <p:cNvSpPr txBox="1"/>
          <p:nvPr/>
        </p:nvSpPr>
        <p:spPr>
          <a:xfrm>
            <a:off x="1600200" y="2935224"/>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How does Mu2e isolate a single conversion electron?</a:t>
            </a:r>
            <a:endParaRPr lang="en-US" sz="1500" dirty="0"/>
          </a:p>
        </p:txBody>
      </p:sp>
      <p:sp>
        <p:nvSpPr>
          <p:cNvPr id="14" name="Text 12"/>
          <p:cNvSpPr txBox="1"/>
          <p:nvPr/>
        </p:nvSpPr>
        <p:spPr>
          <a:xfrm>
            <a:off x="9875520" y="2615184"/>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12–20</a:t>
            </a:r>
            <a:endParaRPr lang="en-US" sz="1400" dirty="0"/>
          </a:p>
        </p:txBody>
      </p:sp>
      <p:sp>
        <p:nvSpPr>
          <p:cNvPr id="15" name="Shape 13"/>
          <p:cNvSpPr/>
          <p:nvPr/>
        </p:nvSpPr>
        <p:spPr>
          <a:xfrm>
            <a:off x="685800" y="3639312"/>
            <a:ext cx="603504" cy="603504"/>
          </a:xfrm>
          <a:prstGeom prst="ellipse">
            <a:avLst/>
          </a:prstGeom>
          <a:solidFill>
            <a:schemeClr val="bg2"/>
          </a:solidFill>
          <a:ln/>
        </p:spPr>
        <p:txBody>
          <a:bodyPr/>
          <a:lstStyle/>
          <a:p>
            <a:endParaRPr lang="en-US"/>
          </a:p>
        </p:txBody>
      </p:sp>
      <p:sp>
        <p:nvSpPr>
          <p:cNvPr id="16" name="Text 14"/>
          <p:cNvSpPr txBox="1"/>
          <p:nvPr/>
        </p:nvSpPr>
        <p:spPr>
          <a:xfrm>
            <a:off x="685800" y="3639312"/>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3</a:t>
            </a:r>
            <a:endParaRPr lang="en-US" sz="2200" dirty="0"/>
          </a:p>
        </p:txBody>
      </p:sp>
      <p:sp>
        <p:nvSpPr>
          <p:cNvPr id="17" name="Text 15"/>
          <p:cNvSpPr txBox="1"/>
          <p:nvPr/>
        </p:nvSpPr>
        <p:spPr>
          <a:xfrm>
            <a:off x="1600200" y="3575304"/>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Event Identification and Signal</a:t>
            </a:r>
            <a:endParaRPr lang="en-US" sz="2200" dirty="0"/>
          </a:p>
        </p:txBody>
      </p:sp>
      <p:sp>
        <p:nvSpPr>
          <p:cNvPr id="18" name="Text 16"/>
          <p:cNvSpPr txBox="1"/>
          <p:nvPr/>
        </p:nvSpPr>
        <p:spPr>
          <a:xfrm>
            <a:off x="1600200" y="3959352"/>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does μ⁻e⁻ → e⁻e⁻ look like in the detector?</a:t>
            </a:r>
            <a:endParaRPr lang="en-US" sz="1500" dirty="0"/>
          </a:p>
        </p:txBody>
      </p:sp>
      <p:sp>
        <p:nvSpPr>
          <p:cNvPr id="19" name="Text 17"/>
          <p:cNvSpPr txBox="1"/>
          <p:nvPr/>
        </p:nvSpPr>
        <p:spPr>
          <a:xfrm>
            <a:off x="9875520" y="3639312"/>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21–26</a:t>
            </a:r>
            <a:endParaRPr lang="en-US" sz="1400" dirty="0"/>
          </a:p>
        </p:txBody>
      </p:sp>
      <p:sp>
        <p:nvSpPr>
          <p:cNvPr id="20" name="Shape 18"/>
          <p:cNvSpPr/>
          <p:nvPr/>
        </p:nvSpPr>
        <p:spPr>
          <a:xfrm>
            <a:off x="685800" y="4663440"/>
            <a:ext cx="603504" cy="603504"/>
          </a:xfrm>
          <a:prstGeom prst="ellipse">
            <a:avLst/>
          </a:prstGeom>
          <a:solidFill>
            <a:schemeClr val="bg2"/>
          </a:solidFill>
          <a:ln/>
        </p:spPr>
        <p:txBody>
          <a:bodyPr/>
          <a:lstStyle/>
          <a:p>
            <a:endParaRPr lang="en-US"/>
          </a:p>
        </p:txBody>
      </p:sp>
      <p:sp>
        <p:nvSpPr>
          <p:cNvPr id="21" name="Text 19"/>
          <p:cNvSpPr txBox="1"/>
          <p:nvPr/>
        </p:nvSpPr>
        <p:spPr>
          <a:xfrm>
            <a:off x="685800" y="4663440"/>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4</a:t>
            </a:r>
            <a:endParaRPr lang="en-US" sz="2200" dirty="0"/>
          </a:p>
        </p:txBody>
      </p:sp>
      <p:sp>
        <p:nvSpPr>
          <p:cNvPr id="22" name="Text 20"/>
          <p:cNvSpPr txBox="1"/>
          <p:nvPr/>
        </p:nvSpPr>
        <p:spPr>
          <a:xfrm>
            <a:off x="1600200" y="4599432"/>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Initial Investigation</a:t>
            </a:r>
            <a:endParaRPr lang="en-US" sz="2200" dirty="0"/>
          </a:p>
        </p:txBody>
      </p:sp>
      <p:sp>
        <p:nvSpPr>
          <p:cNvPr id="23" name="Text 21"/>
          <p:cNvSpPr txBox="1"/>
          <p:nvPr/>
        </p:nvSpPr>
        <p:spPr>
          <a:xfrm>
            <a:off x="1600200" y="4983480"/>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have I shown so far?</a:t>
            </a:r>
            <a:endParaRPr lang="en-US" sz="1500" dirty="0"/>
          </a:p>
        </p:txBody>
      </p:sp>
      <p:sp>
        <p:nvSpPr>
          <p:cNvPr id="24" name="Text 22"/>
          <p:cNvSpPr txBox="1"/>
          <p:nvPr/>
        </p:nvSpPr>
        <p:spPr>
          <a:xfrm>
            <a:off x="9875520" y="4663440"/>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27–35</a:t>
            </a:r>
            <a:endParaRPr lang="en-US" sz="1400" dirty="0"/>
          </a:p>
        </p:txBody>
      </p:sp>
      <p:sp>
        <p:nvSpPr>
          <p:cNvPr id="25" name="Shape 23"/>
          <p:cNvSpPr/>
          <p:nvPr/>
        </p:nvSpPr>
        <p:spPr>
          <a:xfrm>
            <a:off x="685800" y="5687568"/>
            <a:ext cx="603504" cy="603504"/>
          </a:xfrm>
          <a:prstGeom prst="ellipse">
            <a:avLst/>
          </a:prstGeom>
          <a:solidFill>
            <a:schemeClr val="bg2"/>
          </a:solidFill>
          <a:ln/>
        </p:spPr>
        <p:txBody>
          <a:bodyPr/>
          <a:lstStyle/>
          <a:p>
            <a:endParaRPr lang="en-US"/>
          </a:p>
        </p:txBody>
      </p:sp>
      <p:sp>
        <p:nvSpPr>
          <p:cNvPr id="26" name="Text 24"/>
          <p:cNvSpPr txBox="1"/>
          <p:nvPr/>
        </p:nvSpPr>
        <p:spPr>
          <a:xfrm>
            <a:off x="685800" y="5687568"/>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5</a:t>
            </a:r>
            <a:endParaRPr lang="en-US" sz="2200" dirty="0"/>
          </a:p>
        </p:txBody>
      </p:sp>
      <p:sp>
        <p:nvSpPr>
          <p:cNvPr id="27" name="Text 25"/>
          <p:cNvSpPr txBox="1"/>
          <p:nvPr/>
        </p:nvSpPr>
        <p:spPr>
          <a:xfrm>
            <a:off x="1600200" y="5623560"/>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Goals and Deliverables</a:t>
            </a:r>
            <a:endParaRPr lang="en-US" sz="2200" dirty="0"/>
          </a:p>
        </p:txBody>
      </p:sp>
      <p:sp>
        <p:nvSpPr>
          <p:cNvPr id="28" name="Text 26"/>
          <p:cNvSpPr txBox="1"/>
          <p:nvPr/>
        </p:nvSpPr>
        <p:spPr>
          <a:xfrm>
            <a:off x="1600200" y="6007608"/>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will the dissertation deliver, and by when?</a:t>
            </a:r>
            <a:endParaRPr lang="en-US" sz="1500" dirty="0"/>
          </a:p>
        </p:txBody>
      </p:sp>
      <p:sp>
        <p:nvSpPr>
          <p:cNvPr id="29" name="Text 27"/>
          <p:cNvSpPr txBox="1"/>
          <p:nvPr/>
        </p:nvSpPr>
        <p:spPr>
          <a:xfrm>
            <a:off x="9875520" y="5687568"/>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36–43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The Standard Model of Particle Physics</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Matter, forces, and flavor in an SU(3)</a:t>
            </a:r>
            <a:r>
              <a:rPr lang="en-US" sz="1600" i="1" baseline="-40000" dirty="0">
                <a:solidFill>
                  <a:srgbClr val="73000A"/>
                </a:solidFill>
                <a:latin typeface="Calibri" pitchFamily="34" charset="0"/>
                <a:ea typeface="Calibri" pitchFamily="34" charset="-122"/>
                <a:cs typeface="Calibri" pitchFamily="34" charset="-120"/>
              </a:rPr>
              <a:t>c</a:t>
            </a:r>
            <a:r>
              <a:rPr lang="en-US" sz="1600" i="1" dirty="0">
                <a:solidFill>
                  <a:srgbClr val="73000A"/>
                </a:solidFill>
                <a:latin typeface="Calibri" pitchFamily="34" charset="0"/>
                <a:ea typeface="Calibri" pitchFamily="34" charset="-122"/>
                <a:cs typeface="Calibri" pitchFamily="34" charset="-120"/>
              </a:rPr>
              <a:t> × SU(2)</a:t>
            </a:r>
            <a:r>
              <a:rPr lang="en-US" sz="1600" i="1" baseline="-40000" dirty="0">
                <a:solidFill>
                  <a:srgbClr val="73000A"/>
                </a:solidFill>
                <a:latin typeface="Calibri" pitchFamily="34" charset="0"/>
                <a:ea typeface="Calibri" pitchFamily="34" charset="-122"/>
                <a:cs typeface="Calibri" pitchFamily="34" charset="-120"/>
              </a:rPr>
              <a:t>L</a:t>
            </a:r>
            <a:r>
              <a:rPr lang="en-US" sz="1600" i="1" dirty="0">
                <a:solidFill>
                  <a:srgbClr val="73000A"/>
                </a:solidFill>
                <a:latin typeface="Calibri" pitchFamily="34" charset="0"/>
                <a:ea typeface="Calibri" pitchFamily="34" charset="-122"/>
                <a:cs typeface="Calibri" pitchFamily="34" charset="-120"/>
              </a:rPr>
              <a:t> × U(1)</a:t>
            </a:r>
            <a:r>
              <a:rPr lang="en-US" sz="1600" i="1" baseline="-40000" dirty="0">
                <a:solidFill>
                  <a:srgbClr val="73000A"/>
                </a:solidFill>
                <a:latin typeface="Calibri" pitchFamily="34" charset="0"/>
                <a:ea typeface="Calibri" pitchFamily="34" charset="-122"/>
                <a:cs typeface="Calibri" pitchFamily="34" charset="-120"/>
              </a:rPr>
              <a:t>Y</a:t>
            </a:r>
            <a:r>
              <a:rPr lang="en-US" sz="1600" i="1" dirty="0">
                <a:solidFill>
                  <a:srgbClr val="73000A"/>
                </a:solidFill>
                <a:latin typeface="Calibri" pitchFamily="34" charset="0"/>
                <a:ea typeface="Calibri" pitchFamily="34" charset="-122"/>
                <a:cs typeface="Calibri" pitchFamily="34" charset="-120"/>
              </a:rPr>
              <a:t> gauge theory</a:t>
            </a:r>
            <a:endParaRPr lang="en-US" sz="1600" dirty="0"/>
          </a:p>
        </p:txBody>
      </p:sp>
      <p:sp>
        <p:nvSpPr>
          <p:cNvPr id="4" name="!!gen_I"/>
          <p:cNvSpPr txBox="1"/>
          <p:nvPr/>
        </p:nvSpPr>
        <p:spPr>
          <a:xfrm>
            <a:off x="1325880" y="1481328"/>
            <a:ext cx="1097280" cy="274320"/>
          </a:xfrm>
          <a:prstGeom prst="rect">
            <a:avLst/>
          </a:prstGeom>
          <a:noFill/>
          <a:ln/>
        </p:spPr>
        <p:txBody>
          <a:bodyPr wrap="square" lIns="0" tIns="0" rIns="0" bIns="0" rtlCol="0" anchor="ctr"/>
          <a:lstStyle/>
          <a:p>
            <a:pPr marL="0" indent="0" algn="ctr">
              <a:buNone/>
            </a:pPr>
            <a:r>
              <a:rPr lang="en-US" sz="1300" b="1" dirty="0">
                <a:solidFill>
                  <a:srgbClr val="6A6A6A"/>
                </a:solidFill>
                <a:latin typeface="Calibri" pitchFamily="34" charset="0"/>
                <a:ea typeface="Calibri" pitchFamily="34" charset="-122"/>
                <a:cs typeface="Calibri" pitchFamily="34" charset="-120"/>
              </a:rPr>
              <a:t>I</a:t>
            </a:r>
            <a:endParaRPr lang="en-US" sz="1300" dirty="0"/>
          </a:p>
        </p:txBody>
      </p:sp>
      <p:sp>
        <p:nvSpPr>
          <p:cNvPr id="5" name="!!gen_II"/>
          <p:cNvSpPr txBox="1"/>
          <p:nvPr/>
        </p:nvSpPr>
        <p:spPr>
          <a:xfrm>
            <a:off x="2514600" y="1481328"/>
            <a:ext cx="1097280" cy="274320"/>
          </a:xfrm>
          <a:prstGeom prst="rect">
            <a:avLst/>
          </a:prstGeom>
          <a:noFill/>
          <a:ln/>
        </p:spPr>
        <p:txBody>
          <a:bodyPr wrap="square" lIns="0" tIns="0" rIns="0" bIns="0" rtlCol="0" anchor="ctr"/>
          <a:lstStyle/>
          <a:p>
            <a:pPr marL="0" indent="0" algn="ctr">
              <a:buNone/>
            </a:pPr>
            <a:r>
              <a:rPr lang="en-US" sz="1300" b="1" dirty="0">
                <a:solidFill>
                  <a:srgbClr val="6A6A6A"/>
                </a:solidFill>
                <a:latin typeface="Calibri" pitchFamily="34" charset="0"/>
                <a:ea typeface="Calibri" pitchFamily="34" charset="-122"/>
                <a:cs typeface="Calibri" pitchFamily="34" charset="-120"/>
              </a:rPr>
              <a:t>II</a:t>
            </a:r>
            <a:endParaRPr lang="en-US" sz="1300" dirty="0"/>
          </a:p>
        </p:txBody>
      </p:sp>
      <p:sp>
        <p:nvSpPr>
          <p:cNvPr id="6" name="!!gen_III"/>
          <p:cNvSpPr txBox="1"/>
          <p:nvPr/>
        </p:nvSpPr>
        <p:spPr>
          <a:xfrm>
            <a:off x="3703320" y="1481328"/>
            <a:ext cx="1097280" cy="274320"/>
          </a:xfrm>
          <a:prstGeom prst="rect">
            <a:avLst/>
          </a:prstGeom>
          <a:noFill/>
          <a:ln/>
        </p:spPr>
        <p:txBody>
          <a:bodyPr wrap="square" lIns="0" tIns="0" rIns="0" bIns="0" rtlCol="0" anchor="ctr"/>
          <a:lstStyle/>
          <a:p>
            <a:pPr marL="0" indent="0" algn="ctr">
              <a:buNone/>
            </a:pPr>
            <a:r>
              <a:rPr lang="en-US" sz="1300" b="1" dirty="0">
                <a:solidFill>
                  <a:srgbClr val="6A6A6A"/>
                </a:solidFill>
                <a:latin typeface="Calibri" pitchFamily="34" charset="0"/>
                <a:ea typeface="Calibri" pitchFamily="34" charset="-122"/>
                <a:cs typeface="Calibri" pitchFamily="34" charset="-120"/>
              </a:rPr>
              <a:t>III</a:t>
            </a:r>
            <a:endParaRPr lang="en-US" sz="1300" dirty="0"/>
          </a:p>
        </p:txBody>
      </p:sp>
      <p:sp>
        <p:nvSpPr>
          <p:cNvPr id="7" name="!!genlabel"/>
          <p:cNvSpPr txBox="1"/>
          <p:nvPr/>
        </p:nvSpPr>
        <p:spPr>
          <a:xfrm>
            <a:off x="1325880" y="1280160"/>
            <a:ext cx="3474720" cy="228600"/>
          </a:xfrm>
          <a:prstGeom prst="rect">
            <a:avLst/>
          </a:prstGeom>
          <a:noFill/>
          <a:ln/>
        </p:spPr>
        <p:txBody>
          <a:bodyPr wrap="square" lIns="0" tIns="0" rIns="0" bIns="0" rtlCol="0" anchor="ctr"/>
          <a:lstStyle/>
          <a:p>
            <a:pPr marL="0" indent="0" algn="ctr">
              <a:buNone/>
            </a:pPr>
            <a:r>
              <a:rPr lang="en-US" sz="1100" i="1" dirty="0">
                <a:solidFill>
                  <a:srgbClr val="6A6A6A"/>
                </a:solidFill>
                <a:latin typeface="Calibri" pitchFamily="34" charset="0"/>
                <a:ea typeface="Calibri" pitchFamily="34" charset="-122"/>
                <a:cs typeface="Calibri" pitchFamily="34" charset="-120"/>
              </a:rPr>
              <a:t>Generation</a:t>
            </a:r>
            <a:endParaRPr lang="en-US" sz="1100" dirty="0"/>
          </a:p>
        </p:txBody>
      </p:sp>
      <p:sp>
        <p:nvSpPr>
          <p:cNvPr id="8" name="!!boslabel"/>
          <p:cNvSpPr txBox="1"/>
          <p:nvPr/>
        </p:nvSpPr>
        <p:spPr>
          <a:xfrm>
            <a:off x="5166360" y="1481328"/>
            <a:ext cx="2286000" cy="274320"/>
          </a:xfrm>
          <a:prstGeom prst="rect">
            <a:avLst/>
          </a:prstGeom>
          <a:noFill/>
          <a:ln/>
        </p:spPr>
        <p:txBody>
          <a:bodyPr wrap="square" lIns="0" tIns="0" rIns="0" bIns="0" rtlCol="0" anchor="ctr"/>
          <a:lstStyle/>
          <a:p>
            <a:pPr marL="0" indent="0" algn="ctr">
              <a:buNone/>
            </a:pPr>
            <a:r>
              <a:rPr lang="en-US" sz="1300" b="1" dirty="0">
                <a:solidFill>
                  <a:srgbClr val="6A6A6A"/>
                </a:solidFill>
                <a:latin typeface="Calibri" pitchFamily="34" charset="0"/>
                <a:ea typeface="Calibri" pitchFamily="34" charset="-122"/>
                <a:cs typeface="Calibri" pitchFamily="34" charset="-120"/>
              </a:rPr>
              <a:t>Bosons</a:t>
            </a:r>
            <a:endParaRPr lang="en-US" sz="1300" dirty="0"/>
          </a:p>
        </p:txBody>
      </p:sp>
      <p:sp>
        <p:nvSpPr>
          <p:cNvPr id="9" name="!!cell_u"/>
          <p:cNvSpPr/>
          <p:nvPr/>
        </p:nvSpPr>
        <p:spPr>
          <a:xfrm>
            <a:off x="1325880" y="1828800"/>
            <a:ext cx="1097280" cy="868680"/>
          </a:xfrm>
          <a:prstGeom prst="roundRect">
            <a:avLst>
              <a:gd name="adj" fmla="val 8421"/>
            </a:avLst>
          </a:prstGeom>
          <a:solidFill>
            <a:srgbClr val="EEE6F6"/>
          </a:solidFill>
          <a:ln w="12700">
            <a:solidFill>
              <a:srgbClr val="B9A3D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0" name="!!q_u"/>
              <p:cNvSpPr txBox="1"/>
              <p:nvPr/>
            </p:nvSpPr>
            <p:spPr>
              <a:xfrm>
                <a:off x="138988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B3A8C"/>
                          </a:solidFill>
                          <a:latin typeface="Cambria Math" panose="02040503050406030204" pitchFamily="18" charset="0"/>
                        </a:rPr>
                        <m:t>+</m:t>
                      </m:r>
                      <m:f>
                        <m:fPr>
                          <m:type m:val="skw"/>
                          <m:ctrlPr>
                            <a:rPr lang="en-US" sz="1100" i="1">
                              <a:solidFill>
                                <a:srgbClr val="5B3A8C"/>
                              </a:solidFill>
                              <a:latin typeface="Cambria Math" panose="02040503050406030204" pitchFamily="18" charset="0"/>
                            </a:rPr>
                          </m:ctrlPr>
                        </m:fPr>
                        <m:num>
                          <m:r>
                            <a:rPr lang="en-US" sz="1100" i="0">
                              <a:solidFill>
                                <a:srgbClr val="5B3A8C"/>
                              </a:solidFill>
                              <a:latin typeface="Cambria Math" panose="02040503050406030204" pitchFamily="18" charset="0"/>
                            </a:rPr>
                            <m:t>2</m:t>
                          </m:r>
                        </m:num>
                        <m:den>
                          <m:r>
                            <a:rPr lang="en-US" sz="1100" i="0">
                              <a:solidFill>
                                <a:srgbClr val="5B3A8C"/>
                              </a:solidFill>
                              <a:latin typeface="Cambria Math" panose="02040503050406030204" pitchFamily="18" charset="0"/>
                            </a:rPr>
                            <m:t>3</m:t>
                          </m:r>
                        </m:den>
                      </m:f>
                    </m:oMath>
                  </m:oMathPara>
                </a14:m>
                <a:endParaRPr lang="en-US" sz="1100" dirty="0"/>
              </a:p>
            </p:txBody>
          </p:sp>
        </mc:Choice>
        <mc:Fallback xmlns="">
          <p:sp>
            <p:nvSpPr>
              <p:cNvPr id="10" name="!!q_u"/>
              <p:cNvSpPr txBox="1"/>
              <p:nvPr/>
            </p:nvSpPr>
            <p:spPr>
              <a:xfrm>
                <a:off x="1389888" y="1865376"/>
                <a:ext cx="969264" cy="237744"/>
              </a:xfrm>
              <a:prstGeom prst="rect">
                <a:avLst/>
              </a:prstGeom>
              <a:blipFill>
                <a:blip r:embed="rIdEq1"/>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11" name="!!sym_u"/>
              <p:cNvSpPr txBox="1"/>
              <p:nvPr/>
            </p:nvSpPr>
            <p:spPr>
              <a:xfrm>
                <a:off x="132588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4B2A7B"/>
                          </a:solidFill>
                          <a:latin typeface="Cambria Math" panose="02040503050406030204" pitchFamily="18" charset="0"/>
                        </a:rPr>
                        <m:t>𝑢</m:t>
                      </m:r>
                    </m:oMath>
                  </m:oMathPara>
                </a14:m>
                <a:endParaRPr lang="en-US" sz="2600" dirty="0"/>
              </a:p>
            </p:txBody>
          </p:sp>
        </mc:Choice>
        <mc:Fallback xmlns="">
          <p:sp>
            <p:nvSpPr>
              <p:cNvPr id="11" name="!!sym_u"/>
              <p:cNvSpPr txBox="1"/>
              <p:nvPr/>
            </p:nvSpPr>
            <p:spPr>
              <a:xfrm>
                <a:off x="1325880" y="2011680"/>
                <a:ext cx="1097280" cy="438912"/>
              </a:xfrm>
              <a:prstGeom prst="rect">
                <a:avLst/>
              </a:prstGeom>
              <a:blipFill>
                <a:blip r:embed="rIdEq2"/>
                <a:stretch>
                  <a:fillRect/>
                </a:stretch>
              </a:blipFill>
              <a:ln/>
            </p:spPr>
            <p:txBody>
              <a:bodyPr wrap="square" lIns="0" tIns="0" rIns="0" bIns="0" rtlCol="0" anchor="ctr"/>
              <a:lstStyle/>
              <a:p>
                <a:endParaRPr lang="en-US" dirty="0"/>
              </a:p>
            </p:txBody>
          </p:sp>
        </mc:Fallback>
      </mc:AlternateContent>
      <p:sp>
        <p:nvSpPr>
          <p:cNvPr id="12" name="!!name_u"/>
          <p:cNvSpPr txBox="1"/>
          <p:nvPr/>
        </p:nvSpPr>
        <p:spPr>
          <a:xfrm>
            <a:off x="1325880" y="2450592"/>
            <a:ext cx="1097280" cy="201168"/>
          </a:xfrm>
          <a:prstGeom prst="rect">
            <a:avLst/>
          </a:prstGeom>
          <a:noFill/>
          <a:ln/>
        </p:spPr>
        <p:txBody>
          <a:bodyPr wrap="square" lIns="0" tIns="0" rIns="0" bIns="0" rtlCol="0" anchor="ctr"/>
          <a:lstStyle/>
          <a:p>
            <a:pPr marL="0" indent="0" algn="ctr">
              <a:buNone/>
            </a:pPr>
            <a:r>
              <a:rPr lang="en-US" sz="1000" dirty="0">
                <a:solidFill>
                  <a:srgbClr val="5B3A8C"/>
                </a:solidFill>
                <a:latin typeface="Calibri" pitchFamily="34" charset="0"/>
                <a:ea typeface="Calibri" pitchFamily="34" charset="-122"/>
                <a:cs typeface="Calibri" pitchFamily="34" charset="-120"/>
              </a:rPr>
              <a:t>up</a:t>
            </a:r>
            <a:endParaRPr lang="en-US" sz="1000" dirty="0"/>
          </a:p>
        </p:txBody>
      </p:sp>
      <p:sp>
        <p:nvSpPr>
          <p:cNvPr id="13" name="!!cell_c"/>
          <p:cNvSpPr/>
          <p:nvPr/>
        </p:nvSpPr>
        <p:spPr>
          <a:xfrm>
            <a:off x="2514600" y="1828800"/>
            <a:ext cx="1097280" cy="868680"/>
          </a:xfrm>
          <a:prstGeom prst="roundRect">
            <a:avLst>
              <a:gd name="adj" fmla="val 8421"/>
            </a:avLst>
          </a:prstGeom>
          <a:solidFill>
            <a:srgbClr val="EEE6F6"/>
          </a:solidFill>
          <a:ln w="12700">
            <a:solidFill>
              <a:srgbClr val="B9A3D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4" name="!!q_c"/>
              <p:cNvSpPr txBox="1"/>
              <p:nvPr/>
            </p:nvSpPr>
            <p:spPr>
              <a:xfrm>
                <a:off x="257860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B3A8C"/>
                          </a:solidFill>
                          <a:latin typeface="Cambria Math" panose="02040503050406030204" pitchFamily="18" charset="0"/>
                        </a:rPr>
                        <m:t>+</m:t>
                      </m:r>
                      <m:f>
                        <m:fPr>
                          <m:type m:val="skw"/>
                          <m:ctrlPr>
                            <a:rPr lang="en-US" sz="1100" i="1">
                              <a:solidFill>
                                <a:srgbClr val="5B3A8C"/>
                              </a:solidFill>
                              <a:latin typeface="Cambria Math" panose="02040503050406030204" pitchFamily="18" charset="0"/>
                            </a:rPr>
                          </m:ctrlPr>
                        </m:fPr>
                        <m:num>
                          <m:r>
                            <a:rPr lang="en-US" sz="1100" i="0">
                              <a:solidFill>
                                <a:srgbClr val="5B3A8C"/>
                              </a:solidFill>
                              <a:latin typeface="Cambria Math" panose="02040503050406030204" pitchFamily="18" charset="0"/>
                            </a:rPr>
                            <m:t>2</m:t>
                          </m:r>
                        </m:num>
                        <m:den>
                          <m:r>
                            <a:rPr lang="en-US" sz="1100" i="0">
                              <a:solidFill>
                                <a:srgbClr val="5B3A8C"/>
                              </a:solidFill>
                              <a:latin typeface="Cambria Math" panose="02040503050406030204" pitchFamily="18" charset="0"/>
                            </a:rPr>
                            <m:t>3</m:t>
                          </m:r>
                        </m:den>
                      </m:f>
                    </m:oMath>
                  </m:oMathPara>
                </a14:m>
                <a:endParaRPr lang="en-US" sz="1100" dirty="0"/>
              </a:p>
            </p:txBody>
          </p:sp>
        </mc:Choice>
        <mc:Fallback xmlns="">
          <p:sp>
            <p:nvSpPr>
              <p:cNvPr id="14" name="!!q_c"/>
              <p:cNvSpPr txBox="1"/>
              <p:nvPr/>
            </p:nvSpPr>
            <p:spPr>
              <a:xfrm>
                <a:off x="2578608" y="1865376"/>
                <a:ext cx="969264" cy="237744"/>
              </a:xfrm>
              <a:prstGeom prst="rect">
                <a:avLst/>
              </a:prstGeom>
              <a:blipFill>
                <a:blip r:embed="rIdEq3"/>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15" name="!!sym_c"/>
              <p:cNvSpPr txBox="1"/>
              <p:nvPr/>
            </p:nvSpPr>
            <p:spPr>
              <a:xfrm>
                <a:off x="251460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4B2A7B"/>
                          </a:solidFill>
                          <a:latin typeface="Cambria Math" panose="02040503050406030204" pitchFamily="18" charset="0"/>
                        </a:rPr>
                        <m:t>𝑐</m:t>
                      </m:r>
                    </m:oMath>
                  </m:oMathPara>
                </a14:m>
                <a:endParaRPr lang="en-US" sz="2600" dirty="0"/>
              </a:p>
            </p:txBody>
          </p:sp>
        </mc:Choice>
        <mc:Fallback xmlns="">
          <p:sp>
            <p:nvSpPr>
              <p:cNvPr id="15" name="!!sym_c"/>
              <p:cNvSpPr txBox="1"/>
              <p:nvPr/>
            </p:nvSpPr>
            <p:spPr>
              <a:xfrm>
                <a:off x="2514600" y="2011680"/>
                <a:ext cx="1097280" cy="438912"/>
              </a:xfrm>
              <a:prstGeom prst="rect">
                <a:avLst/>
              </a:prstGeom>
              <a:blipFill>
                <a:blip r:embed="rIdEq4"/>
                <a:stretch>
                  <a:fillRect/>
                </a:stretch>
              </a:blipFill>
              <a:ln/>
            </p:spPr>
            <p:txBody>
              <a:bodyPr wrap="square" lIns="0" tIns="0" rIns="0" bIns="0" rtlCol="0" anchor="ctr"/>
              <a:lstStyle/>
              <a:p>
                <a:endParaRPr lang="en-US" dirty="0"/>
              </a:p>
            </p:txBody>
          </p:sp>
        </mc:Fallback>
      </mc:AlternateContent>
      <p:sp>
        <p:nvSpPr>
          <p:cNvPr id="16" name="!!name_c"/>
          <p:cNvSpPr txBox="1"/>
          <p:nvPr/>
        </p:nvSpPr>
        <p:spPr>
          <a:xfrm>
            <a:off x="2514600" y="2450592"/>
            <a:ext cx="1097280" cy="201168"/>
          </a:xfrm>
          <a:prstGeom prst="rect">
            <a:avLst/>
          </a:prstGeom>
          <a:noFill/>
          <a:ln/>
        </p:spPr>
        <p:txBody>
          <a:bodyPr wrap="square" lIns="0" tIns="0" rIns="0" bIns="0" rtlCol="0" anchor="ctr"/>
          <a:lstStyle/>
          <a:p>
            <a:pPr marL="0" indent="0" algn="ctr">
              <a:buNone/>
            </a:pPr>
            <a:r>
              <a:rPr lang="en-US" sz="1000" dirty="0">
                <a:solidFill>
                  <a:srgbClr val="5B3A8C"/>
                </a:solidFill>
                <a:latin typeface="Calibri" pitchFamily="34" charset="0"/>
                <a:ea typeface="Calibri" pitchFamily="34" charset="-122"/>
                <a:cs typeface="Calibri" pitchFamily="34" charset="-120"/>
              </a:rPr>
              <a:t>charm</a:t>
            </a:r>
            <a:endParaRPr lang="en-US" sz="1000" dirty="0"/>
          </a:p>
        </p:txBody>
      </p:sp>
      <p:sp>
        <p:nvSpPr>
          <p:cNvPr id="17" name="!!cell_t"/>
          <p:cNvSpPr/>
          <p:nvPr/>
        </p:nvSpPr>
        <p:spPr>
          <a:xfrm>
            <a:off x="3703320" y="1828800"/>
            <a:ext cx="1097280" cy="868680"/>
          </a:xfrm>
          <a:prstGeom prst="roundRect">
            <a:avLst>
              <a:gd name="adj" fmla="val 8421"/>
            </a:avLst>
          </a:prstGeom>
          <a:solidFill>
            <a:srgbClr val="EEE6F6"/>
          </a:solidFill>
          <a:ln w="12700">
            <a:solidFill>
              <a:srgbClr val="B9A3D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8" name="!!q_t"/>
              <p:cNvSpPr txBox="1"/>
              <p:nvPr/>
            </p:nvSpPr>
            <p:spPr>
              <a:xfrm>
                <a:off x="376732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B3A8C"/>
                          </a:solidFill>
                          <a:latin typeface="Cambria Math" panose="02040503050406030204" pitchFamily="18" charset="0"/>
                        </a:rPr>
                        <m:t>+</m:t>
                      </m:r>
                      <m:f>
                        <m:fPr>
                          <m:type m:val="skw"/>
                          <m:ctrlPr>
                            <a:rPr lang="en-US" sz="1100" i="1">
                              <a:solidFill>
                                <a:srgbClr val="5B3A8C"/>
                              </a:solidFill>
                              <a:latin typeface="Cambria Math" panose="02040503050406030204" pitchFamily="18" charset="0"/>
                            </a:rPr>
                          </m:ctrlPr>
                        </m:fPr>
                        <m:num>
                          <m:r>
                            <a:rPr lang="en-US" sz="1100" i="0">
                              <a:solidFill>
                                <a:srgbClr val="5B3A8C"/>
                              </a:solidFill>
                              <a:latin typeface="Cambria Math" panose="02040503050406030204" pitchFamily="18" charset="0"/>
                            </a:rPr>
                            <m:t>2</m:t>
                          </m:r>
                        </m:num>
                        <m:den>
                          <m:r>
                            <a:rPr lang="en-US" sz="1100" i="0">
                              <a:solidFill>
                                <a:srgbClr val="5B3A8C"/>
                              </a:solidFill>
                              <a:latin typeface="Cambria Math" panose="02040503050406030204" pitchFamily="18" charset="0"/>
                            </a:rPr>
                            <m:t>3</m:t>
                          </m:r>
                        </m:den>
                      </m:f>
                    </m:oMath>
                  </m:oMathPara>
                </a14:m>
                <a:endParaRPr lang="en-US" sz="1100" dirty="0"/>
              </a:p>
            </p:txBody>
          </p:sp>
        </mc:Choice>
        <mc:Fallback xmlns="">
          <p:sp>
            <p:nvSpPr>
              <p:cNvPr id="18" name="!!q_t"/>
              <p:cNvSpPr txBox="1"/>
              <p:nvPr/>
            </p:nvSpPr>
            <p:spPr>
              <a:xfrm>
                <a:off x="3767328" y="1865376"/>
                <a:ext cx="969264" cy="237744"/>
              </a:xfrm>
              <a:prstGeom prst="rect">
                <a:avLst/>
              </a:prstGeom>
              <a:blipFill>
                <a:blip r:embed="rIdEq5"/>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19" name="!!sym_t"/>
              <p:cNvSpPr txBox="1"/>
              <p:nvPr/>
            </p:nvSpPr>
            <p:spPr>
              <a:xfrm>
                <a:off x="370332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4B2A7B"/>
                          </a:solidFill>
                          <a:latin typeface="Cambria Math" panose="02040503050406030204" pitchFamily="18" charset="0"/>
                        </a:rPr>
                        <m:t>𝑡</m:t>
                      </m:r>
                    </m:oMath>
                  </m:oMathPara>
                </a14:m>
                <a:endParaRPr lang="en-US" sz="2600" dirty="0"/>
              </a:p>
            </p:txBody>
          </p:sp>
        </mc:Choice>
        <mc:Fallback xmlns="">
          <p:sp>
            <p:nvSpPr>
              <p:cNvPr id="19" name="!!sym_t"/>
              <p:cNvSpPr txBox="1"/>
              <p:nvPr/>
            </p:nvSpPr>
            <p:spPr>
              <a:xfrm>
                <a:off x="3703320" y="2011680"/>
                <a:ext cx="1097280" cy="438912"/>
              </a:xfrm>
              <a:prstGeom prst="rect">
                <a:avLst/>
              </a:prstGeom>
              <a:blipFill>
                <a:blip r:embed="rIdEq6"/>
                <a:stretch>
                  <a:fillRect/>
                </a:stretch>
              </a:blipFill>
              <a:ln/>
            </p:spPr>
            <p:txBody>
              <a:bodyPr wrap="square" lIns="0" tIns="0" rIns="0" bIns="0" rtlCol="0" anchor="ctr"/>
              <a:lstStyle/>
              <a:p>
                <a:endParaRPr lang="en-US" dirty="0"/>
              </a:p>
            </p:txBody>
          </p:sp>
        </mc:Fallback>
      </mc:AlternateContent>
      <p:sp>
        <p:nvSpPr>
          <p:cNvPr id="20" name="!!name_t"/>
          <p:cNvSpPr txBox="1"/>
          <p:nvPr/>
        </p:nvSpPr>
        <p:spPr>
          <a:xfrm>
            <a:off x="3703320" y="2450592"/>
            <a:ext cx="1097280" cy="201168"/>
          </a:xfrm>
          <a:prstGeom prst="rect">
            <a:avLst/>
          </a:prstGeom>
          <a:noFill/>
          <a:ln/>
        </p:spPr>
        <p:txBody>
          <a:bodyPr wrap="square" lIns="0" tIns="0" rIns="0" bIns="0" rtlCol="0" anchor="ctr"/>
          <a:lstStyle/>
          <a:p>
            <a:pPr marL="0" indent="0" algn="ctr">
              <a:buNone/>
            </a:pPr>
            <a:r>
              <a:rPr lang="en-US" sz="1000" dirty="0">
                <a:solidFill>
                  <a:srgbClr val="5B3A8C"/>
                </a:solidFill>
                <a:latin typeface="Calibri" pitchFamily="34" charset="0"/>
                <a:ea typeface="Calibri" pitchFamily="34" charset="-122"/>
                <a:cs typeface="Calibri" pitchFamily="34" charset="-120"/>
              </a:rPr>
              <a:t>top</a:t>
            </a:r>
            <a:endParaRPr lang="en-US" sz="1000" dirty="0"/>
          </a:p>
        </p:txBody>
      </p:sp>
      <p:sp>
        <p:nvSpPr>
          <p:cNvPr id="21" name="!!cell_d"/>
          <p:cNvSpPr/>
          <p:nvPr/>
        </p:nvSpPr>
        <p:spPr>
          <a:xfrm>
            <a:off x="1325880" y="2788920"/>
            <a:ext cx="1097280" cy="868680"/>
          </a:xfrm>
          <a:prstGeom prst="roundRect">
            <a:avLst>
              <a:gd name="adj" fmla="val 8421"/>
            </a:avLst>
          </a:prstGeom>
          <a:solidFill>
            <a:srgbClr val="EEE6F6"/>
          </a:solidFill>
          <a:ln w="12700">
            <a:solidFill>
              <a:srgbClr val="B9A3D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22" name="!!q_d"/>
              <p:cNvSpPr txBox="1"/>
              <p:nvPr/>
            </p:nvSpPr>
            <p:spPr>
              <a:xfrm>
                <a:off x="1389888" y="282549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B3A8C"/>
                          </a:solidFill>
                          <a:latin typeface="Cambria Math" panose="02040503050406030204" pitchFamily="18" charset="0"/>
                        </a:rPr>
                        <m:t>−</m:t>
                      </m:r>
                      <m:f>
                        <m:fPr>
                          <m:type m:val="skw"/>
                          <m:ctrlPr>
                            <a:rPr lang="en-US" sz="1100" i="1">
                              <a:solidFill>
                                <a:srgbClr val="5B3A8C"/>
                              </a:solidFill>
                              <a:latin typeface="Cambria Math" panose="02040503050406030204" pitchFamily="18" charset="0"/>
                            </a:rPr>
                          </m:ctrlPr>
                        </m:fPr>
                        <m:num>
                          <m:r>
                            <a:rPr lang="en-US" sz="1100" i="0">
                              <a:solidFill>
                                <a:srgbClr val="5B3A8C"/>
                              </a:solidFill>
                              <a:latin typeface="Cambria Math" panose="02040503050406030204" pitchFamily="18" charset="0"/>
                            </a:rPr>
                            <m:t>1</m:t>
                          </m:r>
                        </m:num>
                        <m:den>
                          <m:r>
                            <a:rPr lang="en-US" sz="1100" i="0">
                              <a:solidFill>
                                <a:srgbClr val="5B3A8C"/>
                              </a:solidFill>
                              <a:latin typeface="Cambria Math" panose="02040503050406030204" pitchFamily="18" charset="0"/>
                            </a:rPr>
                            <m:t>3</m:t>
                          </m:r>
                        </m:den>
                      </m:f>
                    </m:oMath>
                  </m:oMathPara>
                </a14:m>
                <a:endParaRPr lang="en-US" sz="1100" dirty="0"/>
              </a:p>
            </p:txBody>
          </p:sp>
        </mc:Choice>
        <mc:Fallback xmlns="">
          <p:sp>
            <p:nvSpPr>
              <p:cNvPr id="22" name="!!q_d"/>
              <p:cNvSpPr txBox="1"/>
              <p:nvPr/>
            </p:nvSpPr>
            <p:spPr>
              <a:xfrm>
                <a:off x="1389888" y="2825496"/>
                <a:ext cx="969264" cy="237744"/>
              </a:xfrm>
              <a:prstGeom prst="rect">
                <a:avLst/>
              </a:prstGeom>
              <a:blipFill>
                <a:blip r:embed="rIdEq7"/>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23" name="!!sym_d"/>
              <p:cNvSpPr txBox="1"/>
              <p:nvPr/>
            </p:nvSpPr>
            <p:spPr>
              <a:xfrm>
                <a:off x="1325880" y="297180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4B2A7B"/>
                          </a:solidFill>
                          <a:latin typeface="Cambria Math" panose="02040503050406030204" pitchFamily="18" charset="0"/>
                        </a:rPr>
                        <m:t>𝑑</m:t>
                      </m:r>
                    </m:oMath>
                  </m:oMathPara>
                </a14:m>
                <a:endParaRPr lang="en-US" sz="2600" dirty="0"/>
              </a:p>
            </p:txBody>
          </p:sp>
        </mc:Choice>
        <mc:Fallback xmlns="">
          <p:sp>
            <p:nvSpPr>
              <p:cNvPr id="23" name="!!sym_d"/>
              <p:cNvSpPr txBox="1"/>
              <p:nvPr/>
            </p:nvSpPr>
            <p:spPr>
              <a:xfrm>
                <a:off x="1325880" y="2971800"/>
                <a:ext cx="1097280" cy="438912"/>
              </a:xfrm>
              <a:prstGeom prst="rect">
                <a:avLst/>
              </a:prstGeom>
              <a:blipFill>
                <a:blip r:embed="rIdEq8"/>
                <a:stretch>
                  <a:fillRect/>
                </a:stretch>
              </a:blipFill>
              <a:ln/>
            </p:spPr>
            <p:txBody>
              <a:bodyPr wrap="square" lIns="0" tIns="0" rIns="0" bIns="0" rtlCol="0" anchor="ctr"/>
              <a:lstStyle/>
              <a:p>
                <a:endParaRPr lang="en-US" dirty="0"/>
              </a:p>
            </p:txBody>
          </p:sp>
        </mc:Fallback>
      </mc:AlternateContent>
      <p:sp>
        <p:nvSpPr>
          <p:cNvPr id="24" name="!!name_d"/>
          <p:cNvSpPr txBox="1"/>
          <p:nvPr/>
        </p:nvSpPr>
        <p:spPr>
          <a:xfrm>
            <a:off x="1325880" y="3410712"/>
            <a:ext cx="1097280" cy="201168"/>
          </a:xfrm>
          <a:prstGeom prst="rect">
            <a:avLst/>
          </a:prstGeom>
          <a:noFill/>
          <a:ln/>
        </p:spPr>
        <p:txBody>
          <a:bodyPr wrap="square" lIns="0" tIns="0" rIns="0" bIns="0" rtlCol="0" anchor="ctr"/>
          <a:lstStyle/>
          <a:p>
            <a:pPr marL="0" indent="0" algn="ctr">
              <a:buNone/>
            </a:pPr>
            <a:r>
              <a:rPr lang="en-US" sz="1000" dirty="0">
                <a:solidFill>
                  <a:srgbClr val="5B3A8C"/>
                </a:solidFill>
                <a:latin typeface="Calibri" pitchFamily="34" charset="0"/>
                <a:ea typeface="Calibri" pitchFamily="34" charset="-122"/>
                <a:cs typeface="Calibri" pitchFamily="34" charset="-120"/>
              </a:rPr>
              <a:t>down</a:t>
            </a:r>
            <a:endParaRPr lang="en-US" sz="1000" dirty="0"/>
          </a:p>
        </p:txBody>
      </p:sp>
      <p:sp>
        <p:nvSpPr>
          <p:cNvPr id="25" name="!!cell_s"/>
          <p:cNvSpPr/>
          <p:nvPr/>
        </p:nvSpPr>
        <p:spPr>
          <a:xfrm>
            <a:off x="2514600" y="2788920"/>
            <a:ext cx="1097280" cy="868680"/>
          </a:xfrm>
          <a:prstGeom prst="roundRect">
            <a:avLst>
              <a:gd name="adj" fmla="val 8421"/>
            </a:avLst>
          </a:prstGeom>
          <a:solidFill>
            <a:srgbClr val="EEE6F6"/>
          </a:solidFill>
          <a:ln w="12700">
            <a:solidFill>
              <a:srgbClr val="B9A3D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26" name="!!q_s"/>
              <p:cNvSpPr txBox="1"/>
              <p:nvPr/>
            </p:nvSpPr>
            <p:spPr>
              <a:xfrm>
                <a:off x="2578608" y="282549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B3A8C"/>
                          </a:solidFill>
                          <a:latin typeface="Cambria Math" panose="02040503050406030204" pitchFamily="18" charset="0"/>
                        </a:rPr>
                        <m:t>−</m:t>
                      </m:r>
                      <m:f>
                        <m:fPr>
                          <m:type m:val="skw"/>
                          <m:ctrlPr>
                            <a:rPr lang="en-US" sz="1100" i="1">
                              <a:solidFill>
                                <a:srgbClr val="5B3A8C"/>
                              </a:solidFill>
                              <a:latin typeface="Cambria Math" panose="02040503050406030204" pitchFamily="18" charset="0"/>
                            </a:rPr>
                          </m:ctrlPr>
                        </m:fPr>
                        <m:num>
                          <m:r>
                            <a:rPr lang="en-US" sz="1100" i="0">
                              <a:solidFill>
                                <a:srgbClr val="5B3A8C"/>
                              </a:solidFill>
                              <a:latin typeface="Cambria Math" panose="02040503050406030204" pitchFamily="18" charset="0"/>
                            </a:rPr>
                            <m:t>1</m:t>
                          </m:r>
                        </m:num>
                        <m:den>
                          <m:r>
                            <a:rPr lang="en-US" sz="1100" i="0">
                              <a:solidFill>
                                <a:srgbClr val="5B3A8C"/>
                              </a:solidFill>
                              <a:latin typeface="Cambria Math" panose="02040503050406030204" pitchFamily="18" charset="0"/>
                            </a:rPr>
                            <m:t>3</m:t>
                          </m:r>
                        </m:den>
                      </m:f>
                    </m:oMath>
                  </m:oMathPara>
                </a14:m>
                <a:endParaRPr lang="en-US" sz="1100" dirty="0"/>
              </a:p>
            </p:txBody>
          </p:sp>
        </mc:Choice>
        <mc:Fallback xmlns="">
          <p:sp>
            <p:nvSpPr>
              <p:cNvPr id="26" name="!!q_s"/>
              <p:cNvSpPr txBox="1"/>
              <p:nvPr/>
            </p:nvSpPr>
            <p:spPr>
              <a:xfrm>
                <a:off x="2578608" y="2825496"/>
                <a:ext cx="969264" cy="237744"/>
              </a:xfrm>
              <a:prstGeom prst="rect">
                <a:avLst/>
              </a:prstGeom>
              <a:blipFill>
                <a:blip r:embed="rIdEq9"/>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27" name="!!sym_s"/>
              <p:cNvSpPr txBox="1"/>
              <p:nvPr/>
            </p:nvSpPr>
            <p:spPr>
              <a:xfrm>
                <a:off x="2514600" y="297180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4B2A7B"/>
                          </a:solidFill>
                          <a:latin typeface="Cambria Math" panose="02040503050406030204" pitchFamily="18" charset="0"/>
                        </a:rPr>
                        <m:t>𝑠</m:t>
                      </m:r>
                    </m:oMath>
                  </m:oMathPara>
                </a14:m>
                <a:endParaRPr lang="en-US" sz="2600" dirty="0"/>
              </a:p>
            </p:txBody>
          </p:sp>
        </mc:Choice>
        <mc:Fallback xmlns="">
          <p:sp>
            <p:nvSpPr>
              <p:cNvPr id="27" name="!!sym_s"/>
              <p:cNvSpPr txBox="1"/>
              <p:nvPr/>
            </p:nvSpPr>
            <p:spPr>
              <a:xfrm>
                <a:off x="2514600" y="2971800"/>
                <a:ext cx="1097280" cy="438912"/>
              </a:xfrm>
              <a:prstGeom prst="rect">
                <a:avLst/>
              </a:prstGeom>
              <a:blipFill>
                <a:blip r:embed="rIdEq10"/>
                <a:stretch>
                  <a:fillRect/>
                </a:stretch>
              </a:blipFill>
              <a:ln/>
            </p:spPr>
            <p:txBody>
              <a:bodyPr wrap="square" lIns="0" tIns="0" rIns="0" bIns="0" rtlCol="0" anchor="ctr"/>
              <a:lstStyle/>
              <a:p>
                <a:endParaRPr lang="en-US" dirty="0"/>
              </a:p>
            </p:txBody>
          </p:sp>
        </mc:Fallback>
      </mc:AlternateContent>
      <p:sp>
        <p:nvSpPr>
          <p:cNvPr id="28" name="!!name_s"/>
          <p:cNvSpPr txBox="1"/>
          <p:nvPr/>
        </p:nvSpPr>
        <p:spPr>
          <a:xfrm>
            <a:off x="2514600" y="3410712"/>
            <a:ext cx="1097280" cy="201168"/>
          </a:xfrm>
          <a:prstGeom prst="rect">
            <a:avLst/>
          </a:prstGeom>
          <a:noFill/>
          <a:ln/>
        </p:spPr>
        <p:txBody>
          <a:bodyPr wrap="square" lIns="0" tIns="0" rIns="0" bIns="0" rtlCol="0" anchor="ctr"/>
          <a:lstStyle/>
          <a:p>
            <a:pPr marL="0" indent="0" algn="ctr">
              <a:buNone/>
            </a:pPr>
            <a:r>
              <a:rPr lang="en-US" sz="1000" dirty="0">
                <a:solidFill>
                  <a:srgbClr val="5B3A8C"/>
                </a:solidFill>
                <a:latin typeface="Calibri" pitchFamily="34" charset="0"/>
                <a:ea typeface="Calibri" pitchFamily="34" charset="-122"/>
                <a:cs typeface="Calibri" pitchFamily="34" charset="-120"/>
              </a:rPr>
              <a:t>strange</a:t>
            </a:r>
            <a:endParaRPr lang="en-US" sz="1000" dirty="0"/>
          </a:p>
        </p:txBody>
      </p:sp>
      <p:sp>
        <p:nvSpPr>
          <p:cNvPr id="29" name="!!cell_b"/>
          <p:cNvSpPr/>
          <p:nvPr/>
        </p:nvSpPr>
        <p:spPr>
          <a:xfrm>
            <a:off x="3703320" y="2788920"/>
            <a:ext cx="1097280" cy="868680"/>
          </a:xfrm>
          <a:prstGeom prst="roundRect">
            <a:avLst>
              <a:gd name="adj" fmla="val 8421"/>
            </a:avLst>
          </a:prstGeom>
          <a:solidFill>
            <a:srgbClr val="EEE6F6"/>
          </a:solidFill>
          <a:ln w="12700">
            <a:solidFill>
              <a:srgbClr val="B9A3D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30" name="!!q_b"/>
              <p:cNvSpPr txBox="1"/>
              <p:nvPr/>
            </p:nvSpPr>
            <p:spPr>
              <a:xfrm>
                <a:off x="3767328" y="282549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B3A8C"/>
                          </a:solidFill>
                          <a:latin typeface="Cambria Math" panose="02040503050406030204" pitchFamily="18" charset="0"/>
                        </a:rPr>
                        <m:t>−</m:t>
                      </m:r>
                      <m:f>
                        <m:fPr>
                          <m:type m:val="skw"/>
                          <m:ctrlPr>
                            <a:rPr lang="en-US" sz="1100" i="1">
                              <a:solidFill>
                                <a:srgbClr val="5B3A8C"/>
                              </a:solidFill>
                              <a:latin typeface="Cambria Math" panose="02040503050406030204" pitchFamily="18" charset="0"/>
                            </a:rPr>
                          </m:ctrlPr>
                        </m:fPr>
                        <m:num>
                          <m:r>
                            <a:rPr lang="en-US" sz="1100" i="0">
                              <a:solidFill>
                                <a:srgbClr val="5B3A8C"/>
                              </a:solidFill>
                              <a:latin typeface="Cambria Math" panose="02040503050406030204" pitchFamily="18" charset="0"/>
                            </a:rPr>
                            <m:t>1</m:t>
                          </m:r>
                        </m:num>
                        <m:den>
                          <m:r>
                            <a:rPr lang="en-US" sz="1100" i="0">
                              <a:solidFill>
                                <a:srgbClr val="5B3A8C"/>
                              </a:solidFill>
                              <a:latin typeface="Cambria Math" panose="02040503050406030204" pitchFamily="18" charset="0"/>
                            </a:rPr>
                            <m:t>3</m:t>
                          </m:r>
                        </m:den>
                      </m:f>
                    </m:oMath>
                  </m:oMathPara>
                </a14:m>
                <a:endParaRPr lang="en-US" sz="1100" dirty="0"/>
              </a:p>
            </p:txBody>
          </p:sp>
        </mc:Choice>
        <mc:Fallback xmlns="">
          <p:sp>
            <p:nvSpPr>
              <p:cNvPr id="30" name="!!q_b"/>
              <p:cNvSpPr txBox="1"/>
              <p:nvPr/>
            </p:nvSpPr>
            <p:spPr>
              <a:xfrm>
                <a:off x="3767328" y="2825496"/>
                <a:ext cx="969264" cy="237744"/>
              </a:xfrm>
              <a:prstGeom prst="rect">
                <a:avLst/>
              </a:prstGeom>
              <a:blipFill>
                <a:blip r:embed="rIdEq11"/>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31" name="!!sym_b"/>
              <p:cNvSpPr txBox="1"/>
              <p:nvPr/>
            </p:nvSpPr>
            <p:spPr>
              <a:xfrm>
                <a:off x="3703320" y="297180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4B2A7B"/>
                          </a:solidFill>
                          <a:latin typeface="Cambria Math" panose="02040503050406030204" pitchFamily="18" charset="0"/>
                        </a:rPr>
                        <m:t>𝑏</m:t>
                      </m:r>
                    </m:oMath>
                  </m:oMathPara>
                </a14:m>
                <a:endParaRPr lang="en-US" sz="2600" dirty="0"/>
              </a:p>
            </p:txBody>
          </p:sp>
        </mc:Choice>
        <mc:Fallback xmlns="">
          <p:sp>
            <p:nvSpPr>
              <p:cNvPr id="31" name="!!sym_b"/>
              <p:cNvSpPr txBox="1"/>
              <p:nvPr/>
            </p:nvSpPr>
            <p:spPr>
              <a:xfrm>
                <a:off x="3703320" y="2971800"/>
                <a:ext cx="1097280" cy="438912"/>
              </a:xfrm>
              <a:prstGeom prst="rect">
                <a:avLst/>
              </a:prstGeom>
              <a:blipFill>
                <a:blip r:embed="rIdEq12"/>
                <a:stretch>
                  <a:fillRect/>
                </a:stretch>
              </a:blipFill>
              <a:ln/>
            </p:spPr>
            <p:txBody>
              <a:bodyPr wrap="square" lIns="0" tIns="0" rIns="0" bIns="0" rtlCol="0" anchor="ctr"/>
              <a:lstStyle/>
              <a:p>
                <a:endParaRPr lang="en-US" dirty="0"/>
              </a:p>
            </p:txBody>
          </p:sp>
        </mc:Fallback>
      </mc:AlternateContent>
      <p:sp>
        <p:nvSpPr>
          <p:cNvPr id="32" name="!!name_b"/>
          <p:cNvSpPr txBox="1"/>
          <p:nvPr/>
        </p:nvSpPr>
        <p:spPr>
          <a:xfrm>
            <a:off x="3703320" y="3410712"/>
            <a:ext cx="1097280" cy="201168"/>
          </a:xfrm>
          <a:prstGeom prst="rect">
            <a:avLst/>
          </a:prstGeom>
          <a:noFill/>
          <a:ln/>
        </p:spPr>
        <p:txBody>
          <a:bodyPr wrap="square" lIns="0" tIns="0" rIns="0" bIns="0" rtlCol="0" anchor="ctr"/>
          <a:lstStyle/>
          <a:p>
            <a:pPr marL="0" indent="0" algn="ctr">
              <a:buNone/>
            </a:pPr>
            <a:r>
              <a:rPr lang="en-US" sz="1000" dirty="0">
                <a:solidFill>
                  <a:srgbClr val="5B3A8C"/>
                </a:solidFill>
                <a:latin typeface="Calibri" pitchFamily="34" charset="0"/>
                <a:ea typeface="Calibri" pitchFamily="34" charset="-122"/>
                <a:cs typeface="Calibri" pitchFamily="34" charset="-120"/>
              </a:rPr>
              <a:t>bottom</a:t>
            </a:r>
            <a:endParaRPr lang="en-US" sz="1000" dirty="0"/>
          </a:p>
        </p:txBody>
      </p:sp>
      <p:sp>
        <p:nvSpPr>
          <p:cNvPr id="33" name="!!cell_e"/>
          <p:cNvSpPr/>
          <p:nvPr/>
        </p:nvSpPr>
        <p:spPr>
          <a:xfrm>
            <a:off x="1325880" y="3749040"/>
            <a:ext cx="1097280" cy="868680"/>
          </a:xfrm>
          <a:prstGeom prst="roundRect">
            <a:avLst>
              <a:gd name="adj" fmla="val 8421"/>
            </a:avLst>
          </a:prstGeom>
          <a:solidFill>
            <a:srgbClr val="E3F1E6"/>
          </a:solidFill>
          <a:ln w="12700">
            <a:solidFill>
              <a:srgbClr val="9CC9A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34" name="!!q_e"/>
              <p:cNvSpPr txBox="1"/>
              <p:nvPr/>
            </p:nvSpPr>
            <p:spPr>
              <a:xfrm>
                <a:off x="1389888" y="378561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2E6B3A"/>
                          </a:solidFill>
                          <a:latin typeface="Cambria Math" panose="02040503050406030204" pitchFamily="18" charset="0"/>
                        </a:rPr>
                        <m:t>−1</m:t>
                      </m:r>
                    </m:oMath>
                  </m:oMathPara>
                </a14:m>
                <a:endParaRPr lang="en-US" sz="1100" dirty="0"/>
              </a:p>
            </p:txBody>
          </p:sp>
        </mc:Choice>
        <mc:Fallback xmlns="">
          <p:sp>
            <p:nvSpPr>
              <p:cNvPr id="34" name="!!q_e"/>
              <p:cNvSpPr txBox="1"/>
              <p:nvPr/>
            </p:nvSpPr>
            <p:spPr>
              <a:xfrm>
                <a:off x="1389888" y="3785616"/>
                <a:ext cx="969264" cy="237744"/>
              </a:xfrm>
              <a:prstGeom prst="rect">
                <a:avLst/>
              </a:prstGeom>
              <a:blipFill>
                <a:blip r:embed="rIdEq13"/>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35" name="!!sym_e"/>
              <p:cNvSpPr txBox="1"/>
              <p:nvPr/>
            </p:nvSpPr>
            <p:spPr>
              <a:xfrm>
                <a:off x="1325880" y="393192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1F5E2E"/>
                          </a:solidFill>
                          <a:latin typeface="Cambria Math" panose="02040503050406030204" pitchFamily="18" charset="0"/>
                        </a:rPr>
                        <m:t>𝑒</m:t>
                      </m:r>
                    </m:oMath>
                  </m:oMathPara>
                </a14:m>
                <a:endParaRPr lang="en-US" sz="2600" dirty="0"/>
              </a:p>
            </p:txBody>
          </p:sp>
        </mc:Choice>
        <mc:Fallback xmlns="">
          <p:sp>
            <p:nvSpPr>
              <p:cNvPr id="35" name="!!sym_e"/>
              <p:cNvSpPr txBox="1"/>
              <p:nvPr/>
            </p:nvSpPr>
            <p:spPr>
              <a:xfrm>
                <a:off x="1325880" y="3931920"/>
                <a:ext cx="1097280" cy="438912"/>
              </a:xfrm>
              <a:prstGeom prst="rect">
                <a:avLst/>
              </a:prstGeom>
              <a:blipFill>
                <a:blip r:embed="rIdEq14"/>
                <a:stretch>
                  <a:fillRect/>
                </a:stretch>
              </a:blipFill>
              <a:ln/>
            </p:spPr>
            <p:txBody>
              <a:bodyPr wrap="square" lIns="0" tIns="0" rIns="0" bIns="0" rtlCol="0" anchor="ctr"/>
              <a:lstStyle/>
              <a:p>
                <a:endParaRPr lang="en-US" dirty="0"/>
              </a:p>
            </p:txBody>
          </p:sp>
        </mc:Fallback>
      </mc:AlternateContent>
      <p:sp>
        <p:nvSpPr>
          <p:cNvPr id="36" name="!!name_e"/>
          <p:cNvSpPr txBox="1"/>
          <p:nvPr/>
        </p:nvSpPr>
        <p:spPr>
          <a:xfrm>
            <a:off x="1325880" y="4370832"/>
            <a:ext cx="1097280" cy="201168"/>
          </a:xfrm>
          <a:prstGeom prst="rect">
            <a:avLst/>
          </a:prstGeom>
          <a:noFill/>
          <a:ln/>
        </p:spPr>
        <p:txBody>
          <a:bodyPr wrap="square" lIns="0" tIns="0" rIns="0" bIns="0" rtlCol="0" anchor="ctr"/>
          <a:lstStyle/>
          <a:p>
            <a:pPr marL="0" indent="0" algn="ctr">
              <a:buNone/>
            </a:pPr>
            <a:r>
              <a:rPr lang="en-US" sz="1000" dirty="0">
                <a:solidFill>
                  <a:srgbClr val="2E6B3A"/>
                </a:solidFill>
                <a:latin typeface="Calibri" pitchFamily="34" charset="0"/>
                <a:ea typeface="Calibri" pitchFamily="34" charset="-122"/>
                <a:cs typeface="Calibri" pitchFamily="34" charset="-120"/>
              </a:rPr>
              <a:t>electron</a:t>
            </a:r>
            <a:endParaRPr lang="en-US" sz="1000" dirty="0"/>
          </a:p>
        </p:txBody>
      </p:sp>
      <p:sp>
        <p:nvSpPr>
          <p:cNvPr id="37" name="!!cell_mu"/>
          <p:cNvSpPr/>
          <p:nvPr/>
        </p:nvSpPr>
        <p:spPr>
          <a:xfrm>
            <a:off x="2514600" y="3749040"/>
            <a:ext cx="1097280" cy="868680"/>
          </a:xfrm>
          <a:prstGeom prst="roundRect">
            <a:avLst>
              <a:gd name="adj" fmla="val 8421"/>
            </a:avLst>
          </a:prstGeom>
          <a:solidFill>
            <a:srgbClr val="E3F1E6"/>
          </a:solidFill>
          <a:ln w="12700">
            <a:solidFill>
              <a:srgbClr val="9CC9A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38" name="!!q_mu"/>
              <p:cNvSpPr txBox="1"/>
              <p:nvPr/>
            </p:nvSpPr>
            <p:spPr>
              <a:xfrm>
                <a:off x="2578608" y="378561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2E6B3A"/>
                          </a:solidFill>
                          <a:latin typeface="Cambria Math" panose="02040503050406030204" pitchFamily="18" charset="0"/>
                        </a:rPr>
                        <m:t>−1</m:t>
                      </m:r>
                    </m:oMath>
                  </m:oMathPara>
                </a14:m>
                <a:endParaRPr lang="en-US" sz="1100" dirty="0"/>
              </a:p>
            </p:txBody>
          </p:sp>
        </mc:Choice>
        <mc:Fallback xmlns="">
          <p:sp>
            <p:nvSpPr>
              <p:cNvPr id="38" name="!!q_mu"/>
              <p:cNvSpPr txBox="1"/>
              <p:nvPr/>
            </p:nvSpPr>
            <p:spPr>
              <a:xfrm>
                <a:off x="2578608" y="3785616"/>
                <a:ext cx="969264" cy="237744"/>
              </a:xfrm>
              <a:prstGeom prst="rect">
                <a:avLst/>
              </a:prstGeom>
              <a:blipFill>
                <a:blip r:embed="rIdEq15"/>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39" name="!!sym_mu"/>
              <p:cNvSpPr txBox="1"/>
              <p:nvPr/>
            </p:nvSpPr>
            <p:spPr>
              <a:xfrm>
                <a:off x="2514600" y="393192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1F5E2E"/>
                          </a:solidFill>
                          <a:latin typeface="Cambria Math" panose="02040503050406030204" pitchFamily="18" charset="0"/>
                        </a:rPr>
                        <m:t>𝜇</m:t>
                      </m:r>
                    </m:oMath>
                  </m:oMathPara>
                </a14:m>
                <a:endParaRPr lang="en-US" sz="2600" dirty="0"/>
              </a:p>
            </p:txBody>
          </p:sp>
        </mc:Choice>
        <mc:Fallback xmlns="">
          <p:sp>
            <p:nvSpPr>
              <p:cNvPr id="39" name="!!sym_mu"/>
              <p:cNvSpPr txBox="1"/>
              <p:nvPr/>
            </p:nvSpPr>
            <p:spPr>
              <a:xfrm>
                <a:off x="2514600" y="3931920"/>
                <a:ext cx="1097280" cy="438912"/>
              </a:xfrm>
              <a:prstGeom prst="rect">
                <a:avLst/>
              </a:prstGeom>
              <a:blipFill>
                <a:blip r:embed="rIdEq16"/>
                <a:stretch>
                  <a:fillRect/>
                </a:stretch>
              </a:blipFill>
              <a:ln/>
            </p:spPr>
            <p:txBody>
              <a:bodyPr wrap="square" lIns="0" tIns="0" rIns="0" bIns="0" rtlCol="0" anchor="ctr"/>
              <a:lstStyle/>
              <a:p>
                <a:endParaRPr lang="en-US" dirty="0"/>
              </a:p>
            </p:txBody>
          </p:sp>
        </mc:Fallback>
      </mc:AlternateContent>
      <p:sp>
        <p:nvSpPr>
          <p:cNvPr id="40" name="!!name_mu"/>
          <p:cNvSpPr txBox="1"/>
          <p:nvPr/>
        </p:nvSpPr>
        <p:spPr>
          <a:xfrm>
            <a:off x="2514600" y="4370832"/>
            <a:ext cx="1097280" cy="201168"/>
          </a:xfrm>
          <a:prstGeom prst="rect">
            <a:avLst/>
          </a:prstGeom>
          <a:noFill/>
          <a:ln/>
        </p:spPr>
        <p:txBody>
          <a:bodyPr wrap="square" lIns="0" tIns="0" rIns="0" bIns="0" rtlCol="0" anchor="ctr"/>
          <a:lstStyle/>
          <a:p>
            <a:pPr marL="0" indent="0" algn="ctr">
              <a:buNone/>
            </a:pPr>
            <a:r>
              <a:rPr lang="en-US" sz="1000" dirty="0">
                <a:solidFill>
                  <a:srgbClr val="2E6B3A"/>
                </a:solidFill>
                <a:latin typeface="Calibri" pitchFamily="34" charset="0"/>
                <a:ea typeface="Calibri" pitchFamily="34" charset="-122"/>
                <a:cs typeface="Calibri" pitchFamily="34" charset="-120"/>
              </a:rPr>
              <a:t>muon</a:t>
            </a:r>
            <a:endParaRPr lang="en-US" sz="1000" dirty="0"/>
          </a:p>
        </p:txBody>
      </p:sp>
      <p:sp>
        <p:nvSpPr>
          <p:cNvPr id="41" name="!!cell_tau"/>
          <p:cNvSpPr/>
          <p:nvPr/>
        </p:nvSpPr>
        <p:spPr>
          <a:xfrm>
            <a:off x="3703320" y="3749040"/>
            <a:ext cx="1097280" cy="868680"/>
          </a:xfrm>
          <a:prstGeom prst="roundRect">
            <a:avLst>
              <a:gd name="adj" fmla="val 8421"/>
            </a:avLst>
          </a:prstGeom>
          <a:solidFill>
            <a:srgbClr val="E3F1E6"/>
          </a:solidFill>
          <a:ln w="12700">
            <a:solidFill>
              <a:srgbClr val="9CC9A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42" name="!!q_tau"/>
              <p:cNvSpPr txBox="1"/>
              <p:nvPr/>
            </p:nvSpPr>
            <p:spPr>
              <a:xfrm>
                <a:off x="3767328" y="378561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2E6B3A"/>
                          </a:solidFill>
                          <a:latin typeface="Cambria Math" panose="02040503050406030204" pitchFamily="18" charset="0"/>
                        </a:rPr>
                        <m:t>−1</m:t>
                      </m:r>
                    </m:oMath>
                  </m:oMathPara>
                </a14:m>
                <a:endParaRPr lang="en-US" sz="1100" dirty="0"/>
              </a:p>
            </p:txBody>
          </p:sp>
        </mc:Choice>
        <mc:Fallback xmlns="">
          <p:sp>
            <p:nvSpPr>
              <p:cNvPr id="42" name="!!q_tau"/>
              <p:cNvSpPr txBox="1"/>
              <p:nvPr/>
            </p:nvSpPr>
            <p:spPr>
              <a:xfrm>
                <a:off x="3767328" y="3785616"/>
                <a:ext cx="969264" cy="237744"/>
              </a:xfrm>
              <a:prstGeom prst="rect">
                <a:avLst/>
              </a:prstGeom>
              <a:blipFill>
                <a:blip r:embed="rIdEq17"/>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43" name="!!sym_tau"/>
              <p:cNvSpPr txBox="1"/>
              <p:nvPr/>
            </p:nvSpPr>
            <p:spPr>
              <a:xfrm>
                <a:off x="3703320" y="393192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1F5E2E"/>
                          </a:solidFill>
                          <a:latin typeface="Cambria Math" panose="02040503050406030204" pitchFamily="18" charset="0"/>
                        </a:rPr>
                        <m:t>𝜏</m:t>
                      </m:r>
                    </m:oMath>
                  </m:oMathPara>
                </a14:m>
                <a:endParaRPr lang="en-US" sz="2600" dirty="0"/>
              </a:p>
            </p:txBody>
          </p:sp>
        </mc:Choice>
        <mc:Fallback xmlns="">
          <p:sp>
            <p:nvSpPr>
              <p:cNvPr id="43" name="!!sym_tau"/>
              <p:cNvSpPr txBox="1"/>
              <p:nvPr/>
            </p:nvSpPr>
            <p:spPr>
              <a:xfrm>
                <a:off x="3703320" y="3931920"/>
                <a:ext cx="1097280" cy="438912"/>
              </a:xfrm>
              <a:prstGeom prst="rect">
                <a:avLst/>
              </a:prstGeom>
              <a:blipFill>
                <a:blip r:embed="rIdEq18"/>
                <a:stretch>
                  <a:fillRect/>
                </a:stretch>
              </a:blipFill>
              <a:ln/>
            </p:spPr>
            <p:txBody>
              <a:bodyPr wrap="square" lIns="0" tIns="0" rIns="0" bIns="0" rtlCol="0" anchor="ctr"/>
              <a:lstStyle/>
              <a:p>
                <a:endParaRPr lang="en-US" dirty="0"/>
              </a:p>
            </p:txBody>
          </p:sp>
        </mc:Fallback>
      </mc:AlternateContent>
      <p:sp>
        <p:nvSpPr>
          <p:cNvPr id="44" name="!!name_tau"/>
          <p:cNvSpPr txBox="1"/>
          <p:nvPr/>
        </p:nvSpPr>
        <p:spPr>
          <a:xfrm>
            <a:off x="3703320" y="4370832"/>
            <a:ext cx="1097280" cy="201168"/>
          </a:xfrm>
          <a:prstGeom prst="rect">
            <a:avLst/>
          </a:prstGeom>
          <a:noFill/>
          <a:ln/>
        </p:spPr>
        <p:txBody>
          <a:bodyPr wrap="square" lIns="0" tIns="0" rIns="0" bIns="0" rtlCol="0" anchor="ctr"/>
          <a:lstStyle/>
          <a:p>
            <a:pPr marL="0" indent="0" algn="ctr">
              <a:buNone/>
            </a:pPr>
            <a:r>
              <a:rPr lang="en-US" sz="1000" dirty="0">
                <a:solidFill>
                  <a:srgbClr val="2E6B3A"/>
                </a:solidFill>
                <a:latin typeface="Calibri" pitchFamily="34" charset="0"/>
                <a:ea typeface="Calibri" pitchFamily="34" charset="-122"/>
                <a:cs typeface="Calibri" pitchFamily="34" charset="-120"/>
              </a:rPr>
              <a:t>tau</a:t>
            </a:r>
            <a:endParaRPr lang="en-US" sz="1000" dirty="0"/>
          </a:p>
        </p:txBody>
      </p:sp>
      <p:sp>
        <p:nvSpPr>
          <p:cNvPr id="45" name="!!cell_nue"/>
          <p:cNvSpPr/>
          <p:nvPr/>
        </p:nvSpPr>
        <p:spPr>
          <a:xfrm>
            <a:off x="1325880" y="4709160"/>
            <a:ext cx="1097280" cy="868680"/>
          </a:xfrm>
          <a:prstGeom prst="roundRect">
            <a:avLst>
              <a:gd name="adj" fmla="val 8421"/>
            </a:avLst>
          </a:prstGeom>
          <a:solidFill>
            <a:srgbClr val="E3F1E6"/>
          </a:solidFill>
          <a:ln w="12700">
            <a:solidFill>
              <a:srgbClr val="9CC9A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46" name="!!q_nue"/>
              <p:cNvSpPr txBox="1"/>
              <p:nvPr/>
            </p:nvSpPr>
            <p:spPr>
              <a:xfrm>
                <a:off x="1389888" y="474573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2E6B3A"/>
                          </a:solidFill>
                          <a:latin typeface="Cambria Math" panose="02040503050406030204" pitchFamily="18" charset="0"/>
                        </a:rPr>
                        <m:t>0</m:t>
                      </m:r>
                    </m:oMath>
                  </m:oMathPara>
                </a14:m>
                <a:endParaRPr lang="en-US" sz="1100" dirty="0"/>
              </a:p>
            </p:txBody>
          </p:sp>
        </mc:Choice>
        <mc:Fallback xmlns="">
          <p:sp>
            <p:nvSpPr>
              <p:cNvPr id="46" name="!!q_nue"/>
              <p:cNvSpPr txBox="1"/>
              <p:nvPr/>
            </p:nvSpPr>
            <p:spPr>
              <a:xfrm>
                <a:off x="1389888" y="4745736"/>
                <a:ext cx="969264" cy="237744"/>
              </a:xfrm>
              <a:prstGeom prst="rect">
                <a:avLst/>
              </a:prstGeom>
              <a:blipFill>
                <a:blip r:embed="rIdEq19"/>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47" name="!!sym_nue"/>
              <p:cNvSpPr txBox="1"/>
              <p:nvPr/>
            </p:nvSpPr>
            <p:spPr>
              <a:xfrm>
                <a:off x="1325880" y="489204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2600" i="1">
                              <a:solidFill>
                                <a:srgbClr val="1F5E2E"/>
                              </a:solidFill>
                              <a:latin typeface="Cambria Math" panose="02040503050406030204" pitchFamily="18" charset="0"/>
                            </a:rPr>
                          </m:ctrlPr>
                        </m:sSubPr>
                        <m:e>
                          <m:r>
                            <a:rPr lang="en-US" sz="2600" i="1">
                              <a:solidFill>
                                <a:srgbClr val="1F5E2E"/>
                              </a:solidFill>
                              <a:latin typeface="Cambria Math" panose="02040503050406030204" pitchFamily="18" charset="0"/>
                            </a:rPr>
                            <m:t>𝜈</m:t>
                          </m:r>
                        </m:e>
                        <m:sub>
                          <m:r>
                            <a:rPr lang="en-US" sz="2600" i="1">
                              <a:solidFill>
                                <a:srgbClr val="1F5E2E"/>
                              </a:solidFill>
                              <a:latin typeface="Cambria Math" panose="02040503050406030204" pitchFamily="18" charset="0"/>
                            </a:rPr>
                            <m:t>𝑒</m:t>
                          </m:r>
                        </m:sub>
                      </m:sSub>
                    </m:oMath>
                  </m:oMathPara>
                </a14:m>
                <a:endParaRPr lang="en-US" sz="2600" dirty="0"/>
              </a:p>
            </p:txBody>
          </p:sp>
        </mc:Choice>
        <mc:Fallback xmlns="">
          <p:sp>
            <p:nvSpPr>
              <p:cNvPr id="47" name="!!sym_nue"/>
              <p:cNvSpPr txBox="1"/>
              <p:nvPr/>
            </p:nvSpPr>
            <p:spPr>
              <a:xfrm>
                <a:off x="1325880" y="4892040"/>
                <a:ext cx="1097280" cy="438912"/>
              </a:xfrm>
              <a:prstGeom prst="rect">
                <a:avLst/>
              </a:prstGeom>
              <a:blipFill>
                <a:blip r:embed="rIdEq20"/>
                <a:stretch>
                  <a:fillRect/>
                </a:stretch>
              </a:blipFill>
              <a:ln/>
            </p:spPr>
            <p:txBody>
              <a:bodyPr wrap="square" lIns="0" tIns="0" rIns="0" bIns="0" rtlCol="0" anchor="ctr"/>
              <a:lstStyle/>
              <a:p>
                <a:endParaRPr lang="en-US" dirty="0"/>
              </a:p>
            </p:txBody>
          </p:sp>
        </mc:Fallback>
      </mc:AlternateContent>
      <p:sp>
        <p:nvSpPr>
          <p:cNvPr id="48" name="!!name_nue"/>
          <p:cNvSpPr txBox="1"/>
          <p:nvPr/>
        </p:nvSpPr>
        <p:spPr>
          <a:xfrm>
            <a:off x="1325880" y="5330952"/>
            <a:ext cx="1097280" cy="201168"/>
          </a:xfrm>
          <a:prstGeom prst="rect">
            <a:avLst/>
          </a:prstGeom>
          <a:noFill/>
          <a:ln/>
        </p:spPr>
        <p:txBody>
          <a:bodyPr wrap="square" lIns="0" tIns="0" rIns="0" bIns="0" rtlCol="0" anchor="ctr"/>
          <a:lstStyle/>
          <a:p>
            <a:pPr marL="0" indent="0" algn="ctr">
              <a:buNone/>
            </a:pPr>
            <a:r>
              <a:rPr lang="en-US" sz="1000" dirty="0">
                <a:solidFill>
                  <a:srgbClr val="2E6B3A"/>
                </a:solidFill>
                <a:latin typeface="Calibri" pitchFamily="34" charset="0"/>
                <a:ea typeface="Calibri" pitchFamily="34" charset="-122"/>
                <a:cs typeface="Calibri" pitchFamily="34" charset="-120"/>
              </a:rPr>
              <a:t>e neutrino</a:t>
            </a:r>
            <a:endParaRPr lang="en-US" sz="1000" dirty="0"/>
          </a:p>
        </p:txBody>
      </p:sp>
      <p:sp>
        <p:nvSpPr>
          <p:cNvPr id="49" name="!!cell_numu"/>
          <p:cNvSpPr/>
          <p:nvPr/>
        </p:nvSpPr>
        <p:spPr>
          <a:xfrm>
            <a:off x="2514600" y="4709160"/>
            <a:ext cx="1097280" cy="868680"/>
          </a:xfrm>
          <a:prstGeom prst="roundRect">
            <a:avLst>
              <a:gd name="adj" fmla="val 8421"/>
            </a:avLst>
          </a:prstGeom>
          <a:solidFill>
            <a:srgbClr val="E3F1E6"/>
          </a:solidFill>
          <a:ln w="12700">
            <a:solidFill>
              <a:srgbClr val="9CC9A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50" name="!!q_numu"/>
              <p:cNvSpPr txBox="1"/>
              <p:nvPr/>
            </p:nvSpPr>
            <p:spPr>
              <a:xfrm>
                <a:off x="2578608" y="474573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2E6B3A"/>
                          </a:solidFill>
                          <a:latin typeface="Cambria Math" panose="02040503050406030204" pitchFamily="18" charset="0"/>
                        </a:rPr>
                        <m:t>0</m:t>
                      </m:r>
                    </m:oMath>
                  </m:oMathPara>
                </a14:m>
                <a:endParaRPr lang="en-US" sz="1100" dirty="0"/>
              </a:p>
            </p:txBody>
          </p:sp>
        </mc:Choice>
        <mc:Fallback xmlns="">
          <p:sp>
            <p:nvSpPr>
              <p:cNvPr id="50" name="!!q_numu"/>
              <p:cNvSpPr txBox="1"/>
              <p:nvPr/>
            </p:nvSpPr>
            <p:spPr>
              <a:xfrm>
                <a:off x="2578608" y="4745736"/>
                <a:ext cx="969264" cy="237744"/>
              </a:xfrm>
              <a:prstGeom prst="rect">
                <a:avLst/>
              </a:prstGeom>
              <a:blipFill>
                <a:blip r:embed="rIdEq21"/>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51" name="!!sym_numu"/>
              <p:cNvSpPr txBox="1"/>
              <p:nvPr/>
            </p:nvSpPr>
            <p:spPr>
              <a:xfrm>
                <a:off x="2514600" y="489204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2600" i="1">
                              <a:solidFill>
                                <a:srgbClr val="1F5E2E"/>
                              </a:solidFill>
                              <a:latin typeface="Cambria Math" panose="02040503050406030204" pitchFamily="18" charset="0"/>
                            </a:rPr>
                          </m:ctrlPr>
                        </m:sSubPr>
                        <m:e>
                          <m:r>
                            <a:rPr lang="en-US" sz="2600" i="1">
                              <a:solidFill>
                                <a:srgbClr val="1F5E2E"/>
                              </a:solidFill>
                              <a:latin typeface="Cambria Math" panose="02040503050406030204" pitchFamily="18" charset="0"/>
                            </a:rPr>
                            <m:t>𝜈</m:t>
                          </m:r>
                        </m:e>
                        <m:sub>
                          <m:r>
                            <a:rPr lang="en-US" sz="2600" i="1">
                              <a:solidFill>
                                <a:srgbClr val="1F5E2E"/>
                              </a:solidFill>
                              <a:latin typeface="Cambria Math" panose="02040503050406030204" pitchFamily="18" charset="0"/>
                            </a:rPr>
                            <m:t>𝜇</m:t>
                          </m:r>
                        </m:sub>
                      </m:sSub>
                    </m:oMath>
                  </m:oMathPara>
                </a14:m>
                <a:endParaRPr lang="en-US" sz="2600" dirty="0"/>
              </a:p>
            </p:txBody>
          </p:sp>
        </mc:Choice>
        <mc:Fallback xmlns="">
          <p:sp>
            <p:nvSpPr>
              <p:cNvPr id="51" name="!!sym_numu"/>
              <p:cNvSpPr txBox="1"/>
              <p:nvPr/>
            </p:nvSpPr>
            <p:spPr>
              <a:xfrm>
                <a:off x="2514600" y="4892040"/>
                <a:ext cx="1097280" cy="438912"/>
              </a:xfrm>
              <a:prstGeom prst="rect">
                <a:avLst/>
              </a:prstGeom>
              <a:blipFill>
                <a:blip r:embed="rIdEq22"/>
                <a:stretch>
                  <a:fillRect/>
                </a:stretch>
              </a:blipFill>
              <a:ln/>
            </p:spPr>
            <p:txBody>
              <a:bodyPr wrap="square" lIns="0" tIns="0" rIns="0" bIns="0" rtlCol="0" anchor="ctr"/>
              <a:lstStyle/>
              <a:p>
                <a:endParaRPr lang="en-US" dirty="0"/>
              </a:p>
            </p:txBody>
          </p:sp>
        </mc:Fallback>
      </mc:AlternateContent>
      <p:sp>
        <p:nvSpPr>
          <p:cNvPr id="52" name="!!name_numu"/>
          <p:cNvSpPr txBox="1"/>
          <p:nvPr/>
        </p:nvSpPr>
        <p:spPr>
          <a:xfrm>
            <a:off x="2514600" y="5330952"/>
            <a:ext cx="1097280" cy="201168"/>
          </a:xfrm>
          <a:prstGeom prst="rect">
            <a:avLst/>
          </a:prstGeom>
          <a:noFill/>
          <a:ln/>
        </p:spPr>
        <p:txBody>
          <a:bodyPr wrap="square" lIns="0" tIns="0" rIns="0" bIns="0" rtlCol="0" anchor="ctr"/>
          <a:lstStyle/>
          <a:p>
            <a:pPr marL="0" indent="0" algn="ctr">
              <a:buNone/>
            </a:pPr>
            <a:r>
              <a:rPr lang="en-US" sz="1000" dirty="0">
                <a:solidFill>
                  <a:srgbClr val="2E6B3A"/>
                </a:solidFill>
                <a:latin typeface="Calibri" pitchFamily="34" charset="0"/>
                <a:ea typeface="Calibri" pitchFamily="34" charset="-122"/>
                <a:cs typeface="Calibri" pitchFamily="34" charset="-120"/>
              </a:rPr>
              <a:t>μ neutrino</a:t>
            </a:r>
            <a:endParaRPr lang="en-US" sz="1000" dirty="0"/>
          </a:p>
        </p:txBody>
      </p:sp>
      <p:sp>
        <p:nvSpPr>
          <p:cNvPr id="53" name="!!cell_nutau"/>
          <p:cNvSpPr/>
          <p:nvPr/>
        </p:nvSpPr>
        <p:spPr>
          <a:xfrm>
            <a:off x="3703320" y="4709160"/>
            <a:ext cx="1097280" cy="868680"/>
          </a:xfrm>
          <a:prstGeom prst="roundRect">
            <a:avLst>
              <a:gd name="adj" fmla="val 8421"/>
            </a:avLst>
          </a:prstGeom>
          <a:solidFill>
            <a:srgbClr val="E3F1E6"/>
          </a:solidFill>
          <a:ln w="12700">
            <a:solidFill>
              <a:srgbClr val="9CC9A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54" name="!!q_nutau"/>
              <p:cNvSpPr txBox="1"/>
              <p:nvPr/>
            </p:nvSpPr>
            <p:spPr>
              <a:xfrm>
                <a:off x="3767328" y="474573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2E6B3A"/>
                          </a:solidFill>
                          <a:latin typeface="Cambria Math" panose="02040503050406030204" pitchFamily="18" charset="0"/>
                        </a:rPr>
                        <m:t>0</m:t>
                      </m:r>
                    </m:oMath>
                  </m:oMathPara>
                </a14:m>
                <a:endParaRPr lang="en-US" sz="1100" dirty="0"/>
              </a:p>
            </p:txBody>
          </p:sp>
        </mc:Choice>
        <mc:Fallback xmlns="">
          <p:sp>
            <p:nvSpPr>
              <p:cNvPr id="54" name="!!q_nutau"/>
              <p:cNvSpPr txBox="1"/>
              <p:nvPr/>
            </p:nvSpPr>
            <p:spPr>
              <a:xfrm>
                <a:off x="3767328" y="4745736"/>
                <a:ext cx="969264" cy="237744"/>
              </a:xfrm>
              <a:prstGeom prst="rect">
                <a:avLst/>
              </a:prstGeom>
              <a:blipFill>
                <a:blip r:embed="rIdEq23"/>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55" name="!!sym_nutau"/>
              <p:cNvSpPr txBox="1"/>
              <p:nvPr/>
            </p:nvSpPr>
            <p:spPr>
              <a:xfrm>
                <a:off x="3703320" y="489204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2600" i="1">
                              <a:solidFill>
                                <a:srgbClr val="1F5E2E"/>
                              </a:solidFill>
                              <a:latin typeface="Cambria Math" panose="02040503050406030204" pitchFamily="18" charset="0"/>
                            </a:rPr>
                          </m:ctrlPr>
                        </m:sSubPr>
                        <m:e>
                          <m:r>
                            <a:rPr lang="en-US" sz="2600" i="1">
                              <a:solidFill>
                                <a:srgbClr val="1F5E2E"/>
                              </a:solidFill>
                              <a:latin typeface="Cambria Math" panose="02040503050406030204" pitchFamily="18" charset="0"/>
                            </a:rPr>
                            <m:t>𝜈</m:t>
                          </m:r>
                        </m:e>
                        <m:sub>
                          <m:r>
                            <a:rPr lang="en-US" sz="2600" i="1">
                              <a:solidFill>
                                <a:srgbClr val="1F5E2E"/>
                              </a:solidFill>
                              <a:latin typeface="Cambria Math" panose="02040503050406030204" pitchFamily="18" charset="0"/>
                            </a:rPr>
                            <m:t>𝜏</m:t>
                          </m:r>
                        </m:sub>
                      </m:sSub>
                    </m:oMath>
                  </m:oMathPara>
                </a14:m>
                <a:endParaRPr lang="en-US" sz="2600" dirty="0"/>
              </a:p>
            </p:txBody>
          </p:sp>
        </mc:Choice>
        <mc:Fallback xmlns="">
          <p:sp>
            <p:nvSpPr>
              <p:cNvPr id="55" name="!!sym_nutau"/>
              <p:cNvSpPr txBox="1"/>
              <p:nvPr/>
            </p:nvSpPr>
            <p:spPr>
              <a:xfrm>
                <a:off x="3703320" y="4892040"/>
                <a:ext cx="1097280" cy="438912"/>
              </a:xfrm>
              <a:prstGeom prst="rect">
                <a:avLst/>
              </a:prstGeom>
              <a:blipFill>
                <a:blip r:embed="rIdEq24"/>
                <a:stretch>
                  <a:fillRect/>
                </a:stretch>
              </a:blipFill>
              <a:ln/>
            </p:spPr>
            <p:txBody>
              <a:bodyPr wrap="square" lIns="0" tIns="0" rIns="0" bIns="0" rtlCol="0" anchor="ctr"/>
              <a:lstStyle/>
              <a:p>
                <a:endParaRPr lang="en-US" dirty="0"/>
              </a:p>
            </p:txBody>
          </p:sp>
        </mc:Fallback>
      </mc:AlternateContent>
      <p:sp>
        <p:nvSpPr>
          <p:cNvPr id="56" name="!!name_nutau"/>
          <p:cNvSpPr txBox="1"/>
          <p:nvPr/>
        </p:nvSpPr>
        <p:spPr>
          <a:xfrm>
            <a:off x="3703320" y="5330952"/>
            <a:ext cx="1097280" cy="201168"/>
          </a:xfrm>
          <a:prstGeom prst="rect">
            <a:avLst/>
          </a:prstGeom>
          <a:noFill/>
          <a:ln/>
        </p:spPr>
        <p:txBody>
          <a:bodyPr wrap="square" lIns="0" tIns="0" rIns="0" bIns="0" rtlCol="0" anchor="ctr"/>
          <a:lstStyle/>
          <a:p>
            <a:pPr marL="0" indent="0" algn="ctr">
              <a:buNone/>
            </a:pPr>
            <a:r>
              <a:rPr lang="en-US" sz="1000" dirty="0">
                <a:solidFill>
                  <a:srgbClr val="2E6B3A"/>
                </a:solidFill>
                <a:latin typeface="Calibri" pitchFamily="34" charset="0"/>
                <a:ea typeface="Calibri" pitchFamily="34" charset="-122"/>
                <a:cs typeface="Calibri" pitchFamily="34" charset="-120"/>
              </a:rPr>
              <a:t>τ neutrino</a:t>
            </a:r>
            <a:endParaRPr lang="en-US" sz="1000" dirty="0"/>
          </a:p>
        </p:txBody>
      </p:sp>
      <p:sp>
        <p:nvSpPr>
          <p:cNvPr id="57" name="!!cell_g"/>
          <p:cNvSpPr/>
          <p:nvPr/>
        </p:nvSpPr>
        <p:spPr>
          <a:xfrm>
            <a:off x="5166360" y="1828800"/>
            <a:ext cx="1097280" cy="868680"/>
          </a:xfrm>
          <a:prstGeom prst="roundRect">
            <a:avLst>
              <a:gd name="adj" fmla="val 8421"/>
            </a:avLst>
          </a:prstGeom>
          <a:solidFill>
            <a:srgbClr val="FBE6DC"/>
          </a:solidFill>
          <a:ln w="12700">
            <a:solidFill>
              <a:srgbClr val="E3AE95"/>
            </a:solidFill>
            <a:prstDash val="solid"/>
          </a:ln>
        </p:spPr>
        <p:txBody>
          <a:bodyPr/>
          <a:lstStyle/>
          <a:p>
            <a:endParaRPr lang="en-US"/>
          </a:p>
        </p:txBody>
      </p:sp>
      <mc:AlternateContent xmlns:mc="http://schemas.openxmlformats.org/markup-compatibility/2006" xmlns:a14="http://schemas.microsoft.com/office/drawing/2010/main">
        <mc:Choice Requires="a14">
          <p:sp>
            <p:nvSpPr>
              <p:cNvPr id="58" name="!!q_g"/>
              <p:cNvSpPr txBox="1"/>
              <p:nvPr/>
            </p:nvSpPr>
            <p:spPr>
              <a:xfrm>
                <a:off x="523036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3412"/>
                          </a:solidFill>
                          <a:latin typeface="Cambria Math" panose="02040503050406030204" pitchFamily="18" charset="0"/>
                        </a:rPr>
                        <m:t>0</m:t>
                      </m:r>
                    </m:oMath>
                  </m:oMathPara>
                </a14:m>
                <a:endParaRPr lang="en-US" sz="1100" dirty="0"/>
              </a:p>
            </p:txBody>
          </p:sp>
        </mc:Choice>
        <mc:Fallback xmlns="">
          <p:sp>
            <p:nvSpPr>
              <p:cNvPr id="58" name="!!q_g"/>
              <p:cNvSpPr txBox="1"/>
              <p:nvPr/>
            </p:nvSpPr>
            <p:spPr>
              <a:xfrm>
                <a:off x="5230368" y="1865376"/>
                <a:ext cx="969264" cy="237744"/>
              </a:xfrm>
              <a:prstGeom prst="rect">
                <a:avLst/>
              </a:prstGeom>
              <a:blipFill>
                <a:blip r:embed="rIdEq25"/>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59" name="!!sym_g"/>
              <p:cNvSpPr txBox="1"/>
              <p:nvPr/>
            </p:nvSpPr>
            <p:spPr>
              <a:xfrm>
                <a:off x="516636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3412"/>
                          </a:solidFill>
                          <a:latin typeface="Cambria Math" panose="02040503050406030204" pitchFamily="18" charset="0"/>
                        </a:rPr>
                        <m:t>𝑔</m:t>
                      </m:r>
                    </m:oMath>
                  </m:oMathPara>
                </a14:m>
                <a:endParaRPr lang="en-US" sz="2600" dirty="0"/>
              </a:p>
            </p:txBody>
          </p:sp>
        </mc:Choice>
        <mc:Fallback xmlns="">
          <p:sp>
            <p:nvSpPr>
              <p:cNvPr id="59" name="!!sym_g"/>
              <p:cNvSpPr txBox="1"/>
              <p:nvPr/>
            </p:nvSpPr>
            <p:spPr>
              <a:xfrm>
                <a:off x="5166360" y="2011680"/>
                <a:ext cx="1097280" cy="438912"/>
              </a:xfrm>
              <a:prstGeom prst="rect">
                <a:avLst/>
              </a:prstGeom>
              <a:blipFill>
                <a:blip r:embed="rIdEq26"/>
                <a:stretch>
                  <a:fillRect/>
                </a:stretch>
              </a:blipFill>
              <a:ln/>
            </p:spPr>
            <p:txBody>
              <a:bodyPr wrap="square" lIns="0" tIns="0" rIns="0" bIns="0" rtlCol="0" anchor="ctr"/>
              <a:lstStyle/>
              <a:p>
                <a:endParaRPr lang="en-US" dirty="0"/>
              </a:p>
            </p:txBody>
          </p:sp>
        </mc:Fallback>
      </mc:AlternateContent>
      <p:sp>
        <p:nvSpPr>
          <p:cNvPr id="60" name="!!name_g"/>
          <p:cNvSpPr txBox="1"/>
          <p:nvPr/>
        </p:nvSpPr>
        <p:spPr>
          <a:xfrm>
            <a:off x="5166360" y="2450592"/>
            <a:ext cx="1097280" cy="201168"/>
          </a:xfrm>
          <a:prstGeom prst="rect">
            <a:avLst/>
          </a:prstGeom>
          <a:noFill/>
          <a:ln/>
        </p:spPr>
        <p:txBody>
          <a:bodyPr wrap="square" lIns="0" tIns="0" rIns="0" bIns="0" rtlCol="0" anchor="ctr"/>
          <a:lstStyle/>
          <a:p>
            <a:pPr marL="0" indent="0" algn="ctr">
              <a:buNone/>
            </a:pPr>
            <a:r>
              <a:rPr lang="en-US" sz="1000" dirty="0">
                <a:solidFill>
                  <a:srgbClr val="9A3412"/>
                </a:solidFill>
                <a:latin typeface="Calibri" pitchFamily="34" charset="0"/>
                <a:ea typeface="Calibri" pitchFamily="34" charset="-122"/>
                <a:cs typeface="Calibri" pitchFamily="34" charset="-120"/>
              </a:rPr>
              <a:t>gluon</a:t>
            </a:r>
            <a:endParaRPr lang="en-US" sz="1000" dirty="0"/>
          </a:p>
        </p:txBody>
      </p:sp>
      <p:sp>
        <p:nvSpPr>
          <p:cNvPr id="61" name="!!cell_gamma"/>
          <p:cNvSpPr/>
          <p:nvPr/>
        </p:nvSpPr>
        <p:spPr>
          <a:xfrm>
            <a:off x="5166360" y="2788920"/>
            <a:ext cx="1097280" cy="868680"/>
          </a:xfrm>
          <a:prstGeom prst="roundRect">
            <a:avLst>
              <a:gd name="adj" fmla="val 8421"/>
            </a:avLst>
          </a:prstGeom>
          <a:solidFill>
            <a:srgbClr val="FBE6DC"/>
          </a:solidFill>
          <a:ln w="12700">
            <a:solidFill>
              <a:srgbClr val="E3AE95"/>
            </a:solidFill>
            <a:prstDash val="solid"/>
          </a:ln>
        </p:spPr>
        <p:txBody>
          <a:bodyPr/>
          <a:lstStyle/>
          <a:p>
            <a:endParaRPr lang="en-US"/>
          </a:p>
        </p:txBody>
      </p:sp>
      <mc:AlternateContent xmlns:mc="http://schemas.openxmlformats.org/markup-compatibility/2006" xmlns:a14="http://schemas.microsoft.com/office/drawing/2010/main">
        <mc:Choice Requires="a14">
          <p:sp>
            <p:nvSpPr>
              <p:cNvPr id="62" name="!!q_gamma"/>
              <p:cNvSpPr txBox="1"/>
              <p:nvPr/>
            </p:nvSpPr>
            <p:spPr>
              <a:xfrm>
                <a:off x="5230368" y="282549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3412"/>
                          </a:solidFill>
                          <a:latin typeface="Cambria Math" panose="02040503050406030204" pitchFamily="18" charset="0"/>
                        </a:rPr>
                        <m:t>0</m:t>
                      </m:r>
                    </m:oMath>
                  </m:oMathPara>
                </a14:m>
                <a:endParaRPr lang="en-US" sz="1100" dirty="0"/>
              </a:p>
            </p:txBody>
          </p:sp>
        </mc:Choice>
        <mc:Fallback xmlns="">
          <p:sp>
            <p:nvSpPr>
              <p:cNvPr id="62" name="!!q_gamma"/>
              <p:cNvSpPr txBox="1"/>
              <p:nvPr/>
            </p:nvSpPr>
            <p:spPr>
              <a:xfrm>
                <a:off x="5230368" y="2825496"/>
                <a:ext cx="969264" cy="237744"/>
              </a:xfrm>
              <a:prstGeom prst="rect">
                <a:avLst/>
              </a:prstGeom>
              <a:blipFill>
                <a:blip r:embed="rIdEq27"/>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63" name="!!sym_gamma"/>
              <p:cNvSpPr txBox="1"/>
              <p:nvPr/>
            </p:nvSpPr>
            <p:spPr>
              <a:xfrm>
                <a:off x="5166360" y="297180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3412"/>
                          </a:solidFill>
                          <a:latin typeface="Cambria Math" panose="02040503050406030204" pitchFamily="18" charset="0"/>
                        </a:rPr>
                        <m:t>𝛾</m:t>
                      </m:r>
                    </m:oMath>
                  </m:oMathPara>
                </a14:m>
                <a:endParaRPr lang="en-US" sz="2600" dirty="0"/>
              </a:p>
            </p:txBody>
          </p:sp>
        </mc:Choice>
        <mc:Fallback xmlns="">
          <p:sp>
            <p:nvSpPr>
              <p:cNvPr id="63" name="!!sym_gamma"/>
              <p:cNvSpPr txBox="1"/>
              <p:nvPr/>
            </p:nvSpPr>
            <p:spPr>
              <a:xfrm>
                <a:off x="5166360" y="2971800"/>
                <a:ext cx="1097280" cy="438912"/>
              </a:xfrm>
              <a:prstGeom prst="rect">
                <a:avLst/>
              </a:prstGeom>
              <a:blipFill>
                <a:blip r:embed="rIdEq28"/>
                <a:stretch>
                  <a:fillRect/>
                </a:stretch>
              </a:blipFill>
              <a:ln/>
            </p:spPr>
            <p:txBody>
              <a:bodyPr wrap="square" lIns="0" tIns="0" rIns="0" bIns="0" rtlCol="0" anchor="ctr"/>
              <a:lstStyle/>
              <a:p>
                <a:endParaRPr lang="en-US" dirty="0"/>
              </a:p>
            </p:txBody>
          </p:sp>
        </mc:Fallback>
      </mc:AlternateContent>
      <p:sp>
        <p:nvSpPr>
          <p:cNvPr id="64" name="!!name_gamma"/>
          <p:cNvSpPr txBox="1"/>
          <p:nvPr/>
        </p:nvSpPr>
        <p:spPr>
          <a:xfrm>
            <a:off x="5166360" y="3410712"/>
            <a:ext cx="1097280" cy="201168"/>
          </a:xfrm>
          <a:prstGeom prst="rect">
            <a:avLst/>
          </a:prstGeom>
          <a:noFill/>
          <a:ln/>
        </p:spPr>
        <p:txBody>
          <a:bodyPr wrap="square" lIns="0" tIns="0" rIns="0" bIns="0" rtlCol="0" anchor="ctr"/>
          <a:lstStyle/>
          <a:p>
            <a:pPr marL="0" indent="0" algn="ctr">
              <a:buNone/>
            </a:pPr>
            <a:r>
              <a:rPr lang="en-US" sz="1000" dirty="0">
                <a:solidFill>
                  <a:srgbClr val="9A3412"/>
                </a:solidFill>
                <a:latin typeface="Calibri" pitchFamily="34" charset="0"/>
                <a:ea typeface="Calibri" pitchFamily="34" charset="-122"/>
                <a:cs typeface="Calibri" pitchFamily="34" charset="-120"/>
              </a:rPr>
              <a:t>photon</a:t>
            </a:r>
            <a:endParaRPr lang="en-US" sz="1000" dirty="0"/>
          </a:p>
        </p:txBody>
      </p:sp>
      <p:sp>
        <p:nvSpPr>
          <p:cNvPr id="65" name="!!cell_Z"/>
          <p:cNvSpPr/>
          <p:nvPr/>
        </p:nvSpPr>
        <p:spPr>
          <a:xfrm>
            <a:off x="5166360" y="3749040"/>
            <a:ext cx="1097280" cy="868680"/>
          </a:xfrm>
          <a:prstGeom prst="roundRect">
            <a:avLst>
              <a:gd name="adj" fmla="val 8421"/>
            </a:avLst>
          </a:prstGeom>
          <a:solidFill>
            <a:srgbClr val="FBE6DC"/>
          </a:solidFill>
          <a:ln w="12700">
            <a:solidFill>
              <a:srgbClr val="E3AE95"/>
            </a:solidFill>
            <a:prstDash val="solid"/>
          </a:ln>
        </p:spPr>
        <p:txBody>
          <a:bodyPr/>
          <a:lstStyle/>
          <a:p>
            <a:endParaRPr lang="en-US"/>
          </a:p>
        </p:txBody>
      </p:sp>
      <mc:AlternateContent xmlns:mc="http://schemas.openxmlformats.org/markup-compatibility/2006" xmlns:a14="http://schemas.microsoft.com/office/drawing/2010/main">
        <mc:Choice Requires="a14">
          <p:sp>
            <p:nvSpPr>
              <p:cNvPr id="66" name="!!q_Z"/>
              <p:cNvSpPr txBox="1"/>
              <p:nvPr/>
            </p:nvSpPr>
            <p:spPr>
              <a:xfrm>
                <a:off x="5230368" y="378561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3412"/>
                          </a:solidFill>
                          <a:latin typeface="Cambria Math" panose="02040503050406030204" pitchFamily="18" charset="0"/>
                        </a:rPr>
                        <m:t>0</m:t>
                      </m:r>
                    </m:oMath>
                  </m:oMathPara>
                </a14:m>
                <a:endParaRPr lang="en-US" sz="1100" dirty="0"/>
              </a:p>
            </p:txBody>
          </p:sp>
        </mc:Choice>
        <mc:Fallback xmlns="">
          <p:sp>
            <p:nvSpPr>
              <p:cNvPr id="66" name="!!q_Z"/>
              <p:cNvSpPr txBox="1"/>
              <p:nvPr/>
            </p:nvSpPr>
            <p:spPr>
              <a:xfrm>
                <a:off x="5230368" y="3785616"/>
                <a:ext cx="969264" cy="237744"/>
              </a:xfrm>
              <a:prstGeom prst="rect">
                <a:avLst/>
              </a:prstGeom>
              <a:blipFill>
                <a:blip r:embed="rIdEq29"/>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67" name="!!sym_Z"/>
              <p:cNvSpPr txBox="1"/>
              <p:nvPr/>
            </p:nvSpPr>
            <p:spPr>
              <a:xfrm>
                <a:off x="5166360" y="393192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3412"/>
                          </a:solidFill>
                          <a:latin typeface="Cambria Math" panose="02040503050406030204" pitchFamily="18" charset="0"/>
                        </a:rPr>
                        <m:t>𝑍</m:t>
                      </m:r>
                    </m:oMath>
                  </m:oMathPara>
                </a14:m>
                <a:endParaRPr lang="en-US" sz="2600" dirty="0"/>
              </a:p>
            </p:txBody>
          </p:sp>
        </mc:Choice>
        <mc:Fallback xmlns="">
          <p:sp>
            <p:nvSpPr>
              <p:cNvPr id="67" name="!!sym_Z"/>
              <p:cNvSpPr txBox="1"/>
              <p:nvPr/>
            </p:nvSpPr>
            <p:spPr>
              <a:xfrm>
                <a:off x="5166360" y="3931920"/>
                <a:ext cx="1097280" cy="438912"/>
              </a:xfrm>
              <a:prstGeom prst="rect">
                <a:avLst/>
              </a:prstGeom>
              <a:blipFill>
                <a:blip r:embed="rIdEq30"/>
                <a:stretch>
                  <a:fillRect/>
                </a:stretch>
              </a:blipFill>
              <a:ln/>
            </p:spPr>
            <p:txBody>
              <a:bodyPr wrap="square" lIns="0" tIns="0" rIns="0" bIns="0" rtlCol="0" anchor="ctr"/>
              <a:lstStyle/>
              <a:p>
                <a:endParaRPr lang="en-US" dirty="0"/>
              </a:p>
            </p:txBody>
          </p:sp>
        </mc:Fallback>
      </mc:AlternateContent>
      <p:sp>
        <p:nvSpPr>
          <p:cNvPr id="68" name="!!name_Z"/>
          <p:cNvSpPr txBox="1"/>
          <p:nvPr/>
        </p:nvSpPr>
        <p:spPr>
          <a:xfrm>
            <a:off x="5166360" y="4370832"/>
            <a:ext cx="1097280" cy="201168"/>
          </a:xfrm>
          <a:prstGeom prst="rect">
            <a:avLst/>
          </a:prstGeom>
          <a:noFill/>
          <a:ln/>
        </p:spPr>
        <p:txBody>
          <a:bodyPr wrap="square" lIns="0" tIns="0" rIns="0" bIns="0" rtlCol="0" anchor="ctr"/>
          <a:lstStyle/>
          <a:p>
            <a:pPr marL="0" indent="0" algn="ctr">
              <a:buNone/>
            </a:pPr>
            <a:r>
              <a:rPr lang="en-US" sz="1000" dirty="0">
                <a:solidFill>
                  <a:srgbClr val="9A3412"/>
                </a:solidFill>
                <a:latin typeface="Calibri" pitchFamily="34" charset="0"/>
                <a:ea typeface="Calibri" pitchFamily="34" charset="-122"/>
                <a:cs typeface="Calibri" pitchFamily="34" charset="-120"/>
              </a:rPr>
              <a:t>Z boson</a:t>
            </a:r>
            <a:endParaRPr lang="en-US" sz="1000" dirty="0"/>
          </a:p>
        </p:txBody>
      </p:sp>
      <p:sp>
        <p:nvSpPr>
          <p:cNvPr id="69" name="!!cell_W"/>
          <p:cNvSpPr/>
          <p:nvPr/>
        </p:nvSpPr>
        <p:spPr>
          <a:xfrm>
            <a:off x="5166360" y="4709160"/>
            <a:ext cx="1097280" cy="868680"/>
          </a:xfrm>
          <a:prstGeom prst="roundRect">
            <a:avLst>
              <a:gd name="adj" fmla="val 8421"/>
            </a:avLst>
          </a:prstGeom>
          <a:solidFill>
            <a:srgbClr val="FBE6DC"/>
          </a:solidFill>
          <a:ln w="12700">
            <a:solidFill>
              <a:srgbClr val="E3AE95"/>
            </a:solidFill>
            <a:prstDash val="solid"/>
          </a:ln>
        </p:spPr>
        <p:txBody>
          <a:bodyPr/>
          <a:lstStyle/>
          <a:p>
            <a:endParaRPr lang="en-US"/>
          </a:p>
        </p:txBody>
      </p:sp>
      <mc:AlternateContent xmlns:mc="http://schemas.openxmlformats.org/markup-compatibility/2006" xmlns:a14="http://schemas.microsoft.com/office/drawing/2010/main">
        <mc:Choice Requires="a14">
          <p:sp>
            <p:nvSpPr>
              <p:cNvPr id="70" name="!!q_W"/>
              <p:cNvSpPr txBox="1"/>
              <p:nvPr/>
            </p:nvSpPr>
            <p:spPr>
              <a:xfrm>
                <a:off x="5230368" y="474573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3412"/>
                          </a:solidFill>
                          <a:latin typeface="Cambria Math" panose="02040503050406030204" pitchFamily="18" charset="0"/>
                        </a:rPr>
                        <m:t>±1</m:t>
                      </m:r>
                    </m:oMath>
                  </m:oMathPara>
                </a14:m>
                <a:endParaRPr lang="en-US" sz="1100" dirty="0"/>
              </a:p>
            </p:txBody>
          </p:sp>
        </mc:Choice>
        <mc:Fallback xmlns="">
          <p:sp>
            <p:nvSpPr>
              <p:cNvPr id="70" name="!!q_W"/>
              <p:cNvSpPr txBox="1"/>
              <p:nvPr/>
            </p:nvSpPr>
            <p:spPr>
              <a:xfrm>
                <a:off x="5230368" y="4745736"/>
                <a:ext cx="969264" cy="237744"/>
              </a:xfrm>
              <a:prstGeom prst="rect">
                <a:avLst/>
              </a:prstGeom>
              <a:blipFill>
                <a:blip r:embed="rIdEq31"/>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71" name="!!sym_W"/>
              <p:cNvSpPr txBox="1"/>
              <p:nvPr/>
            </p:nvSpPr>
            <p:spPr>
              <a:xfrm>
                <a:off x="5166360" y="489204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n-US" sz="2600" i="1">
                              <a:solidFill>
                                <a:srgbClr val="9A3412"/>
                              </a:solidFill>
                              <a:latin typeface="Cambria Math" panose="02040503050406030204" pitchFamily="18" charset="0"/>
                            </a:rPr>
                          </m:ctrlPr>
                        </m:sSupPr>
                        <m:e>
                          <m:r>
                            <a:rPr lang="en-US" sz="2600" i="1">
                              <a:solidFill>
                                <a:srgbClr val="9A3412"/>
                              </a:solidFill>
                              <a:latin typeface="Cambria Math" panose="02040503050406030204" pitchFamily="18" charset="0"/>
                            </a:rPr>
                            <m:t>𝑊</m:t>
                          </m:r>
                        </m:e>
                        <m:sup>
                          <m:r>
                            <a:rPr lang="en-US" sz="2600" i="0">
                              <a:solidFill>
                                <a:srgbClr val="9A3412"/>
                              </a:solidFill>
                              <a:latin typeface="Cambria Math" panose="02040503050406030204" pitchFamily="18" charset="0"/>
                            </a:rPr>
                            <m:t>±</m:t>
                          </m:r>
                        </m:sup>
                      </m:sSup>
                    </m:oMath>
                  </m:oMathPara>
                </a14:m>
                <a:endParaRPr lang="en-US" sz="2600" dirty="0"/>
              </a:p>
            </p:txBody>
          </p:sp>
        </mc:Choice>
        <mc:Fallback xmlns="">
          <p:sp>
            <p:nvSpPr>
              <p:cNvPr id="71" name="!!sym_W"/>
              <p:cNvSpPr txBox="1"/>
              <p:nvPr/>
            </p:nvSpPr>
            <p:spPr>
              <a:xfrm>
                <a:off x="5166360" y="4892040"/>
                <a:ext cx="1097280" cy="438912"/>
              </a:xfrm>
              <a:prstGeom prst="rect">
                <a:avLst/>
              </a:prstGeom>
              <a:blipFill>
                <a:blip r:embed="rIdEq32"/>
                <a:stretch>
                  <a:fillRect/>
                </a:stretch>
              </a:blipFill>
              <a:ln/>
            </p:spPr>
            <p:txBody>
              <a:bodyPr wrap="square" lIns="0" tIns="0" rIns="0" bIns="0" rtlCol="0" anchor="ctr"/>
              <a:lstStyle/>
              <a:p>
                <a:endParaRPr lang="en-US" dirty="0"/>
              </a:p>
            </p:txBody>
          </p:sp>
        </mc:Fallback>
      </mc:AlternateContent>
      <p:sp>
        <p:nvSpPr>
          <p:cNvPr id="72" name="!!name_W"/>
          <p:cNvSpPr txBox="1"/>
          <p:nvPr/>
        </p:nvSpPr>
        <p:spPr>
          <a:xfrm>
            <a:off x="5166360" y="5330952"/>
            <a:ext cx="1097280" cy="201168"/>
          </a:xfrm>
          <a:prstGeom prst="rect">
            <a:avLst/>
          </a:prstGeom>
          <a:noFill/>
          <a:ln/>
        </p:spPr>
        <p:txBody>
          <a:bodyPr wrap="square" lIns="0" tIns="0" rIns="0" bIns="0" rtlCol="0" anchor="ctr"/>
          <a:lstStyle/>
          <a:p>
            <a:pPr marL="0" indent="0" algn="ctr">
              <a:buNone/>
            </a:pPr>
            <a:r>
              <a:rPr lang="en-US" sz="1000" dirty="0">
                <a:solidFill>
                  <a:srgbClr val="9A3412"/>
                </a:solidFill>
                <a:latin typeface="Calibri" pitchFamily="34" charset="0"/>
                <a:ea typeface="Calibri" pitchFamily="34" charset="-122"/>
                <a:cs typeface="Calibri" pitchFamily="34" charset="-120"/>
              </a:rPr>
              <a:t>W boson</a:t>
            </a:r>
            <a:endParaRPr lang="en-US" sz="1000" dirty="0"/>
          </a:p>
        </p:txBody>
      </p:sp>
      <p:sp>
        <p:nvSpPr>
          <p:cNvPr id="73" name="!!cell_H"/>
          <p:cNvSpPr/>
          <p:nvPr/>
        </p:nvSpPr>
        <p:spPr>
          <a:xfrm>
            <a:off x="6355080" y="1828800"/>
            <a:ext cx="1097280" cy="868680"/>
          </a:xfrm>
          <a:prstGeom prst="roundRect">
            <a:avLst>
              <a:gd name="adj" fmla="val 8421"/>
            </a:avLst>
          </a:prstGeom>
          <a:solidFill>
            <a:srgbClr val="FBF1D3"/>
          </a:solidFill>
          <a:ln w="12700">
            <a:solidFill>
              <a:srgbClr val="E2C979"/>
            </a:solidFill>
            <a:prstDash val="solid"/>
          </a:ln>
        </p:spPr>
        <p:txBody>
          <a:bodyPr/>
          <a:lstStyle/>
          <a:p>
            <a:endParaRPr lang="en-US"/>
          </a:p>
        </p:txBody>
      </p:sp>
      <mc:AlternateContent xmlns:mc="http://schemas.openxmlformats.org/markup-compatibility/2006" xmlns:a14="http://schemas.microsoft.com/office/drawing/2010/main">
        <mc:Choice Requires="a14">
          <p:sp>
            <p:nvSpPr>
              <p:cNvPr id="74" name="!!q_H"/>
              <p:cNvSpPr txBox="1"/>
              <p:nvPr/>
            </p:nvSpPr>
            <p:spPr>
              <a:xfrm>
                <a:off x="641908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7A5A00"/>
                          </a:solidFill>
                          <a:latin typeface="Cambria Math" panose="02040503050406030204" pitchFamily="18" charset="0"/>
                        </a:rPr>
                        <m:t>0</m:t>
                      </m:r>
                    </m:oMath>
                  </m:oMathPara>
                </a14:m>
                <a:endParaRPr lang="en-US" sz="1100" dirty="0"/>
              </a:p>
            </p:txBody>
          </p:sp>
        </mc:Choice>
        <mc:Fallback xmlns="">
          <p:sp>
            <p:nvSpPr>
              <p:cNvPr id="74" name="!!q_H"/>
              <p:cNvSpPr txBox="1"/>
              <p:nvPr/>
            </p:nvSpPr>
            <p:spPr>
              <a:xfrm>
                <a:off x="6419088" y="1865376"/>
                <a:ext cx="969264" cy="237744"/>
              </a:xfrm>
              <a:prstGeom prst="rect">
                <a:avLst/>
              </a:prstGeom>
              <a:blipFill>
                <a:blip r:embed="rIdEq33"/>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75" name="!!sym_H"/>
              <p:cNvSpPr txBox="1"/>
              <p:nvPr/>
            </p:nvSpPr>
            <p:spPr>
              <a:xfrm>
                <a:off x="635508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7A5A00"/>
                          </a:solidFill>
                          <a:latin typeface="Cambria Math" panose="02040503050406030204" pitchFamily="18" charset="0"/>
                        </a:rPr>
                        <m:t>𝐻</m:t>
                      </m:r>
                    </m:oMath>
                  </m:oMathPara>
                </a14:m>
                <a:endParaRPr lang="en-US" sz="2600" dirty="0"/>
              </a:p>
            </p:txBody>
          </p:sp>
        </mc:Choice>
        <mc:Fallback xmlns="">
          <p:sp>
            <p:nvSpPr>
              <p:cNvPr id="75" name="!!sym_H"/>
              <p:cNvSpPr txBox="1"/>
              <p:nvPr/>
            </p:nvSpPr>
            <p:spPr>
              <a:xfrm>
                <a:off x="6355080" y="2011680"/>
                <a:ext cx="1097280" cy="438912"/>
              </a:xfrm>
              <a:prstGeom prst="rect">
                <a:avLst/>
              </a:prstGeom>
              <a:blipFill>
                <a:blip r:embed="rIdEq34"/>
                <a:stretch>
                  <a:fillRect/>
                </a:stretch>
              </a:blipFill>
              <a:ln/>
            </p:spPr>
            <p:txBody>
              <a:bodyPr wrap="square" lIns="0" tIns="0" rIns="0" bIns="0" rtlCol="0" anchor="ctr"/>
              <a:lstStyle/>
              <a:p>
                <a:endParaRPr lang="en-US" dirty="0"/>
              </a:p>
            </p:txBody>
          </p:sp>
        </mc:Fallback>
      </mc:AlternateContent>
      <p:sp>
        <p:nvSpPr>
          <p:cNvPr id="76" name="!!name_H"/>
          <p:cNvSpPr txBox="1"/>
          <p:nvPr/>
        </p:nvSpPr>
        <p:spPr>
          <a:xfrm>
            <a:off x="6355080" y="2450592"/>
            <a:ext cx="1097280" cy="201168"/>
          </a:xfrm>
          <a:prstGeom prst="rect">
            <a:avLst/>
          </a:prstGeom>
          <a:noFill/>
          <a:ln/>
        </p:spPr>
        <p:txBody>
          <a:bodyPr wrap="square" lIns="0" tIns="0" rIns="0" bIns="0" rtlCol="0" anchor="ctr"/>
          <a:lstStyle/>
          <a:p>
            <a:pPr marL="0" indent="0" algn="ctr">
              <a:buNone/>
            </a:pPr>
            <a:r>
              <a:rPr lang="en-US" sz="1000" dirty="0">
                <a:solidFill>
                  <a:srgbClr val="7A5A00"/>
                </a:solidFill>
                <a:latin typeface="Calibri" pitchFamily="34" charset="0"/>
                <a:ea typeface="Calibri" pitchFamily="34" charset="-122"/>
                <a:cs typeface="Calibri" pitchFamily="34" charset="-120"/>
              </a:rPr>
              <a:t>Higgs</a:t>
            </a:r>
            <a:endParaRPr lang="en-US" sz="1000" dirty="0"/>
          </a:p>
        </p:txBody>
      </p:sp>
      <p:sp>
        <p:nvSpPr>
          <p:cNvPr id="77" name="!!br_qa"/>
          <p:cNvSpPr/>
          <p:nvPr/>
        </p:nvSpPr>
        <p:spPr>
          <a:xfrm>
            <a:off x="1143000" y="1874520"/>
            <a:ext cx="0" cy="1737360"/>
          </a:xfrm>
          <a:prstGeom prst="line">
            <a:avLst/>
          </a:prstGeom>
          <a:noFill/>
          <a:ln w="25400">
            <a:solidFill>
              <a:srgbClr val="4B2A7B"/>
            </a:solidFill>
            <a:prstDash val="solid"/>
          </a:ln>
        </p:spPr>
        <p:txBody>
          <a:bodyPr/>
          <a:lstStyle/>
          <a:p>
            <a:endParaRPr lang="en-US"/>
          </a:p>
        </p:txBody>
      </p:sp>
      <p:sp>
        <p:nvSpPr>
          <p:cNvPr id="78" name="!!br_qb"/>
          <p:cNvSpPr/>
          <p:nvPr/>
        </p:nvSpPr>
        <p:spPr>
          <a:xfrm>
            <a:off x="1143000" y="1874520"/>
            <a:ext cx="109728" cy="0"/>
          </a:xfrm>
          <a:prstGeom prst="line">
            <a:avLst/>
          </a:prstGeom>
          <a:noFill/>
          <a:ln w="25400">
            <a:solidFill>
              <a:srgbClr val="4B2A7B"/>
            </a:solidFill>
            <a:prstDash val="solid"/>
          </a:ln>
        </p:spPr>
        <p:txBody>
          <a:bodyPr/>
          <a:lstStyle/>
          <a:p>
            <a:endParaRPr lang="en-US"/>
          </a:p>
        </p:txBody>
      </p:sp>
      <p:sp>
        <p:nvSpPr>
          <p:cNvPr id="79" name="!!br_qc"/>
          <p:cNvSpPr/>
          <p:nvPr/>
        </p:nvSpPr>
        <p:spPr>
          <a:xfrm>
            <a:off x="1143000" y="3611880"/>
            <a:ext cx="109728" cy="0"/>
          </a:xfrm>
          <a:prstGeom prst="line">
            <a:avLst/>
          </a:prstGeom>
          <a:noFill/>
          <a:ln w="25400">
            <a:solidFill>
              <a:srgbClr val="4B2A7B"/>
            </a:solidFill>
            <a:prstDash val="solid"/>
          </a:ln>
        </p:spPr>
        <p:txBody>
          <a:bodyPr/>
          <a:lstStyle/>
          <a:p>
            <a:endParaRPr lang="en-US"/>
          </a:p>
        </p:txBody>
      </p:sp>
      <p:sp>
        <p:nvSpPr>
          <p:cNvPr id="80" name="!!brl_q"/>
          <p:cNvSpPr txBox="1"/>
          <p:nvPr/>
        </p:nvSpPr>
        <p:spPr>
          <a:xfrm>
            <a:off x="274320" y="2560320"/>
            <a:ext cx="822960" cy="365760"/>
          </a:xfrm>
          <a:prstGeom prst="rect">
            <a:avLst/>
          </a:prstGeom>
          <a:noFill/>
          <a:ln/>
        </p:spPr>
        <p:txBody>
          <a:bodyPr wrap="square" lIns="0" tIns="0" rIns="0" bIns="0" rtlCol="0" anchor="ctr"/>
          <a:lstStyle/>
          <a:p>
            <a:pPr marL="0" indent="0" algn="r">
              <a:buNone/>
            </a:pPr>
            <a:r>
              <a:rPr lang="en-US" sz="1400" b="1" dirty="0">
                <a:solidFill>
                  <a:srgbClr val="4B2A7B"/>
                </a:solidFill>
                <a:latin typeface="Calibri" pitchFamily="34" charset="0"/>
                <a:ea typeface="Calibri" pitchFamily="34" charset="-122"/>
                <a:cs typeface="Calibri" pitchFamily="34" charset="-120"/>
              </a:rPr>
              <a:t>Quarks</a:t>
            </a:r>
            <a:endParaRPr lang="en-US" sz="1400" dirty="0"/>
          </a:p>
        </p:txBody>
      </p:sp>
      <p:sp>
        <p:nvSpPr>
          <p:cNvPr id="81" name="!!br_la"/>
          <p:cNvSpPr/>
          <p:nvPr/>
        </p:nvSpPr>
        <p:spPr>
          <a:xfrm>
            <a:off x="1143000" y="3794760"/>
            <a:ext cx="0" cy="1737360"/>
          </a:xfrm>
          <a:prstGeom prst="line">
            <a:avLst/>
          </a:prstGeom>
          <a:noFill/>
          <a:ln w="25400">
            <a:solidFill>
              <a:srgbClr val="1F5E2E"/>
            </a:solidFill>
            <a:prstDash val="solid"/>
          </a:ln>
        </p:spPr>
        <p:txBody>
          <a:bodyPr/>
          <a:lstStyle/>
          <a:p>
            <a:endParaRPr lang="en-US"/>
          </a:p>
        </p:txBody>
      </p:sp>
      <p:sp>
        <p:nvSpPr>
          <p:cNvPr id="82" name="!!br_lb"/>
          <p:cNvSpPr/>
          <p:nvPr/>
        </p:nvSpPr>
        <p:spPr>
          <a:xfrm>
            <a:off x="1143000" y="3794760"/>
            <a:ext cx="109728" cy="0"/>
          </a:xfrm>
          <a:prstGeom prst="line">
            <a:avLst/>
          </a:prstGeom>
          <a:noFill/>
          <a:ln w="25400">
            <a:solidFill>
              <a:srgbClr val="1F5E2E"/>
            </a:solidFill>
            <a:prstDash val="solid"/>
          </a:ln>
        </p:spPr>
        <p:txBody>
          <a:bodyPr/>
          <a:lstStyle/>
          <a:p>
            <a:endParaRPr lang="en-US"/>
          </a:p>
        </p:txBody>
      </p:sp>
      <p:sp>
        <p:nvSpPr>
          <p:cNvPr id="83" name="!!br_lc"/>
          <p:cNvSpPr/>
          <p:nvPr/>
        </p:nvSpPr>
        <p:spPr>
          <a:xfrm>
            <a:off x="1143000" y="5532120"/>
            <a:ext cx="109728" cy="0"/>
          </a:xfrm>
          <a:prstGeom prst="line">
            <a:avLst/>
          </a:prstGeom>
          <a:noFill/>
          <a:ln w="25400">
            <a:solidFill>
              <a:srgbClr val="1F5E2E"/>
            </a:solidFill>
            <a:prstDash val="solid"/>
          </a:ln>
        </p:spPr>
        <p:txBody>
          <a:bodyPr/>
          <a:lstStyle/>
          <a:p>
            <a:endParaRPr lang="en-US"/>
          </a:p>
        </p:txBody>
      </p:sp>
      <p:sp>
        <p:nvSpPr>
          <p:cNvPr id="84" name="!!brl_l"/>
          <p:cNvSpPr txBox="1"/>
          <p:nvPr/>
        </p:nvSpPr>
        <p:spPr>
          <a:xfrm>
            <a:off x="274320" y="4480560"/>
            <a:ext cx="822960" cy="365760"/>
          </a:xfrm>
          <a:prstGeom prst="rect">
            <a:avLst/>
          </a:prstGeom>
          <a:noFill/>
          <a:ln/>
        </p:spPr>
        <p:txBody>
          <a:bodyPr wrap="square" lIns="0" tIns="0" rIns="0" bIns="0" rtlCol="0" anchor="ctr"/>
          <a:lstStyle/>
          <a:p>
            <a:pPr marL="0" indent="0" algn="r">
              <a:buNone/>
            </a:pPr>
            <a:r>
              <a:rPr lang="en-US" sz="1400" b="1" dirty="0">
                <a:solidFill>
                  <a:srgbClr val="1F5E2E"/>
                </a:solidFill>
                <a:latin typeface="Calibri" pitchFamily="34" charset="0"/>
                <a:ea typeface="Calibri" pitchFamily="34" charset="-122"/>
                <a:cs typeface="Calibri" pitchFamily="34" charset="-120"/>
              </a:rPr>
              <a:t>Leptons</a:t>
            </a:r>
            <a:endParaRPr lang="en-US" sz="1400" dirty="0"/>
          </a:p>
        </p:txBody>
      </p:sp>
      <p:sp>
        <p:nvSpPr>
          <p:cNvPr id="85" name="!!Lpill_e"/>
          <p:cNvSpPr/>
          <p:nvPr/>
        </p:nvSpPr>
        <p:spPr>
          <a:xfrm>
            <a:off x="1508760" y="5687568"/>
            <a:ext cx="731520" cy="292608"/>
          </a:xfrm>
          <a:prstGeom prst="roundRect">
            <a:avLst>
              <a:gd name="adj" fmla="val 50000"/>
            </a:avLst>
          </a:prstGeom>
          <a:solidFill>
            <a:srgbClr val="FFFFFF"/>
          </a:solidFill>
          <a:ln w="15875">
            <a:solidFill>
              <a:srgbClr val="1F5E2E"/>
            </a:solidFill>
            <a:prstDash val="solid"/>
          </a:ln>
        </p:spPr>
        <p:txBody>
          <a:bodyPr/>
          <a:lstStyle/>
          <a:p>
            <a:endParaRPr lang="en-US"/>
          </a:p>
        </p:txBody>
      </p:sp>
      <mc:AlternateContent xmlns:mc="http://schemas.openxmlformats.org/markup-compatibility/2006" xmlns:a14="http://schemas.microsoft.com/office/drawing/2010/main">
        <mc:Choice Requires="a14">
          <p:sp>
            <p:nvSpPr>
              <p:cNvPr id="86" name="!!L_e"/>
              <p:cNvSpPr txBox="1"/>
              <p:nvPr/>
            </p:nvSpPr>
            <p:spPr>
              <a:xfrm>
                <a:off x="1508760" y="5687568"/>
                <a:ext cx="731520" cy="292608"/>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300" i="1">
                              <a:solidFill>
                                <a:srgbClr val="1F5E2E"/>
                              </a:solidFill>
                              <a:latin typeface="Cambria Math" panose="02040503050406030204" pitchFamily="18" charset="0"/>
                            </a:rPr>
                          </m:ctrlPr>
                        </m:sSubPr>
                        <m:e>
                          <m:r>
                            <a:rPr lang="en-US" sz="1300" i="1">
                              <a:solidFill>
                                <a:srgbClr val="1F5E2E"/>
                              </a:solidFill>
                              <a:latin typeface="Cambria Math" panose="02040503050406030204" pitchFamily="18" charset="0"/>
                            </a:rPr>
                            <m:t>𝐿</m:t>
                          </m:r>
                        </m:e>
                        <m:sub>
                          <m:r>
                            <a:rPr lang="en-US" sz="1300" i="1">
                              <a:solidFill>
                                <a:srgbClr val="1F5E2E"/>
                              </a:solidFill>
                              <a:latin typeface="Cambria Math" panose="02040503050406030204" pitchFamily="18" charset="0"/>
                            </a:rPr>
                            <m:t>𝑒</m:t>
                          </m:r>
                        </m:sub>
                      </m:sSub>
                    </m:oMath>
                  </m:oMathPara>
                </a14:m>
                <a:endParaRPr lang="en-US" sz="1300" dirty="0"/>
              </a:p>
            </p:txBody>
          </p:sp>
        </mc:Choice>
        <mc:Fallback xmlns="">
          <p:sp>
            <p:nvSpPr>
              <p:cNvPr id="86" name="!!L_e"/>
              <p:cNvSpPr txBox="1"/>
              <p:nvPr/>
            </p:nvSpPr>
            <p:spPr>
              <a:xfrm>
                <a:off x="1508760" y="5687568"/>
                <a:ext cx="731520" cy="292608"/>
              </a:xfrm>
              <a:prstGeom prst="rect">
                <a:avLst/>
              </a:prstGeom>
              <a:blipFill>
                <a:blip r:embed="rIdEq35"/>
                <a:stretch>
                  <a:fillRect/>
                </a:stretch>
              </a:blipFill>
              <a:ln/>
            </p:spPr>
            <p:txBody>
              <a:bodyPr wrap="square" lIns="0" tIns="0" rIns="0" bIns="0" rtlCol="0" anchor="ctr"/>
              <a:lstStyle/>
              <a:p>
                <a:endParaRPr lang="en-US" dirty="0"/>
              </a:p>
            </p:txBody>
          </p:sp>
        </mc:Fallback>
      </mc:AlternateContent>
      <p:sp>
        <p:nvSpPr>
          <p:cNvPr id="87" name="!!Lpill_mu"/>
          <p:cNvSpPr/>
          <p:nvPr/>
        </p:nvSpPr>
        <p:spPr>
          <a:xfrm>
            <a:off x="2697480" y="5687568"/>
            <a:ext cx="731520" cy="292608"/>
          </a:xfrm>
          <a:prstGeom prst="roundRect">
            <a:avLst>
              <a:gd name="adj" fmla="val 50000"/>
            </a:avLst>
          </a:prstGeom>
          <a:solidFill>
            <a:srgbClr val="FFFFFF"/>
          </a:solidFill>
          <a:ln w="15875">
            <a:solidFill>
              <a:srgbClr val="1F5E2E"/>
            </a:solidFill>
            <a:prstDash val="solid"/>
          </a:ln>
        </p:spPr>
        <p:txBody>
          <a:bodyPr/>
          <a:lstStyle/>
          <a:p>
            <a:endParaRPr lang="en-US"/>
          </a:p>
        </p:txBody>
      </p:sp>
      <mc:AlternateContent xmlns:mc="http://schemas.openxmlformats.org/markup-compatibility/2006" xmlns:a14="http://schemas.microsoft.com/office/drawing/2010/main">
        <mc:Choice Requires="a14">
          <p:sp>
            <p:nvSpPr>
              <p:cNvPr id="88" name="!!L_mu"/>
              <p:cNvSpPr txBox="1"/>
              <p:nvPr/>
            </p:nvSpPr>
            <p:spPr>
              <a:xfrm>
                <a:off x="2697480" y="5687568"/>
                <a:ext cx="731520" cy="292608"/>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300" i="1">
                              <a:solidFill>
                                <a:srgbClr val="1F5E2E"/>
                              </a:solidFill>
                              <a:latin typeface="Cambria Math" panose="02040503050406030204" pitchFamily="18" charset="0"/>
                            </a:rPr>
                          </m:ctrlPr>
                        </m:sSubPr>
                        <m:e>
                          <m:r>
                            <a:rPr lang="en-US" sz="1300" i="1">
                              <a:solidFill>
                                <a:srgbClr val="1F5E2E"/>
                              </a:solidFill>
                              <a:latin typeface="Cambria Math" panose="02040503050406030204" pitchFamily="18" charset="0"/>
                            </a:rPr>
                            <m:t>𝐿</m:t>
                          </m:r>
                        </m:e>
                        <m:sub>
                          <m:r>
                            <a:rPr lang="en-US" sz="1300" i="1">
                              <a:solidFill>
                                <a:srgbClr val="1F5E2E"/>
                              </a:solidFill>
                              <a:latin typeface="Cambria Math" panose="02040503050406030204" pitchFamily="18" charset="0"/>
                            </a:rPr>
                            <m:t>𝜇</m:t>
                          </m:r>
                        </m:sub>
                      </m:sSub>
                    </m:oMath>
                  </m:oMathPara>
                </a14:m>
                <a:endParaRPr lang="en-US" sz="1300" dirty="0"/>
              </a:p>
            </p:txBody>
          </p:sp>
        </mc:Choice>
        <mc:Fallback xmlns="">
          <p:sp>
            <p:nvSpPr>
              <p:cNvPr id="88" name="!!L_mu"/>
              <p:cNvSpPr txBox="1"/>
              <p:nvPr/>
            </p:nvSpPr>
            <p:spPr>
              <a:xfrm>
                <a:off x="2697480" y="5687568"/>
                <a:ext cx="731520" cy="292608"/>
              </a:xfrm>
              <a:prstGeom prst="rect">
                <a:avLst/>
              </a:prstGeom>
              <a:blipFill>
                <a:blip r:embed="rIdEq36"/>
                <a:stretch>
                  <a:fillRect/>
                </a:stretch>
              </a:blipFill>
              <a:ln/>
            </p:spPr>
            <p:txBody>
              <a:bodyPr wrap="square" lIns="0" tIns="0" rIns="0" bIns="0" rtlCol="0" anchor="ctr"/>
              <a:lstStyle/>
              <a:p>
                <a:endParaRPr lang="en-US" dirty="0"/>
              </a:p>
            </p:txBody>
          </p:sp>
        </mc:Fallback>
      </mc:AlternateContent>
      <p:sp>
        <p:nvSpPr>
          <p:cNvPr id="89" name="!!Lpill_tau"/>
          <p:cNvSpPr/>
          <p:nvPr/>
        </p:nvSpPr>
        <p:spPr>
          <a:xfrm>
            <a:off x="3886200" y="5687568"/>
            <a:ext cx="731520" cy="292608"/>
          </a:xfrm>
          <a:prstGeom prst="roundRect">
            <a:avLst>
              <a:gd name="adj" fmla="val 50000"/>
            </a:avLst>
          </a:prstGeom>
          <a:solidFill>
            <a:srgbClr val="FFFFFF"/>
          </a:solidFill>
          <a:ln w="15875">
            <a:solidFill>
              <a:srgbClr val="1F5E2E"/>
            </a:solidFill>
            <a:prstDash val="solid"/>
          </a:ln>
        </p:spPr>
        <p:txBody>
          <a:bodyPr/>
          <a:lstStyle/>
          <a:p>
            <a:endParaRPr lang="en-US"/>
          </a:p>
        </p:txBody>
      </p:sp>
      <mc:AlternateContent xmlns:mc="http://schemas.openxmlformats.org/markup-compatibility/2006" xmlns:a14="http://schemas.microsoft.com/office/drawing/2010/main">
        <mc:Choice Requires="a14">
          <p:sp>
            <p:nvSpPr>
              <p:cNvPr id="90" name="!!L_tau"/>
              <p:cNvSpPr txBox="1"/>
              <p:nvPr/>
            </p:nvSpPr>
            <p:spPr>
              <a:xfrm>
                <a:off x="3886200" y="5687568"/>
                <a:ext cx="731520" cy="292608"/>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300" i="1">
                              <a:solidFill>
                                <a:srgbClr val="1F5E2E"/>
                              </a:solidFill>
                              <a:latin typeface="Cambria Math" panose="02040503050406030204" pitchFamily="18" charset="0"/>
                            </a:rPr>
                          </m:ctrlPr>
                        </m:sSubPr>
                        <m:e>
                          <m:r>
                            <a:rPr lang="en-US" sz="1300" i="1">
                              <a:solidFill>
                                <a:srgbClr val="1F5E2E"/>
                              </a:solidFill>
                              <a:latin typeface="Cambria Math" panose="02040503050406030204" pitchFamily="18" charset="0"/>
                            </a:rPr>
                            <m:t>𝐿</m:t>
                          </m:r>
                        </m:e>
                        <m:sub>
                          <m:r>
                            <a:rPr lang="en-US" sz="1300" i="1">
                              <a:solidFill>
                                <a:srgbClr val="1F5E2E"/>
                              </a:solidFill>
                              <a:latin typeface="Cambria Math" panose="02040503050406030204" pitchFamily="18" charset="0"/>
                            </a:rPr>
                            <m:t>𝜏</m:t>
                          </m:r>
                        </m:sub>
                      </m:sSub>
                    </m:oMath>
                  </m:oMathPara>
                </a14:m>
                <a:endParaRPr lang="en-US" sz="1300" dirty="0"/>
              </a:p>
            </p:txBody>
          </p:sp>
        </mc:Choice>
        <mc:Fallback xmlns="">
          <p:sp>
            <p:nvSpPr>
              <p:cNvPr id="90" name="!!L_tau"/>
              <p:cNvSpPr txBox="1"/>
              <p:nvPr/>
            </p:nvSpPr>
            <p:spPr>
              <a:xfrm>
                <a:off x="3886200" y="5687568"/>
                <a:ext cx="731520" cy="292608"/>
              </a:xfrm>
              <a:prstGeom prst="rect">
                <a:avLst/>
              </a:prstGeom>
              <a:blipFill>
                <a:blip r:embed="rIdEq37"/>
                <a:stretch>
                  <a:fillRect/>
                </a:stretch>
              </a:blipFill>
              <a:ln/>
            </p:spPr>
            <p:txBody>
              <a:bodyPr wrap="square" lIns="0" tIns="0" rIns="0" bIns="0" rtlCol="0" anchor="ctr"/>
              <a:lstStyle/>
              <a:p>
                <a:endParaRPr lang="en-US" dirty="0"/>
              </a:p>
            </p:txBody>
          </p:sp>
        </mc:Fallback>
      </mc:AlternateContent>
      <p:sp>
        <p:nvSpPr>
          <p:cNvPr id="91" name="!!Llabel"/>
          <p:cNvSpPr txBox="1"/>
          <p:nvPr/>
        </p:nvSpPr>
        <p:spPr>
          <a:xfrm>
            <a:off x="1325880" y="6016752"/>
            <a:ext cx="3474720" cy="228600"/>
          </a:xfrm>
          <a:prstGeom prst="rect">
            <a:avLst/>
          </a:prstGeom>
          <a:noFill/>
          <a:ln/>
        </p:spPr>
        <p:txBody>
          <a:bodyPr wrap="square" lIns="0" tIns="0" rIns="0" bIns="0" rtlCol="0" anchor="ctr"/>
          <a:lstStyle/>
          <a:p>
            <a:pPr marL="0" indent="0" algn="ctr">
              <a:buNone/>
            </a:pPr>
            <a:r>
              <a:rPr lang="en-US" sz="1100" i="1" dirty="0">
                <a:solidFill>
                  <a:srgbClr val="1F5E2E"/>
                </a:solidFill>
                <a:latin typeface="Calibri" pitchFamily="34" charset="0"/>
                <a:ea typeface="Calibri" pitchFamily="34" charset="-122"/>
                <a:cs typeface="Calibri" pitchFamily="34" charset="-120"/>
              </a:rPr>
              <a:t>Lepton flavor numbers</a:t>
            </a:r>
            <a:endParaRPr lang="en-US" sz="1100" dirty="0"/>
          </a:p>
        </p:txBody>
      </p:sp>
      <p:sp>
        <p:nvSpPr>
          <p:cNvPr id="92" name="!!panel"/>
          <p:cNvSpPr/>
          <p:nvPr/>
        </p:nvSpPr>
        <p:spPr>
          <a:xfrm>
            <a:off x="7635240" y="1828800"/>
            <a:ext cx="4069080" cy="4224528"/>
          </a:xfrm>
          <a:prstGeom prst="roundRect">
            <a:avLst>
              <a:gd name="adj" fmla="val 2247"/>
            </a:avLst>
          </a:prstGeom>
          <a:solidFill>
            <a:srgbClr val="F4F0F0"/>
          </a:solidFill>
          <a:ln/>
        </p:spPr>
        <p:txBody>
          <a:bodyPr/>
          <a:lstStyle/>
          <a:p>
            <a:endParaRPr lang="en-US"/>
          </a:p>
        </p:txBody>
      </p:sp>
      <p:sp>
        <p:nvSpPr>
          <p:cNvPr id="93" name="Text 91"/>
          <p:cNvSpPr txBox="1"/>
          <p:nvPr/>
        </p:nvSpPr>
        <p:spPr>
          <a:xfrm>
            <a:off x="7836408" y="1965960"/>
            <a:ext cx="3703320" cy="274320"/>
          </a:xfrm>
          <a:prstGeom prst="rect">
            <a:avLst/>
          </a:prstGeom>
          <a:noFill/>
          <a:ln/>
        </p:spPr>
        <p:txBody>
          <a:bodyPr wrap="square" lIns="0" tIns="0" rIns="0" bIns="0" rtlCol="0" anchor="ctr"/>
          <a:lstStyle/>
          <a:p>
            <a:pPr marL="0" indent="0">
              <a:buNone/>
            </a:pPr>
            <a:r>
              <a:rPr lang="en-US" sz="1300" b="1" dirty="0">
                <a:solidFill>
                  <a:srgbClr val="4B2A7B"/>
                </a:solidFill>
                <a:latin typeface="Calibri" pitchFamily="34" charset="0"/>
                <a:ea typeface="Calibri" pitchFamily="34" charset="-122"/>
                <a:cs typeface="Calibri" pitchFamily="34" charset="-120"/>
              </a:rPr>
              <a:t>Matter particles: fermions</a:t>
            </a:r>
            <a:endParaRPr lang="en-US" sz="1300" dirty="0"/>
          </a:p>
        </p:txBody>
      </p:sp>
      <p:sp>
        <p:nvSpPr>
          <p:cNvPr id="94" name="Text 92"/>
          <p:cNvSpPr txBox="1"/>
          <p:nvPr/>
        </p:nvSpPr>
        <p:spPr>
          <a:xfrm>
            <a:off x="7836408" y="2258568"/>
            <a:ext cx="3703320" cy="530352"/>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Quarks, with positive and negative charge</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Leptons, charged and uncharged</a:t>
            </a:r>
            <a:endParaRPr lang="en-US" sz="1200" dirty="0"/>
          </a:p>
        </p:txBody>
      </p:sp>
      <p:sp>
        <p:nvSpPr>
          <p:cNvPr id="95" name="Text 93"/>
          <p:cNvSpPr txBox="1"/>
          <p:nvPr/>
        </p:nvSpPr>
        <p:spPr>
          <a:xfrm>
            <a:off x="7836408" y="2898648"/>
            <a:ext cx="3703320" cy="274320"/>
          </a:xfrm>
          <a:prstGeom prst="rect">
            <a:avLst/>
          </a:prstGeom>
          <a:noFill/>
          <a:ln/>
        </p:spPr>
        <p:txBody>
          <a:bodyPr wrap="square" lIns="0" tIns="0" rIns="0" bIns="0" rtlCol="0" anchor="ctr"/>
          <a:lstStyle/>
          <a:p>
            <a:pPr marL="0" indent="0">
              <a:buNone/>
            </a:pPr>
            <a:r>
              <a:rPr lang="en-US" sz="1300" b="1" dirty="0">
                <a:solidFill>
                  <a:srgbClr val="9A3412"/>
                </a:solidFill>
                <a:latin typeface="Calibri" pitchFamily="34" charset="0"/>
                <a:ea typeface="Calibri" pitchFamily="34" charset="-122"/>
                <a:cs typeface="Calibri" pitchFamily="34" charset="-120"/>
              </a:rPr>
              <a:t>Interaction particles: bosons</a:t>
            </a:r>
            <a:endParaRPr lang="en-US" sz="1300" dirty="0"/>
          </a:p>
        </p:txBody>
      </p:sp>
      <p:sp>
        <p:nvSpPr>
          <p:cNvPr id="96" name="Text 94"/>
          <p:cNvSpPr txBox="1"/>
          <p:nvPr/>
        </p:nvSpPr>
        <p:spPr>
          <a:xfrm>
            <a:off x="7836408" y="3191256"/>
            <a:ext cx="3703320" cy="530352"/>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Gluons, photon, Z and W bosons carry the forces</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Higgs boson, responsible for masses</a:t>
            </a:r>
            <a:endParaRPr lang="en-US" sz="1200" dirty="0"/>
          </a:p>
        </p:txBody>
      </p:sp>
      <p:sp>
        <p:nvSpPr>
          <p:cNvPr id="97" name="Text 95"/>
          <p:cNvSpPr txBox="1"/>
          <p:nvPr/>
        </p:nvSpPr>
        <p:spPr>
          <a:xfrm>
            <a:off x="7836408" y="3831336"/>
            <a:ext cx="3703320" cy="274320"/>
          </a:xfrm>
          <a:prstGeom prst="rect">
            <a:avLst/>
          </a:prstGeom>
          <a:noFill/>
          <a:ln/>
        </p:spPr>
        <p:txBody>
          <a:bodyPr wrap="square" lIns="0" tIns="0" rIns="0" bIns="0" rtlCol="0" anchor="ctr"/>
          <a:lstStyle/>
          <a:p>
            <a:pPr marL="0" indent="0">
              <a:buNone/>
            </a:pPr>
            <a:r>
              <a:rPr lang="en-US" sz="1300" b="1" dirty="0">
                <a:solidFill>
                  <a:srgbClr val="1F5E2E"/>
                </a:solidFill>
                <a:latin typeface="Calibri" pitchFamily="34" charset="0"/>
                <a:ea typeface="Calibri" pitchFamily="34" charset="-122"/>
                <a:cs typeface="Calibri" pitchFamily="34" charset="-120"/>
              </a:rPr>
              <a:t>Flavor</a:t>
            </a:r>
            <a:endParaRPr lang="en-US" sz="1300" dirty="0"/>
          </a:p>
        </p:txBody>
      </p:sp>
      <mc:AlternateContent xmlns:mc="http://schemas.openxmlformats.org/markup-compatibility/2006">
        <mc:Choice xmlns:a14="http://schemas.microsoft.com/office/drawing/2010/main" Requires="a14">
          <p:sp>
            <p:nvSpPr>
              <p:cNvPr id="98" name="Text 96"/>
              <p:cNvSpPr txBox="1"/>
              <p:nvPr/>
            </p:nvSpPr>
            <p:spPr>
              <a:xfrm>
                <a:off x="7836408" y="4123944"/>
                <a:ext cx="3703320" cy="7772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Distinguishing quantum numbers of matter particles</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Quarks: </a:t>
                </a:r>
                <a14:m>
                  <m:oMath xmlns:m="http://schemas.openxmlformats.org/officeDocument/2006/math">
                    <m:r>
                      <a:rPr lang="en-US" sz="1200" i="1" dirty="0" smtClean="0">
                        <a:solidFill>
                          <a:srgbClr val="333333"/>
                        </a:solidFill>
                        <a:latin typeface="Cambria Math" panose="02040503050406030204" pitchFamily="18" charset="0"/>
                        <a:ea typeface="Calibri" pitchFamily="34" charset="-122"/>
                        <a:cs typeface="Calibri" pitchFamily="34" charset="-120"/>
                      </a:rPr>
                      <m:t>𝑢</m:t>
                    </m:r>
                    <m:r>
                      <a:rPr lang="en-US" sz="1200" i="1" dirty="0" smtClean="0">
                        <a:solidFill>
                          <a:srgbClr val="333333"/>
                        </a:solidFill>
                        <a:latin typeface="Cambria Math" panose="02040503050406030204" pitchFamily="18" charset="0"/>
                        <a:ea typeface="Calibri" pitchFamily="34" charset="-122"/>
                        <a:cs typeface="Calibri" pitchFamily="34" charset="-120"/>
                      </a:rPr>
                      <m:t>, </m:t>
                    </m:r>
                    <m:r>
                      <a:rPr lang="en-US" sz="1200" i="1" dirty="0" smtClean="0">
                        <a:solidFill>
                          <a:srgbClr val="333333"/>
                        </a:solidFill>
                        <a:latin typeface="Cambria Math" panose="02040503050406030204" pitchFamily="18" charset="0"/>
                        <a:ea typeface="Calibri" pitchFamily="34" charset="-122"/>
                        <a:cs typeface="Calibri" pitchFamily="34" charset="-120"/>
                      </a:rPr>
                      <m:t>𝑐</m:t>
                    </m:r>
                    <m:r>
                      <a:rPr lang="en-US" sz="1200" i="1" dirty="0" smtClean="0">
                        <a:solidFill>
                          <a:srgbClr val="333333"/>
                        </a:solidFill>
                        <a:latin typeface="Cambria Math" panose="02040503050406030204" pitchFamily="18" charset="0"/>
                        <a:ea typeface="Calibri" pitchFamily="34" charset="-122"/>
                        <a:cs typeface="Calibri" pitchFamily="34" charset="-120"/>
                      </a:rPr>
                      <m:t>, </m:t>
                    </m:r>
                    <m:r>
                      <a:rPr lang="en-US" sz="1200" i="1" dirty="0" smtClean="0">
                        <a:solidFill>
                          <a:srgbClr val="333333"/>
                        </a:solidFill>
                        <a:latin typeface="Cambria Math" panose="02040503050406030204" pitchFamily="18" charset="0"/>
                        <a:ea typeface="Calibri" pitchFamily="34" charset="-122"/>
                        <a:cs typeface="Calibri" pitchFamily="34" charset="-120"/>
                      </a:rPr>
                      <m:t>𝑡</m:t>
                    </m:r>
                    <m:r>
                      <a:rPr lang="en-US" sz="1200" i="1" dirty="0" smtClean="0">
                        <a:solidFill>
                          <a:srgbClr val="333333"/>
                        </a:solidFill>
                        <a:latin typeface="Cambria Math" panose="02040503050406030204" pitchFamily="18" charset="0"/>
                        <a:ea typeface="Calibri" pitchFamily="34" charset="-122"/>
                        <a:cs typeface="Calibri" pitchFamily="34" charset="-120"/>
                      </a:rPr>
                      <m:t> (+2/3) </m:t>
                    </m:r>
                  </m:oMath>
                </a14:m>
                <a:r>
                  <a:rPr lang="en-US" sz="1200" dirty="0">
                    <a:solidFill>
                      <a:srgbClr val="333333"/>
                    </a:solidFill>
                    <a:latin typeface="Calibri" pitchFamily="34" charset="0"/>
                    <a:ea typeface="Calibri" pitchFamily="34" charset="-122"/>
                    <a:cs typeface="Calibri" pitchFamily="34" charset="-120"/>
                  </a:rPr>
                  <a:t>and </a:t>
                </a:r>
                <a14:m>
                  <m:oMath xmlns:m="http://schemas.openxmlformats.org/officeDocument/2006/math">
                    <m:r>
                      <a:rPr lang="en-US" sz="1200" i="1" dirty="0" smtClean="0">
                        <a:solidFill>
                          <a:srgbClr val="333333"/>
                        </a:solidFill>
                        <a:latin typeface="Cambria Math" panose="02040503050406030204" pitchFamily="18" charset="0"/>
                        <a:ea typeface="Calibri" pitchFamily="34" charset="-122"/>
                        <a:cs typeface="Calibri" pitchFamily="34" charset="-120"/>
                      </a:rPr>
                      <m:t>𝑑</m:t>
                    </m:r>
                    <m:r>
                      <a:rPr lang="en-US" sz="1200" i="1" dirty="0" smtClean="0">
                        <a:solidFill>
                          <a:srgbClr val="333333"/>
                        </a:solidFill>
                        <a:latin typeface="Cambria Math" panose="02040503050406030204" pitchFamily="18" charset="0"/>
                        <a:ea typeface="Calibri" pitchFamily="34" charset="-122"/>
                        <a:cs typeface="Calibri" pitchFamily="34" charset="-120"/>
                      </a:rPr>
                      <m:t>, </m:t>
                    </m:r>
                    <m:r>
                      <a:rPr lang="en-US" sz="1200" i="1" dirty="0" smtClean="0">
                        <a:solidFill>
                          <a:srgbClr val="333333"/>
                        </a:solidFill>
                        <a:latin typeface="Cambria Math" panose="02040503050406030204" pitchFamily="18" charset="0"/>
                        <a:ea typeface="Calibri" pitchFamily="34" charset="-122"/>
                        <a:cs typeface="Calibri" pitchFamily="34" charset="-120"/>
                      </a:rPr>
                      <m:t>𝑠</m:t>
                    </m:r>
                    <m:r>
                      <a:rPr lang="en-US" sz="1200" i="1" dirty="0" smtClean="0">
                        <a:solidFill>
                          <a:srgbClr val="333333"/>
                        </a:solidFill>
                        <a:latin typeface="Cambria Math" panose="02040503050406030204" pitchFamily="18" charset="0"/>
                        <a:ea typeface="Calibri" pitchFamily="34" charset="-122"/>
                        <a:cs typeface="Calibri" pitchFamily="34" charset="-120"/>
                      </a:rPr>
                      <m:t>, </m:t>
                    </m:r>
                    <m:r>
                      <a:rPr lang="en-US" sz="1200" i="1" dirty="0" smtClean="0">
                        <a:solidFill>
                          <a:srgbClr val="333333"/>
                        </a:solidFill>
                        <a:latin typeface="Cambria Math" panose="02040503050406030204" pitchFamily="18" charset="0"/>
                        <a:ea typeface="Calibri" pitchFamily="34" charset="-122"/>
                        <a:cs typeface="Calibri" pitchFamily="34" charset="-120"/>
                      </a:rPr>
                      <m:t>𝑏</m:t>
                    </m:r>
                    <m:r>
                      <a:rPr lang="en-US" sz="1200" i="1" dirty="0" smtClean="0">
                        <a:solidFill>
                          <a:srgbClr val="333333"/>
                        </a:solidFill>
                        <a:latin typeface="Cambria Math" panose="02040503050406030204" pitchFamily="18" charset="0"/>
                        <a:ea typeface="Calibri" pitchFamily="34" charset="-122"/>
                        <a:cs typeface="Calibri" pitchFamily="34" charset="-120"/>
                      </a:rPr>
                      <m:t> (−1/3)</m:t>
                    </m:r>
                  </m:oMath>
                </a14:m>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Leptons: </a:t>
                </a:r>
                <a14:m>
                  <m:oMath xmlns:m="http://schemas.openxmlformats.org/officeDocument/2006/math">
                    <m:r>
                      <a:rPr lang="en-US" sz="1200" i="1" dirty="0" smtClean="0">
                        <a:solidFill>
                          <a:srgbClr val="333333"/>
                        </a:solidFill>
                        <a:latin typeface="Cambria Math" panose="02040503050406030204" pitchFamily="18" charset="0"/>
                        <a:ea typeface="Calibri" pitchFamily="34" charset="-122"/>
                        <a:cs typeface="Calibri" pitchFamily="34" charset="-120"/>
                      </a:rPr>
                      <m:t>𝑒</m:t>
                    </m:r>
                    <m:r>
                      <a:rPr lang="en-US" sz="1200" i="1" dirty="0" smtClean="0">
                        <a:solidFill>
                          <a:srgbClr val="333333"/>
                        </a:solidFill>
                        <a:latin typeface="Cambria Math" panose="02040503050406030204" pitchFamily="18" charset="0"/>
                        <a:ea typeface="Calibri" pitchFamily="34" charset="-122"/>
                        <a:cs typeface="Calibri" pitchFamily="34" charset="-120"/>
                      </a:rPr>
                      <m:t>, </m:t>
                    </m:r>
                    <m:r>
                      <a:rPr lang="en-US" sz="1200" i="1" dirty="0" smtClean="0">
                        <a:solidFill>
                          <a:srgbClr val="333333"/>
                        </a:solidFill>
                        <a:latin typeface="Cambria Math" panose="02040503050406030204" pitchFamily="18" charset="0"/>
                        <a:ea typeface="Calibri" pitchFamily="34" charset="-122"/>
                        <a:cs typeface="Calibri" pitchFamily="34" charset="-120"/>
                      </a:rPr>
                      <m:t>𝜇</m:t>
                    </m:r>
                    <m:r>
                      <a:rPr lang="en-US" sz="1200" i="1" dirty="0" smtClean="0">
                        <a:solidFill>
                          <a:srgbClr val="333333"/>
                        </a:solidFill>
                        <a:latin typeface="Cambria Math" panose="02040503050406030204" pitchFamily="18" charset="0"/>
                        <a:ea typeface="Calibri" pitchFamily="34" charset="-122"/>
                        <a:cs typeface="Calibri" pitchFamily="34" charset="-120"/>
                      </a:rPr>
                      <m:t>, </m:t>
                    </m:r>
                    <m:r>
                      <a:rPr lang="en-US" sz="1200" i="1" dirty="0" smtClean="0">
                        <a:solidFill>
                          <a:srgbClr val="333333"/>
                        </a:solidFill>
                        <a:latin typeface="Cambria Math" panose="02040503050406030204" pitchFamily="18" charset="0"/>
                        <a:ea typeface="Calibri" pitchFamily="34" charset="-122"/>
                        <a:cs typeface="Calibri" pitchFamily="34" charset="-120"/>
                      </a:rPr>
                      <m:t>𝜏</m:t>
                    </m:r>
                    <m:r>
                      <a:rPr lang="en-US" sz="1200" i="1" dirty="0" smtClean="0">
                        <a:solidFill>
                          <a:srgbClr val="333333"/>
                        </a:solidFill>
                        <a:latin typeface="Cambria Math" panose="02040503050406030204" pitchFamily="18" charset="0"/>
                        <a:ea typeface="Calibri" pitchFamily="34" charset="-122"/>
                        <a:cs typeface="Calibri" pitchFamily="34" charset="-120"/>
                      </a:rPr>
                      <m:t> </m:t>
                    </m:r>
                  </m:oMath>
                </a14:m>
                <a:r>
                  <a:rPr lang="en-US" sz="1200" dirty="0">
                    <a:solidFill>
                      <a:srgbClr val="333333"/>
                    </a:solidFill>
                    <a:latin typeface="Calibri" pitchFamily="34" charset="0"/>
                    <a:ea typeface="Calibri" pitchFamily="34" charset="-122"/>
                    <a:cs typeface="Calibri" pitchFamily="34" charset="-120"/>
                  </a:rPr>
                  <a:t>and their neutrinos</a:t>
                </a:r>
                <a:endParaRPr lang="en-US" sz="1200" dirty="0"/>
              </a:p>
            </p:txBody>
          </p:sp>
        </mc:Choice>
        <mc:Fallback>
          <p:sp>
            <p:nvSpPr>
              <p:cNvPr id="98" name="Text 96"/>
              <p:cNvSpPr txBox="1">
                <a:spLocks noRot="1" noChangeAspect="1" noMove="1" noResize="1" noEditPoints="1" noAdjustHandles="1" noChangeArrowheads="1" noChangeShapeType="1" noTextEdit="1"/>
              </p:cNvSpPr>
              <p:nvPr/>
            </p:nvSpPr>
            <p:spPr>
              <a:xfrm>
                <a:off x="7836408" y="4123944"/>
                <a:ext cx="3703320" cy="777240"/>
              </a:xfrm>
              <a:prstGeom prst="rect">
                <a:avLst/>
              </a:prstGeom>
              <a:blipFill>
                <a:blip r:embed="rId3"/>
                <a:stretch>
                  <a:fillRect l="-2740" t="-6452"/>
                </a:stretch>
              </a:blipFill>
              <a:ln/>
            </p:spPr>
            <p:txBody>
              <a:bodyPr/>
              <a:lstStyle/>
              <a:p>
                <a:r>
                  <a:rPr lang="en-US">
                    <a:noFill/>
                  </a:rPr>
                  <a:t> </a:t>
                </a:r>
              </a:p>
            </p:txBody>
          </p:sp>
        </mc:Fallback>
      </mc:AlternateContent>
      <p:sp>
        <p:nvSpPr>
          <p:cNvPr id="99" name="Text 97"/>
          <p:cNvSpPr txBox="1"/>
          <p:nvPr/>
        </p:nvSpPr>
        <p:spPr>
          <a:xfrm>
            <a:off x="7836408" y="5010912"/>
            <a:ext cx="3703320" cy="274320"/>
          </a:xfrm>
          <a:prstGeom prst="rect">
            <a:avLst/>
          </a:prstGeom>
          <a:noFill/>
          <a:ln/>
        </p:spPr>
        <p:txBody>
          <a:bodyPr wrap="square" lIns="0" tIns="0" rIns="0" bIns="0" rtlCol="0" anchor="ctr"/>
          <a:lstStyle/>
          <a:p>
            <a:pPr marL="0" indent="0">
              <a:buNone/>
            </a:pPr>
            <a:r>
              <a:rPr lang="en-US" sz="1300" b="1" dirty="0">
                <a:solidFill>
                  <a:srgbClr val="73000A"/>
                </a:solidFill>
                <a:latin typeface="Calibri" pitchFamily="34" charset="0"/>
                <a:ea typeface="Calibri" pitchFamily="34" charset="-122"/>
                <a:cs typeface="Calibri" pitchFamily="34" charset="-120"/>
              </a:rPr>
              <a:t>Symmetries</a:t>
            </a:r>
            <a:endParaRPr lang="en-US" sz="1300" dirty="0"/>
          </a:p>
        </p:txBody>
      </p:sp>
      <p:sp>
        <p:nvSpPr>
          <p:cNvPr id="100" name="Text 98"/>
          <p:cNvSpPr txBox="1"/>
          <p:nvPr/>
        </p:nvSpPr>
        <p:spPr>
          <a:xfrm>
            <a:off x="7836408" y="5303520"/>
            <a:ext cx="3703320" cy="530352"/>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Required: the gauge group symmetries</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Accidental: baryon number, lepton number, lepton flavor number</a:t>
            </a:r>
            <a:endParaRPr lang="en-US" sz="1200" dirty="0"/>
          </a:p>
        </p:txBody>
      </p:sp>
      <p:sp>
        <p:nvSpPr>
          <p:cNvPr id="101" name="Shape 99"/>
          <p:cNvSpPr/>
          <p:nvPr/>
        </p:nvSpPr>
        <p:spPr>
          <a:xfrm>
            <a:off x="5166360" y="5733288"/>
            <a:ext cx="201168" cy="182880"/>
          </a:xfrm>
          <a:prstGeom prst="roundRect">
            <a:avLst>
              <a:gd name="adj" fmla="val 20000"/>
            </a:avLst>
          </a:prstGeom>
          <a:solidFill>
            <a:srgbClr val="EEE6F6"/>
          </a:solidFill>
          <a:ln w="12700">
            <a:solidFill>
              <a:srgbClr val="B9A3D3"/>
            </a:solidFill>
            <a:prstDash val="solid"/>
          </a:ln>
        </p:spPr>
        <p:txBody>
          <a:bodyPr/>
          <a:lstStyle/>
          <a:p>
            <a:endParaRPr lang="en-US"/>
          </a:p>
        </p:txBody>
      </p:sp>
      <p:sp>
        <p:nvSpPr>
          <p:cNvPr id="102" name="Text 100"/>
          <p:cNvSpPr txBox="1"/>
          <p:nvPr/>
        </p:nvSpPr>
        <p:spPr>
          <a:xfrm>
            <a:off x="5440680" y="5687568"/>
            <a:ext cx="914400" cy="274320"/>
          </a:xfrm>
          <a:prstGeom prst="rect">
            <a:avLst/>
          </a:prstGeom>
          <a:noFill/>
          <a:ln/>
        </p:spPr>
        <p:txBody>
          <a:bodyPr wrap="square" lIns="0" tIns="0" rIns="0" bIns="0" rtlCol="0" anchor="ctr"/>
          <a:lstStyle/>
          <a:p>
            <a:pPr marL="0" indent="0">
              <a:buNone/>
            </a:pPr>
            <a:r>
              <a:rPr lang="en-US" sz="1050" dirty="0">
                <a:solidFill>
                  <a:srgbClr val="5B3A8C"/>
                </a:solidFill>
                <a:latin typeface="Calibri" pitchFamily="34" charset="0"/>
                <a:ea typeface="Calibri" pitchFamily="34" charset="-122"/>
                <a:cs typeface="Calibri" pitchFamily="34" charset="-120"/>
              </a:rPr>
              <a:t>Quarks</a:t>
            </a:r>
            <a:endParaRPr lang="en-US" sz="1050" dirty="0"/>
          </a:p>
        </p:txBody>
      </p:sp>
      <p:sp>
        <p:nvSpPr>
          <p:cNvPr id="103" name="Shape 101"/>
          <p:cNvSpPr/>
          <p:nvPr/>
        </p:nvSpPr>
        <p:spPr>
          <a:xfrm>
            <a:off x="6355080" y="5733288"/>
            <a:ext cx="201168" cy="182880"/>
          </a:xfrm>
          <a:prstGeom prst="roundRect">
            <a:avLst>
              <a:gd name="adj" fmla="val 20000"/>
            </a:avLst>
          </a:prstGeom>
          <a:solidFill>
            <a:srgbClr val="E3F1E6"/>
          </a:solidFill>
          <a:ln w="12700">
            <a:solidFill>
              <a:srgbClr val="9CC9A6"/>
            </a:solidFill>
            <a:prstDash val="solid"/>
          </a:ln>
        </p:spPr>
        <p:txBody>
          <a:bodyPr/>
          <a:lstStyle/>
          <a:p>
            <a:endParaRPr lang="en-US"/>
          </a:p>
        </p:txBody>
      </p:sp>
      <p:sp>
        <p:nvSpPr>
          <p:cNvPr id="104" name="Text 102"/>
          <p:cNvSpPr txBox="1"/>
          <p:nvPr/>
        </p:nvSpPr>
        <p:spPr>
          <a:xfrm>
            <a:off x="6629400" y="5687568"/>
            <a:ext cx="914400" cy="274320"/>
          </a:xfrm>
          <a:prstGeom prst="rect">
            <a:avLst/>
          </a:prstGeom>
          <a:noFill/>
          <a:ln/>
        </p:spPr>
        <p:txBody>
          <a:bodyPr wrap="square" lIns="0" tIns="0" rIns="0" bIns="0" rtlCol="0" anchor="ctr"/>
          <a:lstStyle/>
          <a:p>
            <a:pPr marL="0" indent="0">
              <a:buNone/>
            </a:pPr>
            <a:r>
              <a:rPr lang="en-US" sz="1050" dirty="0">
                <a:solidFill>
                  <a:srgbClr val="2E6B3A"/>
                </a:solidFill>
                <a:latin typeface="Calibri" pitchFamily="34" charset="0"/>
                <a:ea typeface="Calibri" pitchFamily="34" charset="-122"/>
                <a:cs typeface="Calibri" pitchFamily="34" charset="-120"/>
              </a:rPr>
              <a:t>Leptons</a:t>
            </a:r>
            <a:endParaRPr lang="en-US" sz="1050" dirty="0"/>
          </a:p>
        </p:txBody>
      </p:sp>
      <p:sp>
        <p:nvSpPr>
          <p:cNvPr id="105" name="Shape 103"/>
          <p:cNvSpPr/>
          <p:nvPr/>
        </p:nvSpPr>
        <p:spPr>
          <a:xfrm>
            <a:off x="5166360" y="6025896"/>
            <a:ext cx="201168" cy="182880"/>
          </a:xfrm>
          <a:prstGeom prst="roundRect">
            <a:avLst>
              <a:gd name="adj" fmla="val 20000"/>
            </a:avLst>
          </a:prstGeom>
          <a:solidFill>
            <a:srgbClr val="FBE6DC"/>
          </a:solidFill>
          <a:ln w="12700">
            <a:solidFill>
              <a:srgbClr val="E3AE95"/>
            </a:solidFill>
            <a:prstDash val="solid"/>
          </a:ln>
        </p:spPr>
        <p:txBody>
          <a:bodyPr/>
          <a:lstStyle/>
          <a:p>
            <a:endParaRPr lang="en-US"/>
          </a:p>
        </p:txBody>
      </p:sp>
      <p:sp>
        <p:nvSpPr>
          <p:cNvPr id="106" name="Text 104"/>
          <p:cNvSpPr txBox="1"/>
          <p:nvPr/>
        </p:nvSpPr>
        <p:spPr>
          <a:xfrm>
            <a:off x="5440680" y="5980176"/>
            <a:ext cx="914400" cy="274320"/>
          </a:xfrm>
          <a:prstGeom prst="rect">
            <a:avLst/>
          </a:prstGeom>
          <a:noFill/>
          <a:ln/>
        </p:spPr>
        <p:txBody>
          <a:bodyPr wrap="square" lIns="0" tIns="0" rIns="0" bIns="0" rtlCol="0" anchor="ctr"/>
          <a:lstStyle/>
          <a:p>
            <a:pPr marL="0" indent="0">
              <a:buNone/>
            </a:pPr>
            <a:r>
              <a:rPr lang="en-US" sz="1050" dirty="0">
                <a:solidFill>
                  <a:srgbClr val="9A3412"/>
                </a:solidFill>
                <a:latin typeface="Calibri" pitchFamily="34" charset="0"/>
                <a:ea typeface="Calibri" pitchFamily="34" charset="-122"/>
                <a:cs typeface="Calibri" pitchFamily="34" charset="-120"/>
              </a:rPr>
              <a:t>Gauge bosons</a:t>
            </a:r>
            <a:endParaRPr lang="en-US" sz="1050" dirty="0"/>
          </a:p>
        </p:txBody>
      </p:sp>
      <p:sp>
        <p:nvSpPr>
          <p:cNvPr id="107" name="Shape 105"/>
          <p:cNvSpPr/>
          <p:nvPr/>
        </p:nvSpPr>
        <p:spPr>
          <a:xfrm>
            <a:off x="6355080" y="6025896"/>
            <a:ext cx="201168" cy="182880"/>
          </a:xfrm>
          <a:prstGeom prst="roundRect">
            <a:avLst>
              <a:gd name="adj" fmla="val 20000"/>
            </a:avLst>
          </a:prstGeom>
          <a:solidFill>
            <a:srgbClr val="FBF1D3"/>
          </a:solidFill>
          <a:ln w="12700">
            <a:solidFill>
              <a:srgbClr val="E2C979"/>
            </a:solidFill>
            <a:prstDash val="solid"/>
          </a:ln>
        </p:spPr>
        <p:txBody>
          <a:bodyPr/>
          <a:lstStyle/>
          <a:p>
            <a:endParaRPr lang="en-US"/>
          </a:p>
        </p:txBody>
      </p:sp>
      <p:sp>
        <p:nvSpPr>
          <p:cNvPr id="108" name="Text 106"/>
          <p:cNvSpPr txBox="1"/>
          <p:nvPr/>
        </p:nvSpPr>
        <p:spPr>
          <a:xfrm>
            <a:off x="6629400" y="5980176"/>
            <a:ext cx="914400" cy="274320"/>
          </a:xfrm>
          <a:prstGeom prst="rect">
            <a:avLst/>
          </a:prstGeom>
          <a:noFill/>
          <a:ln/>
        </p:spPr>
        <p:txBody>
          <a:bodyPr wrap="square" lIns="0" tIns="0" rIns="0" bIns="0" rtlCol="0" anchor="ctr"/>
          <a:lstStyle/>
          <a:p>
            <a:pPr marL="0" indent="0">
              <a:buNone/>
            </a:pPr>
            <a:r>
              <a:rPr lang="en-US" sz="1050" dirty="0">
                <a:solidFill>
                  <a:srgbClr val="7A5A00"/>
                </a:solidFill>
                <a:latin typeface="Calibri" pitchFamily="34" charset="0"/>
                <a:ea typeface="Calibri" pitchFamily="34" charset="-122"/>
                <a:cs typeface="Calibri" pitchFamily="34" charset="-120"/>
              </a:rPr>
              <a:t>Scalar boson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The Standard Model of Particle Physics</a:t>
            </a:r>
            <a:endParaRPr lang="en-US" sz="1600" dirty="0"/>
          </a:p>
        </p:txBody>
      </p:sp>
      <p:sp>
        <p:nvSpPr>
          <p:cNvPr id="3" name="Text 1"/>
          <p:cNvSpPr txBox="1"/>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Lepton flavor looks conserved, but no gauge symmetry requires it</a:t>
            </a:r>
            <a:endParaRPr lang="en-US" sz="3000" dirty="0"/>
          </a:p>
        </p:txBody>
      </p:sp>
      <p:sp>
        <p:nvSpPr>
          <p:cNvPr id="4" name="!!gen_I"/>
          <p:cNvSpPr txBox="1"/>
          <p:nvPr/>
        </p:nvSpPr>
        <p:spPr>
          <a:xfrm>
            <a:off x="1325880" y="1481328"/>
            <a:ext cx="1097280" cy="274320"/>
          </a:xfrm>
          <a:prstGeom prst="rect">
            <a:avLst/>
          </a:prstGeom>
          <a:noFill/>
          <a:ln/>
        </p:spPr>
        <p:txBody>
          <a:bodyPr wrap="square" lIns="0" tIns="0" rIns="0" bIns="0" rtlCol="0" anchor="ctr"/>
          <a:lstStyle/>
          <a:p>
            <a:pPr marL="0" indent="0" algn="ctr">
              <a:buNone/>
            </a:pPr>
            <a:r>
              <a:rPr lang="en-US" sz="1300" b="1" dirty="0">
                <a:solidFill>
                  <a:srgbClr val="6A6A6A"/>
                </a:solidFill>
                <a:latin typeface="Calibri" pitchFamily="34" charset="0"/>
                <a:ea typeface="Calibri" pitchFamily="34" charset="-122"/>
                <a:cs typeface="Calibri" pitchFamily="34" charset="-120"/>
              </a:rPr>
              <a:t>I</a:t>
            </a:r>
            <a:endParaRPr lang="en-US" sz="1300" dirty="0"/>
          </a:p>
        </p:txBody>
      </p:sp>
      <p:sp>
        <p:nvSpPr>
          <p:cNvPr id="5" name="!!gen_II"/>
          <p:cNvSpPr txBox="1"/>
          <p:nvPr/>
        </p:nvSpPr>
        <p:spPr>
          <a:xfrm>
            <a:off x="2514600" y="1481328"/>
            <a:ext cx="1097280" cy="274320"/>
          </a:xfrm>
          <a:prstGeom prst="rect">
            <a:avLst/>
          </a:prstGeom>
          <a:noFill/>
          <a:ln/>
        </p:spPr>
        <p:txBody>
          <a:bodyPr wrap="square" lIns="0" tIns="0" rIns="0" bIns="0" rtlCol="0" anchor="ctr"/>
          <a:lstStyle/>
          <a:p>
            <a:pPr marL="0" indent="0" algn="ctr">
              <a:buNone/>
            </a:pPr>
            <a:r>
              <a:rPr lang="en-US" sz="1300" b="1" dirty="0">
                <a:solidFill>
                  <a:srgbClr val="6A6A6A"/>
                </a:solidFill>
                <a:latin typeface="Calibri" pitchFamily="34" charset="0"/>
                <a:ea typeface="Calibri" pitchFamily="34" charset="-122"/>
                <a:cs typeface="Calibri" pitchFamily="34" charset="-120"/>
              </a:rPr>
              <a:t>II</a:t>
            </a:r>
            <a:endParaRPr lang="en-US" sz="1300" dirty="0"/>
          </a:p>
        </p:txBody>
      </p:sp>
      <p:sp>
        <p:nvSpPr>
          <p:cNvPr id="6" name="!!gen_III"/>
          <p:cNvSpPr txBox="1"/>
          <p:nvPr/>
        </p:nvSpPr>
        <p:spPr>
          <a:xfrm>
            <a:off x="3703320" y="1481328"/>
            <a:ext cx="1097280" cy="274320"/>
          </a:xfrm>
          <a:prstGeom prst="rect">
            <a:avLst/>
          </a:prstGeom>
          <a:noFill/>
          <a:ln/>
        </p:spPr>
        <p:txBody>
          <a:bodyPr wrap="square" lIns="0" tIns="0" rIns="0" bIns="0" rtlCol="0" anchor="ctr"/>
          <a:lstStyle/>
          <a:p>
            <a:pPr marL="0" indent="0" algn="ctr">
              <a:buNone/>
            </a:pPr>
            <a:r>
              <a:rPr lang="en-US" sz="1300" b="1" dirty="0">
                <a:solidFill>
                  <a:srgbClr val="6A6A6A"/>
                </a:solidFill>
                <a:latin typeface="Calibri" pitchFamily="34" charset="0"/>
                <a:ea typeface="Calibri" pitchFamily="34" charset="-122"/>
                <a:cs typeface="Calibri" pitchFamily="34" charset="-120"/>
              </a:rPr>
              <a:t>III</a:t>
            </a:r>
            <a:endParaRPr lang="en-US" sz="1300" dirty="0"/>
          </a:p>
        </p:txBody>
      </p:sp>
      <p:sp>
        <p:nvSpPr>
          <p:cNvPr id="7" name="!!genlabel"/>
          <p:cNvSpPr txBox="1"/>
          <p:nvPr/>
        </p:nvSpPr>
        <p:spPr>
          <a:xfrm>
            <a:off x="1325880" y="1280160"/>
            <a:ext cx="3474720" cy="228600"/>
          </a:xfrm>
          <a:prstGeom prst="rect">
            <a:avLst/>
          </a:prstGeom>
          <a:noFill/>
          <a:ln/>
        </p:spPr>
        <p:txBody>
          <a:bodyPr wrap="square" lIns="0" tIns="0" rIns="0" bIns="0" rtlCol="0" anchor="ctr"/>
          <a:lstStyle/>
          <a:p>
            <a:pPr marL="0" indent="0" algn="ctr">
              <a:buNone/>
            </a:pPr>
            <a:r>
              <a:rPr lang="en-US" sz="1100" i="1" dirty="0">
                <a:solidFill>
                  <a:srgbClr val="6A6A6A"/>
                </a:solidFill>
                <a:latin typeface="Calibri" pitchFamily="34" charset="0"/>
                <a:ea typeface="Calibri" pitchFamily="34" charset="-122"/>
                <a:cs typeface="Calibri" pitchFamily="34" charset="-120"/>
              </a:rPr>
              <a:t>Generation</a:t>
            </a:r>
            <a:endParaRPr lang="en-US" sz="1100" dirty="0"/>
          </a:p>
        </p:txBody>
      </p:sp>
      <p:sp>
        <p:nvSpPr>
          <p:cNvPr id="8" name="!!boslabel"/>
          <p:cNvSpPr txBox="1"/>
          <p:nvPr/>
        </p:nvSpPr>
        <p:spPr>
          <a:xfrm>
            <a:off x="5166360" y="1481328"/>
            <a:ext cx="2286000" cy="274320"/>
          </a:xfrm>
          <a:prstGeom prst="rect">
            <a:avLst/>
          </a:prstGeom>
          <a:noFill/>
          <a:ln/>
        </p:spPr>
        <p:txBody>
          <a:bodyPr wrap="square" lIns="0" tIns="0" rIns="0" bIns="0" rtlCol="0" anchor="ctr"/>
          <a:lstStyle/>
          <a:p>
            <a:pPr marL="0" indent="0" algn="ctr">
              <a:buNone/>
            </a:pPr>
            <a:r>
              <a:rPr lang="en-US" sz="1300" b="1" dirty="0">
                <a:solidFill>
                  <a:srgbClr val="6A6A6A"/>
                </a:solidFill>
                <a:latin typeface="Calibri" pitchFamily="34" charset="0"/>
                <a:ea typeface="Calibri" pitchFamily="34" charset="-122"/>
                <a:cs typeface="Calibri" pitchFamily="34" charset="-120"/>
              </a:rPr>
              <a:t>Bosons</a:t>
            </a:r>
            <a:endParaRPr lang="en-US" sz="1300" dirty="0"/>
          </a:p>
        </p:txBody>
      </p:sp>
      <p:sp>
        <p:nvSpPr>
          <p:cNvPr id="9" name="!!cell_u"/>
          <p:cNvSpPr/>
          <p:nvPr/>
        </p:nvSpPr>
        <p:spPr>
          <a:xfrm>
            <a:off x="1325880" y="182880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0" name="!!q_u"/>
              <p:cNvSpPr txBox="1"/>
              <p:nvPr/>
            </p:nvSpPr>
            <p:spPr>
              <a:xfrm>
                <a:off x="138988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m:t>
                      </m:r>
                      <m:f>
                        <m:fPr>
                          <m:type m:val="skw"/>
                          <m:ctrlPr>
                            <a:rPr lang="en-US" sz="1100" i="1">
                              <a:solidFill>
                                <a:srgbClr val="9A9A9A"/>
                              </a:solidFill>
                              <a:latin typeface="Cambria Math" panose="02040503050406030204" pitchFamily="18" charset="0"/>
                            </a:rPr>
                          </m:ctrlPr>
                        </m:fPr>
                        <m:num>
                          <m:r>
                            <a:rPr lang="en-US" sz="1100" i="0">
                              <a:solidFill>
                                <a:srgbClr val="9A9A9A"/>
                              </a:solidFill>
                              <a:latin typeface="Cambria Math" panose="02040503050406030204" pitchFamily="18" charset="0"/>
                            </a:rPr>
                            <m:t>2</m:t>
                          </m:r>
                        </m:num>
                        <m:den>
                          <m:r>
                            <a:rPr lang="en-US" sz="1100" i="0">
                              <a:solidFill>
                                <a:srgbClr val="9A9A9A"/>
                              </a:solidFill>
                              <a:latin typeface="Cambria Math" panose="02040503050406030204" pitchFamily="18" charset="0"/>
                            </a:rPr>
                            <m:t>3</m:t>
                          </m:r>
                        </m:den>
                      </m:f>
                    </m:oMath>
                  </m:oMathPara>
                </a14:m>
                <a:endParaRPr lang="en-US" sz="1100" dirty="0"/>
              </a:p>
            </p:txBody>
          </p:sp>
        </mc:Choice>
        <mc:Fallback xmlns="">
          <p:sp>
            <p:nvSpPr>
              <p:cNvPr id="10" name="!!q_u"/>
              <p:cNvSpPr txBox="1"/>
              <p:nvPr/>
            </p:nvSpPr>
            <p:spPr>
              <a:xfrm>
                <a:off x="1389888" y="1865376"/>
                <a:ext cx="969264" cy="237744"/>
              </a:xfrm>
              <a:prstGeom prst="rect">
                <a:avLst/>
              </a:prstGeom>
              <a:blipFill>
                <a:blip r:embed="rIdEq38"/>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11" name="!!sym_u"/>
              <p:cNvSpPr txBox="1"/>
              <p:nvPr/>
            </p:nvSpPr>
            <p:spPr>
              <a:xfrm>
                <a:off x="132588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𝑢</m:t>
                      </m:r>
                    </m:oMath>
                  </m:oMathPara>
                </a14:m>
                <a:endParaRPr lang="en-US" sz="2600" dirty="0"/>
              </a:p>
            </p:txBody>
          </p:sp>
        </mc:Choice>
        <mc:Fallback xmlns="">
          <p:sp>
            <p:nvSpPr>
              <p:cNvPr id="11" name="!!sym_u"/>
              <p:cNvSpPr txBox="1"/>
              <p:nvPr/>
            </p:nvSpPr>
            <p:spPr>
              <a:xfrm>
                <a:off x="1325880" y="2011680"/>
                <a:ext cx="1097280" cy="438912"/>
              </a:xfrm>
              <a:prstGeom prst="rect">
                <a:avLst/>
              </a:prstGeom>
              <a:blipFill>
                <a:blip r:embed="rIdEq39"/>
                <a:stretch>
                  <a:fillRect/>
                </a:stretch>
              </a:blipFill>
              <a:ln/>
            </p:spPr>
            <p:txBody>
              <a:bodyPr wrap="square" lIns="0" tIns="0" rIns="0" bIns="0" rtlCol="0" anchor="ctr"/>
              <a:lstStyle/>
              <a:p>
                <a:endParaRPr lang="en-US" dirty="0"/>
              </a:p>
            </p:txBody>
          </p:sp>
        </mc:Fallback>
      </mc:AlternateContent>
      <p:sp>
        <p:nvSpPr>
          <p:cNvPr id="12" name="!!name_u"/>
          <p:cNvSpPr txBox="1"/>
          <p:nvPr/>
        </p:nvSpPr>
        <p:spPr>
          <a:xfrm>
            <a:off x="1325880" y="245059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up</a:t>
            </a:r>
            <a:endParaRPr lang="en-US" sz="1000" dirty="0"/>
          </a:p>
        </p:txBody>
      </p:sp>
      <p:sp>
        <p:nvSpPr>
          <p:cNvPr id="13" name="!!cell_c"/>
          <p:cNvSpPr/>
          <p:nvPr/>
        </p:nvSpPr>
        <p:spPr>
          <a:xfrm>
            <a:off x="2514600" y="182880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4" name="!!q_c"/>
              <p:cNvSpPr txBox="1"/>
              <p:nvPr/>
            </p:nvSpPr>
            <p:spPr>
              <a:xfrm>
                <a:off x="257860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m:t>
                      </m:r>
                      <m:f>
                        <m:fPr>
                          <m:type m:val="skw"/>
                          <m:ctrlPr>
                            <a:rPr lang="en-US" sz="1100" i="1">
                              <a:solidFill>
                                <a:srgbClr val="9A9A9A"/>
                              </a:solidFill>
                              <a:latin typeface="Cambria Math" panose="02040503050406030204" pitchFamily="18" charset="0"/>
                            </a:rPr>
                          </m:ctrlPr>
                        </m:fPr>
                        <m:num>
                          <m:r>
                            <a:rPr lang="en-US" sz="1100" i="0">
                              <a:solidFill>
                                <a:srgbClr val="9A9A9A"/>
                              </a:solidFill>
                              <a:latin typeface="Cambria Math" panose="02040503050406030204" pitchFamily="18" charset="0"/>
                            </a:rPr>
                            <m:t>2</m:t>
                          </m:r>
                        </m:num>
                        <m:den>
                          <m:r>
                            <a:rPr lang="en-US" sz="1100" i="0">
                              <a:solidFill>
                                <a:srgbClr val="9A9A9A"/>
                              </a:solidFill>
                              <a:latin typeface="Cambria Math" panose="02040503050406030204" pitchFamily="18" charset="0"/>
                            </a:rPr>
                            <m:t>3</m:t>
                          </m:r>
                        </m:den>
                      </m:f>
                    </m:oMath>
                  </m:oMathPara>
                </a14:m>
                <a:endParaRPr lang="en-US" sz="1100" dirty="0"/>
              </a:p>
            </p:txBody>
          </p:sp>
        </mc:Choice>
        <mc:Fallback xmlns="">
          <p:sp>
            <p:nvSpPr>
              <p:cNvPr id="14" name="!!q_c"/>
              <p:cNvSpPr txBox="1"/>
              <p:nvPr/>
            </p:nvSpPr>
            <p:spPr>
              <a:xfrm>
                <a:off x="2578608" y="1865376"/>
                <a:ext cx="969264" cy="237744"/>
              </a:xfrm>
              <a:prstGeom prst="rect">
                <a:avLst/>
              </a:prstGeom>
              <a:blipFill>
                <a:blip r:embed="rIdEq40"/>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15" name="!!sym_c"/>
              <p:cNvSpPr txBox="1"/>
              <p:nvPr/>
            </p:nvSpPr>
            <p:spPr>
              <a:xfrm>
                <a:off x="251460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𝑐</m:t>
                      </m:r>
                    </m:oMath>
                  </m:oMathPara>
                </a14:m>
                <a:endParaRPr lang="en-US" sz="2600" dirty="0"/>
              </a:p>
            </p:txBody>
          </p:sp>
        </mc:Choice>
        <mc:Fallback xmlns="">
          <p:sp>
            <p:nvSpPr>
              <p:cNvPr id="15" name="!!sym_c"/>
              <p:cNvSpPr txBox="1"/>
              <p:nvPr/>
            </p:nvSpPr>
            <p:spPr>
              <a:xfrm>
                <a:off x="2514600" y="2011680"/>
                <a:ext cx="1097280" cy="438912"/>
              </a:xfrm>
              <a:prstGeom prst="rect">
                <a:avLst/>
              </a:prstGeom>
              <a:blipFill>
                <a:blip r:embed="rIdEq41"/>
                <a:stretch>
                  <a:fillRect/>
                </a:stretch>
              </a:blipFill>
              <a:ln/>
            </p:spPr>
            <p:txBody>
              <a:bodyPr wrap="square" lIns="0" tIns="0" rIns="0" bIns="0" rtlCol="0" anchor="ctr"/>
              <a:lstStyle/>
              <a:p>
                <a:endParaRPr lang="en-US" dirty="0"/>
              </a:p>
            </p:txBody>
          </p:sp>
        </mc:Fallback>
      </mc:AlternateContent>
      <p:sp>
        <p:nvSpPr>
          <p:cNvPr id="16" name="!!name_c"/>
          <p:cNvSpPr txBox="1"/>
          <p:nvPr/>
        </p:nvSpPr>
        <p:spPr>
          <a:xfrm>
            <a:off x="2514600" y="245059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charm</a:t>
            </a:r>
            <a:endParaRPr lang="en-US" sz="1000" dirty="0"/>
          </a:p>
        </p:txBody>
      </p:sp>
      <p:sp>
        <p:nvSpPr>
          <p:cNvPr id="17" name="!!cell_t"/>
          <p:cNvSpPr/>
          <p:nvPr/>
        </p:nvSpPr>
        <p:spPr>
          <a:xfrm>
            <a:off x="3703320" y="182880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8" name="!!q_t"/>
              <p:cNvSpPr txBox="1"/>
              <p:nvPr/>
            </p:nvSpPr>
            <p:spPr>
              <a:xfrm>
                <a:off x="376732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m:t>
                      </m:r>
                      <m:f>
                        <m:fPr>
                          <m:type m:val="skw"/>
                          <m:ctrlPr>
                            <a:rPr lang="en-US" sz="1100" i="1">
                              <a:solidFill>
                                <a:srgbClr val="9A9A9A"/>
                              </a:solidFill>
                              <a:latin typeface="Cambria Math" panose="02040503050406030204" pitchFamily="18" charset="0"/>
                            </a:rPr>
                          </m:ctrlPr>
                        </m:fPr>
                        <m:num>
                          <m:r>
                            <a:rPr lang="en-US" sz="1100" i="0">
                              <a:solidFill>
                                <a:srgbClr val="9A9A9A"/>
                              </a:solidFill>
                              <a:latin typeface="Cambria Math" panose="02040503050406030204" pitchFamily="18" charset="0"/>
                            </a:rPr>
                            <m:t>2</m:t>
                          </m:r>
                        </m:num>
                        <m:den>
                          <m:r>
                            <a:rPr lang="en-US" sz="1100" i="0">
                              <a:solidFill>
                                <a:srgbClr val="9A9A9A"/>
                              </a:solidFill>
                              <a:latin typeface="Cambria Math" panose="02040503050406030204" pitchFamily="18" charset="0"/>
                            </a:rPr>
                            <m:t>3</m:t>
                          </m:r>
                        </m:den>
                      </m:f>
                    </m:oMath>
                  </m:oMathPara>
                </a14:m>
                <a:endParaRPr lang="en-US" sz="1100" dirty="0"/>
              </a:p>
            </p:txBody>
          </p:sp>
        </mc:Choice>
        <mc:Fallback xmlns="">
          <p:sp>
            <p:nvSpPr>
              <p:cNvPr id="18" name="!!q_t"/>
              <p:cNvSpPr txBox="1"/>
              <p:nvPr/>
            </p:nvSpPr>
            <p:spPr>
              <a:xfrm>
                <a:off x="3767328" y="1865376"/>
                <a:ext cx="969264" cy="237744"/>
              </a:xfrm>
              <a:prstGeom prst="rect">
                <a:avLst/>
              </a:prstGeom>
              <a:blipFill>
                <a:blip r:embed="rIdEq42"/>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19" name="!!sym_t"/>
              <p:cNvSpPr txBox="1"/>
              <p:nvPr/>
            </p:nvSpPr>
            <p:spPr>
              <a:xfrm>
                <a:off x="370332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𝑡</m:t>
                      </m:r>
                    </m:oMath>
                  </m:oMathPara>
                </a14:m>
                <a:endParaRPr lang="en-US" sz="2600" dirty="0"/>
              </a:p>
            </p:txBody>
          </p:sp>
        </mc:Choice>
        <mc:Fallback xmlns="">
          <p:sp>
            <p:nvSpPr>
              <p:cNvPr id="19" name="!!sym_t"/>
              <p:cNvSpPr txBox="1"/>
              <p:nvPr/>
            </p:nvSpPr>
            <p:spPr>
              <a:xfrm>
                <a:off x="3703320" y="2011680"/>
                <a:ext cx="1097280" cy="438912"/>
              </a:xfrm>
              <a:prstGeom prst="rect">
                <a:avLst/>
              </a:prstGeom>
              <a:blipFill>
                <a:blip r:embed="rIdEq43"/>
                <a:stretch>
                  <a:fillRect/>
                </a:stretch>
              </a:blipFill>
              <a:ln/>
            </p:spPr>
            <p:txBody>
              <a:bodyPr wrap="square" lIns="0" tIns="0" rIns="0" bIns="0" rtlCol="0" anchor="ctr"/>
              <a:lstStyle/>
              <a:p>
                <a:endParaRPr lang="en-US" dirty="0"/>
              </a:p>
            </p:txBody>
          </p:sp>
        </mc:Fallback>
      </mc:AlternateContent>
      <p:sp>
        <p:nvSpPr>
          <p:cNvPr id="20" name="!!name_t"/>
          <p:cNvSpPr txBox="1"/>
          <p:nvPr/>
        </p:nvSpPr>
        <p:spPr>
          <a:xfrm>
            <a:off x="3703320" y="245059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top</a:t>
            </a:r>
            <a:endParaRPr lang="en-US" sz="1000" dirty="0"/>
          </a:p>
        </p:txBody>
      </p:sp>
      <p:sp>
        <p:nvSpPr>
          <p:cNvPr id="21" name="!!cell_d"/>
          <p:cNvSpPr/>
          <p:nvPr/>
        </p:nvSpPr>
        <p:spPr>
          <a:xfrm>
            <a:off x="1325880" y="278892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22" name="!!q_d"/>
              <p:cNvSpPr txBox="1"/>
              <p:nvPr/>
            </p:nvSpPr>
            <p:spPr>
              <a:xfrm>
                <a:off x="1389888" y="282549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m:t>
                      </m:r>
                      <m:f>
                        <m:fPr>
                          <m:type m:val="skw"/>
                          <m:ctrlPr>
                            <a:rPr lang="en-US" sz="1100" i="1">
                              <a:solidFill>
                                <a:srgbClr val="9A9A9A"/>
                              </a:solidFill>
                              <a:latin typeface="Cambria Math" panose="02040503050406030204" pitchFamily="18" charset="0"/>
                            </a:rPr>
                          </m:ctrlPr>
                        </m:fPr>
                        <m:num>
                          <m:r>
                            <a:rPr lang="en-US" sz="1100" i="0">
                              <a:solidFill>
                                <a:srgbClr val="9A9A9A"/>
                              </a:solidFill>
                              <a:latin typeface="Cambria Math" panose="02040503050406030204" pitchFamily="18" charset="0"/>
                            </a:rPr>
                            <m:t>1</m:t>
                          </m:r>
                        </m:num>
                        <m:den>
                          <m:r>
                            <a:rPr lang="en-US" sz="1100" i="0">
                              <a:solidFill>
                                <a:srgbClr val="9A9A9A"/>
                              </a:solidFill>
                              <a:latin typeface="Cambria Math" panose="02040503050406030204" pitchFamily="18" charset="0"/>
                            </a:rPr>
                            <m:t>3</m:t>
                          </m:r>
                        </m:den>
                      </m:f>
                    </m:oMath>
                  </m:oMathPara>
                </a14:m>
                <a:endParaRPr lang="en-US" sz="1100" dirty="0"/>
              </a:p>
            </p:txBody>
          </p:sp>
        </mc:Choice>
        <mc:Fallback xmlns="">
          <p:sp>
            <p:nvSpPr>
              <p:cNvPr id="22" name="!!q_d"/>
              <p:cNvSpPr txBox="1"/>
              <p:nvPr/>
            </p:nvSpPr>
            <p:spPr>
              <a:xfrm>
                <a:off x="1389888" y="2825496"/>
                <a:ext cx="969264" cy="237744"/>
              </a:xfrm>
              <a:prstGeom prst="rect">
                <a:avLst/>
              </a:prstGeom>
              <a:blipFill>
                <a:blip r:embed="rIdEq44"/>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23" name="!!sym_d"/>
              <p:cNvSpPr txBox="1"/>
              <p:nvPr/>
            </p:nvSpPr>
            <p:spPr>
              <a:xfrm>
                <a:off x="1325880" y="297180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𝑑</m:t>
                      </m:r>
                    </m:oMath>
                  </m:oMathPara>
                </a14:m>
                <a:endParaRPr lang="en-US" sz="2600" dirty="0"/>
              </a:p>
            </p:txBody>
          </p:sp>
        </mc:Choice>
        <mc:Fallback xmlns="">
          <p:sp>
            <p:nvSpPr>
              <p:cNvPr id="23" name="!!sym_d"/>
              <p:cNvSpPr txBox="1"/>
              <p:nvPr/>
            </p:nvSpPr>
            <p:spPr>
              <a:xfrm>
                <a:off x="1325880" y="2971800"/>
                <a:ext cx="1097280" cy="438912"/>
              </a:xfrm>
              <a:prstGeom prst="rect">
                <a:avLst/>
              </a:prstGeom>
              <a:blipFill>
                <a:blip r:embed="rIdEq45"/>
                <a:stretch>
                  <a:fillRect/>
                </a:stretch>
              </a:blipFill>
              <a:ln/>
            </p:spPr>
            <p:txBody>
              <a:bodyPr wrap="square" lIns="0" tIns="0" rIns="0" bIns="0" rtlCol="0" anchor="ctr"/>
              <a:lstStyle/>
              <a:p>
                <a:endParaRPr lang="en-US" dirty="0"/>
              </a:p>
            </p:txBody>
          </p:sp>
        </mc:Fallback>
      </mc:AlternateContent>
      <p:sp>
        <p:nvSpPr>
          <p:cNvPr id="24" name="!!name_d"/>
          <p:cNvSpPr txBox="1"/>
          <p:nvPr/>
        </p:nvSpPr>
        <p:spPr>
          <a:xfrm>
            <a:off x="1325880" y="341071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down</a:t>
            </a:r>
            <a:endParaRPr lang="en-US" sz="1000" dirty="0"/>
          </a:p>
        </p:txBody>
      </p:sp>
      <p:sp>
        <p:nvSpPr>
          <p:cNvPr id="25" name="!!cell_s"/>
          <p:cNvSpPr/>
          <p:nvPr/>
        </p:nvSpPr>
        <p:spPr>
          <a:xfrm>
            <a:off x="2514600" y="278892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26" name="!!q_s"/>
              <p:cNvSpPr txBox="1"/>
              <p:nvPr/>
            </p:nvSpPr>
            <p:spPr>
              <a:xfrm>
                <a:off x="2578608" y="282549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m:t>
                      </m:r>
                      <m:f>
                        <m:fPr>
                          <m:type m:val="skw"/>
                          <m:ctrlPr>
                            <a:rPr lang="en-US" sz="1100" i="1">
                              <a:solidFill>
                                <a:srgbClr val="9A9A9A"/>
                              </a:solidFill>
                              <a:latin typeface="Cambria Math" panose="02040503050406030204" pitchFamily="18" charset="0"/>
                            </a:rPr>
                          </m:ctrlPr>
                        </m:fPr>
                        <m:num>
                          <m:r>
                            <a:rPr lang="en-US" sz="1100" i="0">
                              <a:solidFill>
                                <a:srgbClr val="9A9A9A"/>
                              </a:solidFill>
                              <a:latin typeface="Cambria Math" panose="02040503050406030204" pitchFamily="18" charset="0"/>
                            </a:rPr>
                            <m:t>1</m:t>
                          </m:r>
                        </m:num>
                        <m:den>
                          <m:r>
                            <a:rPr lang="en-US" sz="1100" i="0">
                              <a:solidFill>
                                <a:srgbClr val="9A9A9A"/>
                              </a:solidFill>
                              <a:latin typeface="Cambria Math" panose="02040503050406030204" pitchFamily="18" charset="0"/>
                            </a:rPr>
                            <m:t>3</m:t>
                          </m:r>
                        </m:den>
                      </m:f>
                    </m:oMath>
                  </m:oMathPara>
                </a14:m>
                <a:endParaRPr lang="en-US" sz="1100" dirty="0"/>
              </a:p>
            </p:txBody>
          </p:sp>
        </mc:Choice>
        <mc:Fallback xmlns="">
          <p:sp>
            <p:nvSpPr>
              <p:cNvPr id="26" name="!!q_s"/>
              <p:cNvSpPr txBox="1"/>
              <p:nvPr/>
            </p:nvSpPr>
            <p:spPr>
              <a:xfrm>
                <a:off x="2578608" y="2825496"/>
                <a:ext cx="969264" cy="237744"/>
              </a:xfrm>
              <a:prstGeom prst="rect">
                <a:avLst/>
              </a:prstGeom>
              <a:blipFill>
                <a:blip r:embed="rIdEq46"/>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27" name="!!sym_s"/>
              <p:cNvSpPr txBox="1"/>
              <p:nvPr/>
            </p:nvSpPr>
            <p:spPr>
              <a:xfrm>
                <a:off x="2514600" y="297180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𝑠</m:t>
                      </m:r>
                    </m:oMath>
                  </m:oMathPara>
                </a14:m>
                <a:endParaRPr lang="en-US" sz="2600" dirty="0"/>
              </a:p>
            </p:txBody>
          </p:sp>
        </mc:Choice>
        <mc:Fallback xmlns="">
          <p:sp>
            <p:nvSpPr>
              <p:cNvPr id="27" name="!!sym_s"/>
              <p:cNvSpPr txBox="1"/>
              <p:nvPr/>
            </p:nvSpPr>
            <p:spPr>
              <a:xfrm>
                <a:off x="2514600" y="2971800"/>
                <a:ext cx="1097280" cy="438912"/>
              </a:xfrm>
              <a:prstGeom prst="rect">
                <a:avLst/>
              </a:prstGeom>
              <a:blipFill>
                <a:blip r:embed="rIdEq47"/>
                <a:stretch>
                  <a:fillRect/>
                </a:stretch>
              </a:blipFill>
              <a:ln/>
            </p:spPr>
            <p:txBody>
              <a:bodyPr wrap="square" lIns="0" tIns="0" rIns="0" bIns="0" rtlCol="0" anchor="ctr"/>
              <a:lstStyle/>
              <a:p>
                <a:endParaRPr lang="en-US" dirty="0"/>
              </a:p>
            </p:txBody>
          </p:sp>
        </mc:Fallback>
      </mc:AlternateContent>
      <p:sp>
        <p:nvSpPr>
          <p:cNvPr id="28" name="!!name_s"/>
          <p:cNvSpPr txBox="1"/>
          <p:nvPr/>
        </p:nvSpPr>
        <p:spPr>
          <a:xfrm>
            <a:off x="2514600" y="341071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strange</a:t>
            </a:r>
            <a:endParaRPr lang="en-US" sz="1000" dirty="0"/>
          </a:p>
        </p:txBody>
      </p:sp>
      <p:sp>
        <p:nvSpPr>
          <p:cNvPr id="29" name="!!cell_b"/>
          <p:cNvSpPr/>
          <p:nvPr/>
        </p:nvSpPr>
        <p:spPr>
          <a:xfrm>
            <a:off x="3703320" y="278892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30" name="!!q_b"/>
              <p:cNvSpPr txBox="1"/>
              <p:nvPr/>
            </p:nvSpPr>
            <p:spPr>
              <a:xfrm>
                <a:off x="3767328" y="282549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m:t>
                      </m:r>
                      <m:f>
                        <m:fPr>
                          <m:type m:val="skw"/>
                          <m:ctrlPr>
                            <a:rPr lang="en-US" sz="1100" i="1">
                              <a:solidFill>
                                <a:srgbClr val="9A9A9A"/>
                              </a:solidFill>
                              <a:latin typeface="Cambria Math" panose="02040503050406030204" pitchFamily="18" charset="0"/>
                            </a:rPr>
                          </m:ctrlPr>
                        </m:fPr>
                        <m:num>
                          <m:r>
                            <a:rPr lang="en-US" sz="1100" i="0">
                              <a:solidFill>
                                <a:srgbClr val="9A9A9A"/>
                              </a:solidFill>
                              <a:latin typeface="Cambria Math" panose="02040503050406030204" pitchFamily="18" charset="0"/>
                            </a:rPr>
                            <m:t>1</m:t>
                          </m:r>
                        </m:num>
                        <m:den>
                          <m:r>
                            <a:rPr lang="en-US" sz="1100" i="0">
                              <a:solidFill>
                                <a:srgbClr val="9A9A9A"/>
                              </a:solidFill>
                              <a:latin typeface="Cambria Math" panose="02040503050406030204" pitchFamily="18" charset="0"/>
                            </a:rPr>
                            <m:t>3</m:t>
                          </m:r>
                        </m:den>
                      </m:f>
                    </m:oMath>
                  </m:oMathPara>
                </a14:m>
                <a:endParaRPr lang="en-US" sz="1100" dirty="0"/>
              </a:p>
            </p:txBody>
          </p:sp>
        </mc:Choice>
        <mc:Fallback xmlns="">
          <p:sp>
            <p:nvSpPr>
              <p:cNvPr id="30" name="!!q_b"/>
              <p:cNvSpPr txBox="1"/>
              <p:nvPr/>
            </p:nvSpPr>
            <p:spPr>
              <a:xfrm>
                <a:off x="3767328" y="2825496"/>
                <a:ext cx="969264" cy="237744"/>
              </a:xfrm>
              <a:prstGeom prst="rect">
                <a:avLst/>
              </a:prstGeom>
              <a:blipFill>
                <a:blip r:embed="rIdEq48"/>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31" name="!!sym_b"/>
              <p:cNvSpPr txBox="1"/>
              <p:nvPr/>
            </p:nvSpPr>
            <p:spPr>
              <a:xfrm>
                <a:off x="3703320" y="297180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𝑏</m:t>
                      </m:r>
                    </m:oMath>
                  </m:oMathPara>
                </a14:m>
                <a:endParaRPr lang="en-US" sz="2600" dirty="0"/>
              </a:p>
            </p:txBody>
          </p:sp>
        </mc:Choice>
        <mc:Fallback xmlns="">
          <p:sp>
            <p:nvSpPr>
              <p:cNvPr id="31" name="!!sym_b"/>
              <p:cNvSpPr txBox="1"/>
              <p:nvPr/>
            </p:nvSpPr>
            <p:spPr>
              <a:xfrm>
                <a:off x="3703320" y="2971800"/>
                <a:ext cx="1097280" cy="438912"/>
              </a:xfrm>
              <a:prstGeom prst="rect">
                <a:avLst/>
              </a:prstGeom>
              <a:blipFill>
                <a:blip r:embed="rIdEq49"/>
                <a:stretch>
                  <a:fillRect/>
                </a:stretch>
              </a:blipFill>
              <a:ln/>
            </p:spPr>
            <p:txBody>
              <a:bodyPr wrap="square" lIns="0" tIns="0" rIns="0" bIns="0" rtlCol="0" anchor="ctr"/>
              <a:lstStyle/>
              <a:p>
                <a:endParaRPr lang="en-US" dirty="0"/>
              </a:p>
            </p:txBody>
          </p:sp>
        </mc:Fallback>
      </mc:AlternateContent>
      <p:sp>
        <p:nvSpPr>
          <p:cNvPr id="32" name="!!name_b"/>
          <p:cNvSpPr txBox="1"/>
          <p:nvPr/>
        </p:nvSpPr>
        <p:spPr>
          <a:xfrm>
            <a:off x="3703320" y="341071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bottom</a:t>
            </a:r>
            <a:endParaRPr lang="en-US" sz="1000" dirty="0"/>
          </a:p>
        </p:txBody>
      </p:sp>
      <p:sp>
        <p:nvSpPr>
          <p:cNvPr id="33" name="!!cell_e"/>
          <p:cNvSpPr/>
          <p:nvPr/>
        </p:nvSpPr>
        <p:spPr>
          <a:xfrm>
            <a:off x="1325880" y="3749040"/>
            <a:ext cx="1097280" cy="868680"/>
          </a:xfrm>
          <a:prstGeom prst="roundRect">
            <a:avLst>
              <a:gd name="adj" fmla="val 8421"/>
            </a:avLst>
          </a:prstGeom>
          <a:solidFill>
            <a:srgbClr val="F3E3E4"/>
          </a:solidFill>
          <a:ln w="12700">
            <a:solidFill>
              <a:srgbClr val="D9B3B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34" name="!!q_e"/>
              <p:cNvSpPr txBox="1"/>
              <p:nvPr/>
            </p:nvSpPr>
            <p:spPr>
              <a:xfrm>
                <a:off x="1389888" y="378561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A1A20"/>
                          </a:solidFill>
                          <a:latin typeface="Cambria Math" panose="02040503050406030204" pitchFamily="18" charset="0"/>
                        </a:rPr>
                        <m:t>−1</m:t>
                      </m:r>
                    </m:oMath>
                  </m:oMathPara>
                </a14:m>
                <a:endParaRPr lang="en-US" sz="1100" dirty="0"/>
              </a:p>
            </p:txBody>
          </p:sp>
        </mc:Choice>
        <mc:Fallback xmlns="">
          <p:sp>
            <p:nvSpPr>
              <p:cNvPr id="34" name="!!q_e"/>
              <p:cNvSpPr txBox="1"/>
              <p:nvPr/>
            </p:nvSpPr>
            <p:spPr>
              <a:xfrm>
                <a:off x="1389888" y="3785616"/>
                <a:ext cx="969264" cy="237744"/>
              </a:xfrm>
              <a:prstGeom prst="rect">
                <a:avLst/>
              </a:prstGeom>
              <a:blipFill>
                <a:blip r:embed="rIdEq50"/>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35" name="!!sym_e"/>
              <p:cNvSpPr txBox="1"/>
              <p:nvPr/>
            </p:nvSpPr>
            <p:spPr>
              <a:xfrm>
                <a:off x="1325880" y="393192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73000A"/>
                          </a:solidFill>
                          <a:latin typeface="Cambria Math" panose="02040503050406030204" pitchFamily="18" charset="0"/>
                        </a:rPr>
                        <m:t>𝑒</m:t>
                      </m:r>
                    </m:oMath>
                  </m:oMathPara>
                </a14:m>
                <a:endParaRPr lang="en-US" sz="2600" dirty="0"/>
              </a:p>
            </p:txBody>
          </p:sp>
        </mc:Choice>
        <mc:Fallback xmlns="">
          <p:sp>
            <p:nvSpPr>
              <p:cNvPr id="35" name="!!sym_e"/>
              <p:cNvSpPr txBox="1"/>
              <p:nvPr/>
            </p:nvSpPr>
            <p:spPr>
              <a:xfrm>
                <a:off x="1325880" y="3931920"/>
                <a:ext cx="1097280" cy="438912"/>
              </a:xfrm>
              <a:prstGeom prst="rect">
                <a:avLst/>
              </a:prstGeom>
              <a:blipFill>
                <a:blip r:embed="rIdEq51"/>
                <a:stretch>
                  <a:fillRect/>
                </a:stretch>
              </a:blipFill>
              <a:ln/>
            </p:spPr>
            <p:txBody>
              <a:bodyPr wrap="square" lIns="0" tIns="0" rIns="0" bIns="0" rtlCol="0" anchor="ctr"/>
              <a:lstStyle/>
              <a:p>
                <a:endParaRPr lang="en-US" dirty="0"/>
              </a:p>
            </p:txBody>
          </p:sp>
        </mc:Fallback>
      </mc:AlternateContent>
      <p:sp>
        <p:nvSpPr>
          <p:cNvPr id="36" name="!!name_e"/>
          <p:cNvSpPr txBox="1"/>
          <p:nvPr/>
        </p:nvSpPr>
        <p:spPr>
          <a:xfrm>
            <a:off x="1325880" y="4370832"/>
            <a:ext cx="1097280" cy="201168"/>
          </a:xfrm>
          <a:prstGeom prst="rect">
            <a:avLst/>
          </a:prstGeom>
          <a:noFill/>
          <a:ln/>
        </p:spPr>
        <p:txBody>
          <a:bodyPr wrap="square" lIns="0" tIns="0" rIns="0" bIns="0" rtlCol="0" anchor="ctr"/>
          <a:lstStyle/>
          <a:p>
            <a:pPr marL="0" indent="0" algn="ctr">
              <a:buNone/>
            </a:pPr>
            <a:r>
              <a:rPr lang="en-US" sz="1000" dirty="0">
                <a:solidFill>
                  <a:srgbClr val="5A1A20"/>
                </a:solidFill>
                <a:latin typeface="Calibri" pitchFamily="34" charset="0"/>
                <a:ea typeface="Calibri" pitchFamily="34" charset="-122"/>
                <a:cs typeface="Calibri" pitchFamily="34" charset="-120"/>
              </a:rPr>
              <a:t>electron</a:t>
            </a:r>
            <a:endParaRPr lang="en-US" sz="1000" dirty="0"/>
          </a:p>
        </p:txBody>
      </p:sp>
      <p:sp>
        <p:nvSpPr>
          <p:cNvPr id="37" name="!!cell_mu"/>
          <p:cNvSpPr/>
          <p:nvPr/>
        </p:nvSpPr>
        <p:spPr>
          <a:xfrm>
            <a:off x="2514600" y="3749040"/>
            <a:ext cx="1097280" cy="868680"/>
          </a:xfrm>
          <a:prstGeom prst="roundRect">
            <a:avLst>
              <a:gd name="adj" fmla="val 8421"/>
            </a:avLst>
          </a:prstGeom>
          <a:solidFill>
            <a:srgbClr val="73000A"/>
          </a:solidFill>
          <a:ln w="38100">
            <a:solidFill>
              <a:srgbClr val="73000A"/>
            </a:solidFill>
            <a:prstDash val="solid"/>
          </a:ln>
        </p:spPr>
        <p:txBody>
          <a:bodyPr/>
          <a:lstStyle/>
          <a:p>
            <a:endParaRPr lang="en-US"/>
          </a:p>
        </p:txBody>
      </p:sp>
      <mc:AlternateContent xmlns:mc="http://schemas.openxmlformats.org/markup-compatibility/2006" xmlns:a14="http://schemas.microsoft.com/office/drawing/2010/main">
        <mc:Choice Requires="a14">
          <p:sp>
            <p:nvSpPr>
              <p:cNvPr id="38" name="!!q_mu"/>
              <p:cNvSpPr txBox="1"/>
              <p:nvPr/>
            </p:nvSpPr>
            <p:spPr>
              <a:xfrm>
                <a:off x="2578608" y="378561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FFFFFF"/>
                          </a:solidFill>
                          <a:latin typeface="Cambria Math" panose="02040503050406030204" pitchFamily="18" charset="0"/>
                        </a:rPr>
                        <m:t>−1</m:t>
                      </m:r>
                    </m:oMath>
                  </m:oMathPara>
                </a14:m>
                <a:endParaRPr lang="en-US" sz="1100" dirty="0"/>
              </a:p>
            </p:txBody>
          </p:sp>
        </mc:Choice>
        <mc:Fallback xmlns="">
          <p:sp>
            <p:nvSpPr>
              <p:cNvPr id="38" name="!!q_mu"/>
              <p:cNvSpPr txBox="1"/>
              <p:nvPr/>
            </p:nvSpPr>
            <p:spPr>
              <a:xfrm>
                <a:off x="2578608" y="3785616"/>
                <a:ext cx="969264" cy="237744"/>
              </a:xfrm>
              <a:prstGeom prst="rect">
                <a:avLst/>
              </a:prstGeom>
              <a:blipFill>
                <a:blip r:embed="rIdEq52"/>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39" name="!!sym_mu"/>
              <p:cNvSpPr txBox="1"/>
              <p:nvPr/>
            </p:nvSpPr>
            <p:spPr>
              <a:xfrm>
                <a:off x="2514600" y="393192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FFFFFF"/>
                          </a:solidFill>
                          <a:latin typeface="Cambria Math" panose="02040503050406030204" pitchFamily="18" charset="0"/>
                        </a:rPr>
                        <m:t>𝜇</m:t>
                      </m:r>
                    </m:oMath>
                  </m:oMathPara>
                </a14:m>
                <a:endParaRPr lang="en-US" sz="2600" dirty="0"/>
              </a:p>
            </p:txBody>
          </p:sp>
        </mc:Choice>
        <mc:Fallback xmlns="">
          <p:sp>
            <p:nvSpPr>
              <p:cNvPr id="39" name="!!sym_mu"/>
              <p:cNvSpPr txBox="1"/>
              <p:nvPr/>
            </p:nvSpPr>
            <p:spPr>
              <a:xfrm>
                <a:off x="2514600" y="3931920"/>
                <a:ext cx="1097280" cy="438912"/>
              </a:xfrm>
              <a:prstGeom prst="rect">
                <a:avLst/>
              </a:prstGeom>
              <a:blipFill>
                <a:blip r:embed="rIdEq53"/>
                <a:stretch>
                  <a:fillRect/>
                </a:stretch>
              </a:blipFill>
              <a:ln/>
            </p:spPr>
            <p:txBody>
              <a:bodyPr wrap="square" lIns="0" tIns="0" rIns="0" bIns="0" rtlCol="0" anchor="ctr"/>
              <a:lstStyle/>
              <a:p>
                <a:endParaRPr lang="en-US" dirty="0"/>
              </a:p>
            </p:txBody>
          </p:sp>
        </mc:Fallback>
      </mc:AlternateContent>
      <p:sp>
        <p:nvSpPr>
          <p:cNvPr id="40" name="!!name_mu"/>
          <p:cNvSpPr txBox="1"/>
          <p:nvPr/>
        </p:nvSpPr>
        <p:spPr>
          <a:xfrm>
            <a:off x="2514600" y="4370832"/>
            <a:ext cx="109728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muon</a:t>
            </a:r>
            <a:endParaRPr lang="en-US" sz="1000" dirty="0"/>
          </a:p>
        </p:txBody>
      </p:sp>
      <p:sp>
        <p:nvSpPr>
          <p:cNvPr id="41" name="!!cell_tau"/>
          <p:cNvSpPr/>
          <p:nvPr/>
        </p:nvSpPr>
        <p:spPr>
          <a:xfrm>
            <a:off x="3703320" y="3749040"/>
            <a:ext cx="1097280" cy="868680"/>
          </a:xfrm>
          <a:prstGeom prst="roundRect">
            <a:avLst>
              <a:gd name="adj" fmla="val 8421"/>
            </a:avLst>
          </a:prstGeom>
          <a:solidFill>
            <a:srgbClr val="F3E3E4"/>
          </a:solidFill>
          <a:ln w="12700">
            <a:solidFill>
              <a:srgbClr val="D9B3B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42" name="!!q_tau"/>
              <p:cNvSpPr txBox="1"/>
              <p:nvPr/>
            </p:nvSpPr>
            <p:spPr>
              <a:xfrm>
                <a:off x="3767328" y="378561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A1A20"/>
                          </a:solidFill>
                          <a:latin typeface="Cambria Math" panose="02040503050406030204" pitchFamily="18" charset="0"/>
                        </a:rPr>
                        <m:t>−1</m:t>
                      </m:r>
                    </m:oMath>
                  </m:oMathPara>
                </a14:m>
                <a:endParaRPr lang="en-US" sz="1100" dirty="0"/>
              </a:p>
            </p:txBody>
          </p:sp>
        </mc:Choice>
        <mc:Fallback xmlns="">
          <p:sp>
            <p:nvSpPr>
              <p:cNvPr id="42" name="!!q_tau"/>
              <p:cNvSpPr txBox="1"/>
              <p:nvPr/>
            </p:nvSpPr>
            <p:spPr>
              <a:xfrm>
                <a:off x="3767328" y="3785616"/>
                <a:ext cx="969264" cy="237744"/>
              </a:xfrm>
              <a:prstGeom prst="rect">
                <a:avLst/>
              </a:prstGeom>
              <a:blipFill>
                <a:blip r:embed="rIdEq54"/>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43" name="!!sym_tau"/>
              <p:cNvSpPr txBox="1"/>
              <p:nvPr/>
            </p:nvSpPr>
            <p:spPr>
              <a:xfrm>
                <a:off x="3703320" y="393192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73000A"/>
                          </a:solidFill>
                          <a:latin typeface="Cambria Math" panose="02040503050406030204" pitchFamily="18" charset="0"/>
                        </a:rPr>
                        <m:t>𝜏</m:t>
                      </m:r>
                    </m:oMath>
                  </m:oMathPara>
                </a14:m>
                <a:endParaRPr lang="en-US" sz="2600" dirty="0"/>
              </a:p>
            </p:txBody>
          </p:sp>
        </mc:Choice>
        <mc:Fallback xmlns="">
          <p:sp>
            <p:nvSpPr>
              <p:cNvPr id="43" name="!!sym_tau"/>
              <p:cNvSpPr txBox="1"/>
              <p:nvPr/>
            </p:nvSpPr>
            <p:spPr>
              <a:xfrm>
                <a:off x="3703320" y="3931920"/>
                <a:ext cx="1097280" cy="438912"/>
              </a:xfrm>
              <a:prstGeom prst="rect">
                <a:avLst/>
              </a:prstGeom>
              <a:blipFill>
                <a:blip r:embed="rIdEq55"/>
                <a:stretch>
                  <a:fillRect/>
                </a:stretch>
              </a:blipFill>
              <a:ln/>
            </p:spPr>
            <p:txBody>
              <a:bodyPr wrap="square" lIns="0" tIns="0" rIns="0" bIns="0" rtlCol="0" anchor="ctr"/>
              <a:lstStyle/>
              <a:p>
                <a:endParaRPr lang="en-US" dirty="0"/>
              </a:p>
            </p:txBody>
          </p:sp>
        </mc:Fallback>
      </mc:AlternateContent>
      <p:sp>
        <p:nvSpPr>
          <p:cNvPr id="44" name="!!name_tau"/>
          <p:cNvSpPr txBox="1"/>
          <p:nvPr/>
        </p:nvSpPr>
        <p:spPr>
          <a:xfrm>
            <a:off x="3703320" y="4370832"/>
            <a:ext cx="1097280" cy="201168"/>
          </a:xfrm>
          <a:prstGeom prst="rect">
            <a:avLst/>
          </a:prstGeom>
          <a:noFill/>
          <a:ln/>
        </p:spPr>
        <p:txBody>
          <a:bodyPr wrap="square" lIns="0" tIns="0" rIns="0" bIns="0" rtlCol="0" anchor="ctr"/>
          <a:lstStyle/>
          <a:p>
            <a:pPr marL="0" indent="0" algn="ctr">
              <a:buNone/>
            </a:pPr>
            <a:r>
              <a:rPr lang="en-US" sz="1000" dirty="0">
                <a:solidFill>
                  <a:srgbClr val="5A1A20"/>
                </a:solidFill>
                <a:latin typeface="Calibri" pitchFamily="34" charset="0"/>
                <a:ea typeface="Calibri" pitchFamily="34" charset="-122"/>
                <a:cs typeface="Calibri" pitchFamily="34" charset="-120"/>
              </a:rPr>
              <a:t>tau</a:t>
            </a:r>
            <a:endParaRPr lang="en-US" sz="1000" dirty="0"/>
          </a:p>
        </p:txBody>
      </p:sp>
      <p:sp>
        <p:nvSpPr>
          <p:cNvPr id="45" name="!!cell_nue"/>
          <p:cNvSpPr/>
          <p:nvPr/>
        </p:nvSpPr>
        <p:spPr>
          <a:xfrm>
            <a:off x="1325880" y="4709160"/>
            <a:ext cx="1097280" cy="868680"/>
          </a:xfrm>
          <a:prstGeom prst="roundRect">
            <a:avLst>
              <a:gd name="adj" fmla="val 8421"/>
            </a:avLst>
          </a:prstGeom>
          <a:solidFill>
            <a:srgbClr val="F3E3E4"/>
          </a:solidFill>
          <a:ln w="12700">
            <a:solidFill>
              <a:srgbClr val="D9B3B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46" name="!!q_nue"/>
              <p:cNvSpPr txBox="1"/>
              <p:nvPr/>
            </p:nvSpPr>
            <p:spPr>
              <a:xfrm>
                <a:off x="1389888" y="474573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A1A20"/>
                          </a:solidFill>
                          <a:latin typeface="Cambria Math" panose="02040503050406030204" pitchFamily="18" charset="0"/>
                        </a:rPr>
                        <m:t>0</m:t>
                      </m:r>
                    </m:oMath>
                  </m:oMathPara>
                </a14:m>
                <a:endParaRPr lang="en-US" sz="1100" dirty="0"/>
              </a:p>
            </p:txBody>
          </p:sp>
        </mc:Choice>
        <mc:Fallback xmlns="">
          <p:sp>
            <p:nvSpPr>
              <p:cNvPr id="46" name="!!q_nue"/>
              <p:cNvSpPr txBox="1"/>
              <p:nvPr/>
            </p:nvSpPr>
            <p:spPr>
              <a:xfrm>
                <a:off x="1389888" y="4745736"/>
                <a:ext cx="969264" cy="237744"/>
              </a:xfrm>
              <a:prstGeom prst="rect">
                <a:avLst/>
              </a:prstGeom>
              <a:blipFill>
                <a:blip r:embed="rIdEq56"/>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47" name="!!sym_nue"/>
              <p:cNvSpPr txBox="1"/>
              <p:nvPr/>
            </p:nvSpPr>
            <p:spPr>
              <a:xfrm>
                <a:off x="1325880" y="489204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2600" i="1">
                              <a:solidFill>
                                <a:srgbClr val="73000A"/>
                              </a:solidFill>
                              <a:latin typeface="Cambria Math" panose="02040503050406030204" pitchFamily="18" charset="0"/>
                            </a:rPr>
                          </m:ctrlPr>
                        </m:sSubPr>
                        <m:e>
                          <m:r>
                            <a:rPr lang="en-US" sz="2600" i="1">
                              <a:solidFill>
                                <a:srgbClr val="73000A"/>
                              </a:solidFill>
                              <a:latin typeface="Cambria Math" panose="02040503050406030204" pitchFamily="18" charset="0"/>
                            </a:rPr>
                            <m:t>𝜈</m:t>
                          </m:r>
                        </m:e>
                        <m:sub>
                          <m:r>
                            <a:rPr lang="en-US" sz="2600" i="1">
                              <a:solidFill>
                                <a:srgbClr val="73000A"/>
                              </a:solidFill>
                              <a:latin typeface="Cambria Math" panose="02040503050406030204" pitchFamily="18" charset="0"/>
                            </a:rPr>
                            <m:t>𝑒</m:t>
                          </m:r>
                        </m:sub>
                      </m:sSub>
                    </m:oMath>
                  </m:oMathPara>
                </a14:m>
                <a:endParaRPr lang="en-US" sz="2600" dirty="0"/>
              </a:p>
            </p:txBody>
          </p:sp>
        </mc:Choice>
        <mc:Fallback xmlns="">
          <p:sp>
            <p:nvSpPr>
              <p:cNvPr id="47" name="!!sym_nue"/>
              <p:cNvSpPr txBox="1"/>
              <p:nvPr/>
            </p:nvSpPr>
            <p:spPr>
              <a:xfrm>
                <a:off x="1325880" y="4892040"/>
                <a:ext cx="1097280" cy="438912"/>
              </a:xfrm>
              <a:prstGeom prst="rect">
                <a:avLst/>
              </a:prstGeom>
              <a:blipFill>
                <a:blip r:embed="rIdEq57"/>
                <a:stretch>
                  <a:fillRect/>
                </a:stretch>
              </a:blipFill>
              <a:ln/>
            </p:spPr>
            <p:txBody>
              <a:bodyPr wrap="square" lIns="0" tIns="0" rIns="0" bIns="0" rtlCol="0" anchor="ctr"/>
              <a:lstStyle/>
              <a:p>
                <a:endParaRPr lang="en-US" dirty="0"/>
              </a:p>
            </p:txBody>
          </p:sp>
        </mc:Fallback>
      </mc:AlternateContent>
      <p:sp>
        <p:nvSpPr>
          <p:cNvPr id="48" name="!!name_nue"/>
          <p:cNvSpPr txBox="1"/>
          <p:nvPr/>
        </p:nvSpPr>
        <p:spPr>
          <a:xfrm>
            <a:off x="1325880" y="5330952"/>
            <a:ext cx="1097280" cy="201168"/>
          </a:xfrm>
          <a:prstGeom prst="rect">
            <a:avLst/>
          </a:prstGeom>
          <a:noFill/>
          <a:ln/>
        </p:spPr>
        <p:txBody>
          <a:bodyPr wrap="square" lIns="0" tIns="0" rIns="0" bIns="0" rtlCol="0" anchor="ctr"/>
          <a:lstStyle/>
          <a:p>
            <a:pPr marL="0" indent="0" algn="ctr">
              <a:buNone/>
            </a:pPr>
            <a:r>
              <a:rPr lang="en-US" sz="1000" dirty="0">
                <a:solidFill>
                  <a:srgbClr val="5A1A20"/>
                </a:solidFill>
                <a:latin typeface="Calibri" pitchFamily="34" charset="0"/>
                <a:ea typeface="Calibri" pitchFamily="34" charset="-122"/>
                <a:cs typeface="Calibri" pitchFamily="34" charset="-120"/>
              </a:rPr>
              <a:t>e neutrino</a:t>
            </a:r>
            <a:endParaRPr lang="en-US" sz="1000" dirty="0"/>
          </a:p>
        </p:txBody>
      </p:sp>
      <p:sp>
        <p:nvSpPr>
          <p:cNvPr id="49" name="!!cell_numu"/>
          <p:cNvSpPr/>
          <p:nvPr/>
        </p:nvSpPr>
        <p:spPr>
          <a:xfrm>
            <a:off x="2514600" y="4709160"/>
            <a:ext cx="1097280" cy="868680"/>
          </a:xfrm>
          <a:prstGeom prst="roundRect">
            <a:avLst>
              <a:gd name="adj" fmla="val 8421"/>
            </a:avLst>
          </a:prstGeom>
          <a:solidFill>
            <a:srgbClr val="F3E3E4"/>
          </a:solidFill>
          <a:ln w="12700">
            <a:solidFill>
              <a:srgbClr val="D9B3B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50" name="!!q_numu"/>
              <p:cNvSpPr txBox="1"/>
              <p:nvPr/>
            </p:nvSpPr>
            <p:spPr>
              <a:xfrm>
                <a:off x="2578608" y="474573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A1A20"/>
                          </a:solidFill>
                          <a:latin typeface="Cambria Math" panose="02040503050406030204" pitchFamily="18" charset="0"/>
                        </a:rPr>
                        <m:t>0</m:t>
                      </m:r>
                    </m:oMath>
                  </m:oMathPara>
                </a14:m>
                <a:endParaRPr lang="en-US" sz="1100" dirty="0"/>
              </a:p>
            </p:txBody>
          </p:sp>
        </mc:Choice>
        <mc:Fallback xmlns="">
          <p:sp>
            <p:nvSpPr>
              <p:cNvPr id="50" name="!!q_numu"/>
              <p:cNvSpPr txBox="1"/>
              <p:nvPr/>
            </p:nvSpPr>
            <p:spPr>
              <a:xfrm>
                <a:off x="2578608" y="4745736"/>
                <a:ext cx="969264" cy="237744"/>
              </a:xfrm>
              <a:prstGeom prst="rect">
                <a:avLst/>
              </a:prstGeom>
              <a:blipFill>
                <a:blip r:embed="rIdEq58"/>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51" name="!!sym_numu"/>
              <p:cNvSpPr txBox="1"/>
              <p:nvPr/>
            </p:nvSpPr>
            <p:spPr>
              <a:xfrm>
                <a:off x="2514600" y="489204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2600" i="1">
                              <a:solidFill>
                                <a:srgbClr val="73000A"/>
                              </a:solidFill>
                              <a:latin typeface="Cambria Math" panose="02040503050406030204" pitchFamily="18" charset="0"/>
                            </a:rPr>
                          </m:ctrlPr>
                        </m:sSubPr>
                        <m:e>
                          <m:r>
                            <a:rPr lang="en-US" sz="2600" i="1">
                              <a:solidFill>
                                <a:srgbClr val="73000A"/>
                              </a:solidFill>
                              <a:latin typeface="Cambria Math" panose="02040503050406030204" pitchFamily="18" charset="0"/>
                            </a:rPr>
                            <m:t>𝜈</m:t>
                          </m:r>
                        </m:e>
                        <m:sub>
                          <m:r>
                            <a:rPr lang="en-US" sz="2600" i="1">
                              <a:solidFill>
                                <a:srgbClr val="73000A"/>
                              </a:solidFill>
                              <a:latin typeface="Cambria Math" panose="02040503050406030204" pitchFamily="18" charset="0"/>
                            </a:rPr>
                            <m:t>𝜇</m:t>
                          </m:r>
                        </m:sub>
                      </m:sSub>
                    </m:oMath>
                  </m:oMathPara>
                </a14:m>
                <a:endParaRPr lang="en-US" sz="2600" dirty="0"/>
              </a:p>
            </p:txBody>
          </p:sp>
        </mc:Choice>
        <mc:Fallback xmlns="">
          <p:sp>
            <p:nvSpPr>
              <p:cNvPr id="51" name="!!sym_numu"/>
              <p:cNvSpPr txBox="1"/>
              <p:nvPr/>
            </p:nvSpPr>
            <p:spPr>
              <a:xfrm>
                <a:off x="2514600" y="4892040"/>
                <a:ext cx="1097280" cy="438912"/>
              </a:xfrm>
              <a:prstGeom prst="rect">
                <a:avLst/>
              </a:prstGeom>
              <a:blipFill>
                <a:blip r:embed="rIdEq59"/>
                <a:stretch>
                  <a:fillRect/>
                </a:stretch>
              </a:blipFill>
              <a:ln/>
            </p:spPr>
            <p:txBody>
              <a:bodyPr wrap="square" lIns="0" tIns="0" rIns="0" bIns="0" rtlCol="0" anchor="ctr"/>
              <a:lstStyle/>
              <a:p>
                <a:endParaRPr lang="en-US" dirty="0"/>
              </a:p>
            </p:txBody>
          </p:sp>
        </mc:Fallback>
      </mc:AlternateContent>
      <p:sp>
        <p:nvSpPr>
          <p:cNvPr id="52" name="!!name_numu"/>
          <p:cNvSpPr txBox="1"/>
          <p:nvPr/>
        </p:nvSpPr>
        <p:spPr>
          <a:xfrm>
            <a:off x="2514600" y="5330952"/>
            <a:ext cx="1097280" cy="201168"/>
          </a:xfrm>
          <a:prstGeom prst="rect">
            <a:avLst/>
          </a:prstGeom>
          <a:noFill/>
          <a:ln/>
        </p:spPr>
        <p:txBody>
          <a:bodyPr wrap="square" lIns="0" tIns="0" rIns="0" bIns="0" rtlCol="0" anchor="ctr"/>
          <a:lstStyle/>
          <a:p>
            <a:pPr marL="0" indent="0" algn="ctr">
              <a:buNone/>
            </a:pPr>
            <a:r>
              <a:rPr lang="en-US" sz="1000" dirty="0">
                <a:solidFill>
                  <a:srgbClr val="5A1A20"/>
                </a:solidFill>
                <a:latin typeface="Calibri" pitchFamily="34" charset="0"/>
                <a:ea typeface="Calibri" pitchFamily="34" charset="-122"/>
                <a:cs typeface="Calibri" pitchFamily="34" charset="-120"/>
              </a:rPr>
              <a:t>μ neutrino</a:t>
            </a:r>
            <a:endParaRPr lang="en-US" sz="1000" dirty="0"/>
          </a:p>
        </p:txBody>
      </p:sp>
      <p:sp>
        <p:nvSpPr>
          <p:cNvPr id="53" name="!!cell_nutau"/>
          <p:cNvSpPr/>
          <p:nvPr/>
        </p:nvSpPr>
        <p:spPr>
          <a:xfrm>
            <a:off x="3703320" y="4709160"/>
            <a:ext cx="1097280" cy="868680"/>
          </a:xfrm>
          <a:prstGeom prst="roundRect">
            <a:avLst>
              <a:gd name="adj" fmla="val 8421"/>
            </a:avLst>
          </a:prstGeom>
          <a:solidFill>
            <a:srgbClr val="F3E3E4"/>
          </a:solidFill>
          <a:ln w="12700">
            <a:solidFill>
              <a:srgbClr val="D9B3B6"/>
            </a:solidFill>
            <a:prstDash val="solid"/>
          </a:ln>
        </p:spPr>
        <p:txBody>
          <a:bodyPr/>
          <a:lstStyle/>
          <a:p>
            <a:endParaRPr lang="en-US"/>
          </a:p>
        </p:txBody>
      </p:sp>
      <mc:AlternateContent xmlns:mc="http://schemas.openxmlformats.org/markup-compatibility/2006" xmlns:a14="http://schemas.microsoft.com/office/drawing/2010/main">
        <mc:Choice Requires="a14">
          <p:sp>
            <p:nvSpPr>
              <p:cNvPr id="54" name="!!q_nutau"/>
              <p:cNvSpPr txBox="1"/>
              <p:nvPr/>
            </p:nvSpPr>
            <p:spPr>
              <a:xfrm>
                <a:off x="3767328" y="474573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5A1A20"/>
                          </a:solidFill>
                          <a:latin typeface="Cambria Math" panose="02040503050406030204" pitchFamily="18" charset="0"/>
                        </a:rPr>
                        <m:t>0</m:t>
                      </m:r>
                    </m:oMath>
                  </m:oMathPara>
                </a14:m>
                <a:endParaRPr lang="en-US" sz="1100" dirty="0"/>
              </a:p>
            </p:txBody>
          </p:sp>
        </mc:Choice>
        <mc:Fallback xmlns="">
          <p:sp>
            <p:nvSpPr>
              <p:cNvPr id="54" name="!!q_nutau"/>
              <p:cNvSpPr txBox="1"/>
              <p:nvPr/>
            </p:nvSpPr>
            <p:spPr>
              <a:xfrm>
                <a:off x="3767328" y="4745736"/>
                <a:ext cx="969264" cy="237744"/>
              </a:xfrm>
              <a:prstGeom prst="rect">
                <a:avLst/>
              </a:prstGeom>
              <a:blipFill>
                <a:blip r:embed="rIdEq60"/>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55" name="!!sym_nutau"/>
              <p:cNvSpPr txBox="1"/>
              <p:nvPr/>
            </p:nvSpPr>
            <p:spPr>
              <a:xfrm>
                <a:off x="3703320" y="489204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2600" i="1">
                              <a:solidFill>
                                <a:srgbClr val="73000A"/>
                              </a:solidFill>
                              <a:latin typeface="Cambria Math" panose="02040503050406030204" pitchFamily="18" charset="0"/>
                            </a:rPr>
                          </m:ctrlPr>
                        </m:sSubPr>
                        <m:e>
                          <m:r>
                            <a:rPr lang="en-US" sz="2600" i="1">
                              <a:solidFill>
                                <a:srgbClr val="73000A"/>
                              </a:solidFill>
                              <a:latin typeface="Cambria Math" panose="02040503050406030204" pitchFamily="18" charset="0"/>
                            </a:rPr>
                            <m:t>𝜈</m:t>
                          </m:r>
                        </m:e>
                        <m:sub>
                          <m:r>
                            <a:rPr lang="en-US" sz="2600" i="1">
                              <a:solidFill>
                                <a:srgbClr val="73000A"/>
                              </a:solidFill>
                              <a:latin typeface="Cambria Math" panose="02040503050406030204" pitchFamily="18" charset="0"/>
                            </a:rPr>
                            <m:t>𝜏</m:t>
                          </m:r>
                        </m:sub>
                      </m:sSub>
                    </m:oMath>
                  </m:oMathPara>
                </a14:m>
                <a:endParaRPr lang="en-US" sz="2600" dirty="0"/>
              </a:p>
            </p:txBody>
          </p:sp>
        </mc:Choice>
        <mc:Fallback xmlns="">
          <p:sp>
            <p:nvSpPr>
              <p:cNvPr id="55" name="!!sym_nutau"/>
              <p:cNvSpPr txBox="1"/>
              <p:nvPr/>
            </p:nvSpPr>
            <p:spPr>
              <a:xfrm>
                <a:off x="3703320" y="4892040"/>
                <a:ext cx="1097280" cy="438912"/>
              </a:xfrm>
              <a:prstGeom prst="rect">
                <a:avLst/>
              </a:prstGeom>
              <a:blipFill>
                <a:blip r:embed="rIdEq61"/>
                <a:stretch>
                  <a:fillRect/>
                </a:stretch>
              </a:blipFill>
              <a:ln/>
            </p:spPr>
            <p:txBody>
              <a:bodyPr wrap="square" lIns="0" tIns="0" rIns="0" bIns="0" rtlCol="0" anchor="ctr"/>
              <a:lstStyle/>
              <a:p>
                <a:endParaRPr lang="en-US" dirty="0"/>
              </a:p>
            </p:txBody>
          </p:sp>
        </mc:Fallback>
      </mc:AlternateContent>
      <p:sp>
        <p:nvSpPr>
          <p:cNvPr id="56" name="!!name_nutau"/>
          <p:cNvSpPr txBox="1"/>
          <p:nvPr/>
        </p:nvSpPr>
        <p:spPr>
          <a:xfrm>
            <a:off x="3703320" y="5330952"/>
            <a:ext cx="1097280" cy="201168"/>
          </a:xfrm>
          <a:prstGeom prst="rect">
            <a:avLst/>
          </a:prstGeom>
          <a:noFill/>
          <a:ln/>
        </p:spPr>
        <p:txBody>
          <a:bodyPr wrap="square" lIns="0" tIns="0" rIns="0" bIns="0" rtlCol="0" anchor="ctr"/>
          <a:lstStyle/>
          <a:p>
            <a:pPr marL="0" indent="0" algn="ctr">
              <a:buNone/>
            </a:pPr>
            <a:r>
              <a:rPr lang="en-US" sz="1000" dirty="0">
                <a:solidFill>
                  <a:srgbClr val="5A1A20"/>
                </a:solidFill>
                <a:latin typeface="Calibri" pitchFamily="34" charset="0"/>
                <a:ea typeface="Calibri" pitchFamily="34" charset="-122"/>
                <a:cs typeface="Calibri" pitchFamily="34" charset="-120"/>
              </a:rPr>
              <a:t>τ neutrino</a:t>
            </a:r>
            <a:endParaRPr lang="en-US" sz="1000" dirty="0"/>
          </a:p>
        </p:txBody>
      </p:sp>
      <p:sp>
        <p:nvSpPr>
          <p:cNvPr id="57" name="!!cell_g"/>
          <p:cNvSpPr/>
          <p:nvPr/>
        </p:nvSpPr>
        <p:spPr>
          <a:xfrm>
            <a:off x="5166360" y="182880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58" name="!!q_g"/>
              <p:cNvSpPr txBox="1"/>
              <p:nvPr/>
            </p:nvSpPr>
            <p:spPr>
              <a:xfrm>
                <a:off x="523036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0</m:t>
                      </m:r>
                    </m:oMath>
                  </m:oMathPara>
                </a14:m>
                <a:endParaRPr lang="en-US" sz="1100" dirty="0"/>
              </a:p>
            </p:txBody>
          </p:sp>
        </mc:Choice>
        <mc:Fallback xmlns="">
          <p:sp>
            <p:nvSpPr>
              <p:cNvPr id="58" name="!!q_g"/>
              <p:cNvSpPr txBox="1"/>
              <p:nvPr/>
            </p:nvSpPr>
            <p:spPr>
              <a:xfrm>
                <a:off x="5230368" y="1865376"/>
                <a:ext cx="969264" cy="237744"/>
              </a:xfrm>
              <a:prstGeom prst="rect">
                <a:avLst/>
              </a:prstGeom>
              <a:blipFill>
                <a:blip r:embed="rIdEq62"/>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59" name="!!sym_g"/>
              <p:cNvSpPr txBox="1"/>
              <p:nvPr/>
            </p:nvSpPr>
            <p:spPr>
              <a:xfrm>
                <a:off x="516636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𝑔</m:t>
                      </m:r>
                    </m:oMath>
                  </m:oMathPara>
                </a14:m>
                <a:endParaRPr lang="en-US" sz="2600" dirty="0"/>
              </a:p>
            </p:txBody>
          </p:sp>
        </mc:Choice>
        <mc:Fallback xmlns="">
          <p:sp>
            <p:nvSpPr>
              <p:cNvPr id="59" name="!!sym_g"/>
              <p:cNvSpPr txBox="1"/>
              <p:nvPr/>
            </p:nvSpPr>
            <p:spPr>
              <a:xfrm>
                <a:off x="5166360" y="2011680"/>
                <a:ext cx="1097280" cy="438912"/>
              </a:xfrm>
              <a:prstGeom prst="rect">
                <a:avLst/>
              </a:prstGeom>
              <a:blipFill>
                <a:blip r:embed="rIdEq63"/>
                <a:stretch>
                  <a:fillRect/>
                </a:stretch>
              </a:blipFill>
              <a:ln/>
            </p:spPr>
            <p:txBody>
              <a:bodyPr wrap="square" lIns="0" tIns="0" rIns="0" bIns="0" rtlCol="0" anchor="ctr"/>
              <a:lstStyle/>
              <a:p>
                <a:endParaRPr lang="en-US" dirty="0"/>
              </a:p>
            </p:txBody>
          </p:sp>
        </mc:Fallback>
      </mc:AlternateContent>
      <p:sp>
        <p:nvSpPr>
          <p:cNvPr id="60" name="!!name_g"/>
          <p:cNvSpPr txBox="1"/>
          <p:nvPr/>
        </p:nvSpPr>
        <p:spPr>
          <a:xfrm>
            <a:off x="5166360" y="245059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gluon</a:t>
            </a:r>
            <a:endParaRPr lang="en-US" sz="1000" dirty="0"/>
          </a:p>
        </p:txBody>
      </p:sp>
      <p:sp>
        <p:nvSpPr>
          <p:cNvPr id="61" name="!!cell_gamma"/>
          <p:cNvSpPr/>
          <p:nvPr/>
        </p:nvSpPr>
        <p:spPr>
          <a:xfrm>
            <a:off x="5166360" y="278892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62" name="!!q_gamma"/>
              <p:cNvSpPr txBox="1"/>
              <p:nvPr/>
            </p:nvSpPr>
            <p:spPr>
              <a:xfrm>
                <a:off x="5230368" y="282549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0</m:t>
                      </m:r>
                    </m:oMath>
                  </m:oMathPara>
                </a14:m>
                <a:endParaRPr lang="en-US" sz="1100" dirty="0"/>
              </a:p>
            </p:txBody>
          </p:sp>
        </mc:Choice>
        <mc:Fallback xmlns="">
          <p:sp>
            <p:nvSpPr>
              <p:cNvPr id="62" name="!!q_gamma"/>
              <p:cNvSpPr txBox="1"/>
              <p:nvPr/>
            </p:nvSpPr>
            <p:spPr>
              <a:xfrm>
                <a:off x="5230368" y="2825496"/>
                <a:ext cx="969264" cy="237744"/>
              </a:xfrm>
              <a:prstGeom prst="rect">
                <a:avLst/>
              </a:prstGeom>
              <a:blipFill>
                <a:blip r:embed="rIdEq64"/>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63" name="!!sym_gamma"/>
              <p:cNvSpPr txBox="1"/>
              <p:nvPr/>
            </p:nvSpPr>
            <p:spPr>
              <a:xfrm>
                <a:off x="5166360" y="297180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𝛾</m:t>
                      </m:r>
                    </m:oMath>
                  </m:oMathPara>
                </a14:m>
                <a:endParaRPr lang="en-US" sz="2600" dirty="0"/>
              </a:p>
            </p:txBody>
          </p:sp>
        </mc:Choice>
        <mc:Fallback xmlns="">
          <p:sp>
            <p:nvSpPr>
              <p:cNvPr id="63" name="!!sym_gamma"/>
              <p:cNvSpPr txBox="1"/>
              <p:nvPr/>
            </p:nvSpPr>
            <p:spPr>
              <a:xfrm>
                <a:off x="5166360" y="2971800"/>
                <a:ext cx="1097280" cy="438912"/>
              </a:xfrm>
              <a:prstGeom prst="rect">
                <a:avLst/>
              </a:prstGeom>
              <a:blipFill>
                <a:blip r:embed="rIdEq65"/>
                <a:stretch>
                  <a:fillRect/>
                </a:stretch>
              </a:blipFill>
              <a:ln/>
            </p:spPr>
            <p:txBody>
              <a:bodyPr wrap="square" lIns="0" tIns="0" rIns="0" bIns="0" rtlCol="0" anchor="ctr"/>
              <a:lstStyle/>
              <a:p>
                <a:endParaRPr lang="en-US" dirty="0"/>
              </a:p>
            </p:txBody>
          </p:sp>
        </mc:Fallback>
      </mc:AlternateContent>
      <p:sp>
        <p:nvSpPr>
          <p:cNvPr id="64" name="!!name_gamma"/>
          <p:cNvSpPr txBox="1"/>
          <p:nvPr/>
        </p:nvSpPr>
        <p:spPr>
          <a:xfrm>
            <a:off x="5166360" y="341071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photon</a:t>
            </a:r>
            <a:endParaRPr lang="en-US" sz="1000" dirty="0"/>
          </a:p>
        </p:txBody>
      </p:sp>
      <p:sp>
        <p:nvSpPr>
          <p:cNvPr id="65" name="!!cell_Z"/>
          <p:cNvSpPr/>
          <p:nvPr/>
        </p:nvSpPr>
        <p:spPr>
          <a:xfrm>
            <a:off x="5166360" y="374904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66" name="!!q_Z"/>
              <p:cNvSpPr txBox="1"/>
              <p:nvPr/>
            </p:nvSpPr>
            <p:spPr>
              <a:xfrm>
                <a:off x="5230368" y="378561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0</m:t>
                      </m:r>
                    </m:oMath>
                  </m:oMathPara>
                </a14:m>
                <a:endParaRPr lang="en-US" sz="1100" dirty="0"/>
              </a:p>
            </p:txBody>
          </p:sp>
        </mc:Choice>
        <mc:Fallback xmlns="">
          <p:sp>
            <p:nvSpPr>
              <p:cNvPr id="66" name="!!q_Z"/>
              <p:cNvSpPr txBox="1"/>
              <p:nvPr/>
            </p:nvSpPr>
            <p:spPr>
              <a:xfrm>
                <a:off x="5230368" y="3785616"/>
                <a:ext cx="969264" cy="237744"/>
              </a:xfrm>
              <a:prstGeom prst="rect">
                <a:avLst/>
              </a:prstGeom>
              <a:blipFill>
                <a:blip r:embed="rIdEq66"/>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67" name="!!sym_Z"/>
              <p:cNvSpPr txBox="1"/>
              <p:nvPr/>
            </p:nvSpPr>
            <p:spPr>
              <a:xfrm>
                <a:off x="5166360" y="393192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𝑍</m:t>
                      </m:r>
                    </m:oMath>
                  </m:oMathPara>
                </a14:m>
                <a:endParaRPr lang="en-US" sz="2600" dirty="0"/>
              </a:p>
            </p:txBody>
          </p:sp>
        </mc:Choice>
        <mc:Fallback xmlns="">
          <p:sp>
            <p:nvSpPr>
              <p:cNvPr id="67" name="!!sym_Z"/>
              <p:cNvSpPr txBox="1"/>
              <p:nvPr/>
            </p:nvSpPr>
            <p:spPr>
              <a:xfrm>
                <a:off x="5166360" y="3931920"/>
                <a:ext cx="1097280" cy="438912"/>
              </a:xfrm>
              <a:prstGeom prst="rect">
                <a:avLst/>
              </a:prstGeom>
              <a:blipFill>
                <a:blip r:embed="rIdEq67"/>
                <a:stretch>
                  <a:fillRect/>
                </a:stretch>
              </a:blipFill>
              <a:ln/>
            </p:spPr>
            <p:txBody>
              <a:bodyPr wrap="square" lIns="0" tIns="0" rIns="0" bIns="0" rtlCol="0" anchor="ctr"/>
              <a:lstStyle/>
              <a:p>
                <a:endParaRPr lang="en-US" dirty="0"/>
              </a:p>
            </p:txBody>
          </p:sp>
        </mc:Fallback>
      </mc:AlternateContent>
      <p:sp>
        <p:nvSpPr>
          <p:cNvPr id="68" name="!!name_Z"/>
          <p:cNvSpPr txBox="1"/>
          <p:nvPr/>
        </p:nvSpPr>
        <p:spPr>
          <a:xfrm>
            <a:off x="5166360" y="437083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Z boson</a:t>
            </a:r>
            <a:endParaRPr lang="en-US" sz="1000" dirty="0"/>
          </a:p>
        </p:txBody>
      </p:sp>
      <p:sp>
        <p:nvSpPr>
          <p:cNvPr id="69" name="!!cell_W"/>
          <p:cNvSpPr/>
          <p:nvPr/>
        </p:nvSpPr>
        <p:spPr>
          <a:xfrm>
            <a:off x="5166360" y="470916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70" name="!!q_W"/>
              <p:cNvSpPr txBox="1"/>
              <p:nvPr/>
            </p:nvSpPr>
            <p:spPr>
              <a:xfrm>
                <a:off x="5230368" y="474573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±1</m:t>
                      </m:r>
                    </m:oMath>
                  </m:oMathPara>
                </a14:m>
                <a:endParaRPr lang="en-US" sz="1100" dirty="0"/>
              </a:p>
            </p:txBody>
          </p:sp>
        </mc:Choice>
        <mc:Fallback xmlns="">
          <p:sp>
            <p:nvSpPr>
              <p:cNvPr id="70" name="!!q_W"/>
              <p:cNvSpPr txBox="1"/>
              <p:nvPr/>
            </p:nvSpPr>
            <p:spPr>
              <a:xfrm>
                <a:off x="5230368" y="4745736"/>
                <a:ext cx="969264" cy="237744"/>
              </a:xfrm>
              <a:prstGeom prst="rect">
                <a:avLst/>
              </a:prstGeom>
              <a:blipFill>
                <a:blip r:embed="rIdEq68"/>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71" name="!!sym_W"/>
              <p:cNvSpPr txBox="1"/>
              <p:nvPr/>
            </p:nvSpPr>
            <p:spPr>
              <a:xfrm>
                <a:off x="5166360" y="489204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n-US" sz="2600" i="1">
                              <a:solidFill>
                                <a:srgbClr val="9A9A9A"/>
                              </a:solidFill>
                              <a:latin typeface="Cambria Math" panose="02040503050406030204" pitchFamily="18" charset="0"/>
                            </a:rPr>
                          </m:ctrlPr>
                        </m:sSupPr>
                        <m:e>
                          <m:r>
                            <a:rPr lang="en-US" sz="2600" i="1">
                              <a:solidFill>
                                <a:srgbClr val="9A9A9A"/>
                              </a:solidFill>
                              <a:latin typeface="Cambria Math" panose="02040503050406030204" pitchFamily="18" charset="0"/>
                            </a:rPr>
                            <m:t>𝑊</m:t>
                          </m:r>
                        </m:e>
                        <m:sup>
                          <m:r>
                            <a:rPr lang="en-US" sz="2600" i="0">
                              <a:solidFill>
                                <a:srgbClr val="9A9A9A"/>
                              </a:solidFill>
                              <a:latin typeface="Cambria Math" panose="02040503050406030204" pitchFamily="18" charset="0"/>
                            </a:rPr>
                            <m:t>±</m:t>
                          </m:r>
                        </m:sup>
                      </m:sSup>
                    </m:oMath>
                  </m:oMathPara>
                </a14:m>
                <a:endParaRPr lang="en-US" sz="2600" dirty="0"/>
              </a:p>
            </p:txBody>
          </p:sp>
        </mc:Choice>
        <mc:Fallback xmlns="">
          <p:sp>
            <p:nvSpPr>
              <p:cNvPr id="71" name="!!sym_W"/>
              <p:cNvSpPr txBox="1"/>
              <p:nvPr/>
            </p:nvSpPr>
            <p:spPr>
              <a:xfrm>
                <a:off x="5166360" y="4892040"/>
                <a:ext cx="1097280" cy="438912"/>
              </a:xfrm>
              <a:prstGeom prst="rect">
                <a:avLst/>
              </a:prstGeom>
              <a:blipFill>
                <a:blip r:embed="rIdEq69"/>
                <a:stretch>
                  <a:fillRect/>
                </a:stretch>
              </a:blipFill>
              <a:ln/>
            </p:spPr>
            <p:txBody>
              <a:bodyPr wrap="square" lIns="0" tIns="0" rIns="0" bIns="0" rtlCol="0" anchor="ctr"/>
              <a:lstStyle/>
              <a:p>
                <a:endParaRPr lang="en-US" dirty="0"/>
              </a:p>
            </p:txBody>
          </p:sp>
        </mc:Fallback>
      </mc:AlternateContent>
      <p:sp>
        <p:nvSpPr>
          <p:cNvPr id="72" name="!!name_W"/>
          <p:cNvSpPr txBox="1"/>
          <p:nvPr/>
        </p:nvSpPr>
        <p:spPr>
          <a:xfrm>
            <a:off x="5166360" y="533095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W boson</a:t>
            </a:r>
            <a:endParaRPr lang="en-US" sz="1000" dirty="0"/>
          </a:p>
        </p:txBody>
      </p:sp>
      <p:sp>
        <p:nvSpPr>
          <p:cNvPr id="73" name="!!cell_H"/>
          <p:cNvSpPr/>
          <p:nvPr/>
        </p:nvSpPr>
        <p:spPr>
          <a:xfrm>
            <a:off x="6355080" y="1828800"/>
            <a:ext cx="1097280" cy="868680"/>
          </a:xfrm>
          <a:prstGeom prst="roundRect">
            <a:avLst>
              <a:gd name="adj" fmla="val 8421"/>
            </a:avLst>
          </a:prstGeom>
          <a:solidFill>
            <a:srgbClr val="F2F2F2"/>
          </a:solidFill>
          <a:ln w="12700">
            <a:solidFill>
              <a:srgbClr val="D0D0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74" name="!!q_H"/>
              <p:cNvSpPr txBox="1"/>
              <p:nvPr/>
            </p:nvSpPr>
            <p:spPr>
              <a:xfrm>
                <a:off x="6419088" y="1865376"/>
                <a:ext cx="969264" cy="237744"/>
              </a:xfrm>
              <a:prstGeom prst="rect">
                <a:avLst/>
              </a:prstGeom>
              <a:noFill/>
              <a:ln/>
            </p:spPr>
            <p:txBody>
              <a:bodyPr wrap="square" lIns="0" tIns="0" rIns="0" bIns="0" rtlCol="0" anchor="ctr"/>
              <a:lstStyle/>
              <a:p>
                <a:pPr algn="l"/>
                <a14:m>
                  <m:oMathPara xmlns:m="http://schemas.openxmlformats.org/officeDocument/2006/math">
                    <m:oMathParaPr>
                      <m:jc m:val="centerGroup"/>
                    </m:oMathParaPr>
                    <m:oMath xmlns:m="http://schemas.openxmlformats.org/officeDocument/2006/math">
                      <m:r>
                        <a:rPr lang="en-US" sz="1100" i="0">
                          <a:solidFill>
                            <a:srgbClr val="9A9A9A"/>
                          </a:solidFill>
                          <a:latin typeface="Cambria Math" panose="02040503050406030204" pitchFamily="18" charset="0"/>
                        </a:rPr>
                        <m:t>0</m:t>
                      </m:r>
                    </m:oMath>
                  </m:oMathPara>
                </a14:m>
                <a:endParaRPr lang="en-US" sz="1100" dirty="0"/>
              </a:p>
            </p:txBody>
          </p:sp>
        </mc:Choice>
        <mc:Fallback xmlns="">
          <p:sp>
            <p:nvSpPr>
              <p:cNvPr id="74" name="!!q_H"/>
              <p:cNvSpPr txBox="1"/>
              <p:nvPr/>
            </p:nvSpPr>
            <p:spPr>
              <a:xfrm>
                <a:off x="6419088" y="1865376"/>
                <a:ext cx="969264" cy="237744"/>
              </a:xfrm>
              <a:prstGeom prst="rect">
                <a:avLst/>
              </a:prstGeom>
              <a:blipFill>
                <a:blip r:embed="rIdEq70"/>
                <a:stretch>
                  <a:fillRect/>
                </a:stretch>
              </a:blipFill>
              <a:ln/>
            </p:spPr>
            <p:txBody>
              <a:bodyPr wrap="square" lIns="0" tIns="0" rIns="0" bIns="0" rtlCol="0" anchor="ctr"/>
              <a:lstStyle/>
              <a:p>
                <a:endParaRPr lang="en-US" dirty="0"/>
              </a:p>
            </p:txBody>
          </p:sp>
        </mc:Fallback>
      </mc:AlternateContent>
      <mc:AlternateContent xmlns:mc="http://schemas.openxmlformats.org/markup-compatibility/2006" xmlns:a14="http://schemas.microsoft.com/office/drawing/2010/main">
        <mc:Choice Requires="a14">
          <p:sp>
            <p:nvSpPr>
              <p:cNvPr id="75" name="!!sym_H"/>
              <p:cNvSpPr txBox="1"/>
              <p:nvPr/>
            </p:nvSpPr>
            <p:spPr>
              <a:xfrm>
                <a:off x="6355080" y="2011680"/>
                <a:ext cx="1097280" cy="43891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600" i="1">
                          <a:solidFill>
                            <a:srgbClr val="9A9A9A"/>
                          </a:solidFill>
                          <a:latin typeface="Cambria Math" panose="02040503050406030204" pitchFamily="18" charset="0"/>
                        </a:rPr>
                        <m:t>𝐻</m:t>
                      </m:r>
                    </m:oMath>
                  </m:oMathPara>
                </a14:m>
                <a:endParaRPr lang="en-US" sz="2600" dirty="0"/>
              </a:p>
            </p:txBody>
          </p:sp>
        </mc:Choice>
        <mc:Fallback xmlns="">
          <p:sp>
            <p:nvSpPr>
              <p:cNvPr id="75" name="!!sym_H"/>
              <p:cNvSpPr txBox="1"/>
              <p:nvPr/>
            </p:nvSpPr>
            <p:spPr>
              <a:xfrm>
                <a:off x="6355080" y="2011680"/>
                <a:ext cx="1097280" cy="438912"/>
              </a:xfrm>
              <a:prstGeom prst="rect">
                <a:avLst/>
              </a:prstGeom>
              <a:blipFill>
                <a:blip r:embed="rIdEq71"/>
                <a:stretch>
                  <a:fillRect/>
                </a:stretch>
              </a:blipFill>
              <a:ln/>
            </p:spPr>
            <p:txBody>
              <a:bodyPr wrap="square" lIns="0" tIns="0" rIns="0" bIns="0" rtlCol="0" anchor="ctr"/>
              <a:lstStyle/>
              <a:p>
                <a:endParaRPr lang="en-US" dirty="0"/>
              </a:p>
            </p:txBody>
          </p:sp>
        </mc:Fallback>
      </mc:AlternateContent>
      <p:sp>
        <p:nvSpPr>
          <p:cNvPr id="76" name="!!name_H"/>
          <p:cNvSpPr txBox="1"/>
          <p:nvPr/>
        </p:nvSpPr>
        <p:spPr>
          <a:xfrm>
            <a:off x="6355080" y="2450592"/>
            <a:ext cx="1097280" cy="201168"/>
          </a:xfrm>
          <a:prstGeom prst="rect">
            <a:avLst/>
          </a:prstGeom>
          <a:noFill/>
          <a:ln/>
        </p:spPr>
        <p:txBody>
          <a:bodyPr wrap="square" lIns="0" tIns="0" rIns="0" bIns="0"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Higgs</a:t>
            </a:r>
            <a:endParaRPr lang="en-US" sz="1000" dirty="0"/>
          </a:p>
        </p:txBody>
      </p:sp>
      <p:sp>
        <p:nvSpPr>
          <p:cNvPr id="77" name="!!br_qa"/>
          <p:cNvSpPr/>
          <p:nvPr/>
        </p:nvSpPr>
        <p:spPr>
          <a:xfrm>
            <a:off x="1143000" y="1874520"/>
            <a:ext cx="0" cy="1737360"/>
          </a:xfrm>
          <a:prstGeom prst="line">
            <a:avLst/>
          </a:prstGeom>
          <a:noFill/>
          <a:ln w="25400">
            <a:solidFill>
              <a:srgbClr val="9A9A9A"/>
            </a:solidFill>
            <a:prstDash val="solid"/>
          </a:ln>
        </p:spPr>
        <p:txBody>
          <a:bodyPr/>
          <a:lstStyle/>
          <a:p>
            <a:endParaRPr lang="en-US"/>
          </a:p>
        </p:txBody>
      </p:sp>
      <p:sp>
        <p:nvSpPr>
          <p:cNvPr id="78" name="!!br_qb"/>
          <p:cNvSpPr/>
          <p:nvPr/>
        </p:nvSpPr>
        <p:spPr>
          <a:xfrm>
            <a:off x="1143000" y="1874520"/>
            <a:ext cx="109728" cy="0"/>
          </a:xfrm>
          <a:prstGeom prst="line">
            <a:avLst/>
          </a:prstGeom>
          <a:noFill/>
          <a:ln w="25400">
            <a:solidFill>
              <a:srgbClr val="9A9A9A"/>
            </a:solidFill>
            <a:prstDash val="solid"/>
          </a:ln>
        </p:spPr>
        <p:txBody>
          <a:bodyPr/>
          <a:lstStyle/>
          <a:p>
            <a:endParaRPr lang="en-US"/>
          </a:p>
        </p:txBody>
      </p:sp>
      <p:sp>
        <p:nvSpPr>
          <p:cNvPr id="79" name="!!br_qc"/>
          <p:cNvSpPr/>
          <p:nvPr/>
        </p:nvSpPr>
        <p:spPr>
          <a:xfrm>
            <a:off x="1143000" y="3611880"/>
            <a:ext cx="109728" cy="0"/>
          </a:xfrm>
          <a:prstGeom prst="line">
            <a:avLst/>
          </a:prstGeom>
          <a:noFill/>
          <a:ln w="25400">
            <a:solidFill>
              <a:srgbClr val="9A9A9A"/>
            </a:solidFill>
            <a:prstDash val="solid"/>
          </a:ln>
        </p:spPr>
        <p:txBody>
          <a:bodyPr/>
          <a:lstStyle/>
          <a:p>
            <a:endParaRPr lang="en-US"/>
          </a:p>
        </p:txBody>
      </p:sp>
      <p:sp>
        <p:nvSpPr>
          <p:cNvPr id="80" name="!!brl_q"/>
          <p:cNvSpPr txBox="1"/>
          <p:nvPr/>
        </p:nvSpPr>
        <p:spPr>
          <a:xfrm>
            <a:off x="274320" y="2560320"/>
            <a:ext cx="822960" cy="365760"/>
          </a:xfrm>
          <a:prstGeom prst="rect">
            <a:avLst/>
          </a:prstGeom>
          <a:noFill/>
          <a:ln/>
        </p:spPr>
        <p:txBody>
          <a:bodyPr wrap="square" lIns="0" tIns="0" rIns="0" bIns="0" rtlCol="0" anchor="ctr"/>
          <a:lstStyle/>
          <a:p>
            <a:pPr marL="0" indent="0" algn="r">
              <a:buNone/>
            </a:pPr>
            <a:r>
              <a:rPr lang="en-US" sz="1400" b="1" dirty="0">
                <a:solidFill>
                  <a:srgbClr val="9A9A9A"/>
                </a:solidFill>
                <a:latin typeface="Calibri" pitchFamily="34" charset="0"/>
                <a:ea typeface="Calibri" pitchFamily="34" charset="-122"/>
                <a:cs typeface="Calibri" pitchFamily="34" charset="-120"/>
              </a:rPr>
              <a:t>Quarks</a:t>
            </a:r>
            <a:endParaRPr lang="en-US" sz="1400" dirty="0"/>
          </a:p>
        </p:txBody>
      </p:sp>
      <p:sp>
        <p:nvSpPr>
          <p:cNvPr id="81" name="!!br_la"/>
          <p:cNvSpPr/>
          <p:nvPr/>
        </p:nvSpPr>
        <p:spPr>
          <a:xfrm>
            <a:off x="1143000" y="3794760"/>
            <a:ext cx="0" cy="1737360"/>
          </a:xfrm>
          <a:prstGeom prst="line">
            <a:avLst/>
          </a:prstGeom>
          <a:noFill/>
          <a:ln w="25400">
            <a:solidFill>
              <a:srgbClr val="73000A"/>
            </a:solidFill>
            <a:prstDash val="solid"/>
          </a:ln>
        </p:spPr>
        <p:txBody>
          <a:bodyPr/>
          <a:lstStyle/>
          <a:p>
            <a:endParaRPr lang="en-US"/>
          </a:p>
        </p:txBody>
      </p:sp>
      <p:sp>
        <p:nvSpPr>
          <p:cNvPr id="82" name="!!br_lb"/>
          <p:cNvSpPr/>
          <p:nvPr/>
        </p:nvSpPr>
        <p:spPr>
          <a:xfrm>
            <a:off x="1143000" y="3794760"/>
            <a:ext cx="109728" cy="0"/>
          </a:xfrm>
          <a:prstGeom prst="line">
            <a:avLst/>
          </a:prstGeom>
          <a:noFill/>
          <a:ln w="25400">
            <a:solidFill>
              <a:srgbClr val="73000A"/>
            </a:solidFill>
            <a:prstDash val="solid"/>
          </a:ln>
        </p:spPr>
        <p:txBody>
          <a:bodyPr/>
          <a:lstStyle/>
          <a:p>
            <a:endParaRPr lang="en-US"/>
          </a:p>
        </p:txBody>
      </p:sp>
      <p:sp>
        <p:nvSpPr>
          <p:cNvPr id="83" name="!!br_lc"/>
          <p:cNvSpPr/>
          <p:nvPr/>
        </p:nvSpPr>
        <p:spPr>
          <a:xfrm>
            <a:off x="1143000" y="5532120"/>
            <a:ext cx="109728" cy="0"/>
          </a:xfrm>
          <a:prstGeom prst="line">
            <a:avLst/>
          </a:prstGeom>
          <a:noFill/>
          <a:ln w="25400">
            <a:solidFill>
              <a:srgbClr val="73000A"/>
            </a:solidFill>
            <a:prstDash val="solid"/>
          </a:ln>
        </p:spPr>
        <p:txBody>
          <a:bodyPr/>
          <a:lstStyle/>
          <a:p>
            <a:endParaRPr lang="en-US"/>
          </a:p>
        </p:txBody>
      </p:sp>
      <p:sp>
        <p:nvSpPr>
          <p:cNvPr id="84" name="!!brl_l"/>
          <p:cNvSpPr txBox="1"/>
          <p:nvPr/>
        </p:nvSpPr>
        <p:spPr>
          <a:xfrm>
            <a:off x="274320" y="4480560"/>
            <a:ext cx="822960" cy="365760"/>
          </a:xfrm>
          <a:prstGeom prst="rect">
            <a:avLst/>
          </a:prstGeom>
          <a:noFill/>
          <a:ln/>
        </p:spPr>
        <p:txBody>
          <a:bodyPr wrap="square" lIns="0" tIns="0" rIns="0" bIns="0" rtlCol="0" anchor="ctr"/>
          <a:lstStyle/>
          <a:p>
            <a:pPr marL="0" indent="0" algn="r">
              <a:buNone/>
            </a:pPr>
            <a:r>
              <a:rPr lang="en-US" sz="1400" b="1" dirty="0">
                <a:solidFill>
                  <a:srgbClr val="73000A"/>
                </a:solidFill>
                <a:latin typeface="Calibri" pitchFamily="34" charset="0"/>
                <a:ea typeface="Calibri" pitchFamily="34" charset="-122"/>
                <a:cs typeface="Calibri" pitchFamily="34" charset="-120"/>
              </a:rPr>
              <a:t>Leptons</a:t>
            </a:r>
            <a:endParaRPr lang="en-US" sz="1400" dirty="0"/>
          </a:p>
        </p:txBody>
      </p:sp>
      <p:sp>
        <p:nvSpPr>
          <p:cNvPr id="85" name="!!Lpill_e"/>
          <p:cNvSpPr/>
          <p:nvPr/>
        </p:nvSpPr>
        <p:spPr>
          <a:xfrm>
            <a:off x="1508760" y="5687568"/>
            <a:ext cx="731520" cy="292608"/>
          </a:xfrm>
          <a:prstGeom prst="roundRect">
            <a:avLst>
              <a:gd name="adj" fmla="val 50000"/>
            </a:avLst>
          </a:prstGeom>
          <a:solidFill>
            <a:srgbClr val="FFFFFF"/>
          </a:solidFill>
          <a:ln w="15875">
            <a:solidFill>
              <a:srgbClr val="73000A"/>
            </a:solidFill>
            <a:prstDash val="solid"/>
          </a:ln>
        </p:spPr>
        <p:txBody>
          <a:bodyPr/>
          <a:lstStyle/>
          <a:p>
            <a:endParaRPr lang="en-US"/>
          </a:p>
        </p:txBody>
      </p:sp>
      <mc:AlternateContent xmlns:mc="http://schemas.openxmlformats.org/markup-compatibility/2006" xmlns:a14="http://schemas.microsoft.com/office/drawing/2010/main">
        <mc:Choice Requires="a14">
          <p:sp>
            <p:nvSpPr>
              <p:cNvPr id="86" name="!!L_e"/>
              <p:cNvSpPr txBox="1"/>
              <p:nvPr/>
            </p:nvSpPr>
            <p:spPr>
              <a:xfrm>
                <a:off x="1508760" y="5687568"/>
                <a:ext cx="731520" cy="292608"/>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300" i="1">
                              <a:solidFill>
                                <a:srgbClr val="73000A"/>
                              </a:solidFill>
                              <a:latin typeface="Cambria Math" panose="02040503050406030204" pitchFamily="18" charset="0"/>
                            </a:rPr>
                          </m:ctrlPr>
                        </m:sSubPr>
                        <m:e>
                          <m:r>
                            <a:rPr lang="en-US" sz="1300" i="1">
                              <a:solidFill>
                                <a:srgbClr val="73000A"/>
                              </a:solidFill>
                              <a:latin typeface="Cambria Math" panose="02040503050406030204" pitchFamily="18" charset="0"/>
                            </a:rPr>
                            <m:t>𝐿</m:t>
                          </m:r>
                        </m:e>
                        <m:sub>
                          <m:r>
                            <a:rPr lang="en-US" sz="1300" i="1">
                              <a:solidFill>
                                <a:srgbClr val="73000A"/>
                              </a:solidFill>
                              <a:latin typeface="Cambria Math" panose="02040503050406030204" pitchFamily="18" charset="0"/>
                            </a:rPr>
                            <m:t>𝑒</m:t>
                          </m:r>
                        </m:sub>
                      </m:sSub>
                    </m:oMath>
                  </m:oMathPara>
                </a14:m>
                <a:endParaRPr lang="en-US" sz="1300" dirty="0"/>
              </a:p>
            </p:txBody>
          </p:sp>
        </mc:Choice>
        <mc:Fallback xmlns="">
          <p:sp>
            <p:nvSpPr>
              <p:cNvPr id="86" name="!!L_e"/>
              <p:cNvSpPr txBox="1"/>
              <p:nvPr/>
            </p:nvSpPr>
            <p:spPr>
              <a:xfrm>
                <a:off x="1508760" y="5687568"/>
                <a:ext cx="731520" cy="292608"/>
              </a:xfrm>
              <a:prstGeom prst="rect">
                <a:avLst/>
              </a:prstGeom>
              <a:blipFill>
                <a:blip r:embed="rIdEq72"/>
                <a:stretch>
                  <a:fillRect/>
                </a:stretch>
              </a:blipFill>
              <a:ln/>
            </p:spPr>
            <p:txBody>
              <a:bodyPr wrap="square" lIns="0" tIns="0" rIns="0" bIns="0" rtlCol="0" anchor="ctr"/>
              <a:lstStyle/>
              <a:p>
                <a:endParaRPr lang="en-US" dirty="0"/>
              </a:p>
            </p:txBody>
          </p:sp>
        </mc:Fallback>
      </mc:AlternateContent>
      <p:sp>
        <p:nvSpPr>
          <p:cNvPr id="87" name="!!Lpill_mu"/>
          <p:cNvSpPr/>
          <p:nvPr/>
        </p:nvSpPr>
        <p:spPr>
          <a:xfrm>
            <a:off x="2697480" y="5687568"/>
            <a:ext cx="731520" cy="292608"/>
          </a:xfrm>
          <a:prstGeom prst="roundRect">
            <a:avLst>
              <a:gd name="adj" fmla="val 50000"/>
            </a:avLst>
          </a:prstGeom>
          <a:solidFill>
            <a:srgbClr val="FFFFFF"/>
          </a:solidFill>
          <a:ln w="15875">
            <a:solidFill>
              <a:srgbClr val="73000A"/>
            </a:solidFill>
            <a:prstDash val="solid"/>
          </a:ln>
        </p:spPr>
        <p:txBody>
          <a:bodyPr/>
          <a:lstStyle/>
          <a:p>
            <a:endParaRPr lang="en-US"/>
          </a:p>
        </p:txBody>
      </p:sp>
      <mc:AlternateContent xmlns:mc="http://schemas.openxmlformats.org/markup-compatibility/2006" xmlns:a14="http://schemas.microsoft.com/office/drawing/2010/main">
        <mc:Choice Requires="a14">
          <p:sp>
            <p:nvSpPr>
              <p:cNvPr id="88" name="!!L_mu"/>
              <p:cNvSpPr txBox="1"/>
              <p:nvPr/>
            </p:nvSpPr>
            <p:spPr>
              <a:xfrm>
                <a:off x="2697480" y="5687568"/>
                <a:ext cx="731520" cy="292608"/>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300" i="1">
                              <a:solidFill>
                                <a:srgbClr val="73000A"/>
                              </a:solidFill>
                              <a:latin typeface="Cambria Math" panose="02040503050406030204" pitchFamily="18" charset="0"/>
                            </a:rPr>
                          </m:ctrlPr>
                        </m:sSubPr>
                        <m:e>
                          <m:r>
                            <a:rPr lang="en-US" sz="1300" i="1">
                              <a:solidFill>
                                <a:srgbClr val="73000A"/>
                              </a:solidFill>
                              <a:latin typeface="Cambria Math" panose="02040503050406030204" pitchFamily="18" charset="0"/>
                            </a:rPr>
                            <m:t>𝐿</m:t>
                          </m:r>
                        </m:e>
                        <m:sub>
                          <m:r>
                            <a:rPr lang="en-US" sz="1300" i="1">
                              <a:solidFill>
                                <a:srgbClr val="73000A"/>
                              </a:solidFill>
                              <a:latin typeface="Cambria Math" panose="02040503050406030204" pitchFamily="18" charset="0"/>
                            </a:rPr>
                            <m:t>𝜇</m:t>
                          </m:r>
                        </m:sub>
                      </m:sSub>
                    </m:oMath>
                  </m:oMathPara>
                </a14:m>
                <a:endParaRPr lang="en-US" sz="1300" dirty="0"/>
              </a:p>
            </p:txBody>
          </p:sp>
        </mc:Choice>
        <mc:Fallback xmlns="">
          <p:sp>
            <p:nvSpPr>
              <p:cNvPr id="88" name="!!L_mu"/>
              <p:cNvSpPr txBox="1"/>
              <p:nvPr/>
            </p:nvSpPr>
            <p:spPr>
              <a:xfrm>
                <a:off x="2697480" y="5687568"/>
                <a:ext cx="731520" cy="292608"/>
              </a:xfrm>
              <a:prstGeom prst="rect">
                <a:avLst/>
              </a:prstGeom>
              <a:blipFill>
                <a:blip r:embed="rIdEq73"/>
                <a:stretch>
                  <a:fillRect/>
                </a:stretch>
              </a:blipFill>
              <a:ln/>
            </p:spPr>
            <p:txBody>
              <a:bodyPr wrap="square" lIns="0" tIns="0" rIns="0" bIns="0" rtlCol="0" anchor="ctr"/>
              <a:lstStyle/>
              <a:p>
                <a:endParaRPr lang="en-US" dirty="0"/>
              </a:p>
            </p:txBody>
          </p:sp>
        </mc:Fallback>
      </mc:AlternateContent>
      <p:sp>
        <p:nvSpPr>
          <p:cNvPr id="89" name="!!Lpill_tau"/>
          <p:cNvSpPr/>
          <p:nvPr/>
        </p:nvSpPr>
        <p:spPr>
          <a:xfrm>
            <a:off x="3886200" y="5687568"/>
            <a:ext cx="731520" cy="292608"/>
          </a:xfrm>
          <a:prstGeom prst="roundRect">
            <a:avLst>
              <a:gd name="adj" fmla="val 50000"/>
            </a:avLst>
          </a:prstGeom>
          <a:solidFill>
            <a:srgbClr val="FFFFFF"/>
          </a:solidFill>
          <a:ln w="15875">
            <a:solidFill>
              <a:srgbClr val="73000A"/>
            </a:solidFill>
            <a:prstDash val="solid"/>
          </a:ln>
        </p:spPr>
        <p:txBody>
          <a:bodyPr/>
          <a:lstStyle/>
          <a:p>
            <a:endParaRPr lang="en-US"/>
          </a:p>
        </p:txBody>
      </p:sp>
      <mc:AlternateContent xmlns:mc="http://schemas.openxmlformats.org/markup-compatibility/2006" xmlns:a14="http://schemas.microsoft.com/office/drawing/2010/main">
        <mc:Choice Requires="a14">
          <p:sp>
            <p:nvSpPr>
              <p:cNvPr id="90" name="!!L_tau"/>
              <p:cNvSpPr txBox="1"/>
              <p:nvPr/>
            </p:nvSpPr>
            <p:spPr>
              <a:xfrm>
                <a:off x="3886200" y="5687568"/>
                <a:ext cx="731520" cy="292608"/>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300" i="1">
                              <a:solidFill>
                                <a:srgbClr val="73000A"/>
                              </a:solidFill>
                              <a:latin typeface="Cambria Math" panose="02040503050406030204" pitchFamily="18" charset="0"/>
                            </a:rPr>
                          </m:ctrlPr>
                        </m:sSubPr>
                        <m:e>
                          <m:r>
                            <a:rPr lang="en-US" sz="1300" i="1">
                              <a:solidFill>
                                <a:srgbClr val="73000A"/>
                              </a:solidFill>
                              <a:latin typeface="Cambria Math" panose="02040503050406030204" pitchFamily="18" charset="0"/>
                            </a:rPr>
                            <m:t>𝐿</m:t>
                          </m:r>
                        </m:e>
                        <m:sub>
                          <m:r>
                            <a:rPr lang="en-US" sz="1300" i="1">
                              <a:solidFill>
                                <a:srgbClr val="73000A"/>
                              </a:solidFill>
                              <a:latin typeface="Cambria Math" panose="02040503050406030204" pitchFamily="18" charset="0"/>
                            </a:rPr>
                            <m:t>𝜏</m:t>
                          </m:r>
                        </m:sub>
                      </m:sSub>
                    </m:oMath>
                  </m:oMathPara>
                </a14:m>
                <a:endParaRPr lang="en-US" sz="1300" dirty="0"/>
              </a:p>
            </p:txBody>
          </p:sp>
        </mc:Choice>
        <mc:Fallback xmlns="">
          <p:sp>
            <p:nvSpPr>
              <p:cNvPr id="90" name="!!L_tau"/>
              <p:cNvSpPr txBox="1"/>
              <p:nvPr/>
            </p:nvSpPr>
            <p:spPr>
              <a:xfrm>
                <a:off x="3886200" y="5687568"/>
                <a:ext cx="731520" cy="292608"/>
              </a:xfrm>
              <a:prstGeom prst="rect">
                <a:avLst/>
              </a:prstGeom>
              <a:blipFill>
                <a:blip r:embed="rIdEq74"/>
                <a:stretch>
                  <a:fillRect/>
                </a:stretch>
              </a:blipFill>
              <a:ln/>
            </p:spPr>
            <p:txBody>
              <a:bodyPr wrap="square" lIns="0" tIns="0" rIns="0" bIns="0" rtlCol="0" anchor="ctr"/>
              <a:lstStyle/>
              <a:p>
                <a:endParaRPr lang="en-US" dirty="0"/>
              </a:p>
            </p:txBody>
          </p:sp>
        </mc:Fallback>
      </mc:AlternateContent>
      <p:sp>
        <p:nvSpPr>
          <p:cNvPr id="91" name="!!Llabel"/>
          <p:cNvSpPr txBox="1"/>
          <p:nvPr/>
        </p:nvSpPr>
        <p:spPr>
          <a:xfrm>
            <a:off x="1325880" y="6016752"/>
            <a:ext cx="3474720" cy="228600"/>
          </a:xfrm>
          <a:prstGeom prst="rect">
            <a:avLst/>
          </a:prstGeom>
          <a:noFill/>
          <a:ln/>
        </p:spPr>
        <p:txBody>
          <a:bodyPr wrap="square" lIns="0" tIns="0" rIns="0" bIns="0" rtlCol="0" anchor="ctr"/>
          <a:lstStyle/>
          <a:p>
            <a:pPr marL="0" indent="0" algn="ctr">
              <a:buNone/>
            </a:pPr>
            <a:r>
              <a:rPr lang="en-US" sz="1100" i="1" dirty="0">
                <a:solidFill>
                  <a:srgbClr val="73000A"/>
                </a:solidFill>
                <a:latin typeface="Calibri" pitchFamily="34" charset="0"/>
                <a:ea typeface="Calibri" pitchFamily="34" charset="-122"/>
                <a:cs typeface="Calibri" pitchFamily="34" charset="-120"/>
              </a:rPr>
              <a:t>Lepton flavor numbers</a:t>
            </a:r>
            <a:endParaRPr lang="en-US" sz="1100" dirty="0"/>
          </a:p>
        </p:txBody>
      </p:sp>
      <p:sp>
        <p:nvSpPr>
          <p:cNvPr id="92" name="Shape 90"/>
          <p:cNvSpPr/>
          <p:nvPr/>
        </p:nvSpPr>
        <p:spPr>
          <a:xfrm>
            <a:off x="6373368" y="5143500"/>
            <a:ext cx="1207008" cy="0"/>
          </a:xfrm>
          <a:prstGeom prst="line">
            <a:avLst/>
          </a:prstGeom>
          <a:noFill/>
          <a:ln w="22225">
            <a:solidFill>
              <a:srgbClr val="1F3A68"/>
            </a:solidFill>
            <a:prstDash val="solid"/>
            <a:headEnd type="triangle"/>
          </a:ln>
        </p:spPr>
        <p:txBody>
          <a:bodyPr/>
          <a:lstStyle/>
          <a:p>
            <a:endParaRPr lang="en-US"/>
          </a:p>
        </p:txBody>
      </p:sp>
      <p:sp>
        <p:nvSpPr>
          <p:cNvPr id="93" name="Shape 91"/>
          <p:cNvSpPr/>
          <p:nvPr/>
        </p:nvSpPr>
        <p:spPr>
          <a:xfrm>
            <a:off x="7635240" y="4709160"/>
            <a:ext cx="4069080" cy="868680"/>
          </a:xfrm>
          <a:prstGeom prst="roundRect">
            <a:avLst>
              <a:gd name="adj" fmla="val 8421"/>
            </a:avLst>
          </a:prstGeom>
          <a:solidFill>
            <a:srgbClr val="EEF2F8"/>
          </a:solidFill>
          <a:ln w="15875">
            <a:solidFill>
              <a:srgbClr val="1F3A68"/>
            </a:solidFill>
            <a:prstDash val="solid"/>
          </a:ln>
        </p:spPr>
        <p:txBody>
          <a:bodyPr/>
          <a:lstStyle/>
          <a:p>
            <a:endParaRPr lang="en-US"/>
          </a:p>
        </p:txBody>
      </p:sp>
      <p:sp>
        <p:nvSpPr>
          <p:cNvPr id="94" name="Text 92"/>
          <p:cNvSpPr txBox="1"/>
          <p:nvPr/>
        </p:nvSpPr>
        <p:spPr>
          <a:xfrm>
            <a:off x="7799832" y="4782312"/>
            <a:ext cx="3749040" cy="347472"/>
          </a:xfrm>
          <a:prstGeom prst="rect">
            <a:avLst/>
          </a:prstGeom>
          <a:noFill/>
          <a:ln/>
        </p:spPr>
        <p:txBody>
          <a:bodyPr wrap="square" lIns="0" tIns="0" rIns="0" bIns="0" rtlCol="0" anchor="ctr"/>
          <a:lstStyle/>
          <a:p>
            <a:pPr marL="0" indent="0">
              <a:buNone/>
            </a:pPr>
            <a:r>
              <a:rPr lang="en-US" sz="1500" b="1" dirty="0">
                <a:solidFill>
                  <a:srgbClr val="1F3A68"/>
                </a:solidFill>
                <a:latin typeface="Calibri" pitchFamily="34" charset="0"/>
                <a:ea typeface="Calibri" pitchFamily="34" charset="-122"/>
                <a:cs typeface="Calibri" pitchFamily="34" charset="-120"/>
              </a:rPr>
              <a:t>Neutrinos: flavor changes</a:t>
            </a:r>
            <a:endParaRPr lang="en-US" sz="1500" dirty="0"/>
          </a:p>
        </p:txBody>
      </p:sp>
      <p:sp>
        <p:nvSpPr>
          <p:cNvPr id="95" name="Text 93"/>
          <p:cNvSpPr txBox="1"/>
          <p:nvPr/>
        </p:nvSpPr>
        <p:spPr>
          <a:xfrm>
            <a:off x="7799832" y="5129784"/>
            <a:ext cx="3749040" cy="384048"/>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Oscillations observed, such as ν</a:t>
            </a:r>
            <a:r>
              <a:rPr lang="en-US" sz="1200" baseline="-40000" dirty="0">
                <a:solidFill>
                  <a:srgbClr val="333333"/>
                </a:solidFill>
                <a:latin typeface="Calibri" pitchFamily="34" charset="0"/>
                <a:ea typeface="Calibri" pitchFamily="34" charset="-122"/>
                <a:cs typeface="Calibri" pitchFamily="34" charset="-120"/>
              </a:rPr>
              <a:t>μ</a:t>
            </a:r>
            <a:r>
              <a:rPr lang="en-US" sz="1200" dirty="0">
                <a:solidFill>
                  <a:srgbClr val="333333"/>
                </a:solidFill>
                <a:latin typeface="Calibri" pitchFamily="34" charset="0"/>
                <a:ea typeface="Calibri" pitchFamily="34" charset="-122"/>
                <a:cs typeface="Calibri" pitchFamily="34" charset="-120"/>
              </a:rPr>
              <a:t> → ν</a:t>
            </a:r>
            <a:r>
              <a:rPr lang="en-US" sz="1200" baseline="-40000" dirty="0">
                <a:solidFill>
                  <a:srgbClr val="333333"/>
                </a:solidFill>
                <a:latin typeface="Calibri" pitchFamily="34" charset="0"/>
                <a:ea typeface="Calibri" pitchFamily="34" charset="-122"/>
                <a:cs typeface="Calibri" pitchFamily="34" charset="-120"/>
              </a:rPr>
              <a:t>e</a:t>
            </a:r>
            <a:endParaRPr lang="en-US" sz="1200" dirty="0"/>
          </a:p>
        </p:txBody>
      </p:sp>
      <p:sp>
        <p:nvSpPr>
          <p:cNvPr id="96" name="Shape 94"/>
          <p:cNvSpPr/>
          <p:nvPr/>
        </p:nvSpPr>
        <p:spPr>
          <a:xfrm>
            <a:off x="6373368" y="4183380"/>
            <a:ext cx="1207008" cy="0"/>
          </a:xfrm>
          <a:prstGeom prst="line">
            <a:avLst/>
          </a:prstGeom>
          <a:noFill/>
          <a:ln w="22225">
            <a:solidFill>
              <a:srgbClr val="73000A"/>
            </a:solidFill>
            <a:prstDash val="solid"/>
            <a:headEnd type="triangle"/>
          </a:ln>
        </p:spPr>
        <p:txBody>
          <a:bodyPr/>
          <a:lstStyle/>
          <a:p>
            <a:endParaRPr lang="en-US"/>
          </a:p>
        </p:txBody>
      </p:sp>
      <p:sp>
        <p:nvSpPr>
          <p:cNvPr id="97" name="Shape 95"/>
          <p:cNvSpPr/>
          <p:nvPr/>
        </p:nvSpPr>
        <p:spPr>
          <a:xfrm>
            <a:off x="7635240" y="3749040"/>
            <a:ext cx="4069080" cy="868680"/>
          </a:xfrm>
          <a:prstGeom prst="roundRect">
            <a:avLst>
              <a:gd name="adj" fmla="val 8421"/>
            </a:avLst>
          </a:prstGeom>
          <a:solidFill>
            <a:srgbClr val="73000A"/>
          </a:solidFill>
          <a:ln w="15875">
            <a:solidFill>
              <a:srgbClr val="73000A"/>
            </a:solidFill>
            <a:prstDash val="solid"/>
          </a:ln>
        </p:spPr>
        <p:txBody>
          <a:bodyPr/>
          <a:lstStyle/>
          <a:p>
            <a:endParaRPr lang="en-US"/>
          </a:p>
        </p:txBody>
      </p:sp>
      <p:sp>
        <p:nvSpPr>
          <p:cNvPr id="98" name="Text 96"/>
          <p:cNvSpPr txBox="1"/>
          <p:nvPr/>
        </p:nvSpPr>
        <p:spPr>
          <a:xfrm>
            <a:off x="7799832" y="3822192"/>
            <a:ext cx="374904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Charged leptons: no flavor change seen</a:t>
            </a:r>
            <a:endParaRPr lang="en-US" sz="1500" dirty="0"/>
          </a:p>
        </p:txBody>
      </p:sp>
      <p:sp>
        <p:nvSpPr>
          <p:cNvPr id="99" name="Text 97"/>
          <p:cNvSpPr txBox="1"/>
          <p:nvPr/>
        </p:nvSpPr>
        <p:spPr>
          <a:xfrm>
            <a:off x="7799832" y="4169664"/>
            <a:ext cx="37490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Charged lepton flavor violation (CLFV) never observed</a:t>
            </a:r>
            <a:endParaRPr lang="en-US" sz="1200" dirty="0"/>
          </a:p>
        </p:txBody>
      </p:sp>
      <p:sp>
        <p:nvSpPr>
          <p:cNvPr id="100" name="!!panel"/>
          <p:cNvSpPr/>
          <p:nvPr/>
        </p:nvSpPr>
        <p:spPr>
          <a:xfrm>
            <a:off x="7635240" y="1828800"/>
            <a:ext cx="4069080" cy="1828800"/>
          </a:xfrm>
          <a:prstGeom prst="roundRect">
            <a:avLst>
              <a:gd name="adj" fmla="val 4000"/>
            </a:avLst>
          </a:prstGeom>
          <a:solidFill>
            <a:srgbClr val="F4F0F0"/>
          </a:solidFill>
          <a:ln/>
        </p:spPr>
        <p:txBody>
          <a:bodyPr/>
          <a:lstStyle/>
          <a:p>
            <a:endParaRPr lang="en-US"/>
          </a:p>
        </p:txBody>
      </p:sp>
      <p:sp>
        <p:nvSpPr>
          <p:cNvPr id="101" name="Text 99"/>
          <p:cNvSpPr txBox="1"/>
          <p:nvPr/>
        </p:nvSpPr>
        <p:spPr>
          <a:xfrm>
            <a:off x="7799832" y="1920240"/>
            <a:ext cx="3749040" cy="320040"/>
          </a:xfrm>
          <a:prstGeom prst="rect">
            <a:avLst/>
          </a:prstGeom>
          <a:noFill/>
          <a:ln/>
        </p:spPr>
        <p:txBody>
          <a:bodyPr wrap="square" lIns="0" tIns="0" rIns="0" bIns="0" rtlCol="0" anchor="ctr"/>
          <a:lstStyle/>
          <a:p>
            <a:pPr marL="0" indent="0">
              <a:buNone/>
            </a:pPr>
            <a:r>
              <a:rPr lang="en-US" sz="1300" b="1" dirty="0">
                <a:solidFill>
                  <a:srgbClr val="333333"/>
                </a:solidFill>
                <a:latin typeface="Calibri" pitchFamily="34" charset="0"/>
                <a:ea typeface="Calibri" pitchFamily="34" charset="-122"/>
                <a:cs typeface="Calibri" pitchFamily="34" charset="-120"/>
              </a:rPr>
              <a:t>Gauge symmetry: SU(3)</a:t>
            </a:r>
            <a:r>
              <a:rPr lang="en-US" sz="1300" b="1" baseline="-40000" dirty="0">
                <a:solidFill>
                  <a:srgbClr val="333333"/>
                </a:solidFill>
                <a:latin typeface="Calibri" pitchFamily="34" charset="0"/>
                <a:ea typeface="Calibri" pitchFamily="34" charset="-122"/>
                <a:cs typeface="Calibri" pitchFamily="34" charset="-120"/>
              </a:rPr>
              <a:t>c</a:t>
            </a:r>
            <a:r>
              <a:rPr lang="en-US" sz="1300" b="1" dirty="0">
                <a:solidFill>
                  <a:srgbClr val="333333"/>
                </a:solidFill>
                <a:latin typeface="Calibri" pitchFamily="34" charset="0"/>
                <a:ea typeface="Calibri" pitchFamily="34" charset="-122"/>
                <a:cs typeface="Calibri" pitchFamily="34" charset="-120"/>
              </a:rPr>
              <a:t> × SU(2)</a:t>
            </a:r>
            <a:r>
              <a:rPr lang="en-US" sz="1300" b="1" baseline="-40000" dirty="0">
                <a:solidFill>
                  <a:srgbClr val="333333"/>
                </a:solidFill>
                <a:latin typeface="Calibri" pitchFamily="34" charset="0"/>
                <a:ea typeface="Calibri" pitchFamily="34" charset="-122"/>
                <a:cs typeface="Calibri" pitchFamily="34" charset="-120"/>
              </a:rPr>
              <a:t>L</a:t>
            </a:r>
            <a:r>
              <a:rPr lang="en-US" sz="1300" b="1" dirty="0">
                <a:solidFill>
                  <a:srgbClr val="333333"/>
                </a:solidFill>
                <a:latin typeface="Calibri" pitchFamily="34" charset="0"/>
                <a:ea typeface="Calibri" pitchFamily="34" charset="-122"/>
                <a:cs typeface="Calibri" pitchFamily="34" charset="-120"/>
              </a:rPr>
              <a:t> × U(1)</a:t>
            </a:r>
            <a:r>
              <a:rPr lang="en-US" sz="1300" b="1" baseline="-40000" dirty="0">
                <a:solidFill>
                  <a:srgbClr val="333333"/>
                </a:solidFill>
                <a:latin typeface="Calibri" pitchFamily="34" charset="0"/>
                <a:ea typeface="Calibri" pitchFamily="34" charset="-122"/>
                <a:cs typeface="Calibri" pitchFamily="34" charset="-120"/>
              </a:rPr>
              <a:t>Y</a:t>
            </a:r>
            <a:endParaRPr lang="en-US" sz="1300" dirty="0"/>
          </a:p>
        </p:txBody>
      </p:sp>
      <p:sp>
        <p:nvSpPr>
          <p:cNvPr id="102" name="Text 100"/>
          <p:cNvSpPr txBox="1"/>
          <p:nvPr/>
        </p:nvSpPr>
        <p:spPr>
          <a:xfrm>
            <a:off x="7799832" y="2267712"/>
            <a:ext cx="3749040" cy="274320"/>
          </a:xfrm>
          <a:prstGeom prst="rect">
            <a:avLst/>
          </a:prstGeom>
          <a:noFill/>
          <a:ln/>
        </p:spPr>
        <p:txBody>
          <a:bodyPr wrap="square" lIns="0" tIns="0" rIns="0" bIns="0" rtlCol="0" anchor="ctr"/>
          <a:lstStyle/>
          <a:p>
            <a:pPr marL="0" indent="0">
              <a:buNone/>
            </a:pPr>
            <a:r>
              <a:rPr lang="en-US" sz="1200" i="1" dirty="0">
                <a:solidFill>
                  <a:srgbClr val="333333"/>
                </a:solidFill>
                <a:latin typeface="Calibri" pitchFamily="34" charset="0"/>
                <a:ea typeface="Calibri" pitchFamily="34" charset="-122"/>
                <a:cs typeface="Calibri" pitchFamily="34" charset="-120"/>
              </a:rPr>
              <a:t>Accidental symmetries, not required by the gauge group:</a:t>
            </a:r>
            <a:endParaRPr lang="en-US" sz="1200" dirty="0"/>
          </a:p>
        </p:txBody>
      </p:sp>
      <p:sp>
        <p:nvSpPr>
          <p:cNvPr id="103" name="Text 101"/>
          <p:cNvSpPr txBox="1"/>
          <p:nvPr/>
        </p:nvSpPr>
        <p:spPr>
          <a:xfrm>
            <a:off x="7799832" y="2560320"/>
            <a:ext cx="3749040" cy="10058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Baryon number B</a:t>
            </a:r>
            <a:endParaRPr lang="en-US" sz="1200" dirty="0"/>
          </a:p>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Lepton number L</a:t>
            </a:r>
            <a:endParaRPr lang="en-US" sz="1200" dirty="0"/>
          </a:p>
          <a:p>
            <a:pPr marL="342900" indent="-342900">
              <a:spcAft>
                <a:spcPts val="300"/>
              </a:spcAft>
              <a:buSzPct val="100000"/>
              <a:buChar char="•"/>
            </a:pPr>
            <a:r>
              <a:rPr lang="en-US" sz="1200" b="1" dirty="0">
                <a:solidFill>
                  <a:srgbClr val="73000A"/>
                </a:solidFill>
                <a:latin typeface="Calibri" pitchFamily="34" charset="0"/>
                <a:ea typeface="Calibri" pitchFamily="34" charset="-122"/>
                <a:cs typeface="Calibri" pitchFamily="34" charset="-120"/>
              </a:rPr>
              <a:t>Lepton flavor number, one per family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Conservation Laws in Muon Decay</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Charge(s) and energy are guaranteed by fundamental symmetry; lepton flavor appears conserved but not required.</a:t>
            </a:r>
            <a:endParaRPr lang="en-US" sz="1600" dirty="0"/>
          </a:p>
        </p:txBody>
      </p:sp>
      <p:sp>
        <p:nvSpPr>
          <p:cNvPr id="4" name="Shape 2"/>
          <p:cNvSpPr/>
          <p:nvPr/>
        </p:nvSpPr>
        <p:spPr>
          <a:xfrm>
            <a:off x="548640" y="1463040"/>
            <a:ext cx="4480560" cy="4069080"/>
          </a:xfrm>
          <a:prstGeom prst="roundRect">
            <a:avLst>
              <a:gd name="adj" fmla="val 2247"/>
            </a:avLst>
          </a:prstGeom>
          <a:solidFill>
            <a:srgbClr val="FFFFFF"/>
          </a:solidFill>
          <a:ln w="12700">
            <a:solidFill>
              <a:srgbClr val="D9C4C6"/>
            </a:solidFill>
            <a:prstDash val="solid"/>
          </a:ln>
        </p:spPr>
        <p:txBody>
          <a:bodyPr/>
          <a:lstStyle/>
          <a:p>
            <a:endParaRPr lang="en-US"/>
          </a:p>
        </p:txBody>
      </p:sp>
      <p:pic>
        <p:nvPicPr>
          <p:cNvPr id="5" name="Image 0" descr="Conservation Laws in Muon Decay Feynman diagram"/>
          <p:cNvPicPr>
            <a:picLocks noChangeAspect="1"/>
          </p:cNvPicPr>
          <p:nvPr/>
        </p:nvPicPr>
        <p:blipFill>
          <a:blip r:embed="rId3"/>
          <a:stretch>
            <a:fillRect/>
          </a:stretch>
        </p:blipFill>
        <p:spPr>
          <a:xfrm>
            <a:off x="685800" y="1600200"/>
            <a:ext cx="4206240" cy="3090560"/>
          </a:xfrm>
          <a:prstGeom prst="rect">
            <a:avLst/>
          </a:prstGeom>
        </p:spPr>
      </p:pic>
      <mc:AlternateContent xmlns:mc="http://schemas.openxmlformats.org/markup-compatibility/2006">
        <mc:Choice xmlns:a14="http://schemas.microsoft.com/office/drawing/2010/main" Requires="a14">
          <p:sp>
            <p:nvSpPr>
              <p:cNvPr id="6" name="Text 3"/>
              <p:cNvSpPr txBox="1"/>
              <p:nvPr/>
            </p:nvSpPr>
            <p:spPr>
              <a:xfrm>
                <a:off x="548640" y="4800600"/>
                <a:ext cx="4480560" cy="36576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𝜇</m:t>
                          </m:r>
                        </m:e>
                        <m:sup>
                          <m:r>
                            <a:rPr lang="en-US" sz="2000" b="0" i="1" smtClean="0">
                              <a:latin typeface="Cambria Math" panose="02040503050406030204" pitchFamily="18" charset="0"/>
                            </a:rPr>
                            <m:t>−</m:t>
                          </m:r>
                        </m:sup>
                      </m:sSup>
                      <m:r>
                        <a:rPr lang="en-US" sz="2000" i="1" smtClean="0">
                          <a:latin typeface="Cambria Math" panose="02040503050406030204" pitchFamily="18" charset="0"/>
                          <a:ea typeface="Cambria Math" panose="02040503050406030204" pitchFamily="18" charset="0"/>
                        </a:rPr>
                        <m:t>→</m:t>
                      </m:r>
                      <m:sSup>
                        <m:sSupPr>
                          <m:ctrlPr>
                            <a:rPr lang="en-US" sz="200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𝜈</m:t>
                              </m:r>
                            </m:e>
                            <m:sub>
                              <m:r>
                                <a:rPr lang="en-US" sz="2000" b="0" i="1" smtClean="0">
                                  <a:latin typeface="Cambria Math" panose="02040503050406030204" pitchFamily="18" charset="0"/>
                                  <a:ea typeface="Cambria Math" panose="02040503050406030204" pitchFamily="18" charset="0"/>
                                </a:rPr>
                                <m:t>𝑒</m:t>
                              </m:r>
                            </m:sub>
                          </m:sSub>
                        </m:e>
                      </m:acc>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𝜈</m:t>
                          </m:r>
                        </m:e>
                        <m:sub>
                          <m:r>
                            <a:rPr lang="en-US" sz="2000" b="0" i="1" smtClean="0">
                              <a:latin typeface="Cambria Math" panose="02040503050406030204" pitchFamily="18" charset="0"/>
                              <a:ea typeface="Cambria Math" panose="02040503050406030204" pitchFamily="18" charset="0"/>
                            </a:rPr>
                            <m:t>𝜇</m:t>
                          </m:r>
                        </m:sub>
                      </m:sSub>
                    </m:oMath>
                  </m:oMathPara>
                </a14:m>
                <a:endParaRPr lang="en-US" sz="2000" dirty="0"/>
              </a:p>
            </p:txBody>
          </p:sp>
        </mc:Choice>
        <mc:Fallback>
          <p:sp>
            <p:nvSpPr>
              <p:cNvPr id="6" name="Text 3"/>
              <p:cNvSpPr txBox="1">
                <a:spLocks noRot="1" noChangeAspect="1" noMove="1" noResize="1" noEditPoints="1" noAdjustHandles="1" noChangeArrowheads="1" noChangeShapeType="1" noTextEdit="1"/>
              </p:cNvSpPr>
              <p:nvPr/>
            </p:nvSpPr>
            <p:spPr>
              <a:xfrm>
                <a:off x="548640" y="4800600"/>
                <a:ext cx="4480560" cy="365760"/>
              </a:xfrm>
              <a:prstGeom prst="rect">
                <a:avLst/>
              </a:prstGeom>
              <a:blipFill>
                <a:blip r:embed="rId4"/>
                <a:stretch>
                  <a:fillRect b="-10000"/>
                </a:stretch>
              </a:blipFill>
              <a:ln/>
            </p:spPr>
            <p:txBody>
              <a:bodyPr/>
              <a:lstStyle/>
              <a:p>
                <a:r>
                  <a:rPr lang="en-US">
                    <a:noFill/>
                  </a:rPr>
                  <a:t> </a:t>
                </a:r>
              </a:p>
            </p:txBody>
          </p:sp>
        </mc:Fallback>
      </mc:AlternateContent>
      <p:sp>
        <p:nvSpPr>
          <p:cNvPr id="7" name="Text 4"/>
          <p:cNvSpPr txBox="1"/>
          <p:nvPr/>
        </p:nvSpPr>
        <p:spPr>
          <a:xfrm>
            <a:off x="731520" y="5148072"/>
            <a:ext cx="4114800" cy="292608"/>
          </a:xfrm>
          <a:prstGeom prst="rect">
            <a:avLst/>
          </a:prstGeom>
          <a:noFill/>
          <a:ln/>
        </p:spPr>
        <p:txBody>
          <a:bodyPr wrap="square" lIns="0" tIns="0" rIns="0" bIns="0" rtlCol="0" anchor="ctr"/>
          <a:lstStyle/>
          <a:p>
            <a:pPr marL="0" indent="0" algn="ctr">
              <a:buNone/>
            </a:pPr>
            <a:r>
              <a:rPr lang="en-US" sz="1100" i="1" dirty="0">
                <a:solidFill>
                  <a:srgbClr val="6A6A6A"/>
                </a:solidFill>
                <a:latin typeface="Calibri" pitchFamily="34" charset="0"/>
                <a:ea typeface="Calibri" pitchFamily="34" charset="-122"/>
                <a:cs typeface="Calibri" pitchFamily="34" charset="-120"/>
              </a:rPr>
              <a:t>Dominant Standard Model decay, via a virtual, off-shell, W⁻</a:t>
            </a:r>
            <a:endParaRPr lang="en-US" sz="1100" dirty="0"/>
          </a:p>
        </p:txBody>
      </p:sp>
      <p:sp>
        <p:nvSpPr>
          <p:cNvPr id="8" name="Text 5"/>
          <p:cNvSpPr txBox="1"/>
          <p:nvPr/>
        </p:nvSpPr>
        <p:spPr>
          <a:xfrm>
            <a:off x="5303520" y="1417320"/>
            <a:ext cx="6428232" cy="292608"/>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Required by symmetry</a:t>
            </a:r>
            <a:endParaRPr lang="en-US" sz="1500" dirty="0"/>
          </a:p>
        </p:txBody>
      </p:sp>
      <p:graphicFrame>
        <p:nvGraphicFramePr>
          <p:cNvPr id="9" name="Table 0"/>
          <p:cNvGraphicFramePr>
            <a:graphicFrameLocks noGrp="1"/>
          </p:cNvGraphicFramePr>
          <p:nvPr/>
        </p:nvGraphicFramePr>
        <p:xfrm>
          <a:off x="5303520" y="1755648"/>
          <a:ext cx="6428232" cy="1463040"/>
        </p:xfrm>
        <a:graphic>
          <a:graphicData uri="http://schemas.openxmlformats.org/drawingml/2006/table">
            <a:tbl>
              <a:tblPr/>
              <a:tblGrid>
                <a:gridCol w="16002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tblGrid>
              <a:tr h="29260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Conserved quantity</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Symmetry behind it</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In this decay</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Energy, momentum</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Translations (Noether)</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105.7 MeV shared by three daughters</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Angular momentum</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Rotations (Lorentz invariance)</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Spin ½ → three spin-½ leptons</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Electric charge Q</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U(1)</a:t>
                      </a:r>
                      <a:r>
                        <a:rPr lang="en-US" sz="1150" baseline="-40000" dirty="0">
                          <a:solidFill>
                            <a:srgbClr val="333333"/>
                          </a:solidFill>
                          <a:latin typeface="Calibri" pitchFamily="34" charset="0"/>
                          <a:ea typeface="Calibri" pitchFamily="34" charset="-122"/>
                          <a:cs typeface="Calibri" pitchFamily="34" charset="-120"/>
                        </a:rPr>
                        <a:t>EM</a:t>
                      </a:r>
                      <a:r>
                        <a:rPr lang="en-US" sz="1150" dirty="0">
                          <a:solidFill>
                            <a:srgbClr val="333333"/>
                          </a:solidFill>
                          <a:latin typeface="Calibri" pitchFamily="34" charset="0"/>
                          <a:ea typeface="Calibri" pitchFamily="34" charset="-122"/>
                          <a:cs typeface="Calibri" pitchFamily="34" charset="-120"/>
                        </a:rPr>
                        <a:t> gauge symmetry</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−1 → (−1) + 0 + 0</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Color</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SU(3)</a:t>
                      </a:r>
                      <a:r>
                        <a:rPr lang="en-US" sz="1150" baseline="-40000" dirty="0">
                          <a:solidFill>
                            <a:srgbClr val="333333"/>
                          </a:solidFill>
                          <a:latin typeface="Calibri" pitchFamily="34" charset="0"/>
                          <a:ea typeface="Calibri" pitchFamily="34" charset="-122"/>
                          <a:cs typeface="Calibri" pitchFamily="34" charset="-120"/>
                        </a:rPr>
                        <a:t>c</a:t>
                      </a:r>
                      <a:r>
                        <a:rPr lang="en-US" sz="1150" dirty="0">
                          <a:solidFill>
                            <a:srgbClr val="333333"/>
                          </a:solidFill>
                          <a:latin typeface="Calibri" pitchFamily="34" charset="0"/>
                          <a:ea typeface="Calibri" pitchFamily="34" charset="-122"/>
                          <a:cs typeface="Calibri" pitchFamily="34" charset="-120"/>
                        </a:rPr>
                        <a:t> gauge symmetry</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No colored particles involved</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6"/>
          <p:cNvSpPr txBox="1"/>
          <p:nvPr/>
        </p:nvSpPr>
        <p:spPr>
          <a:xfrm>
            <a:off x="5303520" y="3419856"/>
            <a:ext cx="6428232" cy="292608"/>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Accidental: conserved, but no symmetry demands it</a:t>
            </a:r>
            <a:endParaRPr lang="en-US" sz="1500" dirty="0"/>
          </a:p>
        </p:txBody>
      </p:sp>
      <p:graphicFrame>
        <p:nvGraphicFramePr>
          <p:cNvPr id="11" name="Table 1"/>
          <p:cNvGraphicFramePr>
            <a:graphicFrameLocks noGrp="1"/>
          </p:cNvGraphicFramePr>
          <p:nvPr/>
        </p:nvGraphicFramePr>
        <p:xfrm>
          <a:off x="5303520" y="3758184"/>
          <a:ext cx="6428232" cy="1645920"/>
        </p:xfrm>
        <a:graphic>
          <a:graphicData uri="http://schemas.openxmlformats.org/drawingml/2006/table">
            <a:tbl>
              <a:tblPr/>
              <a:tblGrid>
                <a:gridCol w="960120">
                  <a:extLst>
                    <a:ext uri="{9D8B030D-6E8A-4147-A177-3AD203B41FA5}">
                      <a16:colId xmlns:a16="http://schemas.microsoft.com/office/drawing/2014/main" val="20000"/>
                    </a:ext>
                  </a:extLst>
                </a:gridCol>
                <a:gridCol w="978408">
                  <a:extLst>
                    <a:ext uri="{9D8B030D-6E8A-4147-A177-3AD203B41FA5}">
                      <a16:colId xmlns:a16="http://schemas.microsoft.com/office/drawing/2014/main" val="20001"/>
                    </a:ext>
                  </a:extLst>
                </a:gridCol>
                <a:gridCol w="978408">
                  <a:extLst>
                    <a:ext uri="{9D8B030D-6E8A-4147-A177-3AD203B41FA5}">
                      <a16:colId xmlns:a16="http://schemas.microsoft.com/office/drawing/2014/main" val="20002"/>
                    </a:ext>
                  </a:extLst>
                </a:gridCol>
                <a:gridCol w="978408">
                  <a:extLst>
                    <a:ext uri="{9D8B030D-6E8A-4147-A177-3AD203B41FA5}">
                      <a16:colId xmlns:a16="http://schemas.microsoft.com/office/drawing/2014/main" val="20003"/>
                    </a:ext>
                  </a:extLst>
                </a:gridCol>
                <a:gridCol w="978408">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411480">
                  <a:extLst>
                    <a:ext uri="{9D8B030D-6E8A-4147-A177-3AD203B41FA5}">
                      <a16:colId xmlns:a16="http://schemas.microsoft.com/office/drawing/2014/main" val="20006"/>
                    </a:ext>
                  </a:extLst>
                </a:gridCol>
              </a:tblGrid>
              <a:tr h="2743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Number</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μ⁻</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4A4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ν̄</a:t>
                      </a:r>
                      <a:r>
                        <a:rPr lang="en-US" sz="1150" b="1" baseline="-40000" dirty="0">
                          <a:solidFill>
                            <a:srgbClr val="FFFFFF"/>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ν</a:t>
                      </a:r>
                      <a:r>
                        <a:rPr lang="en-US" sz="1150" b="1" baseline="-40000" dirty="0">
                          <a:solidFill>
                            <a:srgbClr val="FFFFFF"/>
                          </a:solidFill>
                          <a:latin typeface="Calibri" pitchFamily="34" charset="0"/>
                          <a:ea typeface="Calibri" pitchFamily="34" charset="-122"/>
                          <a:cs typeface="Calibri" pitchFamily="34" charset="-120"/>
                        </a:rPr>
                        <a:t>μ</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Before → after</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extLst>
                  <a:ext uri="{0D108BD9-81ED-4DB2-BD59-A6C34878D82A}">
                    <a16:rowId xmlns:a16="http://schemas.microsoft.com/office/drawing/2014/main" val="10000"/>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B</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0 → 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L</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+1 → +1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L</a:t>
                      </a:r>
                      <a:r>
                        <a:rPr lang="en-US" sz="1150" b="1" baseline="-40000" dirty="0">
                          <a:solidFill>
                            <a:srgbClr val="333333"/>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0 → 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L</a:t>
                      </a:r>
                      <a:r>
                        <a:rPr lang="en-US" sz="1150" b="1" baseline="-40000" dirty="0">
                          <a:solidFill>
                            <a:srgbClr val="333333"/>
                          </a:solidFill>
                          <a:latin typeface="Calibri" pitchFamily="34" charset="0"/>
                          <a:ea typeface="Calibri" pitchFamily="34" charset="-122"/>
                          <a:cs typeface="Calibri" pitchFamily="34" charset="-120"/>
                        </a:rPr>
                        <a:t>μ</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+1 → +1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L</a:t>
                      </a:r>
                      <a:r>
                        <a:rPr lang="en-US" sz="1150" b="1" baseline="-40000" dirty="0">
                          <a:solidFill>
                            <a:srgbClr val="333333"/>
                          </a:solidFill>
                          <a:latin typeface="Calibri" pitchFamily="34" charset="0"/>
                          <a:ea typeface="Calibri" pitchFamily="34" charset="-122"/>
                          <a:cs typeface="Calibri" pitchFamily="34" charset="-120"/>
                        </a:rPr>
                        <a:t>τ</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0 → 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Shape 7"/>
          <p:cNvSpPr/>
          <p:nvPr/>
        </p:nvSpPr>
        <p:spPr>
          <a:xfrm>
            <a:off x="548640" y="5669279"/>
            <a:ext cx="11183112" cy="539015"/>
          </a:xfrm>
          <a:prstGeom prst="roundRect">
            <a:avLst>
              <a:gd name="adj" fmla="val 16000"/>
            </a:avLst>
          </a:prstGeom>
          <a:solidFill>
            <a:srgbClr val="73000A"/>
          </a:solidFill>
          <a:ln/>
        </p:spPr>
        <p:txBody>
          <a:bodyPr/>
          <a:lstStyle/>
          <a:p>
            <a:endParaRPr lang="en-US"/>
          </a:p>
        </p:txBody>
      </p:sp>
      <p:sp>
        <p:nvSpPr>
          <p:cNvPr id="13" name="Text 8"/>
          <p:cNvSpPr txBox="1"/>
          <p:nvPr/>
        </p:nvSpPr>
        <p:spPr>
          <a:xfrm>
            <a:off x="731520" y="5669280"/>
            <a:ext cx="10817352" cy="45720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The muon neutrino carries the muon flavor in the final state and the electron anti neutrino cancels with the electron flavor. </a:t>
            </a:r>
          </a:p>
          <a:p>
            <a:pPr marL="0" indent="0" algn="ctr">
              <a:buNone/>
            </a:pPr>
            <a:r>
              <a:rPr lang="en-US" sz="1350" b="1" dirty="0">
                <a:solidFill>
                  <a:srgbClr val="FFFFFF"/>
                </a:solidFill>
                <a:latin typeface="Calibri" pitchFamily="34" charset="0"/>
                <a:ea typeface="Calibri" pitchFamily="34" charset="-122"/>
                <a:cs typeface="Calibri" pitchFamily="34" charset="-120"/>
              </a:rPr>
              <a:t>Without these properties, this process </a:t>
            </a:r>
            <a:r>
              <a:rPr lang="en-US" sz="1350" b="1" dirty="0" err="1">
                <a:solidFill>
                  <a:srgbClr val="FFFFFF"/>
                </a:solidFill>
                <a:latin typeface="Calibri" pitchFamily="34" charset="0"/>
                <a:ea typeface="Calibri" pitchFamily="34" charset="-122"/>
                <a:cs typeface="Calibri" pitchFamily="34" charset="-120"/>
              </a:rPr>
              <a:t>wouldwould</a:t>
            </a:r>
            <a:r>
              <a:rPr lang="en-US" sz="1350" b="1" dirty="0">
                <a:solidFill>
                  <a:srgbClr val="FFFFFF"/>
                </a:solidFill>
                <a:latin typeface="Calibri" pitchFamily="34" charset="0"/>
                <a:ea typeface="Calibri" pitchFamily="34" charset="-122"/>
                <a:cs typeface="Calibri" pitchFamily="34" charset="-120"/>
              </a:rPr>
              <a:t> change L</a:t>
            </a:r>
            <a:r>
              <a:rPr lang="en-US" sz="1350" b="1" baseline="-40000" dirty="0">
                <a:solidFill>
                  <a:srgbClr val="FFFFFF"/>
                </a:solidFill>
                <a:latin typeface="Calibri" pitchFamily="34" charset="0"/>
                <a:ea typeface="Calibri" pitchFamily="34" charset="-122"/>
                <a:cs typeface="Calibri" pitchFamily="34" charset="-120"/>
              </a:rPr>
              <a:t>μ</a:t>
            </a:r>
            <a:r>
              <a:rPr lang="en-US" sz="1350" b="1" dirty="0">
                <a:solidFill>
                  <a:srgbClr val="FFFFFF"/>
                </a:solidFill>
                <a:latin typeface="Calibri" pitchFamily="34" charset="0"/>
                <a:ea typeface="Calibri" pitchFamily="34" charset="-122"/>
                <a:cs typeface="Calibri" pitchFamily="34" charset="-120"/>
              </a:rPr>
              <a:t> and L</a:t>
            </a:r>
            <a:r>
              <a:rPr lang="en-US" sz="1350" b="1" baseline="-40000" dirty="0">
                <a:solidFill>
                  <a:srgbClr val="FFFFFF"/>
                </a:solidFill>
                <a:latin typeface="Calibri" pitchFamily="34" charset="0"/>
                <a:ea typeface="Calibri" pitchFamily="34" charset="-122"/>
                <a:cs typeface="Calibri" pitchFamily="34" charset="-120"/>
              </a:rPr>
              <a:t>e</a:t>
            </a:r>
            <a:r>
              <a:rPr lang="en-US" sz="1350" b="1" dirty="0">
                <a:solidFill>
                  <a:srgbClr val="FFFFFF"/>
                </a:solidFill>
                <a:latin typeface="Calibri" pitchFamily="34" charset="0"/>
                <a:ea typeface="Calibri" pitchFamily="34" charset="-122"/>
                <a:cs typeface="Calibri" pitchFamily="34" charset="-120"/>
              </a:rPr>
              <a:t>: that is CLFV.</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Conservation Laws in Beta-Minus Decay</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The W boson changes quark flavor, yet lepton flavor still shown to balance between initial and final states.</a:t>
            </a:r>
            <a:endParaRPr lang="en-US" sz="1600" dirty="0"/>
          </a:p>
        </p:txBody>
      </p:sp>
      <p:sp>
        <p:nvSpPr>
          <p:cNvPr id="4" name="Shape 2"/>
          <p:cNvSpPr/>
          <p:nvPr/>
        </p:nvSpPr>
        <p:spPr>
          <a:xfrm>
            <a:off x="548640" y="1463040"/>
            <a:ext cx="4480560" cy="4069080"/>
          </a:xfrm>
          <a:prstGeom prst="roundRect">
            <a:avLst>
              <a:gd name="adj" fmla="val 2247"/>
            </a:avLst>
          </a:prstGeom>
          <a:solidFill>
            <a:srgbClr val="FFFFFF"/>
          </a:solidFill>
          <a:ln w="12700">
            <a:solidFill>
              <a:srgbClr val="D9C4C6"/>
            </a:solidFill>
            <a:prstDash val="solid"/>
          </a:ln>
        </p:spPr>
        <p:txBody>
          <a:bodyPr/>
          <a:lstStyle/>
          <a:p>
            <a:endParaRPr lang="en-US"/>
          </a:p>
        </p:txBody>
      </p:sp>
      <p:pic>
        <p:nvPicPr>
          <p:cNvPr id="5" name="Image 0" descr="Conservation Laws in Beta-Minus Decay Feynman diagram"/>
          <p:cNvPicPr>
            <a:picLocks noChangeAspect="1"/>
          </p:cNvPicPr>
          <p:nvPr/>
        </p:nvPicPr>
        <p:blipFill>
          <a:blip r:embed="rId3"/>
          <a:stretch>
            <a:fillRect/>
          </a:stretch>
        </p:blipFill>
        <p:spPr>
          <a:xfrm>
            <a:off x="685800" y="1600200"/>
            <a:ext cx="4206240" cy="2828976"/>
          </a:xfrm>
          <a:prstGeom prst="rect">
            <a:avLst/>
          </a:prstGeom>
        </p:spPr>
      </p:pic>
      <mc:AlternateContent xmlns:mc="http://schemas.openxmlformats.org/markup-compatibility/2006">
        <mc:Choice xmlns:a14="http://schemas.microsoft.com/office/drawing/2010/main" Requires="a14">
          <p:sp>
            <p:nvSpPr>
              <p:cNvPr id="6" name="Text 3"/>
              <p:cNvSpPr txBox="1"/>
              <p:nvPr/>
            </p:nvSpPr>
            <p:spPr>
              <a:xfrm>
                <a:off x="548640" y="4800600"/>
                <a:ext cx="4480560" cy="36576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2000" b="1" i="1" dirty="0" smtClean="0">
                          <a:solidFill>
                            <a:srgbClr val="73000A"/>
                          </a:solidFill>
                          <a:latin typeface="Cambria Math" panose="02040503050406030204" pitchFamily="18" charset="0"/>
                          <a:ea typeface="Calibri" pitchFamily="34" charset="-122"/>
                          <a:cs typeface="Calibri" pitchFamily="34" charset="-120"/>
                        </a:rPr>
                        <m:t>𝒏</m:t>
                      </m:r>
                      <m:r>
                        <a:rPr lang="en-US" sz="2000" b="1" i="1" dirty="0" smtClean="0">
                          <a:solidFill>
                            <a:srgbClr val="73000A"/>
                          </a:solidFill>
                          <a:latin typeface="Cambria Math" panose="02040503050406030204" pitchFamily="18" charset="0"/>
                          <a:ea typeface="Calibri" pitchFamily="34" charset="-122"/>
                          <a:cs typeface="Calibri" pitchFamily="34" charset="-120"/>
                        </a:rPr>
                        <m:t> →</m:t>
                      </m:r>
                      <m:r>
                        <a:rPr lang="en-US" sz="2000" b="0" i="1" dirty="0" smtClean="0">
                          <a:solidFill>
                            <a:srgbClr val="73000A"/>
                          </a:solidFill>
                          <a:latin typeface="Cambria Math" panose="02040503050406030204" pitchFamily="18" charset="0"/>
                          <a:ea typeface="Calibri" pitchFamily="34" charset="-122"/>
                          <a:cs typeface="Calibri" pitchFamily="34" charset="-120"/>
                        </a:rPr>
                        <m:t>𝑝</m:t>
                      </m:r>
                      <m:r>
                        <a:rPr lang="en-US" sz="2000" b="0" i="1" dirty="0" smtClean="0">
                          <a:solidFill>
                            <a:srgbClr val="73000A"/>
                          </a:solidFill>
                          <a:latin typeface="Cambria Math" panose="02040503050406030204" pitchFamily="18" charset="0"/>
                          <a:ea typeface="Calibri" pitchFamily="34" charset="-122"/>
                          <a:cs typeface="Calibri" pitchFamily="34" charset="-120"/>
                        </a:rPr>
                        <m:t>+</m:t>
                      </m:r>
                      <m:sSup>
                        <m:sSupPr>
                          <m:ctrlPr>
                            <a:rPr lang="en-US" sz="2000" b="0" i="1" dirty="0" smtClean="0">
                              <a:solidFill>
                                <a:srgbClr val="73000A"/>
                              </a:solidFill>
                              <a:latin typeface="Cambria Math" panose="02040503050406030204" pitchFamily="18" charset="0"/>
                              <a:cs typeface="Calibri" pitchFamily="34" charset="-120"/>
                            </a:rPr>
                          </m:ctrlPr>
                        </m:sSupPr>
                        <m:e>
                          <m:r>
                            <a:rPr lang="en-US" sz="2000" b="0" i="1" dirty="0" smtClean="0">
                              <a:solidFill>
                                <a:srgbClr val="73000A"/>
                              </a:solidFill>
                              <a:latin typeface="Cambria Math" panose="02040503050406030204" pitchFamily="18" charset="0"/>
                              <a:cs typeface="Calibri" pitchFamily="34" charset="-120"/>
                            </a:rPr>
                            <m:t>𝑒</m:t>
                          </m:r>
                        </m:e>
                        <m:sup>
                          <m:r>
                            <a:rPr lang="en-US" sz="2000" b="0" i="1" dirty="0" smtClean="0">
                              <a:solidFill>
                                <a:srgbClr val="73000A"/>
                              </a:solidFill>
                              <a:latin typeface="Cambria Math" panose="02040503050406030204" pitchFamily="18" charset="0"/>
                              <a:cs typeface="Calibri" pitchFamily="34" charset="-120"/>
                            </a:rPr>
                            <m:t>−</m:t>
                          </m:r>
                        </m:sup>
                      </m:sSup>
                      <m:r>
                        <a:rPr lang="en-US" sz="2000" b="0" i="1" dirty="0" smtClean="0">
                          <a:solidFill>
                            <a:srgbClr val="73000A"/>
                          </a:solidFill>
                          <a:latin typeface="Cambria Math" panose="02040503050406030204" pitchFamily="18" charset="0"/>
                          <a:cs typeface="Calibri" pitchFamily="34" charset="-120"/>
                        </a:rPr>
                        <m:t>+</m:t>
                      </m:r>
                      <m:acc>
                        <m:accPr>
                          <m:chr m:val="̅"/>
                          <m:ctrlPr>
                            <a:rPr lang="en-US" sz="2000" b="0" i="1" dirty="0" smtClean="0">
                              <a:solidFill>
                                <a:srgbClr val="73000A"/>
                              </a:solidFill>
                              <a:latin typeface="Cambria Math" panose="02040503050406030204" pitchFamily="18" charset="0"/>
                              <a:cs typeface="Calibri" pitchFamily="34" charset="-120"/>
                            </a:rPr>
                          </m:ctrlPr>
                        </m:accPr>
                        <m:e>
                          <m:sSub>
                            <m:sSubPr>
                              <m:ctrlPr>
                                <a:rPr lang="en-US" sz="2000" b="0" i="1" dirty="0" smtClean="0">
                                  <a:solidFill>
                                    <a:srgbClr val="73000A"/>
                                  </a:solidFill>
                                  <a:latin typeface="Cambria Math" panose="02040503050406030204" pitchFamily="18" charset="0"/>
                                  <a:cs typeface="Calibri" pitchFamily="34" charset="-120"/>
                                </a:rPr>
                              </m:ctrlPr>
                            </m:sSubPr>
                            <m:e>
                              <m:r>
                                <a:rPr lang="en-US" sz="2000" b="0" i="1" dirty="0" smtClean="0">
                                  <a:solidFill>
                                    <a:srgbClr val="73000A"/>
                                  </a:solidFill>
                                  <a:latin typeface="Cambria Math" panose="02040503050406030204" pitchFamily="18" charset="0"/>
                                  <a:ea typeface="Cambria Math" panose="02040503050406030204" pitchFamily="18" charset="0"/>
                                  <a:cs typeface="Calibri" pitchFamily="34" charset="-120"/>
                                </a:rPr>
                                <m:t>𝜈</m:t>
                              </m:r>
                            </m:e>
                            <m:sub>
                              <m:r>
                                <a:rPr lang="en-US" sz="2000" b="0" i="1" dirty="0" smtClean="0">
                                  <a:solidFill>
                                    <a:srgbClr val="73000A"/>
                                  </a:solidFill>
                                  <a:latin typeface="Cambria Math" panose="02040503050406030204" pitchFamily="18" charset="0"/>
                                  <a:cs typeface="Calibri" pitchFamily="34" charset="-120"/>
                                </a:rPr>
                                <m:t>𝑒</m:t>
                              </m:r>
                            </m:sub>
                          </m:sSub>
                        </m:e>
                      </m:acc>
                    </m:oMath>
                  </m:oMathPara>
                </a14:m>
              </a:p>
            </p:txBody>
          </p:sp>
        </mc:Choice>
        <mc:Fallback>
          <p:sp>
            <p:nvSpPr>
              <p:cNvPr id="6" name="Text 3"/>
              <p:cNvSpPr txBox="1">
                <a:spLocks noRot="1" noChangeAspect="1" noMove="1" noResize="1" noEditPoints="1" noAdjustHandles="1" noChangeArrowheads="1" noChangeShapeType="1" noTextEdit="1"/>
              </p:cNvSpPr>
              <p:nvPr/>
            </p:nvSpPr>
            <p:spPr>
              <a:xfrm>
                <a:off x="548640" y="4800600"/>
                <a:ext cx="4480560" cy="365760"/>
              </a:xfrm>
              <a:prstGeom prst="rect">
                <a:avLst/>
              </a:prstGeom>
              <a:blipFill>
                <a:blip r:embed="rId4"/>
                <a:stretch>
                  <a:fillRect t="-13333" b="-30000"/>
                </a:stretch>
              </a:blipFill>
              <a:ln/>
            </p:spPr>
            <p:txBody>
              <a:bodyPr/>
              <a:lstStyle/>
              <a:p>
                <a:r>
                  <a:rPr lang="en-US">
                    <a:noFill/>
                  </a:rPr>
                  <a:t> </a:t>
                </a:r>
              </a:p>
            </p:txBody>
          </p:sp>
        </mc:Fallback>
      </mc:AlternateContent>
      <p:sp>
        <p:nvSpPr>
          <p:cNvPr id="7" name="Text 4"/>
          <p:cNvSpPr txBox="1"/>
          <p:nvPr/>
        </p:nvSpPr>
        <p:spPr>
          <a:xfrm>
            <a:off x="548640" y="5148072"/>
            <a:ext cx="4480560" cy="292608"/>
          </a:xfrm>
          <a:prstGeom prst="rect">
            <a:avLst/>
          </a:prstGeom>
          <a:noFill/>
          <a:ln/>
        </p:spPr>
        <p:txBody>
          <a:bodyPr wrap="square" lIns="0" tIns="0" rIns="0" bIns="0" rtlCol="0" anchor="ctr"/>
          <a:lstStyle/>
          <a:p>
            <a:pPr marL="0" indent="0" algn="ctr">
              <a:buNone/>
            </a:pPr>
            <a:r>
              <a:rPr lang="en-US" sz="1100" i="1" dirty="0">
                <a:solidFill>
                  <a:srgbClr val="6A6A6A"/>
                </a:solidFill>
                <a:latin typeface="Calibri" pitchFamily="34" charset="0"/>
                <a:ea typeface="Calibri" pitchFamily="34" charset="-122"/>
                <a:cs typeface="Calibri" pitchFamily="34" charset="-120"/>
              </a:rPr>
              <a:t>Nuclear process in which a neutron converts to a proton via charged currents</a:t>
            </a:r>
            <a:endParaRPr lang="en-US" sz="1100" dirty="0"/>
          </a:p>
        </p:txBody>
      </p:sp>
      <p:sp>
        <p:nvSpPr>
          <p:cNvPr id="8" name="Text 5"/>
          <p:cNvSpPr txBox="1"/>
          <p:nvPr/>
        </p:nvSpPr>
        <p:spPr>
          <a:xfrm>
            <a:off x="5303520" y="1417320"/>
            <a:ext cx="6428232" cy="292608"/>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Required by fundamental symmetries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2297879981"/>
              </p:ext>
            </p:extLst>
          </p:nvPr>
        </p:nvGraphicFramePr>
        <p:xfrm>
          <a:off x="5303520" y="1755648"/>
          <a:ext cx="6428232" cy="1463040"/>
        </p:xfrm>
        <a:graphic>
          <a:graphicData uri="http://schemas.openxmlformats.org/drawingml/2006/table">
            <a:tbl>
              <a:tblPr/>
              <a:tblGrid>
                <a:gridCol w="16002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tblGrid>
              <a:tr h="29260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Conserved quantity</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Symmetry behind it</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In this decay</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Energy, momentum</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Translations</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Q-value: m</a:t>
                      </a:r>
                      <a:r>
                        <a:rPr lang="en-US" sz="1150" baseline="-40000" dirty="0">
                          <a:solidFill>
                            <a:srgbClr val="333333"/>
                          </a:solidFill>
                          <a:latin typeface="Calibri" pitchFamily="34" charset="0"/>
                          <a:ea typeface="Calibri" pitchFamily="34" charset="-122"/>
                          <a:cs typeface="Calibri" pitchFamily="34" charset="-120"/>
                        </a:rPr>
                        <a:t>n</a:t>
                      </a:r>
                      <a:r>
                        <a:rPr lang="en-US" sz="1150" dirty="0">
                          <a:solidFill>
                            <a:srgbClr val="333333"/>
                          </a:solidFill>
                          <a:latin typeface="Calibri" pitchFamily="34" charset="0"/>
                          <a:ea typeface="Calibri" pitchFamily="34" charset="-122"/>
                          <a:cs typeface="Calibri" pitchFamily="34" charset="-120"/>
                        </a:rPr>
                        <a:t> − m</a:t>
                      </a:r>
                      <a:r>
                        <a:rPr lang="en-US" sz="1150" baseline="-40000" dirty="0">
                          <a:solidFill>
                            <a:srgbClr val="333333"/>
                          </a:solidFill>
                          <a:latin typeface="Calibri" pitchFamily="34" charset="0"/>
                          <a:ea typeface="Calibri" pitchFamily="34" charset="-122"/>
                          <a:cs typeface="Calibri" pitchFamily="34" charset="-120"/>
                        </a:rPr>
                        <a:t>p</a:t>
                      </a:r>
                      <a:r>
                        <a:rPr lang="en-US" sz="1150" dirty="0">
                          <a:solidFill>
                            <a:srgbClr val="333333"/>
                          </a:solidFill>
                          <a:latin typeface="Calibri" pitchFamily="34" charset="0"/>
                          <a:ea typeface="Calibri" pitchFamily="34" charset="-122"/>
                          <a:cs typeface="Calibri" pitchFamily="34" charset="-120"/>
                        </a:rPr>
                        <a:t> − m</a:t>
                      </a:r>
                      <a:r>
                        <a:rPr lang="en-US" sz="1150" baseline="-40000" dirty="0">
                          <a:solidFill>
                            <a:srgbClr val="333333"/>
                          </a:solidFill>
                          <a:latin typeface="Calibri" pitchFamily="34" charset="0"/>
                          <a:ea typeface="Calibri" pitchFamily="34" charset="-122"/>
                          <a:cs typeface="Calibri" pitchFamily="34" charset="-120"/>
                        </a:rPr>
                        <a:t>e</a:t>
                      </a:r>
                      <a:r>
                        <a:rPr lang="en-US" sz="1150" dirty="0">
                          <a:solidFill>
                            <a:srgbClr val="333333"/>
                          </a:solidFill>
                          <a:latin typeface="Calibri" pitchFamily="34" charset="0"/>
                          <a:ea typeface="Calibri" pitchFamily="34" charset="-122"/>
                          <a:cs typeface="Calibri" pitchFamily="34" charset="-120"/>
                        </a:rPr>
                        <a:t> ≈ 0.78 MeV</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Angular momentum</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Rotations</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Spin ½ → three spin-½ particles (accessible)</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Electric charge Q</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U(1)</a:t>
                      </a:r>
                      <a:r>
                        <a:rPr lang="en-US" sz="1150" baseline="-40000" dirty="0">
                          <a:solidFill>
                            <a:srgbClr val="333333"/>
                          </a:solidFill>
                          <a:latin typeface="Calibri" pitchFamily="34" charset="0"/>
                          <a:ea typeface="Calibri" pitchFamily="34" charset="-122"/>
                          <a:cs typeface="Calibri" pitchFamily="34" charset="-120"/>
                        </a:rPr>
                        <a:t>EM</a:t>
                      </a:r>
                      <a:r>
                        <a:rPr lang="en-US" sz="1150" dirty="0">
                          <a:solidFill>
                            <a:srgbClr val="333333"/>
                          </a:solidFill>
                          <a:latin typeface="Calibri" pitchFamily="34" charset="0"/>
                          <a:ea typeface="Calibri" pitchFamily="34" charset="-122"/>
                          <a:cs typeface="Calibri" pitchFamily="34" charset="-120"/>
                        </a:rPr>
                        <a:t> gauge symmetry</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0 → (+1) + (−1) + 0</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Color</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SU(3)</a:t>
                      </a:r>
                      <a:r>
                        <a:rPr lang="en-US" sz="1150" baseline="-40000" dirty="0">
                          <a:solidFill>
                            <a:srgbClr val="333333"/>
                          </a:solidFill>
                          <a:latin typeface="Calibri" pitchFamily="34" charset="0"/>
                          <a:ea typeface="Calibri" pitchFamily="34" charset="-122"/>
                          <a:cs typeface="Calibri" pitchFamily="34" charset="-120"/>
                        </a:rPr>
                        <a:t>c</a:t>
                      </a:r>
                      <a:r>
                        <a:rPr lang="en-US" sz="1150" dirty="0">
                          <a:solidFill>
                            <a:srgbClr val="333333"/>
                          </a:solidFill>
                          <a:latin typeface="Calibri" pitchFamily="34" charset="0"/>
                          <a:ea typeface="Calibri" pitchFamily="34" charset="-122"/>
                          <a:cs typeface="Calibri" pitchFamily="34" charset="-120"/>
                        </a:rPr>
                        <a:t> gauge symmetry</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50" dirty="0">
                          <a:solidFill>
                            <a:srgbClr val="333333"/>
                          </a:solidFill>
                          <a:latin typeface="Calibri" pitchFamily="34" charset="0"/>
                          <a:ea typeface="Calibri" pitchFamily="34" charset="-122"/>
                          <a:cs typeface="Calibri" pitchFamily="34" charset="-120"/>
                        </a:rPr>
                        <a:t>d → u keeps its color</a:t>
                      </a:r>
                      <a:endParaRPr lang="en-US" sz="1150" dirty="0">
                        <a:latin typeface="Calibri" charset="0"/>
                        <a:ea typeface="Calibri" charset="0"/>
                        <a:cs typeface="Calibri" charset="0"/>
                      </a:endParaRPr>
                    </a:p>
                  </a:txBody>
                  <a:tcPr marL="73152" marR="73152"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6"/>
          <p:cNvSpPr txBox="1"/>
          <p:nvPr/>
        </p:nvSpPr>
        <p:spPr>
          <a:xfrm>
            <a:off x="5303520" y="3419856"/>
            <a:ext cx="6428232" cy="292608"/>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Accidental: conserved, but gauge symmetry does not demand it</a:t>
            </a:r>
            <a:endParaRPr lang="en-US" sz="1500" dirty="0"/>
          </a:p>
        </p:txBody>
      </p:sp>
      <p:graphicFrame>
        <p:nvGraphicFramePr>
          <p:cNvPr id="11" name="Table 1"/>
          <p:cNvGraphicFramePr>
            <a:graphicFrameLocks noGrp="1"/>
          </p:cNvGraphicFramePr>
          <p:nvPr/>
        </p:nvGraphicFramePr>
        <p:xfrm>
          <a:off x="5303520" y="3758184"/>
          <a:ext cx="6428232" cy="1645920"/>
        </p:xfrm>
        <a:graphic>
          <a:graphicData uri="http://schemas.openxmlformats.org/drawingml/2006/table">
            <a:tbl>
              <a:tblPr/>
              <a:tblGrid>
                <a:gridCol w="960120">
                  <a:extLst>
                    <a:ext uri="{9D8B030D-6E8A-4147-A177-3AD203B41FA5}">
                      <a16:colId xmlns:a16="http://schemas.microsoft.com/office/drawing/2014/main" val="20000"/>
                    </a:ext>
                  </a:extLst>
                </a:gridCol>
                <a:gridCol w="978408">
                  <a:extLst>
                    <a:ext uri="{9D8B030D-6E8A-4147-A177-3AD203B41FA5}">
                      <a16:colId xmlns:a16="http://schemas.microsoft.com/office/drawing/2014/main" val="20001"/>
                    </a:ext>
                  </a:extLst>
                </a:gridCol>
                <a:gridCol w="978408">
                  <a:extLst>
                    <a:ext uri="{9D8B030D-6E8A-4147-A177-3AD203B41FA5}">
                      <a16:colId xmlns:a16="http://schemas.microsoft.com/office/drawing/2014/main" val="20002"/>
                    </a:ext>
                  </a:extLst>
                </a:gridCol>
                <a:gridCol w="978408">
                  <a:extLst>
                    <a:ext uri="{9D8B030D-6E8A-4147-A177-3AD203B41FA5}">
                      <a16:colId xmlns:a16="http://schemas.microsoft.com/office/drawing/2014/main" val="20003"/>
                    </a:ext>
                  </a:extLst>
                </a:gridCol>
                <a:gridCol w="978408">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411480">
                  <a:extLst>
                    <a:ext uri="{9D8B030D-6E8A-4147-A177-3AD203B41FA5}">
                      <a16:colId xmlns:a16="http://schemas.microsoft.com/office/drawing/2014/main" val="20006"/>
                    </a:ext>
                  </a:extLst>
                </a:gridCol>
              </a:tblGrid>
              <a:tr h="2743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Number</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4A4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ν̄</a:t>
                      </a:r>
                      <a:r>
                        <a:rPr lang="en-US" sz="1150" b="1" baseline="-40000" dirty="0">
                          <a:solidFill>
                            <a:srgbClr val="FFFFFF"/>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Before → after</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extLst>
                  <a:ext uri="{0D108BD9-81ED-4DB2-BD59-A6C34878D82A}">
                    <a16:rowId xmlns:a16="http://schemas.microsoft.com/office/drawing/2014/main" val="10000"/>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B</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+1 → +1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L</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0 → 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L</a:t>
                      </a:r>
                      <a:r>
                        <a:rPr lang="en-US" sz="1150" b="1" baseline="-40000" dirty="0">
                          <a:solidFill>
                            <a:srgbClr val="333333"/>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0 → 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L</a:t>
                      </a:r>
                      <a:r>
                        <a:rPr lang="en-US" sz="1150" b="1" baseline="-40000" dirty="0">
                          <a:solidFill>
                            <a:srgbClr val="333333"/>
                          </a:solidFill>
                          <a:latin typeface="Calibri" pitchFamily="34" charset="0"/>
                          <a:ea typeface="Calibri" pitchFamily="34" charset="-122"/>
                          <a:cs typeface="Calibri" pitchFamily="34" charset="-120"/>
                        </a:rPr>
                        <a:t>μ</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0 → 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150" b="1" dirty="0">
                          <a:solidFill>
                            <a:srgbClr val="333333"/>
                          </a:solidFill>
                          <a:latin typeface="Calibri" pitchFamily="34" charset="0"/>
                          <a:ea typeface="Calibri" pitchFamily="34" charset="-122"/>
                          <a:cs typeface="Calibri" pitchFamily="34" charset="-120"/>
                        </a:rPr>
                        <a:t>L</a:t>
                      </a:r>
                      <a:r>
                        <a:rPr lang="en-US" sz="1150" b="1" baseline="-40000" dirty="0">
                          <a:solidFill>
                            <a:srgbClr val="333333"/>
                          </a:solidFill>
                          <a:latin typeface="Calibri" pitchFamily="34" charset="0"/>
                          <a:ea typeface="Calibri" pitchFamily="34" charset="-122"/>
                          <a:cs typeface="Calibri" pitchFamily="34" charset="-120"/>
                        </a:rPr>
                        <a:t>τ</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dirty="0">
                          <a:solidFill>
                            <a:srgbClr val="33333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333333"/>
                          </a:solidFill>
                          <a:latin typeface="Calibri" pitchFamily="34" charset="0"/>
                          <a:ea typeface="Calibri" pitchFamily="34" charset="-122"/>
                          <a:cs typeface="Calibri" pitchFamily="34" charset="-120"/>
                        </a:rPr>
                        <a:t>0 → 0</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lgn="ctr">
                        <a:buNone/>
                      </a:pPr>
                      <a:r>
                        <a:rPr lang="en-US" sz="1150" b="1" dirty="0">
                          <a:solidFill>
                            <a:srgbClr val="2E6B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Shape 7"/>
          <p:cNvSpPr/>
          <p:nvPr/>
        </p:nvSpPr>
        <p:spPr>
          <a:xfrm>
            <a:off x="548640" y="5669279"/>
            <a:ext cx="11183112" cy="966993"/>
          </a:xfrm>
          <a:prstGeom prst="roundRect">
            <a:avLst>
              <a:gd name="adj" fmla="val 16000"/>
            </a:avLst>
          </a:prstGeom>
          <a:solidFill>
            <a:srgbClr val="73000A"/>
          </a:solidFill>
          <a:ln/>
        </p:spPr>
        <p:txBody>
          <a:bodyPr/>
          <a:lstStyle/>
          <a:p>
            <a:endParaRPr lang="en-US" dirty="0"/>
          </a:p>
        </p:txBody>
      </p:sp>
      <mc:AlternateContent xmlns:mc="http://schemas.openxmlformats.org/markup-compatibility/2006">
        <mc:Choice xmlns:a14="http://schemas.microsoft.com/office/drawing/2010/main" Requires="a14">
          <p:sp>
            <p:nvSpPr>
              <p:cNvPr id="13" name="Text 8"/>
              <p:cNvSpPr txBox="1"/>
              <p:nvPr/>
            </p:nvSpPr>
            <p:spPr>
              <a:xfrm>
                <a:off x="731520" y="5669279"/>
                <a:ext cx="10817352" cy="738395"/>
              </a:xfrm>
              <a:prstGeom prst="rect">
                <a:avLst/>
              </a:prstGeom>
              <a:noFill/>
              <a:ln/>
            </p:spPr>
            <p:txBody>
              <a:bodyPr wrap="square" lIns="0" tIns="0" rIns="0" bIns="0" rtlCol="0" anchor="ctr"/>
              <a:lstStyle/>
              <a:p>
                <a:pPr algn="ctr"/>
                <a:r>
                  <a:rPr lang="en-US" sz="1400" dirty="0">
                    <a:solidFill>
                      <a:schemeClr val="bg1"/>
                    </a:solidFill>
                  </a:rPr>
                  <a:t>Quark flavor changes through the charged-current weak interaction, with the CKM matrix governing quark mixing. Charged-lepton flavor violation is enormously suppressed in the Standard Model with massive neutrinos, owing to a GIM-like cancellation and the tiny neutrino-mass splitting. For example, </a:t>
                </a:r>
                <a14:m>
                  <m:oMath xmlns:m="http://schemas.openxmlformats.org/officeDocument/2006/math">
                    <m:r>
                      <a:rPr lang="en-US" sz="1400" b="0" i="1" smtClean="0">
                        <a:solidFill>
                          <a:schemeClr val="bg1"/>
                        </a:solidFill>
                        <a:latin typeface="Cambria Math" panose="02040503050406030204" pitchFamily="18" charset="0"/>
                      </a:rPr>
                      <m:t>𝐵𝑟</m:t>
                    </m:r>
                    <m:d>
                      <m:dPr>
                        <m:ctrlPr>
                          <a:rPr lang="en-US" sz="1400" b="0" i="1" smtClean="0">
                            <a:solidFill>
                              <a:schemeClr val="bg1"/>
                            </a:solidFill>
                            <a:latin typeface="Cambria Math" panose="02040503050406030204" pitchFamily="18" charset="0"/>
                          </a:rPr>
                        </m:ctrlPr>
                      </m:dPr>
                      <m:e>
                        <m:r>
                          <a:rPr lang="en-US" sz="1400" b="0" i="1" smtClean="0">
                            <a:solidFill>
                              <a:schemeClr val="bg1"/>
                            </a:solidFill>
                            <a:latin typeface="Cambria Math" panose="02040503050406030204" pitchFamily="18" charset="0"/>
                            <a:ea typeface="Cambria Math" panose="02040503050406030204" pitchFamily="18" charset="0"/>
                          </a:rPr>
                          <m:t>𝜇</m:t>
                        </m:r>
                        <m:r>
                          <a:rPr lang="en-US" sz="1400" b="0" i="1" smtClean="0">
                            <a:solidFill>
                              <a:schemeClr val="bg1"/>
                            </a:solidFill>
                            <a:latin typeface="Cambria Math" panose="02040503050406030204" pitchFamily="18" charset="0"/>
                            <a:ea typeface="Cambria Math" panose="02040503050406030204" pitchFamily="18" charset="0"/>
                          </a:rPr>
                          <m:t>→</m:t>
                        </m:r>
                        <m:r>
                          <a:rPr lang="en-US" sz="1400" b="0" i="1" smtClean="0">
                            <a:solidFill>
                              <a:schemeClr val="bg1"/>
                            </a:solidFill>
                            <a:latin typeface="Cambria Math" panose="02040503050406030204" pitchFamily="18" charset="0"/>
                            <a:ea typeface="Cambria Math" panose="02040503050406030204" pitchFamily="18" charset="0"/>
                          </a:rPr>
                          <m:t>𝑒</m:t>
                        </m:r>
                        <m:r>
                          <a:rPr lang="en-US" sz="1400" b="0" i="1" smtClean="0">
                            <a:solidFill>
                              <a:schemeClr val="bg1"/>
                            </a:solidFill>
                            <a:latin typeface="Cambria Math" panose="02040503050406030204" pitchFamily="18" charset="0"/>
                            <a:ea typeface="Cambria Math" panose="02040503050406030204" pitchFamily="18" charset="0"/>
                          </a:rPr>
                          <m:t>𝛾</m:t>
                        </m:r>
                      </m:e>
                    </m:d>
                    <m:r>
                      <a:rPr lang="en-US" sz="1400" b="0" i="1" smtClean="0">
                        <a:solidFill>
                          <a:schemeClr val="bg1"/>
                        </a:solidFill>
                        <a:latin typeface="Cambria Math" panose="02040503050406030204" pitchFamily="18" charset="0"/>
                        <a:ea typeface="Cambria Math" panose="02040503050406030204" pitchFamily="18" charset="0"/>
                      </a:rPr>
                      <m:t>~</m:t>
                    </m:r>
                    <m:sSup>
                      <m:sSupPr>
                        <m:ctrlPr>
                          <a:rPr lang="en-US" sz="1400" b="0" i="1" smtClean="0">
                            <a:solidFill>
                              <a:schemeClr val="bg1"/>
                            </a:solidFill>
                            <a:latin typeface="Cambria Math" panose="02040503050406030204" pitchFamily="18" charset="0"/>
                            <a:ea typeface="Cambria Math" panose="02040503050406030204" pitchFamily="18" charset="0"/>
                          </a:rPr>
                        </m:ctrlPr>
                      </m:sSupPr>
                      <m:e>
                        <m:r>
                          <a:rPr lang="en-US" sz="1400" b="0" i="1" smtClean="0">
                            <a:solidFill>
                              <a:schemeClr val="bg1"/>
                            </a:solidFill>
                            <a:latin typeface="Cambria Math" panose="02040503050406030204" pitchFamily="18" charset="0"/>
                            <a:ea typeface="Cambria Math" panose="02040503050406030204" pitchFamily="18" charset="0"/>
                          </a:rPr>
                          <m:t>10</m:t>
                        </m:r>
                      </m:e>
                      <m:sup>
                        <m:r>
                          <a:rPr lang="en-US" sz="1400" b="0" i="1" smtClean="0">
                            <a:solidFill>
                              <a:schemeClr val="bg1"/>
                            </a:solidFill>
                            <a:latin typeface="Cambria Math" panose="02040503050406030204" pitchFamily="18" charset="0"/>
                            <a:ea typeface="Cambria Math" panose="02040503050406030204" pitchFamily="18" charset="0"/>
                          </a:rPr>
                          <m:t>−54</m:t>
                        </m:r>
                      </m:sup>
                    </m:sSup>
                    <m:r>
                      <a:rPr lang="en-US" sz="1400" b="0" i="1" smtClean="0">
                        <a:solidFill>
                          <a:schemeClr val="bg1"/>
                        </a:solidFill>
                        <a:latin typeface="Cambria Math" panose="02040503050406030204" pitchFamily="18" charset="0"/>
                        <a:ea typeface="Cambria Math" panose="02040503050406030204" pitchFamily="18" charset="0"/>
                      </a:rPr>
                      <m:t>,</m:t>
                    </m:r>
                  </m:oMath>
                </a14:m>
                <a:r>
                  <a:rPr lang="en-US" sz="1400" dirty="0">
                    <a:solidFill>
                      <a:schemeClr val="bg1"/>
                    </a:solidFill>
                  </a:rPr>
                  <a:t> far below experimental sensitivity.</a:t>
                </a:r>
                <a:endParaRPr lang="en-US" sz="1350" dirty="0">
                  <a:solidFill>
                    <a:schemeClr val="bg1"/>
                  </a:solidFill>
                </a:endParaRPr>
              </a:p>
            </p:txBody>
          </p:sp>
        </mc:Choice>
        <mc:Fallback>
          <p:sp>
            <p:nvSpPr>
              <p:cNvPr id="13" name="Text 8"/>
              <p:cNvSpPr txBox="1">
                <a:spLocks noRot="1" noChangeAspect="1" noMove="1" noResize="1" noEditPoints="1" noAdjustHandles="1" noChangeArrowheads="1" noChangeShapeType="1" noTextEdit="1"/>
              </p:cNvSpPr>
              <p:nvPr/>
            </p:nvSpPr>
            <p:spPr>
              <a:xfrm>
                <a:off x="731520" y="5669279"/>
                <a:ext cx="10817352" cy="738395"/>
              </a:xfrm>
              <a:prstGeom prst="rect">
                <a:avLst/>
              </a:prstGeom>
              <a:blipFill>
                <a:blip r:embed="rId5"/>
                <a:stretch>
                  <a:fillRect t="-1695" b="-8475"/>
                </a:stretch>
              </a:blipFill>
              <a:ln/>
            </p:spPr>
            <p:txBody>
              <a:bodyPr/>
              <a:lstStyle/>
              <a:p>
                <a:r>
                  <a:rPr lang="en-US">
                    <a:noFill/>
                  </a:rPr>
                  <a:t> </a:t>
                </a:r>
              </a:p>
            </p:txBody>
          </p:sp>
        </mc:Fallback>
      </mc:AlternateContent>
      <p:sp>
        <p:nvSpPr>
          <p:cNvPr id="15" name="Text 22">
            <a:extLst>
              <a:ext uri="{FF2B5EF4-FFF2-40B4-BE49-F238E27FC236}">
                <a16:creationId xmlns:a16="http://schemas.microsoft.com/office/drawing/2014/main" id="{04E35EB0-3C4A-B3DE-0A56-6A7B2EEE476E}"/>
              </a:ext>
            </a:extLst>
          </p:cNvPr>
          <p:cNvSpPr txBox="1"/>
          <p:nvPr/>
        </p:nvSpPr>
        <p:spPr>
          <a:xfrm>
            <a:off x="4574303" y="6409940"/>
            <a:ext cx="3057144" cy="219456"/>
          </a:xfrm>
          <a:prstGeom prst="rect">
            <a:avLst/>
          </a:prstGeom>
          <a:noFill/>
          <a:ln/>
        </p:spPr>
        <p:txBody>
          <a:bodyPr wrap="square" lIns="0" tIns="0" rIns="0" bIns="0" rtlCol="0" anchor="ctr"/>
          <a:lstStyle/>
          <a:p>
            <a:pPr marL="0" indent="0">
              <a:buNone/>
            </a:pPr>
            <a:r>
              <a:rPr lang="en-US" sz="950" i="1" dirty="0">
                <a:solidFill>
                  <a:schemeClr val="bg2"/>
                </a:solidFill>
                <a:latin typeface="Calibri" pitchFamily="34" charset="0"/>
                <a:ea typeface="Calibri" pitchFamily="34" charset="-122"/>
                <a:cs typeface="Calibri" pitchFamily="34" charset="-120"/>
              </a:rPr>
              <a:t>Altmannshofer et al. [4]; Calibbi &amp; Signorelli [10]</a:t>
            </a:r>
            <a:endParaRPr lang="en-US" sz="950" dirty="0">
              <a:solidFill>
                <a:schemeClr val="bg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Effective Field Theory</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EFT turns a limit on a CLFV process into a constraint on new physics, without choosing a model</a:t>
            </a:r>
            <a:endParaRPr lang="en-US" sz="1600" dirty="0"/>
          </a:p>
        </p:txBody>
      </p:sp>
      <p:sp>
        <p:nvSpPr>
          <p:cNvPr id="4" name="Shape 2"/>
          <p:cNvSpPr/>
          <p:nvPr/>
        </p:nvSpPr>
        <p:spPr>
          <a:xfrm>
            <a:off x="548640" y="1417320"/>
            <a:ext cx="11091672" cy="914400"/>
          </a:xfrm>
          <a:prstGeom prst="roundRect">
            <a:avLst>
              <a:gd name="adj" fmla="val 10000"/>
            </a:avLst>
          </a:prstGeom>
          <a:solidFill>
            <a:srgbClr val="FFFFFF"/>
          </a:solidFill>
          <a:ln w="19050">
            <a:solidFill>
              <a:srgbClr val="73000A"/>
            </a:solidFill>
            <a:prstDash val="solid"/>
          </a:ln>
        </p:spPr>
        <p:txBody>
          <a:bodyPr/>
          <a:lstStyle/>
          <a:p>
            <a:endParaRPr lang="en-US"/>
          </a:p>
        </p:txBody>
      </p:sp>
      <p:pic>
        <p:nvPicPr>
          <p:cNvPr id="5" name="Image 0" descr="SMEFT effective Lagrangian"/>
          <p:cNvPicPr>
            <a:picLocks noChangeAspect="1"/>
          </p:cNvPicPr>
          <p:nvPr/>
        </p:nvPicPr>
        <p:blipFill>
          <a:blip r:embed="rId3"/>
          <a:stretch>
            <a:fillRect/>
          </a:stretch>
        </p:blipFill>
        <p:spPr>
          <a:xfrm>
            <a:off x="3217593" y="1545336"/>
            <a:ext cx="5753765" cy="658368"/>
          </a:xfrm>
          <a:prstGeom prst="rect">
            <a:avLst/>
          </a:prstGeom>
        </p:spPr>
      </p:pic>
      <p:sp>
        <p:nvSpPr>
          <p:cNvPr id="6" name="Text 3"/>
          <p:cNvSpPr txBox="1"/>
          <p:nvPr/>
        </p:nvSpPr>
        <p:spPr>
          <a:xfrm>
            <a:off x="9628632" y="2057400"/>
            <a:ext cx="1874520" cy="219456"/>
          </a:xfrm>
          <a:prstGeom prst="rect">
            <a:avLst/>
          </a:prstGeom>
          <a:noFill/>
          <a:ln/>
        </p:spPr>
        <p:txBody>
          <a:bodyPr wrap="square" lIns="0" tIns="0" rIns="0" bIns="0" rtlCol="0" anchor="ctr"/>
          <a:lstStyle/>
          <a:p>
            <a:pPr marL="0" indent="0" algn="r">
              <a:buNone/>
            </a:pPr>
            <a:r>
              <a:rPr lang="en-US" sz="1000" i="1" dirty="0">
                <a:solidFill>
                  <a:srgbClr val="6A6A6A"/>
                </a:solidFill>
                <a:latin typeface="Calibri" pitchFamily="34" charset="0"/>
                <a:ea typeface="Calibri" pitchFamily="34" charset="-122"/>
                <a:cs typeface="Calibri" pitchFamily="34" charset="-120"/>
              </a:rPr>
              <a:t>Brivio &amp; Trott [1]</a:t>
            </a:r>
            <a:endParaRPr lang="en-US" sz="1000" dirty="0"/>
          </a:p>
        </p:txBody>
      </p:sp>
      <p:sp>
        <p:nvSpPr>
          <p:cNvPr id="7" name="Shape 4"/>
          <p:cNvSpPr/>
          <p:nvPr/>
        </p:nvSpPr>
        <p:spPr>
          <a:xfrm>
            <a:off x="548640" y="2468880"/>
            <a:ext cx="3575304" cy="566928"/>
          </a:xfrm>
          <a:prstGeom prst="roundRect">
            <a:avLst>
              <a:gd name="adj" fmla="val 12903"/>
            </a:avLst>
          </a:prstGeom>
          <a:solidFill>
            <a:srgbClr val="F4F0F0"/>
          </a:solidFill>
          <a:ln/>
        </p:spPr>
        <p:txBody>
          <a:bodyPr/>
          <a:lstStyle/>
          <a:p>
            <a:endParaRPr lang="en-US"/>
          </a:p>
        </p:txBody>
      </p:sp>
      <p:sp>
        <p:nvSpPr>
          <p:cNvPr id="8" name="Text 5"/>
          <p:cNvSpPr txBox="1"/>
          <p:nvPr/>
        </p:nvSpPr>
        <p:spPr>
          <a:xfrm>
            <a:off x="658368" y="2468880"/>
            <a:ext cx="502920" cy="566928"/>
          </a:xfrm>
          <a:prstGeom prst="rect">
            <a:avLst/>
          </a:prstGeom>
          <a:noFill/>
          <a:ln/>
        </p:spPr>
        <p:txBody>
          <a:bodyPr wrap="square" lIns="0" tIns="0" rIns="0" bIns="0" rtlCol="0" anchor="ctr"/>
          <a:lstStyle/>
          <a:p>
            <a:pPr marL="0" indent="0" algn="ctr">
              <a:buNone/>
            </a:pPr>
            <a:r>
              <a:rPr lang="en-US" sz="2000" b="1" i="1" dirty="0">
                <a:solidFill>
                  <a:srgbClr val="73000A"/>
                </a:solidFill>
                <a:latin typeface="Cambria" pitchFamily="34" charset="0"/>
                <a:ea typeface="Cambria" pitchFamily="34" charset="-122"/>
                <a:cs typeface="Cambria" pitchFamily="34" charset="-120"/>
              </a:rPr>
              <a:t>Λ</a:t>
            </a:r>
            <a:endParaRPr lang="en-US" sz="2000" dirty="0"/>
          </a:p>
        </p:txBody>
      </p:sp>
      <p:sp>
        <p:nvSpPr>
          <p:cNvPr id="9" name="Text 6"/>
          <p:cNvSpPr txBox="1"/>
          <p:nvPr/>
        </p:nvSpPr>
        <p:spPr>
          <a:xfrm>
            <a:off x="1207008" y="2468880"/>
            <a:ext cx="2798064" cy="566928"/>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Scale of new physics; each extra dimension costs a power of 1/Λ</a:t>
            </a:r>
            <a:endParaRPr lang="en-US" sz="1200" dirty="0"/>
          </a:p>
        </p:txBody>
      </p:sp>
      <p:sp>
        <p:nvSpPr>
          <p:cNvPr id="10" name="Shape 7"/>
          <p:cNvSpPr/>
          <p:nvPr/>
        </p:nvSpPr>
        <p:spPr>
          <a:xfrm>
            <a:off x="4306824" y="2468880"/>
            <a:ext cx="3575304" cy="566928"/>
          </a:xfrm>
          <a:prstGeom prst="roundRect">
            <a:avLst>
              <a:gd name="adj" fmla="val 12903"/>
            </a:avLst>
          </a:prstGeom>
          <a:solidFill>
            <a:srgbClr val="F4F0F0"/>
          </a:solidFill>
          <a:ln/>
        </p:spPr>
        <p:txBody>
          <a:bodyPr/>
          <a:lstStyle/>
          <a:p>
            <a:endParaRPr lang="en-US"/>
          </a:p>
        </p:txBody>
      </p:sp>
      <p:sp>
        <p:nvSpPr>
          <p:cNvPr id="11" name="Text 8"/>
          <p:cNvSpPr txBox="1"/>
          <p:nvPr/>
        </p:nvSpPr>
        <p:spPr>
          <a:xfrm>
            <a:off x="4416552" y="2468880"/>
            <a:ext cx="502920" cy="566928"/>
          </a:xfrm>
          <a:prstGeom prst="rect">
            <a:avLst/>
          </a:prstGeom>
          <a:noFill/>
          <a:ln/>
        </p:spPr>
        <p:txBody>
          <a:bodyPr wrap="square" lIns="0" tIns="0" rIns="0" bIns="0" rtlCol="0" anchor="ctr"/>
          <a:lstStyle/>
          <a:p>
            <a:pPr marL="0" indent="0" algn="ctr">
              <a:buNone/>
            </a:pPr>
            <a:r>
              <a:rPr lang="en-US" sz="2000" b="1" i="1" dirty="0">
                <a:solidFill>
                  <a:srgbClr val="73000A"/>
                </a:solidFill>
                <a:latin typeface="Cambria" pitchFamily="34" charset="0"/>
                <a:ea typeface="Cambria" pitchFamily="34" charset="-122"/>
                <a:cs typeface="Cambria" pitchFamily="34" charset="-120"/>
              </a:rPr>
              <a:t>C</a:t>
            </a:r>
            <a:r>
              <a:rPr lang="en-US" sz="2000" b="1" i="1" baseline="-40000" dirty="0">
                <a:solidFill>
                  <a:srgbClr val="73000A"/>
                </a:solidFill>
                <a:latin typeface="Cambria" pitchFamily="34" charset="0"/>
                <a:ea typeface="Cambria" pitchFamily="34" charset="-122"/>
                <a:cs typeface="Cambria" pitchFamily="34" charset="-120"/>
              </a:rPr>
              <a:t>i</a:t>
            </a:r>
            <a:endParaRPr lang="en-US" sz="2000" dirty="0"/>
          </a:p>
        </p:txBody>
      </p:sp>
      <p:sp>
        <p:nvSpPr>
          <p:cNvPr id="12" name="Text 9"/>
          <p:cNvSpPr txBox="1"/>
          <p:nvPr/>
        </p:nvSpPr>
        <p:spPr>
          <a:xfrm>
            <a:off x="4965192" y="2468880"/>
            <a:ext cx="2798064" cy="566928"/>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Wilson coefficients: dimensionless strengths that experiments constrain</a:t>
            </a:r>
            <a:endParaRPr lang="en-US" sz="1200" dirty="0"/>
          </a:p>
        </p:txBody>
      </p:sp>
      <p:sp>
        <p:nvSpPr>
          <p:cNvPr id="13" name="Shape 10"/>
          <p:cNvSpPr/>
          <p:nvPr/>
        </p:nvSpPr>
        <p:spPr>
          <a:xfrm>
            <a:off x="8065008" y="2468880"/>
            <a:ext cx="3575304" cy="566928"/>
          </a:xfrm>
          <a:prstGeom prst="roundRect">
            <a:avLst>
              <a:gd name="adj" fmla="val 12903"/>
            </a:avLst>
          </a:prstGeom>
          <a:solidFill>
            <a:srgbClr val="F4F0F0"/>
          </a:solidFill>
          <a:ln/>
        </p:spPr>
        <p:txBody>
          <a:bodyPr/>
          <a:lstStyle/>
          <a:p>
            <a:endParaRPr lang="en-US"/>
          </a:p>
        </p:txBody>
      </p:sp>
      <p:sp>
        <p:nvSpPr>
          <p:cNvPr id="14" name="Text 11"/>
          <p:cNvSpPr txBox="1"/>
          <p:nvPr/>
        </p:nvSpPr>
        <p:spPr>
          <a:xfrm>
            <a:off x="8174736" y="2468880"/>
            <a:ext cx="502920" cy="566928"/>
          </a:xfrm>
          <a:prstGeom prst="rect">
            <a:avLst/>
          </a:prstGeom>
          <a:noFill/>
          <a:ln/>
        </p:spPr>
        <p:txBody>
          <a:bodyPr wrap="square" lIns="0" tIns="0" rIns="0" bIns="0" rtlCol="0" anchor="ctr"/>
          <a:lstStyle/>
          <a:p>
            <a:pPr marL="0" indent="0" algn="ctr">
              <a:buNone/>
            </a:pPr>
            <a:r>
              <a:rPr lang="en-US" sz="2000" b="1" i="1" dirty="0">
                <a:solidFill>
                  <a:srgbClr val="73000A"/>
                </a:solidFill>
                <a:latin typeface="Cambria" pitchFamily="34" charset="0"/>
                <a:ea typeface="Cambria" pitchFamily="34" charset="-122"/>
                <a:cs typeface="Cambria" pitchFamily="34" charset="-120"/>
              </a:rPr>
              <a:t>𝒪</a:t>
            </a:r>
            <a:r>
              <a:rPr lang="en-US" sz="2000" b="1" i="1" baseline="-40000" dirty="0">
                <a:solidFill>
                  <a:srgbClr val="73000A"/>
                </a:solidFill>
                <a:latin typeface="Cambria" pitchFamily="34" charset="0"/>
                <a:ea typeface="Cambria" pitchFamily="34" charset="-122"/>
                <a:cs typeface="Cambria" pitchFamily="34" charset="-120"/>
              </a:rPr>
              <a:t>i</a:t>
            </a:r>
            <a:endParaRPr lang="en-US" sz="2000" dirty="0"/>
          </a:p>
        </p:txBody>
      </p:sp>
      <p:sp>
        <p:nvSpPr>
          <p:cNvPr id="15" name="Text 12"/>
          <p:cNvSpPr txBox="1"/>
          <p:nvPr/>
        </p:nvSpPr>
        <p:spPr>
          <a:xfrm>
            <a:off x="8723376" y="2468880"/>
            <a:ext cx="2798064" cy="566928"/>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Operators: allowed by the Standard Model gauge symmetries</a:t>
            </a:r>
            <a:endParaRPr lang="en-US" sz="1200" dirty="0"/>
          </a:p>
        </p:txBody>
      </p:sp>
      <p:sp>
        <p:nvSpPr>
          <p:cNvPr id="16" name="Text 13"/>
          <p:cNvSpPr txBox="1"/>
          <p:nvPr/>
        </p:nvSpPr>
        <p:spPr>
          <a:xfrm>
            <a:off x="548640" y="3017520"/>
            <a:ext cx="7315200" cy="310896"/>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Each operator dimension adds new physics</a:t>
            </a:r>
            <a:endParaRPr lang="en-US" sz="1500" dirty="0"/>
          </a:p>
        </p:txBody>
      </p:sp>
      <p:sp>
        <p:nvSpPr>
          <p:cNvPr id="17" name="Shape 14"/>
          <p:cNvSpPr/>
          <p:nvPr/>
        </p:nvSpPr>
        <p:spPr>
          <a:xfrm>
            <a:off x="548640" y="3401568"/>
            <a:ext cx="3422904" cy="2103120"/>
          </a:xfrm>
          <a:prstGeom prst="roundRect">
            <a:avLst>
              <a:gd name="adj" fmla="val 4348"/>
            </a:avLst>
          </a:prstGeom>
          <a:solidFill>
            <a:srgbClr val="F2F2F2"/>
          </a:solidFill>
          <a:ln w="15875">
            <a:solidFill>
              <a:srgbClr val="9A9A9A"/>
            </a:solidFill>
            <a:prstDash val="solid"/>
          </a:ln>
        </p:spPr>
        <p:txBody>
          <a:bodyPr/>
          <a:lstStyle/>
          <a:p>
            <a:endParaRPr lang="en-US"/>
          </a:p>
        </p:txBody>
      </p:sp>
      <p:sp>
        <p:nvSpPr>
          <p:cNvPr id="18" name="Shape 15"/>
          <p:cNvSpPr/>
          <p:nvPr/>
        </p:nvSpPr>
        <p:spPr>
          <a:xfrm>
            <a:off x="731520" y="3566160"/>
            <a:ext cx="1005840" cy="384048"/>
          </a:xfrm>
          <a:prstGeom prst="roundRect">
            <a:avLst>
              <a:gd name="adj" fmla="val 50000"/>
            </a:avLst>
          </a:prstGeom>
          <a:solidFill>
            <a:srgbClr val="9A9A9A"/>
          </a:solidFill>
          <a:ln/>
        </p:spPr>
        <p:txBody>
          <a:bodyPr/>
          <a:lstStyle/>
          <a:p>
            <a:endParaRPr lang="en-US"/>
          </a:p>
        </p:txBody>
      </p:sp>
      <p:sp>
        <p:nvSpPr>
          <p:cNvPr id="19" name="Text 16"/>
          <p:cNvSpPr txBox="1"/>
          <p:nvPr/>
        </p:nvSpPr>
        <p:spPr>
          <a:xfrm>
            <a:off x="731520" y="3566160"/>
            <a:ext cx="100584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 = 4</a:t>
            </a:r>
            <a:endParaRPr lang="en-US" sz="1500" dirty="0"/>
          </a:p>
        </p:txBody>
      </p:sp>
      <p:sp>
        <p:nvSpPr>
          <p:cNvPr id="20" name="Text 17"/>
          <p:cNvSpPr txBox="1"/>
          <p:nvPr/>
        </p:nvSpPr>
        <p:spPr>
          <a:xfrm>
            <a:off x="1847088" y="3566160"/>
            <a:ext cx="1959864" cy="384048"/>
          </a:xfrm>
          <a:prstGeom prst="rect">
            <a:avLst/>
          </a:prstGeom>
          <a:noFill/>
          <a:ln/>
        </p:spPr>
        <p:txBody>
          <a:bodyPr wrap="square" lIns="0" tIns="0" rIns="0" bIns="0" rtlCol="0" anchor="ctr"/>
          <a:lstStyle/>
          <a:p>
            <a:pPr marL="0" indent="0">
              <a:buNone/>
            </a:pPr>
            <a:r>
              <a:rPr lang="en-US" sz="1150" i="1" dirty="0">
                <a:solidFill>
                  <a:srgbClr val="4A4A4A"/>
                </a:solidFill>
                <a:latin typeface="Calibri" pitchFamily="34" charset="0"/>
                <a:ea typeface="Calibri" pitchFamily="34" charset="-122"/>
                <a:cs typeface="Calibri" pitchFamily="34" charset="-120"/>
              </a:rPr>
              <a:t>Renormalizable</a:t>
            </a:r>
            <a:endParaRPr lang="en-US" sz="1150" dirty="0"/>
          </a:p>
        </p:txBody>
      </p:sp>
      <p:sp>
        <p:nvSpPr>
          <p:cNvPr id="21" name="Text 18"/>
          <p:cNvSpPr txBox="1"/>
          <p:nvPr/>
        </p:nvSpPr>
        <p:spPr>
          <a:xfrm>
            <a:off x="731520" y="4059936"/>
            <a:ext cx="3057144" cy="310896"/>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Standard Model</a:t>
            </a:r>
            <a:endParaRPr lang="en-US" sz="1500" dirty="0"/>
          </a:p>
        </p:txBody>
      </p:sp>
      <p:sp>
        <p:nvSpPr>
          <p:cNvPr id="22" name="Text 19"/>
          <p:cNvSpPr txBox="1"/>
          <p:nvPr/>
        </p:nvSpPr>
        <p:spPr>
          <a:xfrm>
            <a:off x="731520" y="4370832"/>
            <a:ext cx="3057144" cy="5029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Gauge theory of matter and forces from the previous slides</a:t>
            </a:r>
            <a:endParaRPr lang="en-US" sz="1200" dirty="0"/>
          </a:p>
        </p:txBody>
      </p:sp>
      <p:sp>
        <p:nvSpPr>
          <p:cNvPr id="23" name="Shape 20"/>
          <p:cNvSpPr/>
          <p:nvPr/>
        </p:nvSpPr>
        <p:spPr>
          <a:xfrm>
            <a:off x="731520" y="4892040"/>
            <a:ext cx="3057144" cy="0"/>
          </a:xfrm>
          <a:prstGeom prst="line">
            <a:avLst/>
          </a:prstGeom>
          <a:noFill/>
          <a:ln w="9525">
            <a:solidFill>
              <a:srgbClr val="9A9A9A"/>
            </a:solidFill>
            <a:prstDash val="solid"/>
          </a:ln>
        </p:spPr>
        <p:txBody>
          <a:bodyPr/>
          <a:lstStyle/>
          <a:p>
            <a:endParaRPr lang="en-US"/>
          </a:p>
        </p:txBody>
      </p:sp>
      <p:sp>
        <p:nvSpPr>
          <p:cNvPr id="24" name="Text 21"/>
          <p:cNvSpPr txBox="1"/>
          <p:nvPr/>
        </p:nvSpPr>
        <p:spPr>
          <a:xfrm>
            <a:off x="731520" y="4937760"/>
            <a:ext cx="3057144" cy="274320"/>
          </a:xfrm>
          <a:prstGeom prst="rect">
            <a:avLst/>
          </a:prstGeom>
          <a:noFill/>
          <a:ln/>
        </p:spPr>
        <p:txBody>
          <a:bodyPr wrap="square" lIns="0" tIns="0" rIns="0" bIns="0" rtlCol="0" anchor="t"/>
          <a:lstStyle/>
          <a:p>
            <a:pPr marL="0" indent="0">
              <a:buNone/>
            </a:pPr>
            <a:r>
              <a:rPr lang="en-US" sz="1200" b="1" dirty="0">
                <a:solidFill>
                  <a:srgbClr val="4A4A4A"/>
                </a:solidFill>
                <a:latin typeface="Calibri" pitchFamily="34" charset="0"/>
                <a:ea typeface="Calibri" pitchFamily="34" charset="-122"/>
                <a:cs typeface="Calibri" pitchFamily="34" charset="-120"/>
              </a:rPr>
              <a:t>Lepton flavor conserved, but only accidentally</a:t>
            </a:r>
            <a:endParaRPr lang="en-US" sz="1200" dirty="0"/>
          </a:p>
        </p:txBody>
      </p:sp>
      <p:sp>
        <p:nvSpPr>
          <p:cNvPr id="25" name="Text 22"/>
          <p:cNvSpPr txBox="1"/>
          <p:nvPr/>
        </p:nvSpPr>
        <p:spPr>
          <a:xfrm>
            <a:off x="731520" y="5212080"/>
            <a:ext cx="3057144" cy="219456"/>
          </a:xfrm>
          <a:prstGeom prst="rect">
            <a:avLst/>
          </a:prstGeom>
          <a:noFill/>
          <a:ln/>
        </p:spPr>
        <p:txBody>
          <a:bodyPr wrap="square" lIns="0" tIns="0" rIns="0" bIns="0" rtlCol="0" anchor="ctr"/>
          <a:lstStyle/>
          <a:p>
            <a:pPr marL="0" indent="0">
              <a:buNone/>
            </a:pPr>
            <a:r>
              <a:rPr lang="en-US" sz="950" i="1" dirty="0">
                <a:solidFill>
                  <a:srgbClr val="6A6A6A"/>
                </a:solidFill>
                <a:latin typeface="Calibri" pitchFamily="34" charset="0"/>
                <a:ea typeface="Calibri" pitchFamily="34" charset="-122"/>
                <a:cs typeface="Calibri" pitchFamily="34" charset="-120"/>
              </a:rPr>
              <a:t>Altmannshofer et al. [4]; Calibbi &amp; Signorelli [10]</a:t>
            </a:r>
            <a:endParaRPr lang="en-US" sz="950" dirty="0"/>
          </a:p>
        </p:txBody>
      </p:sp>
      <p:sp>
        <p:nvSpPr>
          <p:cNvPr id="26" name="Shape 23"/>
          <p:cNvSpPr/>
          <p:nvPr/>
        </p:nvSpPr>
        <p:spPr>
          <a:xfrm>
            <a:off x="4044696" y="4315968"/>
            <a:ext cx="265176" cy="274320"/>
          </a:xfrm>
          <a:prstGeom prst="rightArrow">
            <a:avLst/>
          </a:prstGeom>
          <a:solidFill>
            <a:srgbClr val="73000A"/>
          </a:solidFill>
          <a:ln/>
        </p:spPr>
        <p:txBody>
          <a:bodyPr/>
          <a:lstStyle/>
          <a:p>
            <a:endParaRPr lang="en-US"/>
          </a:p>
        </p:txBody>
      </p:sp>
      <p:sp>
        <p:nvSpPr>
          <p:cNvPr id="27" name="Shape 24"/>
          <p:cNvSpPr/>
          <p:nvPr/>
        </p:nvSpPr>
        <p:spPr>
          <a:xfrm>
            <a:off x="4383024" y="3401568"/>
            <a:ext cx="3422904" cy="2103120"/>
          </a:xfrm>
          <a:prstGeom prst="roundRect">
            <a:avLst>
              <a:gd name="adj" fmla="val 4348"/>
            </a:avLst>
          </a:prstGeom>
          <a:solidFill>
            <a:srgbClr val="EEF2F8"/>
          </a:solidFill>
          <a:ln w="15875">
            <a:solidFill>
              <a:srgbClr val="1F3A68"/>
            </a:solidFill>
            <a:prstDash val="solid"/>
          </a:ln>
        </p:spPr>
        <p:txBody>
          <a:bodyPr/>
          <a:lstStyle/>
          <a:p>
            <a:endParaRPr lang="en-US"/>
          </a:p>
        </p:txBody>
      </p:sp>
      <p:sp>
        <p:nvSpPr>
          <p:cNvPr id="28" name="Shape 25"/>
          <p:cNvSpPr/>
          <p:nvPr/>
        </p:nvSpPr>
        <p:spPr>
          <a:xfrm>
            <a:off x="4565904" y="3566160"/>
            <a:ext cx="1005840" cy="384048"/>
          </a:xfrm>
          <a:prstGeom prst="roundRect">
            <a:avLst>
              <a:gd name="adj" fmla="val 50000"/>
            </a:avLst>
          </a:prstGeom>
          <a:solidFill>
            <a:srgbClr val="1F3A68"/>
          </a:solidFill>
          <a:ln/>
        </p:spPr>
        <p:txBody>
          <a:bodyPr/>
          <a:lstStyle/>
          <a:p>
            <a:endParaRPr lang="en-US"/>
          </a:p>
        </p:txBody>
      </p:sp>
      <p:sp>
        <p:nvSpPr>
          <p:cNvPr id="29" name="Text 26"/>
          <p:cNvSpPr txBox="1"/>
          <p:nvPr/>
        </p:nvSpPr>
        <p:spPr>
          <a:xfrm>
            <a:off x="4565904" y="3566160"/>
            <a:ext cx="100584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 = 5</a:t>
            </a:r>
            <a:endParaRPr lang="en-US" sz="1500" dirty="0"/>
          </a:p>
        </p:txBody>
      </p:sp>
      <p:sp>
        <p:nvSpPr>
          <p:cNvPr id="30" name="Text 27"/>
          <p:cNvSpPr txBox="1"/>
          <p:nvPr/>
        </p:nvSpPr>
        <p:spPr>
          <a:xfrm>
            <a:off x="5681472" y="3566160"/>
            <a:ext cx="1959864" cy="384048"/>
          </a:xfrm>
          <a:prstGeom prst="rect">
            <a:avLst/>
          </a:prstGeom>
          <a:noFill/>
          <a:ln/>
        </p:spPr>
        <p:txBody>
          <a:bodyPr wrap="square" lIns="0" tIns="0" rIns="0" bIns="0" rtlCol="0" anchor="ctr"/>
          <a:lstStyle/>
          <a:p>
            <a:pPr marL="0" indent="0">
              <a:buNone/>
            </a:pPr>
            <a:r>
              <a:rPr lang="en-US" sz="1150" i="1" dirty="0">
                <a:solidFill>
                  <a:srgbClr val="4A4A4A"/>
                </a:solidFill>
                <a:latin typeface="Calibri" pitchFamily="34" charset="0"/>
                <a:ea typeface="Calibri" pitchFamily="34" charset="-122"/>
                <a:cs typeface="Calibri" pitchFamily="34" charset="-120"/>
              </a:rPr>
              <a:t>Suppressed by 1/Λ</a:t>
            </a:r>
            <a:endParaRPr lang="en-US" sz="1150" dirty="0"/>
          </a:p>
        </p:txBody>
      </p:sp>
      <p:sp>
        <p:nvSpPr>
          <p:cNvPr id="31" name="Text 28"/>
          <p:cNvSpPr txBox="1"/>
          <p:nvPr/>
        </p:nvSpPr>
        <p:spPr>
          <a:xfrm>
            <a:off x="4565904" y="4059936"/>
            <a:ext cx="3057144" cy="310896"/>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Weinberg operator</a:t>
            </a:r>
            <a:endParaRPr lang="en-US" sz="1500" dirty="0"/>
          </a:p>
        </p:txBody>
      </p:sp>
      <p:sp>
        <p:nvSpPr>
          <p:cNvPr id="32" name="Text 29"/>
          <p:cNvSpPr txBox="1"/>
          <p:nvPr/>
        </p:nvSpPr>
        <p:spPr>
          <a:xfrm>
            <a:off x="4565904" y="4370832"/>
            <a:ext cx="3057144" cy="5029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Gives neutrinos Majorana masses and mixing after electroweak symmetry breaking</a:t>
            </a:r>
            <a:endParaRPr lang="en-US" sz="1200" dirty="0"/>
          </a:p>
        </p:txBody>
      </p:sp>
      <p:sp>
        <p:nvSpPr>
          <p:cNvPr id="33" name="Shape 30"/>
          <p:cNvSpPr/>
          <p:nvPr/>
        </p:nvSpPr>
        <p:spPr>
          <a:xfrm>
            <a:off x="4565904" y="4892040"/>
            <a:ext cx="3057144" cy="0"/>
          </a:xfrm>
          <a:prstGeom prst="line">
            <a:avLst/>
          </a:prstGeom>
          <a:noFill/>
          <a:ln w="9525">
            <a:solidFill>
              <a:srgbClr val="1F3A68"/>
            </a:solidFill>
            <a:prstDash val="solid"/>
          </a:ln>
        </p:spPr>
        <p:txBody>
          <a:bodyPr/>
          <a:lstStyle/>
          <a:p>
            <a:endParaRPr lang="en-US"/>
          </a:p>
        </p:txBody>
      </p:sp>
      <p:sp>
        <p:nvSpPr>
          <p:cNvPr id="34" name="Text 31"/>
          <p:cNvSpPr txBox="1"/>
          <p:nvPr/>
        </p:nvSpPr>
        <p:spPr>
          <a:xfrm>
            <a:off x="4565904" y="4937760"/>
            <a:ext cx="3057144" cy="274320"/>
          </a:xfrm>
          <a:prstGeom prst="rect">
            <a:avLst/>
          </a:prstGeom>
          <a:noFill/>
          <a:ln/>
        </p:spPr>
        <p:txBody>
          <a:bodyPr wrap="square" lIns="0" tIns="0" rIns="0" bIns="0" rtlCol="0" anchor="t"/>
          <a:lstStyle/>
          <a:p>
            <a:pPr marL="0" indent="0">
              <a:buNone/>
            </a:pPr>
            <a:r>
              <a:rPr lang="en-US" sz="1200" b="1" dirty="0">
                <a:solidFill>
                  <a:srgbClr val="1F3A68"/>
                </a:solidFill>
                <a:latin typeface="Calibri" pitchFamily="34" charset="0"/>
                <a:ea typeface="Calibri" pitchFamily="34" charset="-122"/>
                <a:cs typeface="Calibri" pitchFamily="34" charset="-120"/>
              </a:rPr>
              <a:t>Neutrino flavor violated; still no CLFV</a:t>
            </a:r>
            <a:endParaRPr lang="en-US" sz="1200" dirty="0"/>
          </a:p>
        </p:txBody>
      </p:sp>
      <p:sp>
        <p:nvSpPr>
          <p:cNvPr id="35" name="Text 32"/>
          <p:cNvSpPr txBox="1"/>
          <p:nvPr/>
        </p:nvSpPr>
        <p:spPr>
          <a:xfrm>
            <a:off x="4565904" y="5212080"/>
            <a:ext cx="3057144" cy="219456"/>
          </a:xfrm>
          <a:prstGeom prst="rect">
            <a:avLst/>
          </a:prstGeom>
          <a:noFill/>
          <a:ln/>
        </p:spPr>
        <p:txBody>
          <a:bodyPr wrap="square" lIns="0" tIns="0" rIns="0" bIns="0" rtlCol="0" anchor="ctr"/>
          <a:lstStyle/>
          <a:p>
            <a:pPr marL="0" indent="0">
              <a:buNone/>
            </a:pPr>
            <a:r>
              <a:rPr lang="en-US" sz="950" i="1" dirty="0">
                <a:solidFill>
                  <a:srgbClr val="6A6A6A"/>
                </a:solidFill>
                <a:latin typeface="Calibri" pitchFamily="34" charset="0"/>
                <a:ea typeface="Calibri" pitchFamily="34" charset="-122"/>
                <a:cs typeface="Calibri" pitchFamily="34" charset="-120"/>
              </a:rPr>
              <a:t>Brivio &amp; Trott [1]; Pontecorvo [7]; Gonzalez-Garcia [8]</a:t>
            </a:r>
            <a:endParaRPr lang="en-US" sz="950" dirty="0"/>
          </a:p>
        </p:txBody>
      </p:sp>
      <p:sp>
        <p:nvSpPr>
          <p:cNvPr id="36" name="Shape 33"/>
          <p:cNvSpPr/>
          <p:nvPr/>
        </p:nvSpPr>
        <p:spPr>
          <a:xfrm>
            <a:off x="7879080" y="4315968"/>
            <a:ext cx="265176" cy="274320"/>
          </a:xfrm>
          <a:prstGeom prst="rightArrow">
            <a:avLst/>
          </a:prstGeom>
          <a:solidFill>
            <a:srgbClr val="73000A"/>
          </a:solidFill>
          <a:ln/>
        </p:spPr>
        <p:txBody>
          <a:bodyPr/>
          <a:lstStyle/>
          <a:p>
            <a:endParaRPr lang="en-US"/>
          </a:p>
        </p:txBody>
      </p:sp>
      <p:sp>
        <p:nvSpPr>
          <p:cNvPr id="37" name="Shape 34"/>
          <p:cNvSpPr/>
          <p:nvPr/>
        </p:nvSpPr>
        <p:spPr>
          <a:xfrm>
            <a:off x="8217408" y="3401568"/>
            <a:ext cx="3422904" cy="2103120"/>
          </a:xfrm>
          <a:prstGeom prst="roundRect">
            <a:avLst>
              <a:gd name="adj" fmla="val 4348"/>
            </a:avLst>
          </a:prstGeom>
          <a:solidFill>
            <a:srgbClr val="F4E6E7"/>
          </a:solidFill>
          <a:ln w="25400">
            <a:solidFill>
              <a:srgbClr val="73000A"/>
            </a:solidFill>
            <a:prstDash val="solid"/>
          </a:ln>
        </p:spPr>
        <p:txBody>
          <a:bodyPr/>
          <a:lstStyle/>
          <a:p>
            <a:endParaRPr lang="en-US"/>
          </a:p>
        </p:txBody>
      </p:sp>
      <p:sp>
        <p:nvSpPr>
          <p:cNvPr id="38" name="Shape 35"/>
          <p:cNvSpPr/>
          <p:nvPr/>
        </p:nvSpPr>
        <p:spPr>
          <a:xfrm>
            <a:off x="8400288" y="3566160"/>
            <a:ext cx="1005840" cy="384048"/>
          </a:xfrm>
          <a:prstGeom prst="roundRect">
            <a:avLst>
              <a:gd name="adj" fmla="val 50000"/>
            </a:avLst>
          </a:prstGeom>
          <a:solidFill>
            <a:srgbClr val="73000A"/>
          </a:solidFill>
          <a:ln/>
        </p:spPr>
        <p:txBody>
          <a:bodyPr/>
          <a:lstStyle/>
          <a:p>
            <a:endParaRPr lang="en-US"/>
          </a:p>
        </p:txBody>
      </p:sp>
      <p:sp>
        <p:nvSpPr>
          <p:cNvPr id="39" name="Text 36"/>
          <p:cNvSpPr txBox="1"/>
          <p:nvPr/>
        </p:nvSpPr>
        <p:spPr>
          <a:xfrm>
            <a:off x="8400288" y="3566160"/>
            <a:ext cx="100584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 = 6</a:t>
            </a:r>
            <a:endParaRPr lang="en-US" sz="1500" dirty="0"/>
          </a:p>
        </p:txBody>
      </p:sp>
      <p:sp>
        <p:nvSpPr>
          <p:cNvPr id="40" name="Text 37"/>
          <p:cNvSpPr txBox="1"/>
          <p:nvPr/>
        </p:nvSpPr>
        <p:spPr>
          <a:xfrm>
            <a:off x="9515856" y="3566160"/>
            <a:ext cx="1959864" cy="384048"/>
          </a:xfrm>
          <a:prstGeom prst="rect">
            <a:avLst/>
          </a:prstGeom>
          <a:noFill/>
          <a:ln/>
        </p:spPr>
        <p:txBody>
          <a:bodyPr wrap="square" lIns="0" tIns="0" rIns="0" bIns="0" rtlCol="0" anchor="ctr"/>
          <a:lstStyle/>
          <a:p>
            <a:pPr marL="0" indent="0">
              <a:buNone/>
            </a:pPr>
            <a:r>
              <a:rPr lang="en-US" sz="1150" i="1" dirty="0">
                <a:solidFill>
                  <a:srgbClr val="4A4A4A"/>
                </a:solidFill>
                <a:latin typeface="Calibri" pitchFamily="34" charset="0"/>
                <a:ea typeface="Calibri" pitchFamily="34" charset="-122"/>
                <a:cs typeface="Calibri" pitchFamily="34" charset="-120"/>
              </a:rPr>
              <a:t>Suppressed by 1/Λ²</a:t>
            </a:r>
            <a:endParaRPr lang="en-US" sz="1150" dirty="0"/>
          </a:p>
        </p:txBody>
      </p:sp>
      <p:sp>
        <p:nvSpPr>
          <p:cNvPr id="41" name="Text 38"/>
          <p:cNvSpPr txBox="1"/>
          <p:nvPr/>
        </p:nvSpPr>
        <p:spPr>
          <a:xfrm>
            <a:off x="8400288" y="4059936"/>
            <a:ext cx="3057144" cy="310896"/>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Lowest order with CLFV</a:t>
            </a:r>
            <a:endParaRPr lang="en-US" sz="1500" dirty="0"/>
          </a:p>
        </p:txBody>
      </p:sp>
      <p:sp>
        <p:nvSpPr>
          <p:cNvPr id="42" name="Text 39"/>
          <p:cNvSpPr txBox="1"/>
          <p:nvPr/>
        </p:nvSpPr>
        <p:spPr>
          <a:xfrm>
            <a:off x="8400288" y="4370832"/>
            <a:ext cx="3057144" cy="5029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Photonic dipole terms and four-lepton contact terms enter</a:t>
            </a:r>
            <a:endParaRPr lang="en-US" sz="1200" dirty="0"/>
          </a:p>
        </p:txBody>
      </p:sp>
      <p:sp>
        <p:nvSpPr>
          <p:cNvPr id="43" name="Shape 40"/>
          <p:cNvSpPr/>
          <p:nvPr/>
        </p:nvSpPr>
        <p:spPr>
          <a:xfrm>
            <a:off x="8400288" y="4892040"/>
            <a:ext cx="3057144" cy="0"/>
          </a:xfrm>
          <a:prstGeom prst="line">
            <a:avLst/>
          </a:prstGeom>
          <a:noFill/>
          <a:ln w="9525">
            <a:solidFill>
              <a:srgbClr val="73000A"/>
            </a:solidFill>
            <a:prstDash val="solid"/>
          </a:ln>
        </p:spPr>
        <p:txBody>
          <a:bodyPr/>
          <a:lstStyle/>
          <a:p>
            <a:endParaRPr lang="en-US"/>
          </a:p>
        </p:txBody>
      </p:sp>
      <p:sp>
        <p:nvSpPr>
          <p:cNvPr id="44" name="Text 41"/>
          <p:cNvSpPr txBox="1"/>
          <p:nvPr/>
        </p:nvSpPr>
        <p:spPr>
          <a:xfrm>
            <a:off x="8400288" y="4937760"/>
            <a:ext cx="3057144" cy="274320"/>
          </a:xfrm>
          <a:prstGeom prst="rect">
            <a:avLst/>
          </a:prstGeom>
          <a:noFill/>
          <a:ln/>
        </p:spPr>
        <p:txBody>
          <a:bodyPr wrap="square" lIns="0" tIns="0" rIns="0" bIns="0" rtlCol="0" anchor="t"/>
          <a:lstStyle/>
          <a:p>
            <a:pPr marL="0" indent="0">
              <a:buNone/>
            </a:pPr>
            <a:r>
              <a:rPr lang="en-US" sz="1200" b="1" dirty="0">
                <a:solidFill>
                  <a:srgbClr val="73000A"/>
                </a:solidFill>
                <a:latin typeface="Calibri" pitchFamily="34" charset="0"/>
                <a:ea typeface="Calibri" pitchFamily="34" charset="-122"/>
                <a:cs typeface="Calibri" pitchFamily="34" charset="-120"/>
              </a:rPr>
              <a:t>μ⁻e⁻ → e⁻e⁻ allowed in a muonic atom</a:t>
            </a:r>
            <a:endParaRPr lang="en-US" sz="1200" dirty="0"/>
          </a:p>
        </p:txBody>
      </p:sp>
      <p:sp>
        <p:nvSpPr>
          <p:cNvPr id="45" name="Text 42"/>
          <p:cNvSpPr txBox="1"/>
          <p:nvPr/>
        </p:nvSpPr>
        <p:spPr>
          <a:xfrm>
            <a:off x="8400288" y="5212080"/>
            <a:ext cx="3057144" cy="219456"/>
          </a:xfrm>
          <a:prstGeom prst="rect">
            <a:avLst/>
          </a:prstGeom>
          <a:noFill/>
          <a:ln/>
        </p:spPr>
        <p:txBody>
          <a:bodyPr wrap="square" lIns="0" tIns="0" rIns="0" bIns="0" rtlCol="0" anchor="ctr"/>
          <a:lstStyle/>
          <a:p>
            <a:pPr marL="0" indent="0">
              <a:buNone/>
            </a:pPr>
            <a:r>
              <a:rPr lang="en-US" sz="950" i="1" dirty="0">
                <a:solidFill>
                  <a:srgbClr val="6A6A6A"/>
                </a:solidFill>
                <a:latin typeface="Calibri" pitchFamily="34" charset="0"/>
                <a:ea typeface="Calibri" pitchFamily="34" charset="-122"/>
                <a:cs typeface="Calibri" pitchFamily="34" charset="-120"/>
              </a:rPr>
              <a:t>Brivio &amp; Trott [1]; Koike et al. [12]; Uesaka et al. [13]</a:t>
            </a:r>
            <a:endParaRPr lang="en-US" sz="950" dirty="0"/>
          </a:p>
        </p:txBody>
      </p:sp>
      <p:sp>
        <p:nvSpPr>
          <p:cNvPr id="46" name="Shape 43"/>
          <p:cNvSpPr/>
          <p:nvPr/>
        </p:nvSpPr>
        <p:spPr>
          <a:xfrm>
            <a:off x="548640" y="5605272"/>
            <a:ext cx="11091672" cy="512064"/>
          </a:xfrm>
          <a:prstGeom prst="roundRect">
            <a:avLst>
              <a:gd name="adj" fmla="val 17857"/>
            </a:avLst>
          </a:prstGeom>
          <a:solidFill>
            <a:srgbClr val="73000A"/>
          </a:solidFill>
          <a:ln/>
        </p:spPr>
        <p:txBody>
          <a:bodyPr/>
          <a:lstStyle/>
          <a:p>
            <a:endParaRPr lang="en-US"/>
          </a:p>
        </p:txBody>
      </p:sp>
      <mc:AlternateContent xmlns:mc="http://schemas.openxmlformats.org/markup-compatibility/2006">
        <mc:Choice xmlns:a14="http://schemas.microsoft.com/office/drawing/2010/main" Requires="a14">
          <p:sp>
            <p:nvSpPr>
              <p:cNvPr id="47" name="Text 44"/>
              <p:cNvSpPr txBox="1"/>
              <p:nvPr/>
            </p:nvSpPr>
            <p:spPr>
              <a:xfrm>
                <a:off x="731520" y="5605272"/>
                <a:ext cx="9144000" cy="512064"/>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A Mu2e limit on </a:t>
                </a:r>
                <a14:m>
                  <m:oMath xmlns:m="http://schemas.openxmlformats.org/officeDocument/2006/math">
                    <m:r>
                      <a:rPr lang="en-US" sz="1450" b="1" i="1" dirty="0" smtClean="0">
                        <a:solidFill>
                          <a:srgbClr val="FFFFFF"/>
                        </a:solidFill>
                        <a:latin typeface="Cambria Math" panose="02040503050406030204" pitchFamily="18" charset="0"/>
                        <a:ea typeface="Calibri" pitchFamily="34" charset="-122"/>
                        <a:cs typeface="Calibri" pitchFamily="34" charset="-120"/>
                      </a:rPr>
                      <m:t>𝝁</m:t>
                    </m:r>
                    <m:r>
                      <a:rPr lang="en-US" sz="1450" b="1" i="1" dirty="0" smtClean="0">
                        <a:solidFill>
                          <a:srgbClr val="FFFFFF"/>
                        </a:solidFill>
                        <a:latin typeface="Cambria Math" panose="02040503050406030204" pitchFamily="18" charset="0"/>
                        <a:ea typeface="Calibri" pitchFamily="34" charset="-122"/>
                        <a:cs typeface="Calibri" pitchFamily="34" charset="-120"/>
                      </a:rPr>
                      <m:t>⁻</m:t>
                    </m:r>
                    <m:r>
                      <a:rPr lang="en-US" sz="1450" b="1" i="1" dirty="0" smtClean="0">
                        <a:solidFill>
                          <a:srgbClr val="FFFFFF"/>
                        </a:solidFill>
                        <a:latin typeface="Cambria Math" panose="02040503050406030204" pitchFamily="18" charset="0"/>
                        <a:ea typeface="Calibri" pitchFamily="34" charset="-122"/>
                        <a:cs typeface="Calibri" pitchFamily="34" charset="-120"/>
                      </a:rPr>
                      <m:t>𝒆</m:t>
                    </m:r>
                    <m:r>
                      <a:rPr lang="en-US" sz="1450" b="1" i="1" dirty="0" smtClean="0">
                        <a:solidFill>
                          <a:srgbClr val="FFFFFF"/>
                        </a:solidFill>
                        <a:latin typeface="Cambria Math" panose="02040503050406030204" pitchFamily="18" charset="0"/>
                        <a:ea typeface="Calibri" pitchFamily="34" charset="-122"/>
                        <a:cs typeface="Calibri" pitchFamily="34" charset="-120"/>
                      </a:rPr>
                      <m:t>⁻ → </m:t>
                    </m:r>
                    <m:r>
                      <a:rPr lang="en-US" sz="1450" b="1" i="1" dirty="0" smtClean="0">
                        <a:solidFill>
                          <a:srgbClr val="FFFFFF"/>
                        </a:solidFill>
                        <a:latin typeface="Cambria Math" panose="02040503050406030204" pitchFamily="18" charset="0"/>
                        <a:ea typeface="Calibri" pitchFamily="34" charset="-122"/>
                        <a:cs typeface="Calibri" pitchFamily="34" charset="-120"/>
                      </a:rPr>
                      <m:t>𝒆</m:t>
                    </m:r>
                    <m:r>
                      <a:rPr lang="en-US" sz="1450" b="1" i="1" dirty="0" smtClean="0">
                        <a:solidFill>
                          <a:srgbClr val="FFFFFF"/>
                        </a:solidFill>
                        <a:latin typeface="Cambria Math" panose="02040503050406030204" pitchFamily="18" charset="0"/>
                        <a:ea typeface="Calibri" pitchFamily="34" charset="-122"/>
                        <a:cs typeface="Calibri" pitchFamily="34" charset="-120"/>
                      </a:rPr>
                      <m:t>⁻</m:t>
                    </m:r>
                    <m:r>
                      <a:rPr lang="en-US" sz="1450" b="1" i="1" dirty="0" smtClean="0">
                        <a:solidFill>
                          <a:srgbClr val="FFFFFF"/>
                        </a:solidFill>
                        <a:latin typeface="Cambria Math" panose="02040503050406030204" pitchFamily="18" charset="0"/>
                        <a:ea typeface="Calibri" pitchFamily="34" charset="-122"/>
                        <a:cs typeface="Calibri" pitchFamily="34" charset="-120"/>
                      </a:rPr>
                      <m:t>𝒆</m:t>
                    </m:r>
                    <m:r>
                      <a:rPr lang="en-US" sz="1450" b="1" i="1" dirty="0" smtClean="0">
                        <a:solidFill>
                          <a:srgbClr val="FFFFFF"/>
                        </a:solidFill>
                        <a:latin typeface="Cambria Math" panose="02040503050406030204" pitchFamily="18" charset="0"/>
                        <a:ea typeface="Calibri" pitchFamily="34" charset="-122"/>
                        <a:cs typeface="Calibri" pitchFamily="34" charset="-120"/>
                      </a:rPr>
                      <m:t>⁻ </m:t>
                    </m:r>
                  </m:oMath>
                </a14:m>
                <a:r>
                  <a:rPr lang="en-US" sz="1450" b="1" dirty="0">
                    <a:solidFill>
                      <a:srgbClr val="FFFFFF"/>
                    </a:solidFill>
                    <a:latin typeface="Calibri" pitchFamily="34" charset="0"/>
                    <a:ea typeface="Calibri" pitchFamily="34" charset="-122"/>
                    <a:cs typeface="Calibri" pitchFamily="34" charset="-120"/>
                  </a:rPr>
                  <a:t>bounds the D = 6 Wilson coefficients, and through them, broad classes of BSM models</a:t>
                </a:r>
                <a:endParaRPr lang="en-US" sz="1450" dirty="0"/>
              </a:p>
            </p:txBody>
          </p:sp>
        </mc:Choice>
        <mc:Fallback>
          <p:sp>
            <p:nvSpPr>
              <p:cNvPr id="47" name="Text 44"/>
              <p:cNvSpPr txBox="1">
                <a:spLocks noRot="1" noChangeAspect="1" noMove="1" noResize="1" noEditPoints="1" noAdjustHandles="1" noChangeArrowheads="1" noChangeShapeType="1" noTextEdit="1"/>
              </p:cNvSpPr>
              <p:nvPr/>
            </p:nvSpPr>
            <p:spPr>
              <a:xfrm>
                <a:off x="731520" y="5605272"/>
                <a:ext cx="9144000" cy="512064"/>
              </a:xfrm>
              <a:prstGeom prst="rect">
                <a:avLst/>
              </a:prstGeom>
              <a:blipFill>
                <a:blip r:embed="rId4"/>
                <a:stretch>
                  <a:fillRect/>
                </a:stretch>
              </a:blipFill>
              <a:ln/>
            </p:spPr>
            <p:txBody>
              <a:bodyPr/>
              <a:lstStyle/>
              <a:p>
                <a:r>
                  <a:rPr lang="en-US">
                    <a:noFill/>
                  </a:rPr>
                  <a:t> </a:t>
                </a:r>
              </a:p>
            </p:txBody>
          </p:sp>
        </mc:Fallback>
      </mc:AlternateContent>
      <p:sp>
        <p:nvSpPr>
          <p:cNvPr id="48" name="Text 45"/>
          <p:cNvSpPr txBox="1"/>
          <p:nvPr/>
        </p:nvSpPr>
        <p:spPr>
          <a:xfrm>
            <a:off x="9921240" y="5669280"/>
            <a:ext cx="1600200" cy="512064"/>
          </a:xfrm>
          <a:prstGeom prst="rect">
            <a:avLst/>
          </a:prstGeom>
          <a:noFill/>
          <a:ln/>
        </p:spPr>
        <p:txBody>
          <a:bodyPr wrap="square" lIns="0" tIns="0" rIns="0" bIns="0" rtlCol="0" anchor="ctr"/>
          <a:lstStyle/>
          <a:p>
            <a:pPr marL="0" indent="0" algn="r">
              <a:buNone/>
            </a:pPr>
            <a:r>
              <a:rPr lang="en-US" sz="950" i="1" dirty="0">
                <a:solidFill>
                  <a:srgbClr val="F2D9DB"/>
                </a:solidFill>
                <a:latin typeface="Calibri" pitchFamily="34" charset="0"/>
                <a:ea typeface="Calibri" pitchFamily="34" charset="-122"/>
                <a:cs typeface="Calibri" pitchFamily="34" charset="-120"/>
              </a:rPr>
              <a:t>Calibbi &amp; Signorelli [10]; Kumar &amp; Petrov [14]</a:t>
            </a:r>
            <a:endParaRPr lang="en-US" sz="950" dirty="0"/>
          </a:p>
        </p:txBody>
      </p:sp>
      <p:sp>
        <p:nvSpPr>
          <p:cNvPr id="49" name="Shape 43">
            <a:extLst>
              <a:ext uri="{FF2B5EF4-FFF2-40B4-BE49-F238E27FC236}">
                <a16:creationId xmlns:a16="http://schemas.microsoft.com/office/drawing/2014/main" id="{4598AD0D-B0C5-EA55-5E91-144AAEBE4BAC}"/>
              </a:ext>
            </a:extLst>
          </p:cNvPr>
          <p:cNvSpPr/>
          <p:nvPr/>
        </p:nvSpPr>
        <p:spPr>
          <a:xfrm>
            <a:off x="548708" y="6475190"/>
            <a:ext cx="11091672" cy="338328"/>
          </a:xfrm>
          <a:prstGeom prst="roundRect">
            <a:avLst>
              <a:gd name="adj" fmla="val 17857"/>
            </a:avLst>
          </a:prstGeom>
          <a:solidFill>
            <a:schemeClr val="tx2">
              <a:lumMod val="75000"/>
              <a:lumOff val="25000"/>
            </a:schemeClr>
          </a:solidFill>
          <a:ln/>
        </p:spPr>
        <p:txBody>
          <a:bodyPr/>
          <a:lstStyle/>
          <a:p>
            <a:endParaRPr lang="en-US"/>
          </a:p>
        </p:txBody>
      </p:sp>
      <p:sp>
        <p:nvSpPr>
          <p:cNvPr id="50" name="Text 44">
            <a:extLst>
              <a:ext uri="{FF2B5EF4-FFF2-40B4-BE49-F238E27FC236}">
                <a16:creationId xmlns:a16="http://schemas.microsoft.com/office/drawing/2014/main" id="{0C9E0E70-1666-9140-D556-48BB571AA446}"/>
              </a:ext>
            </a:extLst>
          </p:cNvPr>
          <p:cNvSpPr txBox="1"/>
          <p:nvPr/>
        </p:nvSpPr>
        <p:spPr>
          <a:xfrm>
            <a:off x="555514" y="6485365"/>
            <a:ext cx="11091672" cy="338328"/>
          </a:xfrm>
          <a:prstGeom prst="rect">
            <a:avLst/>
          </a:prstGeom>
          <a:noFill/>
          <a:ln/>
        </p:spPr>
        <p:txBody>
          <a:bodyPr wrap="square" lIns="0" tIns="0" rIns="0" bIns="0" rtlCol="0" anchor="ctr"/>
          <a:lstStyle/>
          <a:p>
            <a:pPr marL="0" indent="0" algn="ctr">
              <a:buNone/>
            </a:pPr>
            <a:r>
              <a:rPr lang="en-US" sz="1450" b="1" i="1" dirty="0">
                <a:solidFill>
                  <a:srgbClr val="FFFFFF"/>
                </a:solidFill>
                <a:latin typeface="Calibri" pitchFamily="34" charset="0"/>
                <a:cs typeface="Calibri" pitchFamily="34" charset="-120"/>
              </a:rPr>
              <a:t>More explicit theoretical descriptions of effective field theory and its use in Mu2e related work will be addressed tomorrow by S. Muhammad</a:t>
            </a:r>
            <a:endParaRPr lang="en-US" sz="1450" i="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From Lagrangian to Branching Ratio, the </a:t>
                </a:r>
                <a14:m>
                  <m:oMath xmlns:m="http://schemas.openxmlformats.org/officeDocument/2006/math">
                    <m:sSup>
                      <m:sSupPr>
                        <m:ctrlPr>
                          <a:rPr lang="en-US" sz="2800" b="1" i="1" smtClean="0">
                            <a:solidFill>
                              <a:srgbClr val="1A1A1A"/>
                            </a:solidFill>
                            <a:latin typeface="Cambria Math" panose="02040503050406030204" pitchFamily="18" charset="0"/>
                            <a:cs typeface="Calibri" pitchFamily="34" charset="-120"/>
                          </a:rPr>
                        </m:ctrlPr>
                      </m:sSupPr>
                      <m:e>
                        <m:r>
                          <a:rPr lang="en-US" sz="2800" b="1" i="1" smtClean="0">
                            <a:solidFill>
                              <a:srgbClr val="1A1A1A"/>
                            </a:solidFill>
                            <a:latin typeface="Cambria Math" panose="02040503050406030204" pitchFamily="18" charset="0"/>
                            <a:ea typeface="Cambria Math" panose="02040503050406030204" pitchFamily="18" charset="0"/>
                            <a:cs typeface="Calibri" pitchFamily="34" charset="-120"/>
                          </a:rPr>
                          <m:t>𝝁</m:t>
                        </m:r>
                      </m:e>
                      <m:sup>
                        <m:r>
                          <a:rPr lang="en-US" sz="2800" b="1" i="1" smtClean="0">
                            <a:solidFill>
                              <a:srgbClr val="1A1A1A"/>
                            </a:solidFill>
                            <a:latin typeface="Cambria Math" panose="02040503050406030204" pitchFamily="18" charset="0"/>
                            <a:cs typeface="Calibri" pitchFamily="34" charset="-120"/>
                          </a:rPr>
                          <m:t>−</m:t>
                        </m:r>
                      </m:sup>
                    </m:sSup>
                    <m:sSup>
                      <m:sSupPr>
                        <m:ctrlPr>
                          <a:rPr lang="en-US" sz="2800" b="1" i="1" smtClean="0">
                            <a:solidFill>
                              <a:srgbClr val="1A1A1A"/>
                            </a:solidFill>
                            <a:latin typeface="Cambria Math" panose="02040503050406030204" pitchFamily="18" charset="0"/>
                            <a:cs typeface="Calibri" pitchFamily="34" charset="-120"/>
                          </a:rPr>
                        </m:ctrlPr>
                      </m:sSupPr>
                      <m:e>
                        <m:r>
                          <a:rPr lang="en-US" sz="2800" b="1" i="1" smtClean="0">
                            <a:solidFill>
                              <a:srgbClr val="1A1A1A"/>
                            </a:solidFill>
                            <a:latin typeface="Cambria Math" panose="02040503050406030204" pitchFamily="18" charset="0"/>
                            <a:cs typeface="Calibri" pitchFamily="34" charset="-120"/>
                          </a:rPr>
                          <m:t>𝒆</m:t>
                        </m:r>
                      </m:e>
                      <m:sup>
                        <m:r>
                          <a:rPr lang="en-US" sz="2800" b="1" i="1" smtClean="0">
                            <a:solidFill>
                              <a:srgbClr val="1A1A1A"/>
                            </a:solidFill>
                            <a:latin typeface="Cambria Math" panose="02040503050406030204" pitchFamily="18" charset="0"/>
                            <a:cs typeface="Calibri" pitchFamily="34" charset="-120"/>
                          </a:rPr>
                          <m:t>−</m:t>
                        </m:r>
                      </m:sup>
                    </m:sSup>
                    <m:r>
                      <a:rPr lang="en-US" sz="2800" b="1" i="1" smtClean="0">
                        <a:solidFill>
                          <a:srgbClr val="1A1A1A"/>
                        </a:solidFill>
                        <a:latin typeface="Cambria Math" panose="02040503050406030204" pitchFamily="18" charset="0"/>
                        <a:ea typeface="Cambria Math" panose="02040503050406030204" pitchFamily="18" charset="0"/>
                        <a:cs typeface="Calibri" pitchFamily="34" charset="-120"/>
                      </a:rPr>
                      <m:t>→</m:t>
                    </m:r>
                    <m:sSup>
                      <m:sSupPr>
                        <m:ctrlPr>
                          <a:rPr lang="en-US" sz="2800" b="1" i="1" smtClean="0">
                            <a:solidFill>
                              <a:srgbClr val="1A1A1A"/>
                            </a:solidFill>
                            <a:latin typeface="Cambria Math" panose="02040503050406030204" pitchFamily="18" charset="0"/>
                            <a:ea typeface="Cambria Math" panose="02040503050406030204" pitchFamily="18" charset="0"/>
                            <a:cs typeface="Calibri" pitchFamily="34" charset="-120"/>
                          </a:rPr>
                        </m:ctrlPr>
                      </m:sSupPr>
                      <m:e>
                        <m:r>
                          <a:rPr lang="en-US" sz="2800" b="1" i="1" smtClean="0">
                            <a:solidFill>
                              <a:srgbClr val="1A1A1A"/>
                            </a:solidFill>
                            <a:latin typeface="Cambria Math" panose="02040503050406030204" pitchFamily="18" charset="0"/>
                            <a:ea typeface="Cambria Math" panose="02040503050406030204" pitchFamily="18" charset="0"/>
                            <a:cs typeface="Calibri" pitchFamily="34" charset="-120"/>
                          </a:rPr>
                          <m:t>𝒆</m:t>
                        </m:r>
                      </m:e>
                      <m:sup>
                        <m:r>
                          <a:rPr lang="en-US" sz="2800" b="1" i="1" smtClean="0">
                            <a:solidFill>
                              <a:srgbClr val="1A1A1A"/>
                            </a:solidFill>
                            <a:latin typeface="Cambria Math" panose="02040503050406030204" pitchFamily="18" charset="0"/>
                            <a:ea typeface="Cambria Math" panose="02040503050406030204" pitchFamily="18" charset="0"/>
                            <a:cs typeface="Calibri" pitchFamily="34" charset="-120"/>
                          </a:rPr>
                          <m:t>−</m:t>
                        </m:r>
                      </m:sup>
                    </m:sSup>
                    <m:sSup>
                      <m:sSupPr>
                        <m:ctrlPr>
                          <a:rPr lang="en-US" sz="2800" b="1" i="1" smtClean="0">
                            <a:solidFill>
                              <a:srgbClr val="1A1A1A"/>
                            </a:solidFill>
                            <a:latin typeface="Cambria Math" panose="02040503050406030204" pitchFamily="18" charset="0"/>
                            <a:ea typeface="Cambria Math" panose="02040503050406030204" pitchFamily="18" charset="0"/>
                            <a:cs typeface="Calibri" pitchFamily="34" charset="-120"/>
                          </a:rPr>
                        </m:ctrlPr>
                      </m:sSupPr>
                      <m:e>
                        <m:r>
                          <a:rPr lang="en-US" sz="2800" b="1" i="1" smtClean="0">
                            <a:solidFill>
                              <a:srgbClr val="1A1A1A"/>
                            </a:solidFill>
                            <a:latin typeface="Cambria Math" panose="02040503050406030204" pitchFamily="18" charset="0"/>
                            <a:ea typeface="Cambria Math" panose="02040503050406030204" pitchFamily="18" charset="0"/>
                            <a:cs typeface="Calibri" pitchFamily="34" charset="-120"/>
                          </a:rPr>
                          <m:t>𝒆</m:t>
                        </m:r>
                      </m:e>
                      <m:sup>
                        <m:r>
                          <a:rPr lang="en-US" sz="2800" b="1" i="1" smtClean="0">
                            <a:solidFill>
                              <a:srgbClr val="1A1A1A"/>
                            </a:solidFill>
                            <a:latin typeface="Cambria Math" panose="02040503050406030204" pitchFamily="18" charset="0"/>
                            <a:ea typeface="Cambria Math" panose="02040503050406030204" pitchFamily="18" charset="0"/>
                            <a:cs typeface="Calibri" pitchFamily="34" charset="-120"/>
                          </a:rPr>
                          <m:t>−</m:t>
                        </m:r>
                      </m:sup>
                    </m:sSup>
                  </m:oMath>
                </a14:m>
                <a:r>
                  <a:rPr lang="en-US" sz="2800" dirty="0"/>
                  <a:t> </a:t>
                </a:r>
                <a:r>
                  <a:rPr lang="en-US" sz="2800" b="1" dirty="0">
                    <a:latin typeface="Calibri" panose="020F0502020204030204" pitchFamily="34" charset="0"/>
                    <a:cs typeface="Calibri" panose="020F0502020204030204" pitchFamily="34" charset="0"/>
                  </a:rPr>
                  <a:t>Process</a:t>
                </a:r>
              </a:p>
            </p:txBody>
          </p:sp>
        </mc:Choice>
        <mc:Fallback>
          <p:sp>
            <p:nvSpPr>
              <p:cNvPr id="2" name="Text 0"/>
              <p:cNvSpPr txBox="1">
                <a:spLocks noRot="1" noChangeAspect="1" noMove="1" noResize="1" noEditPoints="1" noAdjustHandles="1" noChangeArrowheads="1" noChangeShapeType="1" noTextEdit="1"/>
              </p:cNvSpPr>
              <p:nvPr/>
            </p:nvSpPr>
            <p:spPr>
              <a:xfrm>
                <a:off x="548640" y="320040"/>
                <a:ext cx="11064240" cy="548640"/>
              </a:xfrm>
              <a:prstGeom prst="rect">
                <a:avLst/>
              </a:prstGeom>
              <a:blipFill>
                <a:blip r:embed="rId3"/>
                <a:stretch>
                  <a:fillRect l="-2064" t="-9091" b="-27273"/>
                </a:stretch>
              </a:blipFill>
              <a:ln/>
            </p:spPr>
            <p:txBody>
              <a:bodyPr/>
              <a:lstStyle/>
              <a:p>
                <a:r>
                  <a:rPr lang="en-US">
                    <a:noFill/>
                  </a:rPr>
                  <a:t> </a:t>
                </a:r>
              </a:p>
            </p:txBody>
          </p:sp>
        </mc:Fallback>
      </mc:AlternateContent>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Theory parameters become a rate, then a number Mu2e can count</a:t>
            </a:r>
            <a:endParaRPr lang="en-US" sz="1600" dirty="0"/>
          </a:p>
        </p:txBody>
      </p:sp>
      <p:sp>
        <p:nvSpPr>
          <p:cNvPr id="4" name="Lagrangian"/>
          <p:cNvSpPr/>
          <p:nvPr/>
        </p:nvSpPr>
        <p:spPr>
          <a:xfrm>
            <a:off x="548640" y="1463040"/>
            <a:ext cx="2418588" cy="841248"/>
          </a:xfrm>
          <a:prstGeom prst="roundRect">
            <a:avLst>
              <a:gd name="adj" fmla="val 12500"/>
            </a:avLst>
          </a:prstGeom>
          <a:solidFill>
            <a:srgbClr val="73000A"/>
          </a:solidFill>
          <a:ln/>
        </p:spPr>
        <p:txBody>
          <a:bodyPr/>
          <a:lstStyle/>
          <a:p>
            <a:endParaRPr lang="en-US"/>
          </a:p>
        </p:txBody>
      </p:sp>
      <p:sp>
        <p:nvSpPr>
          <p:cNvPr id="5" name="Text 3"/>
          <p:cNvSpPr txBox="1"/>
          <p:nvPr/>
        </p:nvSpPr>
        <p:spPr>
          <a:xfrm>
            <a:off x="548640" y="1536192"/>
            <a:ext cx="2418588"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Lagrangian</a:t>
            </a:r>
            <a:endParaRPr lang="en-US" sz="1800" dirty="0"/>
          </a:p>
        </p:txBody>
      </p:sp>
      <p:sp>
        <p:nvSpPr>
          <p:cNvPr id="6" name="Text 4"/>
          <p:cNvSpPr txBox="1"/>
          <p:nvPr/>
        </p:nvSpPr>
        <p:spPr>
          <a:xfrm>
            <a:off x="548640" y="1883664"/>
            <a:ext cx="2418588" cy="310896"/>
          </a:xfrm>
          <a:prstGeom prst="rect">
            <a:avLst/>
          </a:prstGeom>
          <a:noFill/>
          <a:ln/>
        </p:spPr>
        <p:txBody>
          <a:bodyPr wrap="square" lIns="0" tIns="0" rIns="0" bIns="0" rtlCol="0" anchor="ctr"/>
          <a:lstStyle/>
          <a:p>
            <a:pPr marL="0" indent="0" algn="ctr">
              <a:buNone/>
            </a:pPr>
            <a:r>
              <a:rPr lang="en-US" sz="1150" i="1" dirty="0">
                <a:solidFill>
                  <a:srgbClr val="F2D9DB"/>
                </a:solidFill>
                <a:latin typeface="Calibri" pitchFamily="34" charset="0"/>
                <a:ea typeface="Calibri" pitchFamily="34" charset="-122"/>
                <a:cs typeface="Calibri" pitchFamily="34" charset="-120"/>
              </a:rPr>
              <a:t>General symmetry-allowed combinations of dimension-6 operators</a:t>
            </a:r>
            <a:endParaRPr lang="en-US" sz="1150" dirty="0"/>
          </a:p>
        </p:txBody>
      </p:sp>
      <p:sp>
        <p:nvSpPr>
          <p:cNvPr id="7" name="Shape 5"/>
          <p:cNvSpPr/>
          <p:nvPr/>
        </p:nvSpPr>
        <p:spPr>
          <a:xfrm>
            <a:off x="3058668" y="1673352"/>
            <a:ext cx="320040" cy="310896"/>
          </a:xfrm>
          <a:prstGeom prst="rightArrow">
            <a:avLst/>
          </a:prstGeom>
          <a:solidFill>
            <a:srgbClr val="73000A"/>
          </a:solidFill>
          <a:ln/>
        </p:spPr>
        <p:txBody>
          <a:bodyPr/>
          <a:lstStyle/>
          <a:p>
            <a:endParaRPr lang="en-US"/>
          </a:p>
        </p:txBody>
      </p:sp>
      <p:sp>
        <p:nvSpPr>
          <p:cNvPr id="8" name="Shape 6"/>
          <p:cNvSpPr/>
          <p:nvPr/>
        </p:nvSpPr>
        <p:spPr>
          <a:xfrm>
            <a:off x="548640" y="2359151"/>
            <a:ext cx="2418588" cy="3299069"/>
          </a:xfrm>
          <a:prstGeom prst="roundRect">
            <a:avLst>
              <a:gd name="adj" fmla="val 3781"/>
            </a:avLst>
          </a:prstGeom>
          <a:solidFill>
            <a:srgbClr val="FFFFFF"/>
          </a:solidFill>
          <a:ln w="12700">
            <a:solidFill>
              <a:srgbClr val="D9C4C6"/>
            </a:solidFill>
            <a:prstDash val="solid"/>
          </a:ln>
        </p:spPr>
        <p:txBody>
          <a:bodyPr/>
          <a:lstStyle/>
          <a:p>
            <a:endParaRPr lang="en-US"/>
          </a:p>
        </p:txBody>
      </p:sp>
      <p:pic>
        <p:nvPicPr>
          <p:cNvPr id="9" name="Image 0" descr="L1"/>
          <p:cNvPicPr>
            <a:picLocks noChangeAspect="1"/>
          </p:cNvPicPr>
          <p:nvPr/>
        </p:nvPicPr>
        <p:blipFill>
          <a:blip r:embed="rId4"/>
          <a:stretch>
            <a:fillRect/>
          </a:stretch>
        </p:blipFill>
        <p:spPr>
          <a:xfrm>
            <a:off x="708395" y="2505456"/>
            <a:ext cx="2144268" cy="432424"/>
          </a:xfrm>
          <a:prstGeom prst="rect">
            <a:avLst/>
          </a:prstGeom>
        </p:spPr>
      </p:pic>
      <p:sp>
        <p:nvSpPr>
          <p:cNvPr id="10" name="Text 7"/>
          <p:cNvSpPr txBox="1"/>
          <p:nvPr/>
        </p:nvSpPr>
        <p:spPr>
          <a:xfrm>
            <a:off x="594360" y="5438764"/>
            <a:ext cx="2235708" cy="219456"/>
          </a:xfrm>
          <a:prstGeom prst="rect">
            <a:avLst/>
          </a:prstGeom>
          <a:noFill/>
          <a:ln/>
        </p:spPr>
        <p:txBody>
          <a:bodyPr wrap="square" lIns="0" tIns="0" rIns="0" bIns="0" rtlCol="0" anchor="ctr"/>
          <a:lstStyle/>
          <a:p>
            <a:pPr marL="0" indent="0" algn="ctr">
              <a:buNone/>
            </a:pPr>
            <a:r>
              <a:rPr lang="en-US" sz="950" i="1" dirty="0">
                <a:solidFill>
                  <a:srgbClr val="8A8A8A"/>
                </a:solidFill>
                <a:latin typeface="Calibri" pitchFamily="34" charset="0"/>
                <a:ea typeface="Calibri" pitchFamily="34" charset="-122"/>
                <a:cs typeface="Calibri" pitchFamily="34" charset="-120"/>
              </a:rPr>
              <a:t>Brivio &amp; Trott [1]; Koike et al. [12]</a:t>
            </a:r>
            <a:endParaRPr lang="en-US" sz="950" dirty="0"/>
          </a:p>
        </p:txBody>
      </p:sp>
      <mc:AlternateContent xmlns:mc="http://schemas.openxmlformats.org/markup-compatibility/2006">
        <mc:Choice xmlns:a14="http://schemas.microsoft.com/office/drawing/2010/main" Requires="a14">
          <p:sp>
            <p:nvSpPr>
              <p:cNvPr id="11" name="Text 8"/>
              <p:cNvSpPr txBox="1"/>
              <p:nvPr/>
            </p:nvSpPr>
            <p:spPr>
              <a:xfrm>
                <a:off x="685800" y="4093981"/>
                <a:ext cx="2144268" cy="1109199"/>
              </a:xfrm>
              <a:prstGeom prst="rect">
                <a:avLst/>
              </a:prstGeom>
              <a:noFill/>
              <a:ln/>
            </p:spPr>
            <p:txBody>
              <a:bodyPr wrap="square" lIns="0" tIns="0" rIns="0" bIns="0" rtlCol="0" anchor="ctr"/>
              <a:lstStyle/>
              <a:p>
                <a:pPr algn="ctr"/>
                <a:r>
                  <a:rPr lang="en-US" sz="1100" i="1" dirty="0">
                    <a:solidFill>
                      <a:srgbClr val="5A5A5A"/>
                    </a:solidFill>
                    <a:latin typeface="Calibri" pitchFamily="34" charset="0"/>
                    <a:ea typeface="Calibri" pitchFamily="34" charset="-122"/>
                    <a:cs typeface="Calibri" pitchFamily="34" charset="-120"/>
                  </a:rPr>
                  <a:t>Photonic by dipole </a:t>
                </a:r>
                <a14:m>
                  <m:oMath xmlns:m="http://schemas.openxmlformats.org/officeDocument/2006/math">
                    <m:sSub>
                      <m:sSubPr>
                        <m:ctrlPr>
                          <a:rPr lang="en-US" sz="1100" i="1" smtClean="0">
                            <a:solidFill>
                              <a:srgbClr val="5A5A5A"/>
                            </a:solidFill>
                            <a:latin typeface="Cambria Math" panose="02040503050406030204" pitchFamily="18" charset="0"/>
                            <a:cs typeface="Calibri" pitchFamily="34" charset="-120"/>
                          </a:rPr>
                        </m:ctrlPr>
                      </m:sSubPr>
                      <m:e>
                        <m:r>
                          <a:rPr lang="en-US" sz="1100" b="0" i="1" smtClean="0">
                            <a:solidFill>
                              <a:srgbClr val="5A5A5A"/>
                            </a:solidFill>
                            <a:latin typeface="Cambria Math" panose="02040503050406030204" pitchFamily="18" charset="0"/>
                            <a:cs typeface="Calibri" pitchFamily="34" charset="-120"/>
                          </a:rPr>
                          <m:t>𝐴</m:t>
                        </m:r>
                      </m:e>
                      <m:sub>
                        <m:r>
                          <a:rPr lang="en-US" sz="1100" b="0" i="1" smtClean="0">
                            <a:solidFill>
                              <a:srgbClr val="5A5A5A"/>
                            </a:solidFill>
                            <a:latin typeface="Cambria Math" panose="02040503050406030204" pitchFamily="18" charset="0"/>
                            <a:cs typeface="Calibri" pitchFamily="34" charset="-120"/>
                          </a:rPr>
                          <m:t>𝐿</m:t>
                        </m:r>
                      </m:sub>
                    </m:sSub>
                    <m:r>
                      <a:rPr lang="en-US" sz="1100" b="0" i="1" smtClean="0">
                        <a:solidFill>
                          <a:srgbClr val="5A5A5A"/>
                        </a:solidFill>
                        <a:latin typeface="Cambria Math" panose="02040503050406030204" pitchFamily="18" charset="0"/>
                        <a:cs typeface="Calibri" pitchFamily="34" charset="-120"/>
                      </a:rPr>
                      <m:t>,</m:t>
                    </m:r>
                    <m:sSub>
                      <m:sSubPr>
                        <m:ctrlPr>
                          <a:rPr lang="en-US" sz="1100" b="0" i="1" smtClean="0">
                            <a:solidFill>
                              <a:srgbClr val="5A5A5A"/>
                            </a:solidFill>
                            <a:latin typeface="Cambria Math" panose="02040503050406030204" pitchFamily="18" charset="0"/>
                            <a:cs typeface="Calibri" pitchFamily="34" charset="-120"/>
                          </a:rPr>
                        </m:ctrlPr>
                      </m:sSubPr>
                      <m:e>
                        <m:r>
                          <a:rPr lang="en-US" sz="1100" b="0" i="1" smtClean="0">
                            <a:solidFill>
                              <a:srgbClr val="5A5A5A"/>
                            </a:solidFill>
                            <a:latin typeface="Cambria Math" panose="02040503050406030204" pitchFamily="18" charset="0"/>
                            <a:cs typeface="Calibri" pitchFamily="34" charset="-120"/>
                          </a:rPr>
                          <m:t>𝐴</m:t>
                        </m:r>
                      </m:e>
                      <m:sub>
                        <m:r>
                          <a:rPr lang="en-US" sz="1100" b="0" i="1" smtClean="0">
                            <a:solidFill>
                              <a:srgbClr val="5A5A5A"/>
                            </a:solidFill>
                            <a:latin typeface="Cambria Math" panose="02040503050406030204" pitchFamily="18" charset="0"/>
                            <a:cs typeface="Calibri" pitchFamily="34" charset="-120"/>
                          </a:rPr>
                          <m:t>𝑅</m:t>
                        </m:r>
                      </m:sub>
                    </m:sSub>
                  </m:oMath>
                </a14:m>
                <a:r>
                  <a:rPr lang="en-US" sz="1100" i="1" dirty="0">
                    <a:solidFill>
                      <a:srgbClr val="5A5A5A"/>
                    </a:solidFill>
                    <a:latin typeface="Calibri" pitchFamily="34" charset="0"/>
                    <a:ea typeface="Calibri" pitchFamily="34" charset="-122"/>
                    <a:cs typeface="Calibri" pitchFamily="34" charset="-120"/>
                  </a:rPr>
                  <a:t> and contact </a:t>
                </a:r>
                <a14:m>
                  <m:oMath xmlns:m="http://schemas.openxmlformats.org/officeDocument/2006/math">
                    <m:sSub>
                      <m:sSubPr>
                        <m:ctrlPr>
                          <a:rPr lang="en-US" sz="1100" i="1" smtClean="0">
                            <a:solidFill>
                              <a:srgbClr val="5A5A5A"/>
                            </a:solidFill>
                            <a:latin typeface="Cambria Math" panose="02040503050406030204" pitchFamily="18" charset="0"/>
                            <a:cs typeface="Calibri" pitchFamily="34" charset="-120"/>
                          </a:rPr>
                        </m:ctrlPr>
                      </m:sSubPr>
                      <m:e>
                        <m:r>
                          <a:rPr lang="en-US" sz="1100" b="0" i="1" smtClean="0">
                            <a:solidFill>
                              <a:srgbClr val="5A5A5A"/>
                            </a:solidFill>
                            <a:latin typeface="Cambria Math" panose="02040503050406030204" pitchFamily="18" charset="0"/>
                            <a:cs typeface="Calibri" pitchFamily="34" charset="-120"/>
                          </a:rPr>
                          <m:t>𝑔</m:t>
                        </m:r>
                      </m:e>
                      <m:sub>
                        <m:r>
                          <a:rPr lang="en-US" sz="1100" b="0" i="1" smtClean="0">
                            <a:solidFill>
                              <a:srgbClr val="5A5A5A"/>
                            </a:solidFill>
                            <a:latin typeface="Cambria Math" panose="02040503050406030204" pitchFamily="18" charset="0"/>
                            <a:cs typeface="Calibri" pitchFamily="34" charset="-120"/>
                          </a:rPr>
                          <m:t>1</m:t>
                        </m:r>
                      </m:sub>
                    </m:sSub>
                    <m:r>
                      <a:rPr lang="en-US" sz="1100" b="0" i="1" smtClean="0">
                        <a:solidFill>
                          <a:srgbClr val="5A5A5A"/>
                        </a:solidFill>
                        <a:latin typeface="Cambria Math" panose="02040503050406030204" pitchFamily="18" charset="0"/>
                        <a:cs typeface="Calibri" pitchFamily="34" charset="-120"/>
                      </a:rPr>
                      <m:t>,…,</m:t>
                    </m:r>
                    <m:sSub>
                      <m:sSubPr>
                        <m:ctrlPr>
                          <a:rPr lang="en-US" sz="1100" b="0" i="1" smtClean="0">
                            <a:solidFill>
                              <a:schemeClr val="bg2">
                                <a:lumMod val="25000"/>
                              </a:schemeClr>
                            </a:solidFill>
                            <a:latin typeface="Cambria Math" panose="02040503050406030204" pitchFamily="18" charset="0"/>
                            <a:cs typeface="Calibri" pitchFamily="34" charset="-120"/>
                          </a:rPr>
                        </m:ctrlPr>
                      </m:sSubPr>
                      <m:e>
                        <m:r>
                          <a:rPr lang="en-US" sz="1100" b="0" i="1" smtClean="0">
                            <a:solidFill>
                              <a:schemeClr val="bg2">
                                <a:lumMod val="25000"/>
                              </a:schemeClr>
                            </a:solidFill>
                            <a:latin typeface="Cambria Math" panose="02040503050406030204" pitchFamily="18" charset="0"/>
                            <a:cs typeface="Calibri" pitchFamily="34" charset="-120"/>
                          </a:rPr>
                          <m:t>𝑔</m:t>
                        </m:r>
                      </m:e>
                      <m:sub>
                        <m:r>
                          <a:rPr lang="en-US" sz="1100" b="0" i="1" smtClean="0">
                            <a:solidFill>
                              <a:schemeClr val="bg2">
                                <a:lumMod val="25000"/>
                              </a:schemeClr>
                            </a:solidFill>
                            <a:latin typeface="Cambria Math" panose="02040503050406030204" pitchFamily="18" charset="0"/>
                            <a:cs typeface="Calibri" pitchFamily="34" charset="-120"/>
                          </a:rPr>
                          <m:t>6</m:t>
                        </m:r>
                      </m:sub>
                    </m:sSub>
                  </m:oMath>
                </a14:m>
                <a:r>
                  <a:rPr lang="en-US" sz="1100" dirty="0">
                    <a:solidFill>
                      <a:schemeClr val="bg2">
                        <a:lumMod val="25000"/>
                      </a:schemeClr>
                    </a:solidFill>
                  </a:rPr>
                  <a:t> </a:t>
                </a:r>
                <a:r>
                  <a:rPr lang="en-US" sz="1100" i="1" dirty="0">
                    <a:solidFill>
                      <a:srgbClr val="5A5A5A"/>
                    </a:solidFill>
                    <a:latin typeface="Calibri" pitchFamily="34" charset="0"/>
                    <a:ea typeface="Calibri" pitchFamily="34" charset="-122"/>
                    <a:cs typeface="Calibri" pitchFamily="34" charset="-120"/>
                  </a:rPr>
                  <a:t>determined by dimensionless coefficients; give “weights” to the particular operator/chirality contributions </a:t>
                </a:r>
                <a:endParaRPr lang="en-US" sz="1100" dirty="0">
                  <a:solidFill>
                    <a:schemeClr val="bg2">
                      <a:lumMod val="25000"/>
                    </a:schemeClr>
                  </a:solidFill>
                  <a:latin typeface="Calibri" panose="020F0502020204030204" pitchFamily="34" charset="0"/>
                  <a:cs typeface="Calibri" panose="020F0502020204030204" pitchFamily="34" charset="0"/>
                </a:endParaRPr>
              </a:p>
            </p:txBody>
          </p:sp>
        </mc:Choice>
        <mc:Fallback>
          <p:sp>
            <p:nvSpPr>
              <p:cNvPr id="11" name="Text 8"/>
              <p:cNvSpPr txBox="1">
                <a:spLocks noRot="1" noChangeAspect="1" noMove="1" noResize="1" noEditPoints="1" noAdjustHandles="1" noChangeArrowheads="1" noChangeShapeType="1" noTextEdit="1"/>
              </p:cNvSpPr>
              <p:nvPr/>
            </p:nvSpPr>
            <p:spPr>
              <a:xfrm>
                <a:off x="685800" y="4093981"/>
                <a:ext cx="2144268" cy="1109199"/>
              </a:xfrm>
              <a:prstGeom prst="rect">
                <a:avLst/>
              </a:prstGeom>
              <a:blipFill>
                <a:blip r:embed="rId5"/>
                <a:stretch>
                  <a:fillRect l="-4142" r="-5325"/>
                </a:stretch>
              </a:blipFill>
              <a:ln/>
            </p:spPr>
            <p:txBody>
              <a:bodyPr/>
              <a:lstStyle/>
              <a:p>
                <a:r>
                  <a:rPr lang="en-US">
                    <a:noFill/>
                  </a:rPr>
                  <a:t> </a:t>
                </a:r>
              </a:p>
            </p:txBody>
          </p:sp>
        </mc:Fallback>
      </mc:AlternateContent>
      <p:sp>
        <p:nvSpPr>
          <p:cNvPr id="12" name="Amplitude"/>
          <p:cNvSpPr/>
          <p:nvPr/>
        </p:nvSpPr>
        <p:spPr>
          <a:xfrm>
            <a:off x="3470148" y="1463040"/>
            <a:ext cx="2418588" cy="841248"/>
          </a:xfrm>
          <a:prstGeom prst="roundRect">
            <a:avLst>
              <a:gd name="adj" fmla="val 12500"/>
            </a:avLst>
          </a:prstGeom>
          <a:solidFill>
            <a:srgbClr val="73000A"/>
          </a:solidFill>
          <a:ln/>
        </p:spPr>
        <p:txBody>
          <a:bodyPr/>
          <a:lstStyle/>
          <a:p>
            <a:endParaRPr lang="en-US"/>
          </a:p>
        </p:txBody>
      </p:sp>
      <p:sp>
        <p:nvSpPr>
          <p:cNvPr id="13" name="Text 10"/>
          <p:cNvSpPr txBox="1"/>
          <p:nvPr/>
        </p:nvSpPr>
        <p:spPr>
          <a:xfrm>
            <a:off x="3470148" y="1536192"/>
            <a:ext cx="2418588"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Amplitude</a:t>
            </a:r>
            <a:endParaRPr lang="en-US" sz="1800" dirty="0"/>
          </a:p>
        </p:txBody>
      </p:sp>
      <p:sp>
        <p:nvSpPr>
          <p:cNvPr id="14" name="Text 11"/>
          <p:cNvSpPr txBox="1"/>
          <p:nvPr/>
        </p:nvSpPr>
        <p:spPr>
          <a:xfrm>
            <a:off x="3470148" y="1883664"/>
            <a:ext cx="2418588" cy="256032"/>
          </a:xfrm>
          <a:prstGeom prst="rect">
            <a:avLst/>
          </a:prstGeom>
          <a:noFill/>
          <a:ln/>
        </p:spPr>
        <p:txBody>
          <a:bodyPr wrap="square" lIns="0" tIns="0" rIns="0" bIns="0" rtlCol="0" anchor="ctr"/>
          <a:lstStyle/>
          <a:p>
            <a:pPr marL="0" indent="0" algn="ctr">
              <a:buNone/>
            </a:pPr>
            <a:r>
              <a:rPr lang="en-US" sz="1150" i="1" dirty="0">
                <a:solidFill>
                  <a:srgbClr val="F2D9DB"/>
                </a:solidFill>
                <a:latin typeface="Calibri" pitchFamily="34" charset="0"/>
                <a:ea typeface="Calibri" pitchFamily="34" charset="-122"/>
                <a:cs typeface="Calibri" pitchFamily="34" charset="-120"/>
              </a:rPr>
              <a:t>via Feynman rules and operator contributions</a:t>
            </a:r>
            <a:endParaRPr lang="en-US" sz="1150" dirty="0"/>
          </a:p>
        </p:txBody>
      </p:sp>
      <p:sp>
        <p:nvSpPr>
          <p:cNvPr id="15" name="Shape 12"/>
          <p:cNvSpPr/>
          <p:nvPr/>
        </p:nvSpPr>
        <p:spPr>
          <a:xfrm>
            <a:off x="5980176" y="1673352"/>
            <a:ext cx="320040" cy="310896"/>
          </a:xfrm>
          <a:prstGeom prst="rightArrow">
            <a:avLst/>
          </a:prstGeom>
          <a:solidFill>
            <a:srgbClr val="73000A"/>
          </a:solidFill>
          <a:ln/>
        </p:spPr>
        <p:txBody>
          <a:bodyPr/>
          <a:lstStyle/>
          <a:p>
            <a:endParaRPr lang="en-US"/>
          </a:p>
        </p:txBody>
      </p:sp>
      <p:sp>
        <p:nvSpPr>
          <p:cNvPr id="16" name="Shape 13"/>
          <p:cNvSpPr/>
          <p:nvPr/>
        </p:nvSpPr>
        <p:spPr>
          <a:xfrm>
            <a:off x="3470148" y="2359151"/>
            <a:ext cx="2418588" cy="3301229"/>
          </a:xfrm>
          <a:prstGeom prst="roundRect">
            <a:avLst>
              <a:gd name="adj" fmla="val 3781"/>
            </a:avLst>
          </a:prstGeom>
          <a:solidFill>
            <a:srgbClr val="FFFFFF"/>
          </a:solidFill>
          <a:ln w="12700">
            <a:solidFill>
              <a:srgbClr val="D9C4C6"/>
            </a:solidFill>
            <a:prstDash val="solid"/>
          </a:ln>
        </p:spPr>
        <p:txBody>
          <a:bodyPr/>
          <a:lstStyle/>
          <a:p>
            <a:endParaRPr lang="en-US" dirty="0"/>
          </a:p>
        </p:txBody>
      </p:sp>
      <p:pic>
        <p:nvPicPr>
          <p:cNvPr id="17" name="Image 1" descr="Feynman diagrams"/>
          <p:cNvPicPr>
            <a:picLocks noChangeAspect="1"/>
          </p:cNvPicPr>
          <p:nvPr/>
        </p:nvPicPr>
        <p:blipFill>
          <a:blip r:embed="rId6"/>
          <a:srcRect l="65510"/>
          <a:stretch>
            <a:fillRect/>
          </a:stretch>
        </p:blipFill>
        <p:spPr>
          <a:xfrm>
            <a:off x="4098952" y="3153053"/>
            <a:ext cx="1252659" cy="911577"/>
          </a:xfrm>
          <a:prstGeom prst="rect">
            <a:avLst/>
          </a:prstGeom>
        </p:spPr>
      </p:pic>
      <p:sp>
        <p:nvSpPr>
          <p:cNvPr id="20" name="Text 14"/>
          <p:cNvSpPr txBox="1"/>
          <p:nvPr/>
        </p:nvSpPr>
        <p:spPr>
          <a:xfrm>
            <a:off x="3561707" y="5459213"/>
            <a:ext cx="2235708" cy="219456"/>
          </a:xfrm>
          <a:prstGeom prst="rect">
            <a:avLst/>
          </a:prstGeom>
          <a:noFill/>
          <a:ln/>
        </p:spPr>
        <p:txBody>
          <a:bodyPr wrap="square" lIns="0" tIns="0" rIns="0" bIns="0" rtlCol="0" anchor="ctr"/>
          <a:lstStyle/>
          <a:p>
            <a:pPr marL="0" indent="0" algn="ctr">
              <a:buNone/>
            </a:pPr>
            <a:r>
              <a:rPr lang="en-US" sz="950" i="1" dirty="0">
                <a:solidFill>
                  <a:srgbClr val="8A8A8A"/>
                </a:solidFill>
                <a:latin typeface="Calibri" pitchFamily="34" charset="0"/>
                <a:ea typeface="Calibri" pitchFamily="34" charset="-122"/>
                <a:cs typeface="Calibri" pitchFamily="34" charset="-120"/>
              </a:rPr>
              <a:t>Schwartz [2]; Koike et al. [12]</a:t>
            </a:r>
            <a:endParaRPr lang="en-US" sz="950" dirty="0"/>
          </a:p>
        </p:txBody>
      </p:sp>
      <p:sp>
        <p:nvSpPr>
          <p:cNvPr id="21" name="Rate"/>
          <p:cNvSpPr/>
          <p:nvPr/>
        </p:nvSpPr>
        <p:spPr>
          <a:xfrm>
            <a:off x="6391656" y="1463040"/>
            <a:ext cx="2418588" cy="841248"/>
          </a:xfrm>
          <a:prstGeom prst="roundRect">
            <a:avLst>
              <a:gd name="adj" fmla="val 12500"/>
            </a:avLst>
          </a:prstGeom>
          <a:solidFill>
            <a:srgbClr val="73000A"/>
          </a:solidFill>
          <a:ln/>
        </p:spPr>
        <p:txBody>
          <a:bodyPr/>
          <a:lstStyle/>
          <a:p>
            <a:endParaRPr lang="en-US"/>
          </a:p>
        </p:txBody>
      </p:sp>
      <p:sp>
        <p:nvSpPr>
          <p:cNvPr id="22" name="Text 16"/>
          <p:cNvSpPr txBox="1"/>
          <p:nvPr/>
        </p:nvSpPr>
        <p:spPr>
          <a:xfrm>
            <a:off x="6391656" y="1536192"/>
            <a:ext cx="2418588"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Rate</a:t>
            </a:r>
            <a:endParaRPr lang="en-US" sz="1800" dirty="0"/>
          </a:p>
        </p:txBody>
      </p:sp>
      <p:sp>
        <p:nvSpPr>
          <p:cNvPr id="23" name="Text 17"/>
          <p:cNvSpPr txBox="1"/>
          <p:nvPr/>
        </p:nvSpPr>
        <p:spPr>
          <a:xfrm>
            <a:off x="6391656" y="1883664"/>
            <a:ext cx="2418588" cy="256032"/>
          </a:xfrm>
          <a:prstGeom prst="rect">
            <a:avLst/>
          </a:prstGeom>
          <a:noFill/>
          <a:ln/>
        </p:spPr>
        <p:txBody>
          <a:bodyPr wrap="square" lIns="0" tIns="0" rIns="0" bIns="0" rtlCol="0" anchor="ctr"/>
          <a:lstStyle/>
          <a:p>
            <a:pPr marL="0" indent="0" algn="ctr">
              <a:buNone/>
            </a:pPr>
            <a:r>
              <a:rPr lang="en-US" sz="1150" i="1" dirty="0">
                <a:solidFill>
                  <a:srgbClr val="F2D9DB"/>
                </a:solidFill>
                <a:latin typeface="Calibri" pitchFamily="34" charset="0"/>
                <a:ea typeface="Calibri" pitchFamily="34" charset="-122"/>
                <a:cs typeface="Calibri" pitchFamily="34" charset="-120"/>
              </a:rPr>
              <a:t>via Fermi’s golden rule taken in nonrelativistic calculations</a:t>
            </a:r>
            <a:endParaRPr lang="en-US" sz="1150" dirty="0"/>
          </a:p>
        </p:txBody>
      </p:sp>
      <p:sp>
        <p:nvSpPr>
          <p:cNvPr id="24" name="Shape 18"/>
          <p:cNvSpPr/>
          <p:nvPr/>
        </p:nvSpPr>
        <p:spPr>
          <a:xfrm>
            <a:off x="8901684" y="1673352"/>
            <a:ext cx="320040" cy="310896"/>
          </a:xfrm>
          <a:prstGeom prst="rightArrow">
            <a:avLst/>
          </a:prstGeom>
          <a:solidFill>
            <a:srgbClr val="73000A"/>
          </a:solidFill>
          <a:ln/>
        </p:spPr>
        <p:txBody>
          <a:bodyPr/>
          <a:lstStyle/>
          <a:p>
            <a:endParaRPr lang="en-US"/>
          </a:p>
        </p:txBody>
      </p:sp>
      <p:sp>
        <p:nvSpPr>
          <p:cNvPr id="25" name="Shape 19"/>
          <p:cNvSpPr/>
          <p:nvPr/>
        </p:nvSpPr>
        <p:spPr>
          <a:xfrm>
            <a:off x="6391656" y="2359152"/>
            <a:ext cx="2418588" cy="3301228"/>
          </a:xfrm>
          <a:prstGeom prst="roundRect">
            <a:avLst>
              <a:gd name="adj" fmla="val 3781"/>
            </a:avLst>
          </a:prstGeom>
          <a:solidFill>
            <a:srgbClr val="FFFFFF"/>
          </a:solidFill>
          <a:ln w="12700">
            <a:solidFill>
              <a:srgbClr val="D9C4C6"/>
            </a:solidFill>
            <a:prstDash val="solid"/>
          </a:ln>
        </p:spPr>
        <p:txBody>
          <a:bodyPr/>
          <a:lstStyle/>
          <a:p>
            <a:endParaRPr lang="en-US"/>
          </a:p>
        </p:txBody>
      </p:sp>
      <p:pic>
        <p:nvPicPr>
          <p:cNvPr id="26" name="Image 4" descr="G1"/>
          <p:cNvPicPr>
            <a:picLocks noChangeAspect="1"/>
          </p:cNvPicPr>
          <p:nvPr/>
        </p:nvPicPr>
        <p:blipFill>
          <a:blip r:embed="rId7"/>
          <a:stretch>
            <a:fillRect/>
          </a:stretch>
        </p:blipFill>
        <p:spPr>
          <a:xfrm>
            <a:off x="6528816" y="2550931"/>
            <a:ext cx="2144268" cy="370637"/>
          </a:xfrm>
          <a:prstGeom prst="rect">
            <a:avLst/>
          </a:prstGeom>
        </p:spPr>
      </p:pic>
      <p:pic>
        <p:nvPicPr>
          <p:cNvPr id="27" name="Image 5" descr="G2"/>
          <p:cNvPicPr>
            <a:picLocks noChangeAspect="1"/>
          </p:cNvPicPr>
          <p:nvPr/>
        </p:nvPicPr>
        <p:blipFill>
          <a:blip r:embed="rId8"/>
          <a:stretch>
            <a:fillRect/>
          </a:stretch>
        </p:blipFill>
        <p:spPr>
          <a:xfrm>
            <a:off x="6757416" y="3122735"/>
            <a:ext cx="1687068" cy="344912"/>
          </a:xfrm>
          <a:prstGeom prst="rect">
            <a:avLst/>
          </a:prstGeom>
        </p:spPr>
      </p:pic>
      <p:pic>
        <p:nvPicPr>
          <p:cNvPr id="28" name="Image 6" descr="G3"/>
          <p:cNvPicPr>
            <a:picLocks noChangeAspect="1"/>
          </p:cNvPicPr>
          <p:nvPr/>
        </p:nvPicPr>
        <p:blipFill>
          <a:blip r:embed="rId9"/>
          <a:stretch>
            <a:fillRect/>
          </a:stretch>
        </p:blipFill>
        <p:spPr>
          <a:xfrm>
            <a:off x="6528816" y="3668815"/>
            <a:ext cx="2144268" cy="464518"/>
          </a:xfrm>
          <a:prstGeom prst="rect">
            <a:avLst/>
          </a:prstGeom>
        </p:spPr>
      </p:pic>
      <p:sp>
        <p:nvSpPr>
          <p:cNvPr id="29" name="Text 20"/>
          <p:cNvSpPr txBox="1"/>
          <p:nvPr/>
        </p:nvSpPr>
        <p:spPr>
          <a:xfrm>
            <a:off x="6483096" y="5438764"/>
            <a:ext cx="2235708" cy="219456"/>
          </a:xfrm>
          <a:prstGeom prst="rect">
            <a:avLst/>
          </a:prstGeom>
          <a:noFill/>
          <a:ln/>
        </p:spPr>
        <p:txBody>
          <a:bodyPr wrap="square" lIns="0" tIns="0" rIns="0" bIns="0" rtlCol="0" anchor="ctr"/>
          <a:lstStyle/>
          <a:p>
            <a:pPr marL="0" indent="0" algn="ctr">
              <a:buNone/>
            </a:pPr>
            <a:r>
              <a:rPr lang="en-US" sz="950" i="1" dirty="0">
                <a:solidFill>
                  <a:srgbClr val="8A8A8A"/>
                </a:solidFill>
                <a:latin typeface="Calibri" pitchFamily="34" charset="0"/>
                <a:ea typeface="Calibri" pitchFamily="34" charset="-122"/>
                <a:cs typeface="Calibri" pitchFamily="34" charset="-120"/>
              </a:rPr>
              <a:t>Griffiths [3]; Koike [12]; Uesaka [13]</a:t>
            </a:r>
            <a:endParaRPr lang="en-US" sz="950" dirty="0"/>
          </a:p>
        </p:txBody>
      </p:sp>
      <p:sp>
        <p:nvSpPr>
          <p:cNvPr id="30" name="Text 21"/>
          <p:cNvSpPr txBox="1"/>
          <p:nvPr/>
        </p:nvSpPr>
        <p:spPr>
          <a:xfrm>
            <a:off x="6528816" y="4188197"/>
            <a:ext cx="2144268" cy="1216151"/>
          </a:xfrm>
          <a:prstGeom prst="rect">
            <a:avLst/>
          </a:prstGeom>
          <a:noFill/>
          <a:ln/>
        </p:spPr>
        <p:txBody>
          <a:bodyPr wrap="square" lIns="0" tIns="0" rIns="0" bIns="0" rtlCol="0" anchor="ctr"/>
          <a:lstStyle/>
          <a:p>
            <a:pPr marL="0" indent="0" algn="ctr">
              <a:buNone/>
            </a:pPr>
            <a:r>
              <a:rPr lang="en-US" sz="1100" i="1" dirty="0">
                <a:solidFill>
                  <a:srgbClr val="5A5A5A"/>
                </a:solidFill>
                <a:latin typeface="Calibri" pitchFamily="34" charset="0"/>
                <a:ea typeface="Calibri" pitchFamily="34" charset="-122"/>
                <a:cs typeface="Calibri" pitchFamily="34" charset="-120"/>
              </a:rPr>
              <a:t>Rate determined via interaction amplitude and phase space contributions. </a:t>
            </a:r>
          </a:p>
          <a:p>
            <a:pPr marL="0" indent="0" algn="ctr">
              <a:buNone/>
            </a:pPr>
            <a:r>
              <a:rPr lang="en-US" sz="1100" i="1" dirty="0">
                <a:solidFill>
                  <a:srgbClr val="5A5A5A"/>
                </a:solidFill>
                <a:latin typeface="Calibri" pitchFamily="34" charset="0"/>
                <a:ea typeface="Calibri" pitchFamily="34" charset="-122"/>
                <a:cs typeface="Calibri" pitchFamily="34" charset="-120"/>
              </a:rPr>
              <a:t>Bound electron density at the muon, ∝ (Z−1)³ (Sargent’s Rule) and rate determined by Koike et al. and </a:t>
            </a:r>
            <a:r>
              <a:rPr lang="en-US" sz="1100" i="1" dirty="0" err="1">
                <a:solidFill>
                  <a:srgbClr val="5A5A5A"/>
                </a:solidFill>
                <a:latin typeface="Calibri" pitchFamily="34" charset="0"/>
                <a:ea typeface="Calibri" pitchFamily="34" charset="-122"/>
                <a:cs typeface="Calibri" pitchFamily="34" charset="-120"/>
              </a:rPr>
              <a:t>Uesaka</a:t>
            </a:r>
            <a:r>
              <a:rPr lang="en-US" sz="1100" i="1" dirty="0">
                <a:solidFill>
                  <a:srgbClr val="5A5A5A"/>
                </a:solidFill>
                <a:latin typeface="Calibri" pitchFamily="34" charset="0"/>
                <a:ea typeface="Calibri" pitchFamily="34" charset="-122"/>
                <a:cs typeface="Calibri" pitchFamily="34" charset="-120"/>
              </a:rPr>
              <a:t> et al.</a:t>
            </a:r>
            <a:endParaRPr lang="en-US" sz="1100" dirty="0"/>
          </a:p>
        </p:txBody>
      </p:sp>
      <p:sp>
        <p:nvSpPr>
          <p:cNvPr id="31" name="Branching ratio"/>
          <p:cNvSpPr/>
          <p:nvPr/>
        </p:nvSpPr>
        <p:spPr>
          <a:xfrm>
            <a:off x="9313164" y="1463040"/>
            <a:ext cx="2418588" cy="841248"/>
          </a:xfrm>
          <a:prstGeom prst="roundRect">
            <a:avLst>
              <a:gd name="adj" fmla="val 12500"/>
            </a:avLst>
          </a:prstGeom>
          <a:solidFill>
            <a:srgbClr val="73000A"/>
          </a:solidFill>
          <a:ln/>
        </p:spPr>
        <p:txBody>
          <a:bodyPr/>
          <a:lstStyle/>
          <a:p>
            <a:endParaRPr lang="en-US"/>
          </a:p>
        </p:txBody>
      </p:sp>
      <p:sp>
        <p:nvSpPr>
          <p:cNvPr id="32" name="Text 23"/>
          <p:cNvSpPr txBox="1"/>
          <p:nvPr/>
        </p:nvSpPr>
        <p:spPr>
          <a:xfrm>
            <a:off x="9313164" y="1536192"/>
            <a:ext cx="2418588"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Branching ratio</a:t>
            </a:r>
            <a:endParaRPr lang="en-US" sz="1800" dirty="0"/>
          </a:p>
        </p:txBody>
      </p:sp>
      <p:sp>
        <p:nvSpPr>
          <p:cNvPr id="33" name="Text 24"/>
          <p:cNvSpPr txBox="1"/>
          <p:nvPr/>
        </p:nvSpPr>
        <p:spPr>
          <a:xfrm>
            <a:off x="9313164" y="1883663"/>
            <a:ext cx="2418588" cy="359865"/>
          </a:xfrm>
          <a:prstGeom prst="rect">
            <a:avLst/>
          </a:prstGeom>
          <a:noFill/>
          <a:ln/>
        </p:spPr>
        <p:txBody>
          <a:bodyPr wrap="square" lIns="0" tIns="0" rIns="0" bIns="0" rtlCol="0" anchor="ctr"/>
          <a:lstStyle/>
          <a:p>
            <a:pPr marL="0" indent="0" algn="ctr">
              <a:buNone/>
            </a:pPr>
            <a:r>
              <a:rPr lang="en-US" sz="1150" i="1" dirty="0">
                <a:solidFill>
                  <a:srgbClr val="F2D9DB"/>
                </a:solidFill>
                <a:latin typeface="Calibri" pitchFamily="34" charset="0"/>
                <a:ea typeface="Calibri" pitchFamily="34" charset="-122"/>
                <a:cs typeface="Calibri" pitchFamily="34" charset="-120"/>
              </a:rPr>
              <a:t>From process rate versus total decay time in a bound state</a:t>
            </a:r>
            <a:endParaRPr lang="en-US" sz="1150" dirty="0"/>
          </a:p>
        </p:txBody>
      </p:sp>
      <p:sp>
        <p:nvSpPr>
          <p:cNvPr id="34" name="Shape 25"/>
          <p:cNvSpPr/>
          <p:nvPr/>
        </p:nvSpPr>
        <p:spPr>
          <a:xfrm>
            <a:off x="9313164" y="2359151"/>
            <a:ext cx="2418588" cy="3301227"/>
          </a:xfrm>
          <a:prstGeom prst="roundRect">
            <a:avLst>
              <a:gd name="adj" fmla="val 3781"/>
            </a:avLst>
          </a:prstGeom>
          <a:solidFill>
            <a:srgbClr val="FFFFFF"/>
          </a:solidFill>
          <a:ln w="12700">
            <a:solidFill>
              <a:srgbClr val="D9C4C6"/>
            </a:solidFill>
            <a:prstDash val="solid"/>
          </a:ln>
        </p:spPr>
        <p:txBody>
          <a:bodyPr/>
          <a:lstStyle/>
          <a:p>
            <a:endParaRPr lang="en-US"/>
          </a:p>
        </p:txBody>
      </p:sp>
      <p:pic>
        <p:nvPicPr>
          <p:cNvPr id="36" name="Image 8" descr="B2"/>
          <p:cNvPicPr>
            <a:picLocks noChangeAspect="1"/>
          </p:cNvPicPr>
          <p:nvPr/>
        </p:nvPicPr>
        <p:blipFill>
          <a:blip r:embed="rId10"/>
          <a:stretch>
            <a:fillRect/>
          </a:stretch>
        </p:blipFill>
        <p:spPr>
          <a:xfrm>
            <a:off x="10009903" y="4095898"/>
            <a:ext cx="1025110" cy="210802"/>
          </a:xfrm>
          <a:prstGeom prst="rect">
            <a:avLst/>
          </a:prstGeom>
        </p:spPr>
      </p:pic>
      <p:sp>
        <p:nvSpPr>
          <p:cNvPr id="37" name="Text 26"/>
          <p:cNvSpPr txBox="1"/>
          <p:nvPr/>
        </p:nvSpPr>
        <p:spPr>
          <a:xfrm>
            <a:off x="9398508" y="5450069"/>
            <a:ext cx="2235708" cy="219456"/>
          </a:xfrm>
          <a:prstGeom prst="rect">
            <a:avLst/>
          </a:prstGeom>
          <a:noFill/>
          <a:ln/>
        </p:spPr>
        <p:txBody>
          <a:bodyPr wrap="square" lIns="0" tIns="0" rIns="0" bIns="0" rtlCol="0" anchor="ctr"/>
          <a:lstStyle/>
          <a:p>
            <a:pPr marL="0" indent="0" algn="ctr">
              <a:buNone/>
            </a:pPr>
            <a:r>
              <a:rPr lang="en-US" sz="950" i="1" dirty="0">
                <a:solidFill>
                  <a:srgbClr val="8A8A8A"/>
                </a:solidFill>
                <a:latin typeface="Calibri" pitchFamily="34" charset="0"/>
                <a:ea typeface="Calibri" pitchFamily="34" charset="-122"/>
                <a:cs typeface="Calibri" pitchFamily="34" charset="-120"/>
              </a:rPr>
              <a:t>Kuno &amp; Okada [9]; Koike et al. [12]</a:t>
            </a:r>
            <a:endParaRPr lang="en-US" sz="950" dirty="0"/>
          </a:p>
        </p:txBody>
      </p:sp>
      <p:sp>
        <p:nvSpPr>
          <p:cNvPr id="38" name="Shape 27"/>
          <p:cNvSpPr/>
          <p:nvPr/>
        </p:nvSpPr>
        <p:spPr>
          <a:xfrm>
            <a:off x="548640" y="5824973"/>
            <a:ext cx="11183112" cy="777240"/>
          </a:xfrm>
          <a:prstGeom prst="roundRect">
            <a:avLst>
              <a:gd name="adj" fmla="val 11765"/>
            </a:avLst>
          </a:prstGeom>
          <a:solidFill>
            <a:srgbClr val="F4E6E7"/>
          </a:solidFill>
          <a:ln w="19050">
            <a:solidFill>
              <a:srgbClr val="73000A"/>
            </a:solidFill>
            <a:prstDash val="solid"/>
          </a:ln>
        </p:spPr>
        <p:txBody>
          <a:bodyPr/>
          <a:lstStyle/>
          <a:p>
            <a:endParaRPr lang="en-US"/>
          </a:p>
        </p:txBody>
      </p:sp>
      <p:sp>
        <p:nvSpPr>
          <p:cNvPr id="39" name="Text 28"/>
          <p:cNvSpPr txBox="1"/>
          <p:nvPr/>
        </p:nvSpPr>
        <p:spPr>
          <a:xfrm>
            <a:off x="777240" y="5824973"/>
            <a:ext cx="2377440" cy="777240"/>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Experimental relevance</a:t>
            </a:r>
          </a:p>
          <a:p>
            <a:pPr marL="0" indent="0">
              <a:buNone/>
            </a:pPr>
            <a:r>
              <a:rPr lang="en-US" sz="1500" b="1" dirty="0">
                <a:solidFill>
                  <a:srgbClr val="73000A"/>
                </a:solidFill>
                <a:latin typeface="Calibri" pitchFamily="34" charset="0"/>
                <a:cs typeface="Calibri" pitchFamily="34" charset="-120"/>
              </a:rPr>
              <a:t>(What does experiment tell?)</a:t>
            </a:r>
            <a:endParaRPr lang="en-US" sz="1500" dirty="0"/>
          </a:p>
        </p:txBody>
      </p:sp>
      <p:sp>
        <p:nvSpPr>
          <p:cNvPr id="41" name="Text 29"/>
          <p:cNvSpPr txBox="1"/>
          <p:nvPr/>
        </p:nvSpPr>
        <p:spPr>
          <a:xfrm>
            <a:off x="8988552" y="6355325"/>
            <a:ext cx="2560320" cy="201168"/>
          </a:xfrm>
          <a:prstGeom prst="rect">
            <a:avLst/>
          </a:prstGeom>
          <a:noFill/>
          <a:ln/>
        </p:spPr>
        <p:txBody>
          <a:bodyPr wrap="square" lIns="0" tIns="0" rIns="0" bIns="0" rtlCol="0" anchor="ctr"/>
          <a:lstStyle/>
          <a:p>
            <a:pPr marL="0" indent="0" algn="r">
              <a:buNone/>
            </a:pPr>
            <a:r>
              <a:rPr lang="en-US" sz="950" i="1" dirty="0">
                <a:solidFill>
                  <a:srgbClr val="8A8A8A"/>
                </a:solidFill>
                <a:latin typeface="Calibri" pitchFamily="34" charset="0"/>
                <a:ea typeface="Calibri" pitchFamily="34" charset="-122"/>
                <a:cs typeface="Calibri" pitchFamily="34" charset="-120"/>
              </a:rPr>
              <a:t>Feldman &amp; Cousins [28]; Bernstein [17]</a:t>
            </a:r>
            <a:endParaRPr lang="en-US" sz="950" dirty="0"/>
          </a:p>
        </p:txBody>
      </p:sp>
      <p:pic>
        <p:nvPicPr>
          <p:cNvPr id="42" name="Image 1" descr="Feynman diagrams">
            <a:extLst>
              <a:ext uri="{FF2B5EF4-FFF2-40B4-BE49-F238E27FC236}">
                <a16:creationId xmlns:a16="http://schemas.microsoft.com/office/drawing/2014/main" id="{670CE21E-BD80-FCB0-4177-2F425C23540F}"/>
              </a:ext>
            </a:extLst>
          </p:cNvPr>
          <p:cNvPicPr>
            <a:picLocks noChangeAspect="1"/>
          </p:cNvPicPr>
          <p:nvPr/>
        </p:nvPicPr>
        <p:blipFill>
          <a:blip r:embed="rId6"/>
          <a:srcRect r="34156"/>
          <a:stretch>
            <a:fillRect/>
          </a:stretch>
        </p:blipFill>
        <p:spPr>
          <a:xfrm>
            <a:off x="3561588" y="2373128"/>
            <a:ext cx="2264664" cy="923283"/>
          </a:xfrm>
          <a:prstGeom prst="rect">
            <a:avLst/>
          </a:prstGeom>
        </p:spPr>
      </p:pic>
      <p:sp>
        <p:nvSpPr>
          <p:cNvPr id="43" name="Text 8">
            <a:extLst>
              <a:ext uri="{FF2B5EF4-FFF2-40B4-BE49-F238E27FC236}">
                <a16:creationId xmlns:a16="http://schemas.microsoft.com/office/drawing/2014/main" id="{3EDC5628-4B89-5B15-6447-C42665C446D2}"/>
              </a:ext>
            </a:extLst>
          </p:cNvPr>
          <p:cNvSpPr txBox="1"/>
          <p:nvPr/>
        </p:nvSpPr>
        <p:spPr>
          <a:xfrm>
            <a:off x="3653147" y="4722367"/>
            <a:ext cx="2144268" cy="634594"/>
          </a:xfrm>
          <a:prstGeom prst="rect">
            <a:avLst/>
          </a:prstGeom>
          <a:noFill/>
          <a:ln/>
        </p:spPr>
        <p:txBody>
          <a:bodyPr wrap="square" lIns="0" tIns="0" rIns="0" bIns="0" rtlCol="0" anchor="ctr"/>
          <a:lstStyle/>
          <a:p>
            <a:pPr marL="0" indent="0" algn="ctr">
              <a:buNone/>
            </a:pPr>
            <a:r>
              <a:rPr lang="en-US" sz="1100" i="1" dirty="0">
                <a:solidFill>
                  <a:srgbClr val="5A5A5A"/>
                </a:solidFill>
                <a:latin typeface="Calibri" pitchFamily="34" charset="0"/>
                <a:ea typeface="Calibri" pitchFamily="34" charset="-122"/>
                <a:cs typeface="Calibri" pitchFamily="34" charset="-120"/>
              </a:rPr>
              <a:t>Feynman rules and appropriate operator contributions can be used to determine the invariant amplitude involving the Wilson Coefficients </a:t>
            </a:r>
            <a:endParaRPr lang="en-US" sz="1100" dirty="0"/>
          </a:p>
        </p:txBody>
      </p:sp>
      <p:sp>
        <p:nvSpPr>
          <p:cNvPr id="44" name="Text 21">
            <a:extLst>
              <a:ext uri="{FF2B5EF4-FFF2-40B4-BE49-F238E27FC236}">
                <a16:creationId xmlns:a16="http://schemas.microsoft.com/office/drawing/2014/main" id="{9AE6B064-6FB9-47FA-64E0-BAAFA521E425}"/>
              </a:ext>
            </a:extLst>
          </p:cNvPr>
          <p:cNvSpPr txBox="1"/>
          <p:nvPr/>
        </p:nvSpPr>
        <p:spPr>
          <a:xfrm>
            <a:off x="9407652" y="4352420"/>
            <a:ext cx="2144268" cy="887212"/>
          </a:xfrm>
          <a:prstGeom prst="rect">
            <a:avLst/>
          </a:prstGeom>
          <a:noFill/>
          <a:ln/>
        </p:spPr>
        <p:txBody>
          <a:bodyPr wrap="square" lIns="0" tIns="0" rIns="0" bIns="0" rtlCol="0" anchor="ctr"/>
          <a:lstStyle/>
          <a:p>
            <a:pPr marL="0" indent="0" algn="ctr">
              <a:buNone/>
            </a:pPr>
            <a:r>
              <a:rPr lang="en-US" sz="1100" i="1" dirty="0">
                <a:solidFill>
                  <a:srgbClr val="5A5A5A"/>
                </a:solidFill>
                <a:latin typeface="Calibri" pitchFamily="34" charset="0"/>
                <a:ea typeface="Calibri" pitchFamily="34" charset="-122"/>
                <a:cs typeface="Calibri" pitchFamily="34" charset="-120"/>
              </a:rPr>
              <a:t>Because muon lifetime differs based on if free or bound in an atom (varying based on what type of atom), the branching ratio can be determined as the decay rate x time</a:t>
            </a:r>
            <a:endParaRPr lang="en-US" sz="1100" dirty="0"/>
          </a:p>
        </p:txBody>
      </p:sp>
      <p:pic>
        <p:nvPicPr>
          <p:cNvPr id="45" name="Picture 44">
            <a:extLst>
              <a:ext uri="{FF2B5EF4-FFF2-40B4-BE49-F238E27FC236}">
                <a16:creationId xmlns:a16="http://schemas.microsoft.com/office/drawing/2014/main" id="{4508EA01-D25B-E609-BF57-C612177CA479}"/>
              </a:ext>
            </a:extLst>
          </p:cNvPr>
          <p:cNvPicPr>
            <a:picLocks noChangeAspect="1"/>
          </p:cNvPicPr>
          <p:nvPr/>
        </p:nvPicPr>
        <p:blipFill>
          <a:blip r:embed="rId11"/>
          <a:srcRect r="33285" b="1876"/>
          <a:stretch>
            <a:fillRect/>
          </a:stretch>
        </p:blipFill>
        <p:spPr>
          <a:xfrm>
            <a:off x="9409239" y="2599973"/>
            <a:ext cx="2101469" cy="272551"/>
          </a:xfrm>
          <a:prstGeom prst="rect">
            <a:avLst/>
          </a:prstGeom>
        </p:spPr>
      </p:pic>
      <p:pic>
        <p:nvPicPr>
          <p:cNvPr id="46" name="Picture 45">
            <a:extLst>
              <a:ext uri="{FF2B5EF4-FFF2-40B4-BE49-F238E27FC236}">
                <a16:creationId xmlns:a16="http://schemas.microsoft.com/office/drawing/2014/main" id="{5AFAA539-ED09-C23A-0A42-BFC01751B74A}"/>
              </a:ext>
            </a:extLst>
          </p:cNvPr>
          <p:cNvPicPr>
            <a:picLocks noChangeAspect="1"/>
          </p:cNvPicPr>
          <p:nvPr/>
        </p:nvPicPr>
        <p:blipFill>
          <a:blip r:embed="rId11"/>
          <a:srcRect l="66059" t="1876"/>
          <a:stretch>
            <a:fillRect/>
          </a:stretch>
        </p:blipFill>
        <p:spPr>
          <a:xfrm>
            <a:off x="10347015" y="2988146"/>
            <a:ext cx="1265865" cy="322704"/>
          </a:xfrm>
          <a:prstGeom prst="rect">
            <a:avLst/>
          </a:prstGeom>
        </p:spPr>
      </p:pic>
      <p:sp>
        <p:nvSpPr>
          <p:cNvPr id="47" name="Text 21">
            <a:extLst>
              <a:ext uri="{FF2B5EF4-FFF2-40B4-BE49-F238E27FC236}">
                <a16:creationId xmlns:a16="http://schemas.microsoft.com/office/drawing/2014/main" id="{89BBC47C-8B04-BE32-ECFB-3081E613B90A}"/>
              </a:ext>
            </a:extLst>
          </p:cNvPr>
          <p:cNvSpPr txBox="1"/>
          <p:nvPr/>
        </p:nvSpPr>
        <p:spPr>
          <a:xfrm>
            <a:off x="9407652" y="3347040"/>
            <a:ext cx="2144268" cy="272552"/>
          </a:xfrm>
          <a:prstGeom prst="rect">
            <a:avLst/>
          </a:prstGeom>
          <a:noFill/>
          <a:ln/>
        </p:spPr>
        <p:txBody>
          <a:bodyPr wrap="square" lIns="0" tIns="0" rIns="0" bIns="0" rtlCol="0" anchor="ctr"/>
          <a:lstStyle/>
          <a:p>
            <a:pPr marL="0" indent="0" algn="ctr">
              <a:buNone/>
            </a:pPr>
            <a:endParaRPr lang="en-US" sz="1100" dirty="0"/>
          </a:p>
        </p:txBody>
      </p:sp>
      <p:sp>
        <p:nvSpPr>
          <p:cNvPr id="48" name="Text 21">
            <a:extLst>
              <a:ext uri="{FF2B5EF4-FFF2-40B4-BE49-F238E27FC236}">
                <a16:creationId xmlns:a16="http://schemas.microsoft.com/office/drawing/2014/main" id="{CF8D5094-166B-2B29-D1BF-0DB3F0D04B61}"/>
              </a:ext>
            </a:extLst>
          </p:cNvPr>
          <p:cNvSpPr txBox="1"/>
          <p:nvPr/>
        </p:nvSpPr>
        <p:spPr>
          <a:xfrm>
            <a:off x="9419844" y="3208686"/>
            <a:ext cx="2193036" cy="887212"/>
          </a:xfrm>
          <a:prstGeom prst="rect">
            <a:avLst/>
          </a:prstGeom>
          <a:noFill/>
          <a:ln/>
        </p:spPr>
        <p:txBody>
          <a:bodyPr wrap="square" lIns="0" tIns="0" rIns="0" bIns="0" rtlCol="0" anchor="ctr"/>
          <a:lstStyle/>
          <a:p>
            <a:pPr marL="0" indent="0" algn="ctr">
              <a:buNone/>
            </a:pPr>
            <a:r>
              <a:rPr lang="en-US" sz="1100" i="1" dirty="0">
                <a:solidFill>
                  <a:srgbClr val="5A5A5A"/>
                </a:solidFill>
                <a:latin typeface="Calibri" pitchFamily="34" charset="0"/>
                <a:ea typeface="Calibri" pitchFamily="34" charset="-122"/>
                <a:cs typeface="Calibri" pitchFamily="34" charset="-120"/>
              </a:rPr>
              <a:t>Branching ratio compares the rate of a preferred transition to the rate of all possible transitions. The rate of all possible transitions is just the lifetime.</a:t>
            </a:r>
            <a:endParaRPr lang="en-US" sz="1100" dirty="0"/>
          </a:p>
        </p:txBody>
      </p:sp>
      <p:sp>
        <p:nvSpPr>
          <p:cNvPr id="49" name="Text 8">
            <a:extLst>
              <a:ext uri="{FF2B5EF4-FFF2-40B4-BE49-F238E27FC236}">
                <a16:creationId xmlns:a16="http://schemas.microsoft.com/office/drawing/2014/main" id="{E395BF0B-47A9-30A4-BB0C-ED6E9F12A0FF}"/>
              </a:ext>
            </a:extLst>
          </p:cNvPr>
          <p:cNvSpPr txBox="1"/>
          <p:nvPr/>
        </p:nvSpPr>
        <p:spPr>
          <a:xfrm>
            <a:off x="3653148" y="4046861"/>
            <a:ext cx="2144268" cy="634594"/>
          </a:xfrm>
          <a:prstGeom prst="rect">
            <a:avLst/>
          </a:prstGeom>
          <a:noFill/>
          <a:ln/>
        </p:spPr>
        <p:txBody>
          <a:bodyPr wrap="square" lIns="0" tIns="0" rIns="0" bIns="0" rtlCol="0" anchor="ctr"/>
          <a:lstStyle/>
          <a:p>
            <a:pPr marL="0" indent="0" algn="ctr">
              <a:buNone/>
            </a:pPr>
            <a:r>
              <a:rPr lang="en-US" sz="1100" i="1" dirty="0">
                <a:solidFill>
                  <a:srgbClr val="5A5A5A"/>
                </a:solidFill>
                <a:latin typeface="Calibri" pitchFamily="34" charset="0"/>
                <a:ea typeface="Calibri" pitchFamily="34" charset="-122"/>
                <a:cs typeface="Calibri" pitchFamily="34" charset="-120"/>
              </a:rPr>
              <a:t>Appropriate general Feynman diagrams for photonic (above) and contact (below) type interactions for the process</a:t>
            </a:r>
            <a:endParaRPr lang="en-US" sz="1100" dirty="0"/>
          </a:p>
        </p:txBody>
      </p:sp>
      <p:pic>
        <p:nvPicPr>
          <p:cNvPr id="51" name="Picture 50">
            <a:extLst>
              <a:ext uri="{FF2B5EF4-FFF2-40B4-BE49-F238E27FC236}">
                <a16:creationId xmlns:a16="http://schemas.microsoft.com/office/drawing/2014/main" id="{2AD57492-A12C-8B88-FED4-EF3EA436C17F}"/>
              </a:ext>
            </a:extLst>
          </p:cNvPr>
          <p:cNvPicPr>
            <a:picLocks noChangeAspect="1"/>
          </p:cNvPicPr>
          <p:nvPr/>
        </p:nvPicPr>
        <p:blipFill>
          <a:blip r:embed="rId12"/>
          <a:stretch>
            <a:fillRect/>
          </a:stretch>
        </p:blipFill>
        <p:spPr>
          <a:xfrm>
            <a:off x="1311776" y="3608841"/>
            <a:ext cx="800876" cy="375411"/>
          </a:xfrm>
          <a:prstGeom prst="rect">
            <a:avLst/>
          </a:prstGeom>
        </p:spPr>
      </p:pic>
      <p:sp>
        <p:nvSpPr>
          <p:cNvPr id="52" name="Text 8">
            <a:extLst>
              <a:ext uri="{FF2B5EF4-FFF2-40B4-BE49-F238E27FC236}">
                <a16:creationId xmlns:a16="http://schemas.microsoft.com/office/drawing/2014/main" id="{777E30A0-16D9-1D65-46C6-EB27DB6D0D7A}"/>
              </a:ext>
            </a:extLst>
          </p:cNvPr>
          <p:cNvSpPr txBox="1"/>
          <p:nvPr/>
        </p:nvSpPr>
        <p:spPr>
          <a:xfrm>
            <a:off x="659648" y="2947147"/>
            <a:ext cx="2144268" cy="672445"/>
          </a:xfrm>
          <a:prstGeom prst="rect">
            <a:avLst/>
          </a:prstGeom>
          <a:noFill/>
          <a:ln/>
        </p:spPr>
        <p:txBody>
          <a:bodyPr wrap="square" lIns="0" tIns="0" rIns="0" bIns="0" rtlCol="0" anchor="ctr"/>
          <a:lstStyle/>
          <a:p>
            <a:pPr algn="ctr"/>
            <a:r>
              <a:rPr lang="en-US" sz="1100" i="1" dirty="0">
                <a:solidFill>
                  <a:srgbClr val="5A5A5A"/>
                </a:solidFill>
                <a:latin typeface="Calibri" pitchFamily="34" charset="0"/>
                <a:ea typeface="Calibri" pitchFamily="34" charset="-122"/>
                <a:cs typeface="Calibri" pitchFamily="34" charset="-120"/>
              </a:rPr>
              <a:t>Dimension-six operators on account of the scaling by the square of the W boson mass squared</a:t>
            </a:r>
            <a:endParaRPr lang="en-US" sz="1100" dirty="0">
              <a:solidFill>
                <a:schemeClr val="bg2">
                  <a:lumMod val="25000"/>
                </a:schemeClr>
              </a:solidFill>
              <a:latin typeface="Calibri" panose="020F0502020204030204" pitchFamily="34" charset="0"/>
              <a:cs typeface="Calibri" panose="020F0502020204030204" pitchFamily="34" charset="0"/>
            </a:endParaRPr>
          </a:p>
        </p:txBody>
      </p:sp>
      <p:sp>
        <p:nvSpPr>
          <p:cNvPr id="53" name="Text 8">
            <a:extLst>
              <a:ext uri="{FF2B5EF4-FFF2-40B4-BE49-F238E27FC236}">
                <a16:creationId xmlns:a16="http://schemas.microsoft.com/office/drawing/2014/main" id="{24CC9025-EF17-98B6-8EEB-8EDA12D60AD8}"/>
              </a:ext>
            </a:extLst>
          </p:cNvPr>
          <p:cNvSpPr txBox="1"/>
          <p:nvPr/>
        </p:nvSpPr>
        <p:spPr>
          <a:xfrm>
            <a:off x="3255779" y="5896296"/>
            <a:ext cx="2724397" cy="634594"/>
          </a:xfrm>
          <a:prstGeom prst="rect">
            <a:avLst/>
          </a:prstGeom>
          <a:noFill/>
          <a:ln/>
        </p:spPr>
        <p:txBody>
          <a:bodyPr wrap="square" lIns="0" tIns="0" rIns="0" bIns="0" rtlCol="0" anchor="ctr"/>
          <a:lstStyle/>
          <a:p>
            <a:pPr marL="0" indent="0" algn="ctr">
              <a:buNone/>
            </a:pPr>
            <a:r>
              <a:rPr lang="en-US" sz="1100" i="1" dirty="0">
                <a:solidFill>
                  <a:srgbClr val="5A5A5A"/>
                </a:solidFill>
                <a:latin typeface="Calibri" pitchFamily="34" charset="0"/>
                <a:ea typeface="Calibri" pitchFamily="34" charset="-122"/>
                <a:cs typeface="Calibri" pitchFamily="34" charset="-120"/>
              </a:rPr>
              <a:t>If a given process yields a number of signal events from a number of parents for the transition, the Branching ratio can be calculated  by normalizing to the experimental efficiency</a:t>
            </a:r>
            <a:endParaRPr lang="en-US" sz="1100" dirty="0"/>
          </a:p>
        </p:txBody>
      </p:sp>
      <p:pic>
        <p:nvPicPr>
          <p:cNvPr id="55" name="Picture 54">
            <a:extLst>
              <a:ext uri="{FF2B5EF4-FFF2-40B4-BE49-F238E27FC236}">
                <a16:creationId xmlns:a16="http://schemas.microsoft.com/office/drawing/2014/main" id="{AE8A3C89-5850-798A-FD75-2CB4D584726B}"/>
              </a:ext>
            </a:extLst>
          </p:cNvPr>
          <p:cNvPicPr>
            <a:picLocks noChangeAspect="1"/>
          </p:cNvPicPr>
          <p:nvPr/>
        </p:nvPicPr>
        <p:blipFill>
          <a:blip r:embed="rId13"/>
          <a:stretch>
            <a:fillRect/>
          </a:stretch>
        </p:blipFill>
        <p:spPr>
          <a:xfrm>
            <a:off x="6373038" y="5989565"/>
            <a:ext cx="2940126" cy="464518"/>
          </a:xfrm>
          <a:prstGeom prst="rect">
            <a:avLst/>
          </a:prstGeom>
        </p:spPr>
      </p:pic>
      <p:sp>
        <p:nvSpPr>
          <p:cNvPr id="56" name="Text 8">
            <a:extLst>
              <a:ext uri="{FF2B5EF4-FFF2-40B4-BE49-F238E27FC236}">
                <a16:creationId xmlns:a16="http://schemas.microsoft.com/office/drawing/2014/main" id="{9BE5F453-4A23-FC6F-24F2-3E6D4DD1B40C}"/>
              </a:ext>
            </a:extLst>
          </p:cNvPr>
          <p:cNvSpPr txBox="1"/>
          <p:nvPr/>
        </p:nvSpPr>
        <p:spPr>
          <a:xfrm>
            <a:off x="9398508" y="5790596"/>
            <a:ext cx="2288984" cy="634594"/>
          </a:xfrm>
          <a:prstGeom prst="rect">
            <a:avLst/>
          </a:prstGeom>
          <a:noFill/>
          <a:ln/>
        </p:spPr>
        <p:txBody>
          <a:bodyPr wrap="square" lIns="0" tIns="0" rIns="0" bIns="0" rtlCol="0" anchor="ctr"/>
          <a:lstStyle/>
          <a:p>
            <a:pPr marL="0" indent="0" algn="ctr">
              <a:buNone/>
            </a:pPr>
            <a:r>
              <a:rPr lang="en-US" sz="1050" i="1" dirty="0">
                <a:solidFill>
                  <a:srgbClr val="5A5A5A"/>
                </a:solidFill>
                <a:latin typeface="Calibri" pitchFamily="34" charset="0"/>
                <a:ea typeface="Calibri" pitchFamily="34" charset="-122"/>
                <a:cs typeface="Calibri" pitchFamily="34" charset="-120"/>
              </a:rPr>
              <a:t>In Feldman Cousins techniques, less than 2.44 signal events required to claim a 90% confidence in no process observed </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B6284-865F-7FCA-44DA-321387F38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0C361-A9AE-BCC8-1264-7086894B55F1}"/>
              </a:ext>
            </a:extLst>
          </p:cNvPr>
          <p:cNvSpPr>
            <a:spLocks noGrp="1"/>
          </p:cNvSpPr>
          <p:nvPr>
            <p:ph type="title"/>
          </p:nvPr>
        </p:nvSpPr>
        <p:spPr>
          <a:xfrm>
            <a:off x="0" y="6351"/>
            <a:ext cx="10515600" cy="674686"/>
          </a:xfrm>
        </p:spPr>
        <p:txBody>
          <a:bodyPr>
            <a:normAutofit/>
          </a:bodyPr>
          <a:lstStyle/>
          <a:p>
            <a:r>
              <a:rPr lang="en-US" sz="2500" u="sng" dirty="0">
                <a:solidFill>
                  <a:srgbClr val="73000A"/>
                </a:solidFill>
              </a:rPr>
              <a:t>Current Limits Placed as Stated by Calibbi</a:t>
            </a:r>
          </a:p>
        </p:txBody>
      </p:sp>
      <p:sp>
        <p:nvSpPr>
          <p:cNvPr id="12" name="TextBox 11">
            <a:extLst>
              <a:ext uri="{FF2B5EF4-FFF2-40B4-BE49-F238E27FC236}">
                <a16:creationId xmlns:a16="http://schemas.microsoft.com/office/drawing/2014/main" id="{B459740F-9E55-1567-748B-0BCEBAD13B1C}"/>
              </a:ext>
            </a:extLst>
          </p:cNvPr>
          <p:cNvSpPr txBox="1"/>
          <p:nvPr/>
        </p:nvSpPr>
        <p:spPr>
          <a:xfrm>
            <a:off x="611449" y="6291609"/>
            <a:ext cx="10969101" cy="369332"/>
          </a:xfrm>
          <a:prstGeom prst="rect">
            <a:avLst/>
          </a:prstGeom>
          <a:noFill/>
        </p:spPr>
        <p:txBody>
          <a:bodyPr wrap="square" rtlCol="0">
            <a:spAutoFit/>
          </a:bodyPr>
          <a:lstStyle/>
          <a:p>
            <a:pPr algn="ctr"/>
            <a:r>
              <a:rPr lang="en-US" dirty="0"/>
              <a:t>Detailed list of all current limits placed by different experiments as of the Calibbi publication</a:t>
            </a:r>
          </a:p>
        </p:txBody>
      </p:sp>
      <p:pic>
        <p:nvPicPr>
          <p:cNvPr id="9" name="Content Placeholder 8" descr="A table of math equations&#10;&#10;AI-generated content may be incorrect.">
            <a:extLst>
              <a:ext uri="{FF2B5EF4-FFF2-40B4-BE49-F238E27FC236}">
                <a16:creationId xmlns:a16="http://schemas.microsoft.com/office/drawing/2014/main" id="{3AB44A87-8B88-FBE9-16F6-3ED03EF34F77}"/>
              </a:ext>
            </a:extLst>
          </p:cNvPr>
          <p:cNvPicPr>
            <a:picLocks noGrp="1" noChangeAspect="1"/>
          </p:cNvPicPr>
          <p:nvPr>
            <p:ph idx="1"/>
          </p:nvPr>
        </p:nvPicPr>
        <p:blipFill>
          <a:blip r:embed="rId2"/>
          <a:srcRect b="62439"/>
          <a:stretch>
            <a:fillRect/>
          </a:stretch>
        </p:blipFill>
        <p:spPr>
          <a:xfrm>
            <a:off x="0" y="681037"/>
            <a:ext cx="6096000" cy="3030645"/>
          </a:xfrm>
        </p:spPr>
      </p:pic>
      <p:pic>
        <p:nvPicPr>
          <p:cNvPr id="13" name="Picture 12" descr="A table of math equations&#10;&#10;AI-generated content may be incorrect.">
            <a:extLst>
              <a:ext uri="{FF2B5EF4-FFF2-40B4-BE49-F238E27FC236}">
                <a16:creationId xmlns:a16="http://schemas.microsoft.com/office/drawing/2014/main" id="{F7F3EB63-4DF9-C322-E8A6-105B1443681C}"/>
              </a:ext>
            </a:extLst>
          </p:cNvPr>
          <p:cNvPicPr>
            <a:picLocks noChangeAspect="1"/>
          </p:cNvPicPr>
          <p:nvPr/>
        </p:nvPicPr>
        <p:blipFill>
          <a:blip r:embed="rId2"/>
          <a:srcRect t="37830" b="26511"/>
          <a:stretch>
            <a:fillRect/>
          </a:stretch>
        </p:blipFill>
        <p:spPr>
          <a:xfrm>
            <a:off x="5903104" y="745778"/>
            <a:ext cx="6283985" cy="2965904"/>
          </a:xfrm>
          <a:prstGeom prst="rect">
            <a:avLst/>
          </a:prstGeom>
        </p:spPr>
      </p:pic>
      <p:pic>
        <p:nvPicPr>
          <p:cNvPr id="15" name="Picture 14" descr="A table of math equations&#10;&#10;AI-generated content may be incorrect.">
            <a:extLst>
              <a:ext uri="{FF2B5EF4-FFF2-40B4-BE49-F238E27FC236}">
                <a16:creationId xmlns:a16="http://schemas.microsoft.com/office/drawing/2014/main" id="{33A6F342-1C5C-E272-2811-13EAFA4B460D}"/>
              </a:ext>
            </a:extLst>
          </p:cNvPr>
          <p:cNvPicPr>
            <a:picLocks noChangeAspect="1"/>
          </p:cNvPicPr>
          <p:nvPr/>
        </p:nvPicPr>
        <p:blipFill>
          <a:blip r:embed="rId2"/>
          <a:srcRect t="73489"/>
          <a:stretch>
            <a:fillRect/>
          </a:stretch>
        </p:blipFill>
        <p:spPr>
          <a:xfrm>
            <a:off x="2855104" y="3776423"/>
            <a:ext cx="6096000" cy="2139119"/>
          </a:xfrm>
          <a:prstGeom prst="rect">
            <a:avLst/>
          </a:prstGeom>
        </p:spPr>
      </p:pic>
      <p:sp>
        <p:nvSpPr>
          <p:cNvPr id="3" name="Slide Number Placeholder 2">
            <a:extLst>
              <a:ext uri="{FF2B5EF4-FFF2-40B4-BE49-F238E27FC236}">
                <a16:creationId xmlns:a16="http://schemas.microsoft.com/office/drawing/2014/main" id="{0AE36A2D-DEEE-EA87-F876-B0A366409BCC}"/>
              </a:ext>
            </a:extLst>
          </p:cNvPr>
          <p:cNvSpPr>
            <a:spLocks noGrp="1"/>
          </p:cNvSpPr>
          <p:nvPr>
            <p:ph type="sldNum" sz="quarter" idx="12"/>
          </p:nvPr>
        </p:nvSpPr>
        <p:spPr/>
        <p:txBody>
          <a:bodyPr/>
          <a:lstStyle/>
          <a:p>
            <a:fld id="{C0E0CB54-3DBF-E947-906E-85E307CF7971}" type="slidenum">
              <a:rPr lang="en-US" smtClean="0"/>
              <a:t>10</a:t>
            </a:fld>
            <a:endParaRPr lang="en-US"/>
          </a:p>
        </p:txBody>
      </p:sp>
    </p:spTree>
    <p:extLst>
      <p:ext uri="{BB962C8B-B14F-4D97-AF65-F5344CB8AC3E}">
        <p14:creationId xmlns:p14="http://schemas.microsoft.com/office/powerpoint/2010/main" val="422179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5486400" cy="365760"/>
          </a:xfrm>
          <a:prstGeom prst="rect">
            <a:avLst/>
          </a:prstGeom>
          <a:noFill/>
          <a:ln/>
        </p:spPr>
        <p:txBody>
          <a:bodyPr wrap="square" lIns="0" tIns="0" rIns="0" bIns="0" rtlCol="0" anchor="ctr"/>
          <a:lstStyle/>
          <a:p>
            <a:pPr marL="0" indent="0">
              <a:buNone/>
            </a:pPr>
            <a:r>
              <a:rPr lang="en-US" sz="1600" i="1" dirty="0">
                <a:solidFill>
                  <a:srgbClr val="73000A"/>
                </a:solidFill>
                <a:latin typeface="+mn-lt" pitchFamily="34" charset="0"/>
                <a:ea typeface="+mn-lt" pitchFamily="34" charset="-122"/>
                <a:cs typeface="+mn-lt" pitchFamily="34" charset="-120"/>
              </a:rPr>
              <a:t>Section 2 of 5</a:t>
            </a:r>
            <a:endParaRPr lang="en-US" sz="1600" dirty="0">
              <a:solidFill>
                <a:srgbClr val="73000A"/>
              </a:solidFill>
            </a:endParaRPr>
          </a:p>
        </p:txBody>
      </p:sp>
      <p:sp>
        <p:nvSpPr>
          <p:cNvPr id="3" name="Section title"/>
          <p:cNvSpPr txBox="1"/>
          <p:nvPr/>
        </p:nvSpPr>
        <p:spPr>
          <a:xfrm>
            <a:off x="548640" y="685800"/>
            <a:ext cx="11064240" cy="548640"/>
          </a:xfrm>
          <a:prstGeom prst="rect">
            <a:avLst/>
          </a:prstGeom>
          <a:noFill/>
          <a:ln/>
        </p:spPr>
        <p:txBody>
          <a:bodyPr wrap="square" lIns="0" tIns="0" rIns="0" bIns="0" rtlCol="0" anchor="ctr"/>
          <a:lstStyle/>
          <a:p>
            <a:pPr marL="0" indent="0">
              <a:buNone/>
            </a:pPr>
            <a:r>
              <a:rPr lang="en-US" sz="3200" b="1" dirty="0">
                <a:solidFill>
                  <a:schemeClr val="tx1"/>
                </a:solidFill>
                <a:latin typeface="+mj-lt" pitchFamily="34" charset="0"/>
                <a:ea typeface="+mj-lt" pitchFamily="34" charset="-122"/>
                <a:cs typeface="+mj-lt" pitchFamily="34" charset="-120"/>
              </a:rPr>
              <a:t>The Mu2e Experiment</a:t>
            </a:r>
            <a:endParaRPr lang="en-US" sz="3200" dirty="0"/>
          </a:p>
        </p:txBody>
      </p:sp>
      <p:sp>
        <p:nvSpPr>
          <p:cNvPr id="4" name="Shape 2"/>
          <p:cNvSpPr/>
          <p:nvPr/>
        </p:nvSpPr>
        <p:spPr>
          <a:xfrm>
            <a:off x="685800" y="1591056"/>
            <a:ext cx="603504" cy="603504"/>
          </a:xfrm>
          <a:prstGeom prst="ellipse">
            <a:avLst/>
          </a:prstGeom>
          <a:solidFill>
            <a:schemeClr val="bg2"/>
          </a:solidFill>
          <a:ln/>
        </p:spPr>
        <p:txBody>
          <a:bodyPr/>
          <a:lstStyle/>
          <a:p>
            <a:endParaRPr lang="en-US"/>
          </a:p>
        </p:txBody>
      </p:sp>
      <p:sp>
        <p:nvSpPr>
          <p:cNvPr id="5" name="Text 3"/>
          <p:cNvSpPr txBox="1"/>
          <p:nvPr/>
        </p:nvSpPr>
        <p:spPr>
          <a:xfrm>
            <a:off x="685800" y="1591056"/>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1</a:t>
            </a:r>
            <a:endParaRPr lang="en-US" sz="2200" dirty="0"/>
          </a:p>
        </p:txBody>
      </p:sp>
      <p:sp>
        <p:nvSpPr>
          <p:cNvPr id="6" name="Text 4"/>
          <p:cNvSpPr txBox="1"/>
          <p:nvPr/>
        </p:nvSpPr>
        <p:spPr>
          <a:xfrm>
            <a:off x="1600200" y="1527048"/>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Theoretical Motivation</a:t>
            </a:r>
            <a:endParaRPr lang="en-US" sz="2200" dirty="0"/>
          </a:p>
        </p:txBody>
      </p:sp>
      <p:sp>
        <p:nvSpPr>
          <p:cNvPr id="7" name="Text 5"/>
          <p:cNvSpPr txBox="1"/>
          <p:nvPr/>
        </p:nvSpPr>
        <p:spPr>
          <a:xfrm>
            <a:off x="1600200" y="1911096"/>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Why search for charged lepton flavor violation?</a:t>
            </a:r>
            <a:endParaRPr lang="en-US" sz="1500" dirty="0"/>
          </a:p>
        </p:txBody>
      </p:sp>
      <p:sp>
        <p:nvSpPr>
          <p:cNvPr id="8" name="Text 6"/>
          <p:cNvSpPr txBox="1"/>
          <p:nvPr/>
        </p:nvSpPr>
        <p:spPr>
          <a:xfrm>
            <a:off x="9875520" y="1591056"/>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3–11</a:t>
            </a:r>
            <a:endParaRPr lang="en-US" sz="1400" dirty="0"/>
          </a:p>
        </p:txBody>
      </p:sp>
      <p:sp>
        <p:nvSpPr>
          <p:cNvPr id="9" name="current"/>
          <p:cNvSpPr/>
          <p:nvPr/>
        </p:nvSpPr>
        <p:spPr>
          <a:xfrm>
            <a:off x="457200" y="2459736"/>
            <a:ext cx="11274552" cy="914400"/>
          </a:xfrm>
          <a:prstGeom prst="roundRect">
            <a:avLst>
              <a:gd name="adj" fmla="val 12000"/>
            </a:avLst>
          </a:prstGeom>
          <a:solidFill>
            <a:srgbClr val="73000A"/>
          </a:solidFill>
          <a:ln/>
        </p:spPr>
        <p:txBody>
          <a:bodyPr/>
          <a:lstStyle/>
          <a:p>
            <a:endParaRPr lang="en-US"/>
          </a:p>
        </p:txBody>
      </p:sp>
      <p:sp>
        <p:nvSpPr>
          <p:cNvPr id="10" name="Shape 8"/>
          <p:cNvSpPr/>
          <p:nvPr/>
        </p:nvSpPr>
        <p:spPr>
          <a:xfrm>
            <a:off x="685800" y="2615184"/>
            <a:ext cx="603504" cy="603504"/>
          </a:xfrm>
          <a:prstGeom prst="ellipse">
            <a:avLst/>
          </a:prstGeom>
          <a:solidFill>
            <a:schemeClr val="bg1"/>
          </a:solidFill>
          <a:ln/>
        </p:spPr>
        <p:txBody>
          <a:bodyPr/>
          <a:lstStyle/>
          <a:p>
            <a:endParaRPr lang="en-US"/>
          </a:p>
        </p:txBody>
      </p:sp>
      <p:sp>
        <p:nvSpPr>
          <p:cNvPr id="11" name="Text 9"/>
          <p:cNvSpPr txBox="1"/>
          <p:nvPr/>
        </p:nvSpPr>
        <p:spPr>
          <a:xfrm>
            <a:off x="685800" y="2615184"/>
            <a:ext cx="603504" cy="603504"/>
          </a:xfrm>
          <a:prstGeom prst="rect">
            <a:avLst/>
          </a:prstGeom>
          <a:noFill/>
          <a:ln/>
        </p:spPr>
        <p:txBody>
          <a:bodyPr wrap="square" lIns="0" tIns="0" rIns="0" bIns="0" rtlCol="0" anchor="ctr"/>
          <a:lstStyle/>
          <a:p>
            <a:pPr marL="0" indent="0" algn="ctr">
              <a:buNone/>
            </a:pPr>
            <a:r>
              <a:rPr lang="en-US" sz="2200" b="1" dirty="0">
                <a:solidFill>
                  <a:srgbClr val="73000A"/>
                </a:solidFill>
                <a:latin typeface="+mj-lt" pitchFamily="34" charset="0"/>
                <a:ea typeface="+mj-lt" pitchFamily="34" charset="-122"/>
                <a:cs typeface="+mj-lt" pitchFamily="34" charset="-120"/>
              </a:rPr>
              <a:t>2</a:t>
            </a:r>
            <a:endParaRPr lang="en-US" sz="2200" dirty="0">
              <a:solidFill>
                <a:srgbClr val="73000A"/>
              </a:solidFill>
            </a:endParaRPr>
          </a:p>
        </p:txBody>
      </p:sp>
      <p:sp>
        <p:nvSpPr>
          <p:cNvPr id="12" name="Text 10"/>
          <p:cNvSpPr txBox="1"/>
          <p:nvPr/>
        </p:nvSpPr>
        <p:spPr>
          <a:xfrm>
            <a:off x="1600200" y="2551176"/>
            <a:ext cx="7863840" cy="384048"/>
          </a:xfrm>
          <a:prstGeom prst="rect">
            <a:avLst/>
          </a:prstGeom>
          <a:noFill/>
          <a:ln/>
        </p:spPr>
        <p:txBody>
          <a:bodyPr wrap="square" lIns="0" tIns="0" rIns="0" bIns="0" rtlCol="0" anchor="ctr"/>
          <a:lstStyle/>
          <a:p>
            <a:pPr marL="0" indent="0">
              <a:buNone/>
            </a:pPr>
            <a:r>
              <a:rPr lang="en-US" sz="2200" b="1" dirty="0">
                <a:solidFill>
                  <a:schemeClr val="bg1"/>
                </a:solidFill>
                <a:latin typeface="+mj-lt" pitchFamily="34" charset="0"/>
                <a:ea typeface="+mj-lt" pitchFamily="34" charset="-122"/>
                <a:cs typeface="+mj-lt" pitchFamily="34" charset="-120"/>
              </a:rPr>
              <a:t>The Mu2e Experiment</a:t>
            </a:r>
            <a:endParaRPr lang="en-US" sz="2200" dirty="0"/>
          </a:p>
        </p:txBody>
      </p:sp>
      <p:sp>
        <p:nvSpPr>
          <p:cNvPr id="13" name="Text 11"/>
          <p:cNvSpPr txBox="1"/>
          <p:nvPr/>
        </p:nvSpPr>
        <p:spPr>
          <a:xfrm>
            <a:off x="1600200" y="2935224"/>
            <a:ext cx="8138160" cy="347472"/>
          </a:xfrm>
          <a:prstGeom prst="rect">
            <a:avLst/>
          </a:prstGeom>
          <a:noFill/>
          <a:ln/>
        </p:spPr>
        <p:txBody>
          <a:bodyPr wrap="square" lIns="0" tIns="0" rIns="0" bIns="0" rtlCol="0" anchor="t"/>
          <a:lstStyle/>
          <a:p>
            <a:pPr marL="0" indent="0">
              <a:buNone/>
            </a:pPr>
            <a:r>
              <a:rPr lang="en-US" sz="1500" i="1" dirty="0">
                <a:solidFill>
                  <a:schemeClr val="bg1"/>
                </a:solidFill>
                <a:latin typeface="+mn-lt" pitchFamily="34" charset="0"/>
                <a:ea typeface="+mn-lt" pitchFamily="34" charset="-122"/>
                <a:cs typeface="+mn-lt" pitchFamily="34" charset="-120"/>
              </a:rPr>
              <a:t>How does Mu2e isolate a single conversion electron?</a:t>
            </a:r>
            <a:endParaRPr lang="en-US" sz="1500" dirty="0"/>
          </a:p>
        </p:txBody>
      </p:sp>
      <p:sp>
        <p:nvSpPr>
          <p:cNvPr id="14" name="Text 12"/>
          <p:cNvSpPr txBox="1"/>
          <p:nvPr/>
        </p:nvSpPr>
        <p:spPr>
          <a:xfrm>
            <a:off x="9875520" y="2615184"/>
            <a:ext cx="1645920" cy="603504"/>
          </a:xfrm>
          <a:prstGeom prst="rect">
            <a:avLst/>
          </a:prstGeom>
          <a:noFill/>
          <a:ln/>
        </p:spPr>
        <p:txBody>
          <a:bodyPr wrap="square" lIns="0" tIns="0" rIns="0" bIns="0" rtlCol="0" anchor="ctr"/>
          <a:lstStyle/>
          <a:p>
            <a:pPr marL="0" indent="0" algn="r">
              <a:buNone/>
            </a:pPr>
            <a:r>
              <a:rPr lang="en-US" sz="1400" i="1" dirty="0">
                <a:solidFill>
                  <a:schemeClr val="bg1"/>
                </a:solidFill>
                <a:latin typeface="+mn-lt" pitchFamily="34" charset="0"/>
                <a:ea typeface="+mn-lt" pitchFamily="34" charset="-122"/>
                <a:cs typeface="+mn-lt" pitchFamily="34" charset="-120"/>
              </a:rPr>
              <a:t>Slides 12–20</a:t>
            </a:r>
            <a:endParaRPr lang="en-US" sz="1400" dirty="0"/>
          </a:p>
        </p:txBody>
      </p:sp>
      <p:sp>
        <p:nvSpPr>
          <p:cNvPr id="15" name="Shape 13"/>
          <p:cNvSpPr/>
          <p:nvPr/>
        </p:nvSpPr>
        <p:spPr>
          <a:xfrm>
            <a:off x="685800" y="3639312"/>
            <a:ext cx="603504" cy="603504"/>
          </a:xfrm>
          <a:prstGeom prst="ellipse">
            <a:avLst/>
          </a:prstGeom>
          <a:solidFill>
            <a:schemeClr val="bg2"/>
          </a:solidFill>
          <a:ln/>
        </p:spPr>
        <p:txBody>
          <a:bodyPr/>
          <a:lstStyle/>
          <a:p>
            <a:endParaRPr lang="en-US"/>
          </a:p>
        </p:txBody>
      </p:sp>
      <p:sp>
        <p:nvSpPr>
          <p:cNvPr id="16" name="Text 14"/>
          <p:cNvSpPr txBox="1"/>
          <p:nvPr/>
        </p:nvSpPr>
        <p:spPr>
          <a:xfrm>
            <a:off x="685800" y="3639312"/>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3</a:t>
            </a:r>
            <a:endParaRPr lang="en-US" sz="2200" dirty="0"/>
          </a:p>
        </p:txBody>
      </p:sp>
      <p:sp>
        <p:nvSpPr>
          <p:cNvPr id="17" name="Text 15"/>
          <p:cNvSpPr txBox="1"/>
          <p:nvPr/>
        </p:nvSpPr>
        <p:spPr>
          <a:xfrm>
            <a:off x="1600200" y="3575304"/>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Event Identification and Signal</a:t>
            </a:r>
            <a:endParaRPr lang="en-US" sz="2200" dirty="0"/>
          </a:p>
        </p:txBody>
      </p:sp>
      <p:sp>
        <p:nvSpPr>
          <p:cNvPr id="18" name="Text 16"/>
          <p:cNvSpPr txBox="1"/>
          <p:nvPr/>
        </p:nvSpPr>
        <p:spPr>
          <a:xfrm>
            <a:off x="1600200" y="3959352"/>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does μ⁻e⁻ → e⁻e⁻ look like in the detector?</a:t>
            </a:r>
            <a:endParaRPr lang="en-US" sz="1500" dirty="0"/>
          </a:p>
        </p:txBody>
      </p:sp>
      <p:sp>
        <p:nvSpPr>
          <p:cNvPr id="19" name="Text 17"/>
          <p:cNvSpPr txBox="1"/>
          <p:nvPr/>
        </p:nvSpPr>
        <p:spPr>
          <a:xfrm>
            <a:off x="9875520" y="3639312"/>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21–26</a:t>
            </a:r>
            <a:endParaRPr lang="en-US" sz="1400" dirty="0"/>
          </a:p>
        </p:txBody>
      </p:sp>
      <p:sp>
        <p:nvSpPr>
          <p:cNvPr id="20" name="Shape 18"/>
          <p:cNvSpPr/>
          <p:nvPr/>
        </p:nvSpPr>
        <p:spPr>
          <a:xfrm>
            <a:off x="685800" y="4663440"/>
            <a:ext cx="603504" cy="603504"/>
          </a:xfrm>
          <a:prstGeom prst="ellipse">
            <a:avLst/>
          </a:prstGeom>
          <a:solidFill>
            <a:schemeClr val="bg2"/>
          </a:solidFill>
          <a:ln/>
        </p:spPr>
        <p:txBody>
          <a:bodyPr/>
          <a:lstStyle/>
          <a:p>
            <a:endParaRPr lang="en-US"/>
          </a:p>
        </p:txBody>
      </p:sp>
      <p:sp>
        <p:nvSpPr>
          <p:cNvPr id="21" name="Text 19"/>
          <p:cNvSpPr txBox="1"/>
          <p:nvPr/>
        </p:nvSpPr>
        <p:spPr>
          <a:xfrm>
            <a:off x="685800" y="4663440"/>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4</a:t>
            </a:r>
            <a:endParaRPr lang="en-US" sz="2200" dirty="0"/>
          </a:p>
        </p:txBody>
      </p:sp>
      <p:sp>
        <p:nvSpPr>
          <p:cNvPr id="22" name="Text 20"/>
          <p:cNvSpPr txBox="1"/>
          <p:nvPr/>
        </p:nvSpPr>
        <p:spPr>
          <a:xfrm>
            <a:off x="1600200" y="4599432"/>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Initial Investigation</a:t>
            </a:r>
            <a:endParaRPr lang="en-US" sz="2200" dirty="0"/>
          </a:p>
        </p:txBody>
      </p:sp>
      <p:sp>
        <p:nvSpPr>
          <p:cNvPr id="23" name="Text 21"/>
          <p:cNvSpPr txBox="1"/>
          <p:nvPr/>
        </p:nvSpPr>
        <p:spPr>
          <a:xfrm>
            <a:off x="1600200" y="4983480"/>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have I shown so far?</a:t>
            </a:r>
            <a:endParaRPr lang="en-US" sz="1500" dirty="0"/>
          </a:p>
        </p:txBody>
      </p:sp>
      <p:sp>
        <p:nvSpPr>
          <p:cNvPr id="24" name="Text 22"/>
          <p:cNvSpPr txBox="1"/>
          <p:nvPr/>
        </p:nvSpPr>
        <p:spPr>
          <a:xfrm>
            <a:off x="9875520" y="4663440"/>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27–35</a:t>
            </a:r>
            <a:endParaRPr lang="en-US" sz="1400" dirty="0"/>
          </a:p>
        </p:txBody>
      </p:sp>
      <p:sp>
        <p:nvSpPr>
          <p:cNvPr id="25" name="Shape 23"/>
          <p:cNvSpPr/>
          <p:nvPr/>
        </p:nvSpPr>
        <p:spPr>
          <a:xfrm>
            <a:off x="685800" y="5687568"/>
            <a:ext cx="603504" cy="603504"/>
          </a:xfrm>
          <a:prstGeom prst="ellipse">
            <a:avLst/>
          </a:prstGeom>
          <a:solidFill>
            <a:schemeClr val="bg2"/>
          </a:solidFill>
          <a:ln/>
        </p:spPr>
        <p:txBody>
          <a:bodyPr/>
          <a:lstStyle/>
          <a:p>
            <a:endParaRPr lang="en-US"/>
          </a:p>
        </p:txBody>
      </p:sp>
      <p:sp>
        <p:nvSpPr>
          <p:cNvPr id="26" name="Text 24"/>
          <p:cNvSpPr txBox="1"/>
          <p:nvPr/>
        </p:nvSpPr>
        <p:spPr>
          <a:xfrm>
            <a:off x="685800" y="5687568"/>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5</a:t>
            </a:r>
            <a:endParaRPr lang="en-US" sz="2200" dirty="0"/>
          </a:p>
        </p:txBody>
      </p:sp>
      <p:sp>
        <p:nvSpPr>
          <p:cNvPr id="27" name="Text 25"/>
          <p:cNvSpPr txBox="1"/>
          <p:nvPr/>
        </p:nvSpPr>
        <p:spPr>
          <a:xfrm>
            <a:off x="1600200" y="5623560"/>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Goals and Deliverables</a:t>
            </a:r>
            <a:endParaRPr lang="en-US" sz="2200" dirty="0"/>
          </a:p>
        </p:txBody>
      </p:sp>
      <p:sp>
        <p:nvSpPr>
          <p:cNvPr id="28" name="Text 26"/>
          <p:cNvSpPr txBox="1"/>
          <p:nvPr/>
        </p:nvSpPr>
        <p:spPr>
          <a:xfrm>
            <a:off x="1600200" y="6007608"/>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will the dissertation deliver, and by when?</a:t>
            </a:r>
            <a:endParaRPr lang="en-US" sz="1500" dirty="0"/>
          </a:p>
        </p:txBody>
      </p:sp>
      <p:sp>
        <p:nvSpPr>
          <p:cNvPr id="29" name="Text 27"/>
          <p:cNvSpPr txBox="1"/>
          <p:nvPr/>
        </p:nvSpPr>
        <p:spPr>
          <a:xfrm>
            <a:off x="9875520" y="5687568"/>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36–43</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7986AA-BB7E-80A3-D709-9E275171FF74}"/>
              </a:ext>
            </a:extLst>
          </p:cNvPr>
          <p:cNvSpPr>
            <a:spLocks noGrp="1"/>
          </p:cNvSpPr>
          <p:nvPr>
            <p:ph idx="1"/>
          </p:nvPr>
        </p:nvSpPr>
        <p:spPr>
          <a:xfrm>
            <a:off x="0" y="424542"/>
            <a:ext cx="12192000" cy="5931807"/>
          </a:xfrm>
        </p:spPr>
        <p:txBody>
          <a:bodyPr/>
          <a:lstStyle/>
          <a:p>
            <a:r>
              <a:rPr lang="en-US" dirty="0"/>
              <a:t>Detection of the coherent conversion of </a:t>
            </a:r>
          </a:p>
          <a:p>
            <a:r>
              <a:rPr lang="en-US" dirty="0"/>
              <a:t>K-shell conversion</a:t>
            </a:r>
          </a:p>
          <a:p>
            <a:r>
              <a:rPr lang="en-US" dirty="0"/>
              <a:t>Monoenergetic (104.973 MeV) single electron signature</a:t>
            </a:r>
          </a:p>
        </p:txBody>
      </p:sp>
      <p:pic>
        <p:nvPicPr>
          <p:cNvPr id="4" name="Picture 3">
            <a:extLst>
              <a:ext uri="{FF2B5EF4-FFF2-40B4-BE49-F238E27FC236}">
                <a16:creationId xmlns:a16="http://schemas.microsoft.com/office/drawing/2014/main" id="{31230D72-72D5-3941-CD0B-1865EB1E4A6B}"/>
              </a:ext>
            </a:extLst>
          </p:cNvPr>
          <p:cNvPicPr>
            <a:picLocks noChangeAspect="1"/>
          </p:cNvPicPr>
          <p:nvPr/>
        </p:nvPicPr>
        <p:blipFill>
          <a:blip r:embed="rId2"/>
          <a:stretch>
            <a:fillRect/>
          </a:stretch>
        </p:blipFill>
        <p:spPr>
          <a:xfrm>
            <a:off x="8917659" y="1511862"/>
            <a:ext cx="1991541" cy="317492"/>
          </a:xfrm>
          <a:prstGeom prst="rect">
            <a:avLst/>
          </a:prstGeom>
        </p:spPr>
      </p:pic>
      <p:sp>
        <p:nvSpPr>
          <p:cNvPr id="5" name="Title 1">
            <a:extLst>
              <a:ext uri="{FF2B5EF4-FFF2-40B4-BE49-F238E27FC236}">
                <a16:creationId xmlns:a16="http://schemas.microsoft.com/office/drawing/2014/main" id="{0DE701D7-7C9B-664B-8E22-BF0C39792433}"/>
              </a:ext>
            </a:extLst>
          </p:cNvPr>
          <p:cNvSpPr txBox="1">
            <a:spLocks/>
          </p:cNvSpPr>
          <p:nvPr/>
        </p:nvSpPr>
        <p:spPr>
          <a:xfrm>
            <a:off x="0" y="0"/>
            <a:ext cx="10515600" cy="4245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73000A"/>
                </a:solidFill>
              </a:rPr>
              <a:t>Primary Experimental Goals of the Mu2e Experiment</a:t>
            </a:r>
          </a:p>
        </p:txBody>
      </p:sp>
      <p:pic>
        <p:nvPicPr>
          <p:cNvPr id="2" name="Picture 1" descr="A diagram of a conveyor belt&#10;&#10;AI-generated content may be incorrect.">
            <a:extLst>
              <a:ext uri="{FF2B5EF4-FFF2-40B4-BE49-F238E27FC236}">
                <a16:creationId xmlns:a16="http://schemas.microsoft.com/office/drawing/2014/main" id="{1F9E52B3-BB43-664D-3715-E5E758CC425F}"/>
              </a:ext>
            </a:extLst>
          </p:cNvPr>
          <p:cNvPicPr>
            <a:picLocks noChangeAspect="1"/>
          </p:cNvPicPr>
          <p:nvPr/>
        </p:nvPicPr>
        <p:blipFill>
          <a:blip r:embed="rId3"/>
          <a:stretch>
            <a:fillRect/>
          </a:stretch>
        </p:blipFill>
        <p:spPr>
          <a:xfrm>
            <a:off x="803628" y="2307686"/>
            <a:ext cx="10584743" cy="4048664"/>
          </a:xfrm>
          <a:prstGeom prst="rect">
            <a:avLst/>
          </a:prstGeom>
          <a:effectLst/>
        </p:spPr>
      </p:pic>
      <p:sp>
        <p:nvSpPr>
          <p:cNvPr id="8" name="Slide Number Placeholder 7">
            <a:extLst>
              <a:ext uri="{FF2B5EF4-FFF2-40B4-BE49-F238E27FC236}">
                <a16:creationId xmlns:a16="http://schemas.microsoft.com/office/drawing/2014/main" id="{3E10EE85-C540-A9C5-8828-C8D6C06B91FD}"/>
              </a:ext>
            </a:extLst>
          </p:cNvPr>
          <p:cNvSpPr>
            <a:spLocks noGrp="1"/>
          </p:cNvSpPr>
          <p:nvPr>
            <p:ph type="sldNum" sz="quarter" idx="12"/>
          </p:nvPr>
        </p:nvSpPr>
        <p:spPr/>
        <p:txBody>
          <a:bodyPr/>
          <a:lstStyle/>
          <a:p>
            <a:fld id="{C0E0CB54-3DBF-E947-906E-85E307CF7971}" type="slidenum">
              <a:rPr lang="en-US" smtClean="0"/>
              <a:t>12</a:t>
            </a:fld>
            <a:endParaRPr lang="en-US"/>
          </a:p>
        </p:txBody>
      </p:sp>
    </p:spTree>
    <p:extLst>
      <p:ext uri="{BB962C8B-B14F-4D97-AF65-F5344CB8AC3E}">
        <p14:creationId xmlns:p14="http://schemas.microsoft.com/office/powerpoint/2010/main" val="718307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381" tIns="381" rIns="381" bIns="381"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Production Target and Solenoid</a:t>
            </a:r>
            <a:endParaRPr lang="en-US" sz="3200" dirty="0"/>
          </a:p>
        </p:txBody>
      </p:sp>
      <p:sp>
        <p:nvSpPr>
          <p:cNvPr id="3" name="Text 1"/>
          <p:cNvSpPr txBox="1"/>
          <p:nvPr/>
        </p:nvSpPr>
        <p:spPr>
          <a:xfrm>
            <a:off x="548640" y="896112"/>
            <a:ext cx="11064240" cy="365760"/>
          </a:xfrm>
          <a:prstGeom prst="rect">
            <a:avLst/>
          </a:prstGeom>
          <a:noFill/>
          <a:ln/>
        </p:spPr>
        <p:txBody>
          <a:bodyPr wrap="square" lIns="381" tIns="381" rIns="381" bIns="381" rtlCol="0" anchor="ctr"/>
          <a:lstStyle/>
          <a:p>
            <a:pPr marL="0" indent="0" algn="l">
              <a:buNone/>
            </a:pPr>
            <a:r>
              <a:rPr lang="en-US" sz="1600" i="1" dirty="0">
                <a:solidFill>
                  <a:srgbClr val="73000A"/>
                </a:solidFill>
                <a:latin typeface="Calibri" pitchFamily="34" charset="0"/>
                <a:ea typeface="Calibri" pitchFamily="34" charset="-122"/>
                <a:cs typeface="Calibri" pitchFamily="34" charset="-120"/>
              </a:rPr>
              <a:t>Protons strike tungsten, and backward pions spiral toward the transport solenoid</a:t>
            </a:r>
            <a:endParaRPr lang="en-US" sz="1600" dirty="0"/>
          </a:p>
        </p:txBody>
      </p:sp>
      <p:pic>
        <p:nvPicPr>
          <p:cNvPr id="4" name="Image 0" descr="Mu2e schematic segment"/>
          <p:cNvPicPr>
            <a:picLocks noChangeAspect="1"/>
          </p:cNvPicPr>
          <p:nvPr/>
        </p:nvPicPr>
        <p:blipFill>
          <a:blip r:embed="rId3"/>
          <a:stretch>
            <a:fillRect/>
          </a:stretch>
        </p:blipFill>
        <p:spPr>
          <a:xfrm>
            <a:off x="457200" y="1519210"/>
            <a:ext cx="8046720" cy="4368219"/>
          </a:xfrm>
          <a:prstGeom prst="rect">
            <a:avLst/>
          </a:prstGeom>
        </p:spPr>
      </p:pic>
      <p:sp>
        <p:nvSpPr>
          <p:cNvPr id="5" name="Shape 2"/>
          <p:cNvSpPr/>
          <p:nvPr/>
        </p:nvSpPr>
        <p:spPr>
          <a:xfrm>
            <a:off x="3565131" y="2636410"/>
            <a:ext cx="3615886" cy="1350041"/>
          </a:xfrm>
          <a:custGeom>
            <a:avLst/>
            <a:gdLst/>
            <a:ahLst/>
            <a:cxnLst/>
            <a:rect l="l" t="t" r="r" b="b"/>
            <a:pathLst>
              <a:path w="3615886" h="1350041">
                <a:moveTo>
                  <a:pt x="34297" y="1025560"/>
                </a:moveTo>
                <a:lnTo>
                  <a:pt x="35061" y="947781"/>
                </a:lnTo>
                <a:lnTo>
                  <a:pt x="32760" y="873573"/>
                </a:lnTo>
                <a:lnTo>
                  <a:pt x="28131" y="805662"/>
                </a:lnTo>
                <a:lnTo>
                  <a:pt x="22003" y="746534"/>
                </a:lnTo>
                <a:lnTo>
                  <a:pt x="15263" y="698336"/>
                </a:lnTo>
                <a:lnTo>
                  <a:pt x="8820" y="662796"/>
                </a:lnTo>
                <a:lnTo>
                  <a:pt x="3574" y="641155"/>
                </a:lnTo>
                <a:lnTo>
                  <a:pt x="376" y="634121"/>
                </a:lnTo>
                <a:lnTo>
                  <a:pt x="0" y="641839"/>
                </a:lnTo>
                <a:lnTo>
                  <a:pt x="3112" y="663888"/>
                </a:lnTo>
                <a:lnTo>
                  <a:pt x="10242" y="699296"/>
                </a:lnTo>
                <a:lnTo>
                  <a:pt x="21768" y="746579"/>
                </a:lnTo>
                <a:lnTo>
                  <a:pt x="37897" y="803794"/>
                </a:lnTo>
                <a:lnTo>
                  <a:pt x="58661" y="868618"/>
                </a:lnTo>
                <a:lnTo>
                  <a:pt x="83912" y="938436"/>
                </a:lnTo>
                <a:lnTo>
                  <a:pt x="113331" y="1010440"/>
                </a:lnTo>
                <a:lnTo>
                  <a:pt x="146438" y="1081739"/>
                </a:lnTo>
                <a:lnTo>
                  <a:pt x="182611" y="1149467"/>
                </a:lnTo>
                <a:lnTo>
                  <a:pt x="221112" y="1210898"/>
                </a:lnTo>
                <a:lnTo>
                  <a:pt x="261111" y="1263547"/>
                </a:lnTo>
                <a:lnTo>
                  <a:pt x="301723" y="1305265"/>
                </a:lnTo>
                <a:lnTo>
                  <a:pt x="342037" y="1334325"/>
                </a:lnTo>
                <a:lnTo>
                  <a:pt x="381155" y="1349486"/>
                </a:lnTo>
                <a:lnTo>
                  <a:pt x="418225" y="1350041"/>
                </a:lnTo>
                <a:lnTo>
                  <a:pt x="452473" y="1335843"/>
                </a:lnTo>
                <a:lnTo>
                  <a:pt x="483233" y="1307314"/>
                </a:lnTo>
                <a:lnTo>
                  <a:pt x="509974" y="1265426"/>
                </a:lnTo>
                <a:lnTo>
                  <a:pt x="532320" y="1211663"/>
                </a:lnTo>
                <a:lnTo>
                  <a:pt x="550062" y="1147969"/>
                </a:lnTo>
                <a:lnTo>
                  <a:pt x="563170" y="1076664"/>
                </a:lnTo>
                <a:lnTo>
                  <a:pt x="571791" y="1000367"/>
                </a:lnTo>
                <a:lnTo>
                  <a:pt x="576244" y="921883"/>
                </a:lnTo>
                <a:lnTo>
                  <a:pt x="577009" y="844105"/>
                </a:lnTo>
                <a:lnTo>
                  <a:pt x="574707" y="769896"/>
                </a:lnTo>
                <a:lnTo>
                  <a:pt x="570078" y="701985"/>
                </a:lnTo>
                <a:lnTo>
                  <a:pt x="563950" y="642857"/>
                </a:lnTo>
                <a:lnTo>
                  <a:pt x="557210" y="594659"/>
                </a:lnTo>
                <a:lnTo>
                  <a:pt x="550768" y="559119"/>
                </a:lnTo>
                <a:lnTo>
                  <a:pt x="545521" y="537478"/>
                </a:lnTo>
                <a:lnTo>
                  <a:pt x="542323" y="530444"/>
                </a:lnTo>
                <a:lnTo>
                  <a:pt x="541947" y="538162"/>
                </a:lnTo>
                <a:lnTo>
                  <a:pt x="545059" y="560211"/>
                </a:lnTo>
                <a:lnTo>
                  <a:pt x="552189" y="595619"/>
                </a:lnTo>
                <a:lnTo>
                  <a:pt x="563715" y="642902"/>
                </a:lnTo>
                <a:lnTo>
                  <a:pt x="579844" y="700117"/>
                </a:lnTo>
                <a:lnTo>
                  <a:pt x="600608" y="764941"/>
                </a:lnTo>
                <a:lnTo>
                  <a:pt x="625859" y="834759"/>
                </a:lnTo>
                <a:lnTo>
                  <a:pt x="655278" y="906763"/>
                </a:lnTo>
                <a:lnTo>
                  <a:pt x="688385" y="978062"/>
                </a:lnTo>
                <a:lnTo>
                  <a:pt x="724558" y="1045790"/>
                </a:lnTo>
                <a:lnTo>
                  <a:pt x="763059" y="1107221"/>
                </a:lnTo>
                <a:lnTo>
                  <a:pt x="803059" y="1159870"/>
                </a:lnTo>
                <a:lnTo>
                  <a:pt x="843670" y="1201588"/>
                </a:lnTo>
                <a:lnTo>
                  <a:pt x="883984" y="1230649"/>
                </a:lnTo>
                <a:lnTo>
                  <a:pt x="923103" y="1245809"/>
                </a:lnTo>
                <a:lnTo>
                  <a:pt x="960172" y="1246364"/>
                </a:lnTo>
                <a:lnTo>
                  <a:pt x="994420" y="1232166"/>
                </a:lnTo>
                <a:lnTo>
                  <a:pt x="1025180" y="1203637"/>
                </a:lnTo>
                <a:lnTo>
                  <a:pt x="1051921" y="1161749"/>
                </a:lnTo>
                <a:lnTo>
                  <a:pt x="1074267" y="1107987"/>
                </a:lnTo>
                <a:lnTo>
                  <a:pt x="1092010" y="1044292"/>
                </a:lnTo>
                <a:lnTo>
                  <a:pt x="1105118" y="972988"/>
                </a:lnTo>
                <a:lnTo>
                  <a:pt x="1113738" y="896690"/>
                </a:lnTo>
                <a:lnTo>
                  <a:pt x="1118191" y="818206"/>
                </a:lnTo>
                <a:lnTo>
                  <a:pt x="1118956" y="740428"/>
                </a:lnTo>
                <a:lnTo>
                  <a:pt x="1116654" y="666219"/>
                </a:lnTo>
                <a:lnTo>
                  <a:pt x="1112025" y="598308"/>
                </a:lnTo>
                <a:lnTo>
                  <a:pt x="1105897" y="539180"/>
                </a:lnTo>
                <a:lnTo>
                  <a:pt x="1099157" y="490982"/>
                </a:lnTo>
                <a:lnTo>
                  <a:pt x="1092715" y="455442"/>
                </a:lnTo>
                <a:lnTo>
                  <a:pt x="1087468" y="433801"/>
                </a:lnTo>
                <a:lnTo>
                  <a:pt x="1084270" y="426767"/>
                </a:lnTo>
                <a:lnTo>
                  <a:pt x="1083895" y="434485"/>
                </a:lnTo>
                <a:lnTo>
                  <a:pt x="1087006" y="456534"/>
                </a:lnTo>
                <a:lnTo>
                  <a:pt x="1094136" y="491942"/>
                </a:lnTo>
                <a:lnTo>
                  <a:pt x="1105882" y="539123"/>
                </a:lnTo>
                <a:lnTo>
                  <a:pt x="1122138" y="596230"/>
                </a:lnTo>
                <a:lnTo>
                  <a:pt x="1142900" y="660956"/>
                </a:lnTo>
                <a:lnTo>
                  <a:pt x="1168025" y="730784"/>
                </a:lnTo>
                <a:lnTo>
                  <a:pt x="1197178" y="802837"/>
                </a:lnTo>
                <a:lnTo>
                  <a:pt x="1229887" y="874226"/>
                </a:lnTo>
                <a:lnTo>
                  <a:pt x="1265690" y="942145"/>
                </a:lnTo>
                <a:lnTo>
                  <a:pt x="1303859" y="1003783"/>
                </a:lnTo>
                <a:lnTo>
                  <a:pt x="1343573" y="1056647"/>
                </a:lnTo>
                <a:lnTo>
                  <a:pt x="1383959" y="1098583"/>
                </a:lnTo>
                <a:lnTo>
                  <a:pt x="1424116" y="1127861"/>
                </a:lnTo>
                <a:lnTo>
                  <a:pt x="1463152" y="1143233"/>
                </a:lnTo>
                <a:lnTo>
                  <a:pt x="1500218" y="1143987"/>
                </a:lnTo>
                <a:lnTo>
                  <a:pt x="1534541" y="1129975"/>
                </a:lnTo>
                <a:lnTo>
                  <a:pt x="1565455" y="1101612"/>
                </a:lnTo>
                <a:lnTo>
                  <a:pt x="1592422" y="1059869"/>
                </a:lnTo>
                <a:lnTo>
                  <a:pt x="1615058" y="1006228"/>
                </a:lnTo>
                <a:lnTo>
                  <a:pt x="1633144" y="942630"/>
                </a:lnTo>
                <a:lnTo>
                  <a:pt x="1646637" y="871397"/>
                </a:lnTo>
                <a:lnTo>
                  <a:pt x="1655669" y="795147"/>
                </a:lnTo>
                <a:lnTo>
                  <a:pt x="1660546" y="716689"/>
                </a:lnTo>
                <a:lnTo>
                  <a:pt x="1661730" y="638916"/>
                </a:lnTo>
                <a:lnTo>
                  <a:pt x="1659829" y="564696"/>
                </a:lnTo>
                <a:lnTo>
                  <a:pt x="1655567" y="496761"/>
                </a:lnTo>
                <a:lnTo>
                  <a:pt x="1649758" y="437600"/>
                </a:lnTo>
                <a:lnTo>
                  <a:pt x="1643278" y="389367"/>
                </a:lnTo>
                <a:lnTo>
                  <a:pt x="1637028" y="353792"/>
                </a:lnTo>
                <a:lnTo>
                  <a:pt x="1631898" y="332124"/>
                </a:lnTo>
                <a:lnTo>
                  <a:pt x="1628738" y="325072"/>
                </a:lnTo>
                <a:lnTo>
                  <a:pt x="1628321" y="332788"/>
                </a:lnTo>
                <a:lnTo>
                  <a:pt x="1631313" y="354854"/>
                </a:lnTo>
                <a:lnTo>
                  <a:pt x="1638252" y="390300"/>
                </a:lnTo>
                <a:lnTo>
                  <a:pt x="1649523" y="437644"/>
                </a:lnTo>
                <a:lnTo>
                  <a:pt x="1665343" y="494945"/>
                </a:lnTo>
                <a:lnTo>
                  <a:pt x="1685757" y="559881"/>
                </a:lnTo>
                <a:lnTo>
                  <a:pt x="1710630" y="629834"/>
                </a:lnTo>
                <a:lnTo>
                  <a:pt x="1739660" y="701996"/>
                </a:lnTo>
                <a:lnTo>
                  <a:pt x="1772382" y="773472"/>
                </a:lnTo>
                <a:lnTo>
                  <a:pt x="1808189" y="841395"/>
                </a:lnTo>
                <a:lnTo>
                  <a:pt x="1846358" y="903033"/>
                </a:lnTo>
                <a:lnTo>
                  <a:pt x="1886072" y="955897"/>
                </a:lnTo>
                <a:lnTo>
                  <a:pt x="1926458" y="997834"/>
                </a:lnTo>
                <a:lnTo>
                  <a:pt x="1966615" y="1027111"/>
                </a:lnTo>
                <a:lnTo>
                  <a:pt x="2005651" y="1042483"/>
                </a:lnTo>
                <a:lnTo>
                  <a:pt x="2042717" y="1043238"/>
                </a:lnTo>
                <a:lnTo>
                  <a:pt x="2077040" y="1029225"/>
                </a:lnTo>
                <a:lnTo>
                  <a:pt x="2107954" y="1000862"/>
                </a:lnTo>
                <a:lnTo>
                  <a:pt x="2134921" y="959119"/>
                </a:lnTo>
                <a:lnTo>
                  <a:pt x="2157557" y="905478"/>
                </a:lnTo>
                <a:lnTo>
                  <a:pt x="2175643" y="841880"/>
                </a:lnTo>
                <a:lnTo>
                  <a:pt x="2189136" y="770648"/>
                </a:lnTo>
                <a:lnTo>
                  <a:pt x="2198168" y="694398"/>
                </a:lnTo>
                <a:lnTo>
                  <a:pt x="2203045" y="615939"/>
                </a:lnTo>
                <a:lnTo>
                  <a:pt x="2204229" y="538166"/>
                </a:lnTo>
                <a:lnTo>
                  <a:pt x="2202328" y="463946"/>
                </a:lnTo>
                <a:lnTo>
                  <a:pt x="2198066" y="396011"/>
                </a:lnTo>
                <a:lnTo>
                  <a:pt x="2192257" y="336851"/>
                </a:lnTo>
                <a:lnTo>
                  <a:pt x="2185777" y="288617"/>
                </a:lnTo>
                <a:lnTo>
                  <a:pt x="2179527" y="253043"/>
                </a:lnTo>
                <a:lnTo>
                  <a:pt x="2174397" y="231374"/>
                </a:lnTo>
                <a:lnTo>
                  <a:pt x="2171237" y="224322"/>
                </a:lnTo>
                <a:lnTo>
                  <a:pt x="2170820" y="232038"/>
                </a:lnTo>
                <a:lnTo>
                  <a:pt x="2173812" y="254104"/>
                </a:lnTo>
                <a:lnTo>
                  <a:pt x="2180751" y="289550"/>
                </a:lnTo>
                <a:lnTo>
                  <a:pt x="2192022" y="336894"/>
                </a:lnTo>
                <a:lnTo>
                  <a:pt x="2207842" y="394196"/>
                </a:lnTo>
                <a:lnTo>
                  <a:pt x="2228256" y="459131"/>
                </a:lnTo>
                <a:lnTo>
                  <a:pt x="2253129" y="529084"/>
                </a:lnTo>
                <a:lnTo>
                  <a:pt x="2282159" y="601246"/>
                </a:lnTo>
                <a:lnTo>
                  <a:pt x="2314881" y="672722"/>
                </a:lnTo>
                <a:lnTo>
                  <a:pt x="2350688" y="740645"/>
                </a:lnTo>
                <a:lnTo>
                  <a:pt x="2388857" y="802283"/>
                </a:lnTo>
                <a:lnTo>
                  <a:pt x="2428571" y="855147"/>
                </a:lnTo>
                <a:lnTo>
                  <a:pt x="2468957" y="897084"/>
                </a:lnTo>
                <a:lnTo>
                  <a:pt x="2509114" y="926361"/>
                </a:lnTo>
                <a:lnTo>
                  <a:pt x="2548150" y="941733"/>
                </a:lnTo>
                <a:lnTo>
                  <a:pt x="2585216" y="942488"/>
                </a:lnTo>
                <a:lnTo>
                  <a:pt x="2619540" y="928475"/>
                </a:lnTo>
                <a:lnTo>
                  <a:pt x="2650453" y="900113"/>
                </a:lnTo>
                <a:lnTo>
                  <a:pt x="2677420" y="858369"/>
                </a:lnTo>
                <a:lnTo>
                  <a:pt x="2700056" y="804728"/>
                </a:lnTo>
                <a:lnTo>
                  <a:pt x="2718142" y="741130"/>
                </a:lnTo>
                <a:lnTo>
                  <a:pt x="2731635" y="669898"/>
                </a:lnTo>
                <a:lnTo>
                  <a:pt x="2740667" y="593648"/>
                </a:lnTo>
                <a:lnTo>
                  <a:pt x="2745544" y="515189"/>
                </a:lnTo>
                <a:lnTo>
                  <a:pt x="2746728" y="437416"/>
                </a:lnTo>
                <a:lnTo>
                  <a:pt x="2744827" y="363196"/>
                </a:lnTo>
                <a:lnTo>
                  <a:pt x="2740565" y="295261"/>
                </a:lnTo>
                <a:lnTo>
                  <a:pt x="2734756" y="236101"/>
                </a:lnTo>
                <a:lnTo>
                  <a:pt x="2728277" y="187867"/>
                </a:lnTo>
                <a:lnTo>
                  <a:pt x="2722026" y="152293"/>
                </a:lnTo>
                <a:lnTo>
                  <a:pt x="2716896" y="130624"/>
                </a:lnTo>
                <a:lnTo>
                  <a:pt x="2713736" y="123573"/>
                </a:lnTo>
                <a:lnTo>
                  <a:pt x="2713319" y="131288"/>
                </a:lnTo>
                <a:lnTo>
                  <a:pt x="2716262" y="153368"/>
                </a:lnTo>
                <a:lnTo>
                  <a:pt x="2720048" y="189985"/>
                </a:lnTo>
                <a:lnTo>
                  <a:pt x="2729211" y="238637"/>
                </a:lnTo>
                <a:lnTo>
                  <a:pt x="2744273" y="297207"/>
                </a:lnTo>
                <a:lnTo>
                  <a:pt x="2765266" y="362204"/>
                </a:lnTo>
                <a:lnTo>
                  <a:pt x="2792372" y="431869"/>
                </a:lnTo>
                <a:lnTo>
                  <a:pt x="2825254" y="503236"/>
                </a:lnTo>
                <a:lnTo>
                  <a:pt x="2862297" y="572572"/>
                </a:lnTo>
                <a:lnTo>
                  <a:pt x="2902202" y="638171"/>
                </a:lnTo>
                <a:lnTo>
                  <a:pt x="2944078" y="697353"/>
                </a:lnTo>
                <a:lnTo>
                  <a:pt x="2986960" y="747682"/>
                </a:lnTo>
                <a:lnTo>
                  <a:pt x="3029841" y="787064"/>
                </a:lnTo>
                <a:lnTo>
                  <a:pt x="3071717" y="813825"/>
                </a:lnTo>
                <a:lnTo>
                  <a:pt x="3111622" y="826774"/>
                </a:lnTo>
                <a:lnTo>
                  <a:pt x="3148665" y="825255"/>
                </a:lnTo>
                <a:lnTo>
                  <a:pt x="3182065" y="809165"/>
                </a:lnTo>
                <a:lnTo>
                  <a:pt x="3211182" y="778960"/>
                </a:lnTo>
                <a:lnTo>
                  <a:pt x="3235538" y="735642"/>
                </a:lnTo>
                <a:lnTo>
                  <a:pt x="3254843" y="680715"/>
                </a:lnTo>
                <a:lnTo>
                  <a:pt x="3268995" y="616127"/>
                </a:lnTo>
                <a:lnTo>
                  <a:pt x="3278095" y="544202"/>
                </a:lnTo>
                <a:lnTo>
                  <a:pt x="3282435" y="467541"/>
                </a:lnTo>
                <a:lnTo>
                  <a:pt x="3282491" y="388931"/>
                </a:lnTo>
                <a:lnTo>
                  <a:pt x="3278905" y="311232"/>
                </a:lnTo>
                <a:lnTo>
                  <a:pt x="3272456" y="237268"/>
                </a:lnTo>
                <a:lnTo>
                  <a:pt x="3264036" y="169722"/>
                </a:lnTo>
                <a:lnTo>
                  <a:pt x="3254611" y="111029"/>
                </a:lnTo>
                <a:lnTo>
                  <a:pt x="3245186" y="63283"/>
                </a:lnTo>
                <a:lnTo>
                  <a:pt x="3236766" y="28159"/>
                </a:lnTo>
                <a:lnTo>
                  <a:pt x="3230317" y="6845"/>
                </a:lnTo>
                <a:lnTo>
                  <a:pt x="3226731" y="0"/>
                </a:lnTo>
                <a:lnTo>
                  <a:pt x="3226787" y="7727"/>
                </a:lnTo>
                <a:lnTo>
                  <a:pt x="3231127" y="29567"/>
                </a:lnTo>
                <a:lnTo>
                  <a:pt x="3240226" y="64521"/>
                </a:lnTo>
                <a:lnTo>
                  <a:pt x="3254378" y="111084"/>
                </a:lnTo>
                <a:lnTo>
                  <a:pt x="3273682" y="167308"/>
                </a:lnTo>
                <a:lnTo>
                  <a:pt x="3298039" y="230869"/>
                </a:lnTo>
                <a:lnTo>
                  <a:pt x="3327155" y="299165"/>
                </a:lnTo>
                <a:lnTo>
                  <a:pt x="3360555" y="369411"/>
                </a:lnTo>
                <a:lnTo>
                  <a:pt x="3397597" y="438747"/>
                </a:lnTo>
                <a:lnTo>
                  <a:pt x="3437502" y="504346"/>
                </a:lnTo>
                <a:lnTo>
                  <a:pt x="3479379" y="563528"/>
                </a:lnTo>
                <a:lnTo>
                  <a:pt x="3522260" y="613857"/>
                </a:lnTo>
                <a:lnTo>
                  <a:pt x="3565141" y="653239"/>
                </a:lnTo>
                <a:lnTo>
                  <a:pt x="3607018" y="680000"/>
                </a:lnTo>
                <a:lnTo>
                  <a:pt x="3615886" y="684018"/>
                </a:lnTo>
              </a:path>
            </a:pathLst>
          </a:custGeom>
          <a:ln w="34925">
            <a:solidFill>
              <a:srgbClr val="C00000"/>
            </a:solidFill>
            <a:prstDash val="solid"/>
            <a:tailEnd type="triangle"/>
          </a:ln>
        </p:spPr>
        <p:txBody>
          <a:bodyPr/>
          <a:lstStyle/>
          <a:p>
            <a:endParaRPr lang="en-US"/>
          </a:p>
        </p:txBody>
      </p:sp>
      <p:sp>
        <p:nvSpPr>
          <p:cNvPr id="6" name="Shape 3"/>
          <p:cNvSpPr/>
          <p:nvPr/>
        </p:nvSpPr>
        <p:spPr>
          <a:xfrm>
            <a:off x="3419761" y="2631400"/>
            <a:ext cx="3629512" cy="1163778"/>
          </a:xfrm>
          <a:custGeom>
            <a:avLst/>
            <a:gdLst/>
            <a:ahLst/>
            <a:cxnLst/>
            <a:rect l="l" t="t" r="r" b="b"/>
            <a:pathLst>
              <a:path w="3629512" h="1163778">
                <a:moveTo>
                  <a:pt x="0" y="947904"/>
                </a:moveTo>
                <a:lnTo>
                  <a:pt x="29745" y="1002322"/>
                </a:lnTo>
                <a:lnTo>
                  <a:pt x="62213" y="1052897"/>
                </a:lnTo>
                <a:lnTo>
                  <a:pt x="96547" y="1096656"/>
                </a:lnTo>
                <a:lnTo>
                  <a:pt x="131785" y="1131001"/>
                </a:lnTo>
                <a:lnTo>
                  <a:pt x="166915" y="1153856"/>
                </a:lnTo>
                <a:lnTo>
                  <a:pt x="200932" y="1163778"/>
                </a:lnTo>
                <a:lnTo>
                  <a:pt x="232893" y="1160040"/>
                </a:lnTo>
                <a:lnTo>
                  <a:pt x="261967" y="1142669"/>
                </a:lnTo>
                <a:lnTo>
                  <a:pt x="287483" y="1112447"/>
                </a:lnTo>
                <a:lnTo>
                  <a:pt x="308967" y="1070865"/>
                </a:lnTo>
                <a:lnTo>
                  <a:pt x="326168" y="1020041"/>
                </a:lnTo>
                <a:lnTo>
                  <a:pt x="339071" y="962605"/>
                </a:lnTo>
                <a:lnTo>
                  <a:pt x="347899" y="901551"/>
                </a:lnTo>
                <a:lnTo>
                  <a:pt x="353100" y="840075"/>
                </a:lnTo>
                <a:lnTo>
                  <a:pt x="355323" y="781395"/>
                </a:lnTo>
                <a:lnTo>
                  <a:pt x="355379" y="728573"/>
                </a:lnTo>
                <a:lnTo>
                  <a:pt x="354204" y="684351"/>
                </a:lnTo>
                <a:lnTo>
                  <a:pt x="352796" y="650993"/>
                </a:lnTo>
                <a:lnTo>
                  <a:pt x="352170" y="630163"/>
                </a:lnTo>
                <a:lnTo>
                  <a:pt x="353297" y="622834"/>
                </a:lnTo>
                <a:lnTo>
                  <a:pt x="357049" y="629230"/>
                </a:lnTo>
                <a:lnTo>
                  <a:pt x="364156" y="648820"/>
                </a:lnTo>
                <a:lnTo>
                  <a:pt x="375160" y="680343"/>
                </a:lnTo>
                <a:lnTo>
                  <a:pt x="390389" y="721876"/>
                </a:lnTo>
                <a:lnTo>
                  <a:pt x="409939" y="770946"/>
                </a:lnTo>
                <a:lnTo>
                  <a:pt x="433663" y="824663"/>
                </a:lnTo>
                <a:lnTo>
                  <a:pt x="461188" y="879878"/>
                </a:lnTo>
                <a:lnTo>
                  <a:pt x="491927" y="933363"/>
                </a:lnTo>
                <a:lnTo>
                  <a:pt x="525119" y="981981"/>
                </a:lnTo>
                <a:lnTo>
                  <a:pt x="559864" y="1022867"/>
                </a:lnTo>
                <a:lnTo>
                  <a:pt x="595180" y="1053584"/>
                </a:lnTo>
                <a:lnTo>
                  <a:pt x="630049" y="1072254"/>
                </a:lnTo>
                <a:lnTo>
                  <a:pt x="663481" y="1077666"/>
                </a:lnTo>
                <a:lnTo>
                  <a:pt x="694565" y="1069343"/>
                </a:lnTo>
                <a:lnTo>
                  <a:pt x="722518" y="1047566"/>
                </a:lnTo>
                <a:lnTo>
                  <a:pt x="746733" y="1013359"/>
                </a:lnTo>
                <a:lnTo>
                  <a:pt x="766805" y="968432"/>
                </a:lnTo>
                <a:lnTo>
                  <a:pt x="782563" y="915091"/>
                </a:lnTo>
                <a:lnTo>
                  <a:pt x="794072" y="856103"/>
                </a:lnTo>
                <a:lnTo>
                  <a:pt x="801630" y="794548"/>
                </a:lnTo>
                <a:lnTo>
                  <a:pt x="805757" y="733651"/>
                </a:lnTo>
                <a:lnTo>
                  <a:pt x="807161" y="676596"/>
                </a:lnTo>
                <a:lnTo>
                  <a:pt x="806699" y="626357"/>
                </a:lnTo>
                <a:lnTo>
                  <a:pt x="805333" y="585532"/>
                </a:lnTo>
                <a:lnTo>
                  <a:pt x="804074" y="556198"/>
                </a:lnTo>
                <a:lnTo>
                  <a:pt x="803928" y="539796"/>
                </a:lnTo>
                <a:lnTo>
                  <a:pt x="805839" y="537054"/>
                </a:lnTo>
                <a:lnTo>
                  <a:pt x="810637" y="547945"/>
                </a:lnTo>
                <a:lnTo>
                  <a:pt x="818992" y="571687"/>
                </a:lnTo>
                <a:lnTo>
                  <a:pt x="831380" y="606789"/>
                </a:lnTo>
                <a:lnTo>
                  <a:pt x="848051" y="651134"/>
                </a:lnTo>
                <a:lnTo>
                  <a:pt x="869020" y="702090"/>
                </a:lnTo>
                <a:lnTo>
                  <a:pt x="894063" y="756664"/>
                </a:lnTo>
                <a:lnTo>
                  <a:pt x="922734" y="811660"/>
                </a:lnTo>
                <a:lnTo>
                  <a:pt x="954383" y="863861"/>
                </a:lnTo>
                <a:lnTo>
                  <a:pt x="988198" y="910202"/>
                </a:lnTo>
                <a:lnTo>
                  <a:pt x="1023246" y="947944"/>
                </a:lnTo>
                <a:lnTo>
                  <a:pt x="1058525" y="974822"/>
                </a:lnTo>
                <a:lnTo>
                  <a:pt x="1093023" y="989173"/>
                </a:lnTo>
                <a:lnTo>
                  <a:pt x="1125768" y="990023"/>
                </a:lnTo>
                <a:lnTo>
                  <a:pt x="1155887" y="977146"/>
                </a:lnTo>
                <a:lnTo>
                  <a:pt x="1182652" y="951076"/>
                </a:lnTo>
                <a:lnTo>
                  <a:pt x="1205520" y="913074"/>
                </a:lnTo>
                <a:lnTo>
                  <a:pt x="1224162" y="865061"/>
                </a:lnTo>
                <a:lnTo>
                  <a:pt x="1238484" y="809511"/>
                </a:lnTo>
                <a:lnTo>
                  <a:pt x="1248632" y="749314"/>
                </a:lnTo>
                <a:lnTo>
                  <a:pt x="1254979" y="687619"/>
                </a:lnTo>
                <a:lnTo>
                  <a:pt x="1258111" y="627655"/>
                </a:lnTo>
                <a:lnTo>
                  <a:pt x="1258791" y="572557"/>
                </a:lnTo>
                <a:lnTo>
                  <a:pt x="1257917" y="525191"/>
                </a:lnTo>
                <a:lnTo>
                  <a:pt x="1256474" y="487995"/>
                </a:lnTo>
                <a:lnTo>
                  <a:pt x="1255476" y="462845"/>
                </a:lnTo>
                <a:lnTo>
                  <a:pt x="1255915" y="450952"/>
                </a:lnTo>
                <a:lnTo>
                  <a:pt x="1258703" y="452795"/>
                </a:lnTo>
                <a:lnTo>
                  <a:pt x="1264622" y="468093"/>
                </a:lnTo>
                <a:lnTo>
                  <a:pt x="1274540" y="495739"/>
                </a:lnTo>
                <a:lnTo>
                  <a:pt x="1288542" y="534093"/>
                </a:lnTo>
                <a:lnTo>
                  <a:pt x="1306762" y="580869"/>
                </a:lnTo>
                <a:lnTo>
                  <a:pt x="1329137" y="633394"/>
                </a:lnTo>
                <a:lnTo>
                  <a:pt x="1355352" y="688518"/>
                </a:lnTo>
                <a:lnTo>
                  <a:pt x="1384896" y="743020"/>
                </a:lnTo>
                <a:lnTo>
                  <a:pt x="1417094" y="793767"/>
                </a:lnTo>
                <a:lnTo>
                  <a:pt x="1451191" y="837710"/>
                </a:lnTo>
                <a:lnTo>
                  <a:pt x="1486242" y="872245"/>
                </a:lnTo>
                <a:lnTo>
                  <a:pt x="1521249" y="895289"/>
                </a:lnTo>
                <a:lnTo>
                  <a:pt x="1555212" y="905394"/>
                </a:lnTo>
                <a:lnTo>
                  <a:pt x="1587193" y="901829"/>
                </a:lnTo>
                <a:lnTo>
                  <a:pt x="1616360" y="884616"/>
                </a:lnTo>
                <a:lnTo>
                  <a:pt x="1642039" y="854532"/>
                </a:lnTo>
                <a:lnTo>
                  <a:pt x="1663747" y="813066"/>
                </a:lnTo>
                <a:lnTo>
                  <a:pt x="1681222" y="762336"/>
                </a:lnTo>
                <a:lnTo>
                  <a:pt x="1694435" y="704970"/>
                </a:lnTo>
                <a:lnTo>
                  <a:pt x="1703593" y="643965"/>
                </a:lnTo>
                <a:lnTo>
                  <a:pt x="1709125" y="582518"/>
                </a:lnTo>
                <a:lnTo>
                  <a:pt x="1711664" y="523850"/>
                </a:lnTo>
                <a:lnTo>
                  <a:pt x="1712007" y="471030"/>
                </a:lnTo>
                <a:lnTo>
                  <a:pt x="1711070" y="426803"/>
                </a:lnTo>
                <a:lnTo>
                  <a:pt x="1709842" y="393437"/>
                </a:lnTo>
                <a:lnTo>
                  <a:pt x="1709329" y="372604"/>
                </a:lnTo>
                <a:lnTo>
                  <a:pt x="1710495" y="365281"/>
                </a:lnTo>
                <a:lnTo>
                  <a:pt x="1714212" y="371697"/>
                </a:lnTo>
                <a:lnTo>
                  <a:pt x="1721213" y="391326"/>
                </a:lnTo>
                <a:lnTo>
                  <a:pt x="1732047" y="422907"/>
                </a:lnTo>
                <a:lnTo>
                  <a:pt x="1747052" y="464522"/>
                </a:lnTo>
                <a:lnTo>
                  <a:pt x="1766336" y="513697"/>
                </a:lnTo>
                <a:lnTo>
                  <a:pt x="1789770" y="567541"/>
                </a:lnTo>
                <a:lnTo>
                  <a:pt x="1816996" y="622904"/>
                </a:lnTo>
                <a:lnTo>
                  <a:pt x="1847447" y="676554"/>
                </a:lnTo>
                <a:lnTo>
                  <a:pt x="1880376" y="725350"/>
                </a:lnTo>
                <a:lnTo>
                  <a:pt x="1914900" y="766424"/>
                </a:lnTo>
                <a:lnTo>
                  <a:pt x="1950049" y="797330"/>
                </a:lnTo>
                <a:lnTo>
                  <a:pt x="1984817" y="816188"/>
                </a:lnTo>
                <a:lnTo>
                  <a:pt x="2018219" y="821781"/>
                </a:lnTo>
                <a:lnTo>
                  <a:pt x="2049348" y="813626"/>
                </a:lnTo>
                <a:lnTo>
                  <a:pt x="2077418" y="792000"/>
                </a:lnTo>
                <a:lnTo>
                  <a:pt x="2101817" y="757924"/>
                </a:lnTo>
                <a:lnTo>
                  <a:pt x="2122132" y="713107"/>
                </a:lnTo>
                <a:lnTo>
                  <a:pt x="2138177" y="659851"/>
                </a:lnTo>
                <a:lnTo>
                  <a:pt x="2150004" y="600926"/>
                </a:lnTo>
                <a:lnTo>
                  <a:pt x="2157895" y="539413"/>
                </a:lnTo>
                <a:lnTo>
                  <a:pt x="2162351" y="478539"/>
                </a:lnTo>
                <a:lnTo>
                  <a:pt x="2164062" y="421492"/>
                </a:lnTo>
                <a:lnTo>
                  <a:pt x="2163871" y="371252"/>
                </a:lnTo>
                <a:lnTo>
                  <a:pt x="2162725" y="330420"/>
                </a:lnTo>
                <a:lnTo>
                  <a:pt x="2161625" y="301079"/>
                </a:lnTo>
                <a:lnTo>
                  <a:pt x="2161568" y="284677"/>
                </a:lnTo>
                <a:lnTo>
                  <a:pt x="2163493" y="281945"/>
                </a:lnTo>
                <a:lnTo>
                  <a:pt x="2168232" y="292862"/>
                </a:lnTo>
                <a:lnTo>
                  <a:pt x="2176460" y="316648"/>
                </a:lnTo>
                <a:lnTo>
                  <a:pt x="2188658" y="351817"/>
                </a:lnTo>
                <a:lnTo>
                  <a:pt x="2205089" y="396251"/>
                </a:lnTo>
                <a:lnTo>
                  <a:pt x="2225782" y="447320"/>
                </a:lnTo>
                <a:lnTo>
                  <a:pt x="2250531" y="502028"/>
                </a:lnTo>
                <a:lnTo>
                  <a:pt x="2278904" y="557178"/>
                </a:lnTo>
                <a:lnTo>
                  <a:pt x="2310271" y="609549"/>
                </a:lnTo>
                <a:lnTo>
                  <a:pt x="2343836" y="656072"/>
                </a:lnTo>
                <a:lnTo>
                  <a:pt x="2378679" y="694003"/>
                </a:lnTo>
                <a:lnTo>
                  <a:pt x="2413812" y="721071"/>
                </a:lnTo>
                <a:lnTo>
                  <a:pt x="2448232" y="735608"/>
                </a:lnTo>
                <a:lnTo>
                  <a:pt x="2480972" y="736634"/>
                </a:lnTo>
                <a:lnTo>
                  <a:pt x="2511161" y="723921"/>
                </a:lnTo>
                <a:lnTo>
                  <a:pt x="2538066" y="697996"/>
                </a:lnTo>
                <a:lnTo>
                  <a:pt x="2561138" y="660118"/>
                </a:lnTo>
                <a:lnTo>
                  <a:pt x="2580039" y="612206"/>
                </a:lnTo>
                <a:lnTo>
                  <a:pt x="2594662" y="556734"/>
                </a:lnTo>
                <a:lnTo>
                  <a:pt x="2605134" y="496593"/>
                </a:lnTo>
                <a:lnTo>
                  <a:pt x="2611814" y="434933"/>
                </a:lnTo>
                <a:lnTo>
                  <a:pt x="2615270" y="374987"/>
                </a:lnTo>
                <a:lnTo>
                  <a:pt x="2616247" y="319893"/>
                </a:lnTo>
                <a:lnTo>
                  <a:pt x="2615629" y="272523"/>
                </a:lnTo>
                <a:lnTo>
                  <a:pt x="2614386" y="235319"/>
                </a:lnTo>
                <a:lnTo>
                  <a:pt x="2613524" y="210164"/>
                </a:lnTo>
                <a:lnTo>
                  <a:pt x="2614028" y="198275"/>
                </a:lnTo>
                <a:lnTo>
                  <a:pt x="2616806" y="200133"/>
                </a:lnTo>
                <a:lnTo>
                  <a:pt x="2622642" y="215462"/>
                </a:lnTo>
                <a:lnTo>
                  <a:pt x="2632149" y="243241"/>
                </a:lnTo>
                <a:lnTo>
                  <a:pt x="2645741" y="281762"/>
                </a:lnTo>
                <a:lnTo>
                  <a:pt x="2663601" y="328720"/>
                </a:lnTo>
                <a:lnTo>
                  <a:pt x="2685681" y="381349"/>
                </a:lnTo>
                <a:lnTo>
                  <a:pt x="2711696" y="436564"/>
                </a:lnTo>
                <a:lnTo>
                  <a:pt x="2741146" y="491142"/>
                </a:lnTo>
                <a:lnTo>
                  <a:pt x="2773341" y="541892"/>
                </a:lnTo>
                <a:lnTo>
                  <a:pt x="2807438" y="585835"/>
                </a:lnTo>
                <a:lnTo>
                  <a:pt x="2842490" y="620370"/>
                </a:lnTo>
                <a:lnTo>
                  <a:pt x="2877497" y="643414"/>
                </a:lnTo>
                <a:lnTo>
                  <a:pt x="2911460" y="653520"/>
                </a:lnTo>
                <a:lnTo>
                  <a:pt x="2943441" y="649954"/>
                </a:lnTo>
                <a:lnTo>
                  <a:pt x="2972608" y="632741"/>
                </a:lnTo>
                <a:lnTo>
                  <a:pt x="2998287" y="602658"/>
                </a:lnTo>
                <a:lnTo>
                  <a:pt x="3020003" y="561184"/>
                </a:lnTo>
                <a:lnTo>
                  <a:pt x="3037540" y="509879"/>
                </a:lnTo>
                <a:lnTo>
                  <a:pt x="3049701" y="452027"/>
                </a:lnTo>
                <a:lnTo>
                  <a:pt x="3056580" y="390753"/>
                </a:lnTo>
                <a:lnTo>
                  <a:pt x="3058415" y="328373"/>
                </a:lnTo>
                <a:lnTo>
                  <a:pt x="3056219" y="269221"/>
                </a:lnTo>
                <a:lnTo>
                  <a:pt x="3051108" y="216415"/>
                </a:lnTo>
                <a:lnTo>
                  <a:pt x="3047461" y="172327"/>
                </a:lnTo>
                <a:lnTo>
                  <a:pt x="3044190" y="139100"/>
                </a:lnTo>
                <a:lnTo>
                  <a:pt x="3042400" y="118337"/>
                </a:lnTo>
                <a:lnTo>
                  <a:pt x="3043115" y="110956"/>
                </a:lnTo>
                <a:lnTo>
                  <a:pt x="3047219" y="117132"/>
                </a:lnTo>
                <a:lnTo>
                  <a:pt x="3055410" y="136294"/>
                </a:lnTo>
                <a:lnTo>
                  <a:pt x="3068160" y="167151"/>
                </a:lnTo>
                <a:lnTo>
                  <a:pt x="3085688" y="207767"/>
                </a:lnTo>
                <a:lnTo>
                  <a:pt x="3107951" y="255667"/>
                </a:lnTo>
                <a:lnTo>
                  <a:pt x="3134643" y="307973"/>
                </a:lnTo>
                <a:lnTo>
                  <a:pt x="3165212" y="361563"/>
                </a:lnTo>
                <a:lnTo>
                  <a:pt x="3198895" y="413244"/>
                </a:lnTo>
                <a:lnTo>
                  <a:pt x="3234754" y="459930"/>
                </a:lnTo>
                <a:lnTo>
                  <a:pt x="3271732" y="498809"/>
                </a:lnTo>
                <a:lnTo>
                  <a:pt x="3308709" y="527503"/>
                </a:lnTo>
                <a:lnTo>
                  <a:pt x="3344568" y="544193"/>
                </a:lnTo>
                <a:lnTo>
                  <a:pt x="3378251" y="547728"/>
                </a:lnTo>
                <a:lnTo>
                  <a:pt x="3408821" y="537680"/>
                </a:lnTo>
                <a:lnTo>
                  <a:pt x="3435513" y="514374"/>
                </a:lnTo>
                <a:lnTo>
                  <a:pt x="3457776" y="478866"/>
                </a:lnTo>
                <a:lnTo>
                  <a:pt x="3475305" y="432888"/>
                </a:lnTo>
                <a:lnTo>
                  <a:pt x="3488055" y="378749"/>
                </a:lnTo>
                <a:lnTo>
                  <a:pt x="3496246" y="319209"/>
                </a:lnTo>
                <a:lnTo>
                  <a:pt x="3500350" y="257328"/>
                </a:lnTo>
                <a:lnTo>
                  <a:pt x="3501065" y="196295"/>
                </a:lnTo>
                <a:lnTo>
                  <a:pt x="3499275" y="139251"/>
                </a:lnTo>
                <a:lnTo>
                  <a:pt x="3496004" y="89116"/>
                </a:lnTo>
                <a:lnTo>
                  <a:pt x="3492357" y="48431"/>
                </a:lnTo>
                <a:lnTo>
                  <a:pt x="3489460" y="19213"/>
                </a:lnTo>
                <a:lnTo>
                  <a:pt x="3488397" y="2845"/>
                </a:lnTo>
                <a:lnTo>
                  <a:pt x="3490151" y="0"/>
                </a:lnTo>
                <a:lnTo>
                  <a:pt x="3495550" y="10605"/>
                </a:lnTo>
                <a:lnTo>
                  <a:pt x="3505221" y="33842"/>
                </a:lnTo>
                <a:lnTo>
                  <a:pt x="3519552" y="68197"/>
                </a:lnTo>
                <a:lnTo>
                  <a:pt x="3538677" y="111539"/>
                </a:lnTo>
                <a:lnTo>
                  <a:pt x="3562462" y="161243"/>
                </a:lnTo>
                <a:lnTo>
                  <a:pt x="3590519" y="214330"/>
                </a:lnTo>
                <a:lnTo>
                  <a:pt x="3622221" y="267637"/>
                </a:lnTo>
                <a:lnTo>
                  <a:pt x="3629512" y="278933"/>
                </a:lnTo>
              </a:path>
            </a:pathLst>
          </a:custGeom>
          <a:ln w="34925">
            <a:solidFill>
              <a:srgbClr val="0070C0"/>
            </a:solidFill>
            <a:prstDash val="solid"/>
            <a:tailEnd type="triangle"/>
          </a:ln>
        </p:spPr>
        <p:txBody>
          <a:bodyPr/>
          <a:lstStyle/>
          <a:p>
            <a:endParaRPr lang="en-US"/>
          </a:p>
        </p:txBody>
      </p:sp>
      <p:sp>
        <p:nvSpPr>
          <p:cNvPr id="7" name="Shape 4"/>
          <p:cNvSpPr/>
          <p:nvPr/>
        </p:nvSpPr>
        <p:spPr>
          <a:xfrm>
            <a:off x="3439450" y="3616321"/>
            <a:ext cx="128016" cy="128016"/>
          </a:xfrm>
          <a:prstGeom prst="ellipse">
            <a:avLst/>
          </a:prstGeom>
          <a:solidFill>
            <a:srgbClr val="C00000"/>
          </a:solidFill>
          <a:ln w="12700">
            <a:solidFill>
              <a:srgbClr val="FFFFFF"/>
            </a:solidFill>
            <a:prstDash val="solid"/>
          </a:ln>
        </p:spPr>
        <p:txBody>
          <a:bodyPr/>
          <a:lstStyle/>
          <a:p>
            <a:endParaRPr lang="en-US"/>
          </a:p>
        </p:txBody>
      </p:sp>
      <p:sp>
        <p:nvSpPr>
          <p:cNvPr id="8" name="Text 5"/>
          <p:cNvSpPr txBox="1"/>
          <p:nvPr/>
        </p:nvSpPr>
        <p:spPr>
          <a:xfrm>
            <a:off x="5285232" y="3703320"/>
            <a:ext cx="411480" cy="365760"/>
          </a:xfrm>
          <a:prstGeom prst="rect">
            <a:avLst/>
          </a:prstGeom>
          <a:solidFill>
            <a:srgbClr val="FFFFFF">
              <a:alpha val="85000"/>
            </a:srgbClr>
          </a:solidFill>
          <a:ln/>
        </p:spPr>
        <p:txBody>
          <a:bodyPr wrap="square" lIns="381" tIns="381" rIns="381" bIns="381" rtlCol="0" anchor="ctr"/>
          <a:lstStyle/>
          <a:p>
            <a:pPr marL="0" indent="0" algn="l">
              <a:buNone/>
            </a:pPr>
            <a:r>
              <a:rPr lang="en-US" sz="2000" b="1" dirty="0">
                <a:solidFill>
                  <a:srgbClr val="73000A"/>
                </a:solidFill>
                <a:latin typeface="Calibri" pitchFamily="34" charset="0"/>
                <a:ea typeface="Calibri" pitchFamily="34" charset="-122"/>
                <a:cs typeface="Calibri" pitchFamily="34" charset="-120"/>
              </a:rPr>
              <a:t>π⁻</a:t>
            </a:r>
            <a:endParaRPr lang="en-US" sz="2000" dirty="0"/>
          </a:p>
        </p:txBody>
      </p:sp>
      <p:sp>
        <p:nvSpPr>
          <p:cNvPr id="9" name="Text 6"/>
          <p:cNvSpPr txBox="1"/>
          <p:nvPr/>
        </p:nvSpPr>
        <p:spPr>
          <a:xfrm>
            <a:off x="4365607" y="2783695"/>
            <a:ext cx="411480" cy="365760"/>
          </a:xfrm>
          <a:prstGeom prst="rect">
            <a:avLst/>
          </a:prstGeom>
          <a:solidFill>
            <a:srgbClr val="FFFFFF">
              <a:alpha val="85000"/>
            </a:srgbClr>
          </a:solidFill>
          <a:ln/>
        </p:spPr>
        <p:txBody>
          <a:bodyPr wrap="square" lIns="381" tIns="381" rIns="381" bIns="381" rtlCol="0" anchor="ctr"/>
          <a:lstStyle/>
          <a:p>
            <a:pPr marL="0" indent="0" algn="l">
              <a:buNone/>
            </a:pPr>
            <a:r>
              <a:rPr lang="en-US" sz="2000" b="1" dirty="0">
                <a:solidFill>
                  <a:srgbClr val="1F3A68"/>
                </a:solidFill>
                <a:latin typeface="Calibri" pitchFamily="34" charset="0"/>
                <a:ea typeface="Calibri" pitchFamily="34" charset="-122"/>
                <a:cs typeface="Calibri" pitchFamily="34" charset="-120"/>
              </a:rPr>
              <a:t>π⁺</a:t>
            </a:r>
            <a:endParaRPr lang="en-US" sz="2000" dirty="0"/>
          </a:p>
        </p:txBody>
      </p:sp>
      <p:sp>
        <p:nvSpPr>
          <p:cNvPr id="10" name="Text 7"/>
          <p:cNvSpPr txBox="1"/>
          <p:nvPr/>
        </p:nvSpPr>
        <p:spPr>
          <a:xfrm>
            <a:off x="7124482" y="1576687"/>
            <a:ext cx="1371600" cy="320040"/>
          </a:xfrm>
          <a:prstGeom prst="rect">
            <a:avLst/>
          </a:prstGeom>
          <a:solidFill>
            <a:srgbClr val="FFFFFF">
              <a:alpha val="85000"/>
            </a:srgbClr>
          </a:solidFill>
          <a:ln/>
        </p:spPr>
        <p:txBody>
          <a:bodyPr wrap="square" lIns="381" tIns="381" rIns="381" bIns="381" rtlCol="0" anchor="ctr"/>
          <a:lstStyle/>
          <a:p>
            <a:pPr marL="0" indent="0" algn="l">
              <a:buNone/>
            </a:pPr>
            <a:r>
              <a:rPr lang="en-US" sz="1400" b="1" dirty="0">
                <a:solidFill>
                  <a:srgbClr val="C00000"/>
                </a:solidFill>
                <a:latin typeface="Calibri" pitchFamily="34" charset="0"/>
                <a:ea typeface="Calibri" pitchFamily="34" charset="-122"/>
                <a:cs typeface="Calibri" pitchFamily="34" charset="-120"/>
              </a:rPr>
              <a:t>Proton beam</a:t>
            </a:r>
            <a:endParaRPr lang="en-US" sz="1400" dirty="0"/>
          </a:p>
        </p:txBody>
      </p:sp>
      <p:sp>
        <p:nvSpPr>
          <p:cNvPr id="11" name="Text 8"/>
          <p:cNvSpPr txBox="1"/>
          <p:nvPr/>
        </p:nvSpPr>
        <p:spPr>
          <a:xfrm>
            <a:off x="3790841" y="5197711"/>
            <a:ext cx="1737360" cy="320040"/>
          </a:xfrm>
          <a:prstGeom prst="rect">
            <a:avLst/>
          </a:prstGeom>
          <a:solidFill>
            <a:srgbClr val="FFFFFF">
              <a:alpha val="85000"/>
            </a:srgbClr>
          </a:solidFill>
          <a:ln/>
        </p:spPr>
        <p:txBody>
          <a:bodyPr wrap="square" lIns="381" tIns="381" rIns="381" bIns="381"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Production target</a:t>
            </a:r>
            <a:endParaRPr lang="en-US" sz="1400" dirty="0"/>
          </a:p>
        </p:txBody>
      </p:sp>
      <p:sp>
        <p:nvSpPr>
          <p:cNvPr id="12" name="Shape 9"/>
          <p:cNvSpPr/>
          <p:nvPr/>
        </p:nvSpPr>
        <p:spPr>
          <a:xfrm>
            <a:off x="548640" y="6080760"/>
            <a:ext cx="411480" cy="9144"/>
          </a:xfrm>
          <a:custGeom>
            <a:avLst/>
            <a:gdLst/>
            <a:ahLst/>
            <a:cxnLst/>
            <a:rect l="l" t="t" r="r" b="b"/>
            <a:pathLst>
              <a:path w="411480" h="9144">
                <a:moveTo>
                  <a:pt x="0" y="0"/>
                </a:moveTo>
                <a:lnTo>
                  <a:pt x="411480" y="0"/>
                </a:lnTo>
              </a:path>
            </a:pathLst>
          </a:custGeom>
          <a:ln w="31750">
            <a:solidFill>
              <a:srgbClr val="73000A"/>
            </a:solidFill>
            <a:prstDash val="solid"/>
          </a:ln>
        </p:spPr>
        <p:txBody>
          <a:bodyPr/>
          <a:lstStyle/>
          <a:p>
            <a:endParaRPr lang="en-US"/>
          </a:p>
        </p:txBody>
      </p:sp>
      <p:sp>
        <p:nvSpPr>
          <p:cNvPr id="13" name="Text 10"/>
          <p:cNvSpPr txBox="1"/>
          <p:nvPr/>
        </p:nvSpPr>
        <p:spPr>
          <a:xfrm>
            <a:off x="1051560" y="5943600"/>
            <a:ext cx="1645920" cy="274320"/>
          </a:xfrm>
          <a:prstGeom prst="rect">
            <a:avLst/>
          </a:prstGeom>
          <a:noFill/>
          <a:ln/>
        </p:spPr>
        <p:txBody>
          <a:bodyPr wrap="square" lIns="381" tIns="381" rIns="381" bIns="381"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π⁻</a:t>
            </a:r>
            <a:endParaRPr lang="en-US" sz="1100" dirty="0"/>
          </a:p>
        </p:txBody>
      </p:sp>
      <p:sp>
        <p:nvSpPr>
          <p:cNvPr id="14" name="Shape 11"/>
          <p:cNvSpPr/>
          <p:nvPr/>
        </p:nvSpPr>
        <p:spPr>
          <a:xfrm>
            <a:off x="2560320" y="6080760"/>
            <a:ext cx="411480" cy="9144"/>
          </a:xfrm>
          <a:custGeom>
            <a:avLst/>
            <a:gdLst/>
            <a:ahLst/>
            <a:cxnLst/>
            <a:rect l="l" t="t" r="r" b="b"/>
            <a:pathLst>
              <a:path w="411480" h="9144">
                <a:moveTo>
                  <a:pt x="0" y="0"/>
                </a:moveTo>
                <a:lnTo>
                  <a:pt x="411480" y="0"/>
                </a:lnTo>
              </a:path>
            </a:pathLst>
          </a:custGeom>
          <a:ln w="31750">
            <a:solidFill>
              <a:srgbClr val="1F3A68"/>
            </a:solidFill>
            <a:prstDash val="solid"/>
          </a:ln>
        </p:spPr>
        <p:txBody>
          <a:bodyPr/>
          <a:lstStyle/>
          <a:p>
            <a:endParaRPr lang="en-US"/>
          </a:p>
        </p:txBody>
      </p:sp>
      <p:sp>
        <p:nvSpPr>
          <p:cNvPr id="15" name="Text 12"/>
          <p:cNvSpPr txBox="1"/>
          <p:nvPr/>
        </p:nvSpPr>
        <p:spPr>
          <a:xfrm>
            <a:off x="3063240" y="5943600"/>
            <a:ext cx="1645920" cy="274320"/>
          </a:xfrm>
          <a:prstGeom prst="rect">
            <a:avLst/>
          </a:prstGeom>
          <a:noFill/>
          <a:ln/>
        </p:spPr>
        <p:txBody>
          <a:bodyPr wrap="square" lIns="381" tIns="381" rIns="381" bIns="381"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π⁺</a:t>
            </a:r>
            <a:endParaRPr lang="en-US" sz="1100" dirty="0"/>
          </a:p>
        </p:txBody>
      </p:sp>
      <p:sp>
        <p:nvSpPr>
          <p:cNvPr id="16" name="Shape 13"/>
          <p:cNvSpPr/>
          <p:nvPr/>
        </p:nvSpPr>
        <p:spPr>
          <a:xfrm>
            <a:off x="8732520" y="1508760"/>
            <a:ext cx="3017520" cy="4526280"/>
          </a:xfrm>
          <a:prstGeom prst="roundRect">
            <a:avLst>
              <a:gd name="adj" fmla="val 3030"/>
            </a:avLst>
          </a:prstGeom>
          <a:solidFill>
            <a:srgbClr val="F4F0F0"/>
          </a:solidFill>
          <a:ln/>
        </p:spPr>
        <p:txBody>
          <a:bodyPr/>
          <a:lstStyle/>
          <a:p>
            <a:endParaRPr lang="en-US"/>
          </a:p>
        </p:txBody>
      </p:sp>
      <p:sp>
        <p:nvSpPr>
          <p:cNvPr id="17" name="Text 14"/>
          <p:cNvSpPr txBox="1"/>
          <p:nvPr/>
        </p:nvSpPr>
        <p:spPr>
          <a:xfrm>
            <a:off x="8961120" y="1645920"/>
            <a:ext cx="2651760" cy="365760"/>
          </a:xfrm>
          <a:prstGeom prst="rect">
            <a:avLst/>
          </a:prstGeom>
          <a:noFill/>
          <a:ln/>
        </p:spPr>
        <p:txBody>
          <a:bodyPr wrap="square" lIns="381" tIns="381" rIns="381" bIns="381" rtlCol="0" anchor="ctr"/>
          <a:lstStyle/>
          <a:p>
            <a:pPr marL="0" indent="0" algn="l">
              <a:buNone/>
            </a:pPr>
            <a:r>
              <a:rPr lang="en-US" sz="1500" b="1" dirty="0">
                <a:solidFill>
                  <a:srgbClr val="73000A"/>
                </a:solidFill>
                <a:latin typeface="Calibri" pitchFamily="34" charset="0"/>
                <a:ea typeface="Calibri" pitchFamily="34" charset="-122"/>
                <a:cs typeface="Calibri" pitchFamily="34" charset="-120"/>
              </a:rPr>
              <a:t>Key points</a:t>
            </a:r>
            <a:endParaRPr lang="en-US" sz="1500" dirty="0"/>
          </a:p>
        </p:txBody>
      </p:sp>
      <p:sp>
        <p:nvSpPr>
          <p:cNvPr id="18" name="Text 15"/>
          <p:cNvSpPr txBox="1"/>
          <p:nvPr/>
        </p:nvSpPr>
        <p:spPr>
          <a:xfrm>
            <a:off x="8961120" y="2057400"/>
            <a:ext cx="2606040" cy="3794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8 GeV pulsed proton beam strikes a tungsten target</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Graded field falls toward the transport solenoid</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Backward pions spiral straight into the transport line</a:t>
            </a:r>
            <a:endParaRPr lang="en-US" sz="1300" dirty="0"/>
          </a:p>
        </p:txBody>
      </p:sp>
      <p:sp>
        <p:nvSpPr>
          <p:cNvPr id="23" name="Rectangle 22">
            <a:extLst>
              <a:ext uri="{FF2B5EF4-FFF2-40B4-BE49-F238E27FC236}">
                <a16:creationId xmlns:a16="http://schemas.microsoft.com/office/drawing/2014/main" id="{DBA5DBFF-FE70-525B-491F-37C101D40B02}"/>
              </a:ext>
            </a:extLst>
          </p:cNvPr>
          <p:cNvSpPr/>
          <p:nvPr/>
        </p:nvSpPr>
        <p:spPr>
          <a:xfrm>
            <a:off x="7690981" y="1810011"/>
            <a:ext cx="904379" cy="4196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7F2F5078-C008-C644-5FBD-169B2687584D}"/>
              </a:ext>
            </a:extLst>
          </p:cNvPr>
          <p:cNvCxnSpPr>
            <a:cxnSpLocks/>
          </p:cNvCxnSpPr>
          <p:nvPr/>
        </p:nvCxnSpPr>
        <p:spPr>
          <a:xfrm flipH="1">
            <a:off x="6231699" y="1896727"/>
            <a:ext cx="2173265" cy="802632"/>
          </a:xfrm>
          <a:prstGeom prst="straightConnector1">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381" tIns="381" rIns="381" bIns="381"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Transport Solenoid</a:t>
            </a:r>
            <a:endParaRPr lang="en-US" sz="3200" dirty="0"/>
          </a:p>
        </p:txBody>
      </p:sp>
      <p:sp>
        <p:nvSpPr>
          <p:cNvPr id="3" name="Text 1"/>
          <p:cNvSpPr txBox="1"/>
          <p:nvPr/>
        </p:nvSpPr>
        <p:spPr>
          <a:xfrm>
            <a:off x="548640" y="896112"/>
            <a:ext cx="11064240" cy="365760"/>
          </a:xfrm>
          <a:prstGeom prst="rect">
            <a:avLst/>
          </a:prstGeom>
          <a:noFill/>
          <a:ln/>
        </p:spPr>
        <p:txBody>
          <a:bodyPr wrap="square" lIns="381" tIns="381" rIns="381" bIns="381" rtlCol="0" anchor="ctr"/>
          <a:lstStyle/>
          <a:p>
            <a:pPr marL="0" indent="0" algn="l">
              <a:buNone/>
            </a:pPr>
            <a:r>
              <a:rPr lang="en-US" sz="1600" i="1" dirty="0">
                <a:solidFill>
                  <a:srgbClr val="73000A"/>
                </a:solidFill>
                <a:latin typeface="Calibri" pitchFamily="34" charset="0"/>
                <a:ea typeface="Calibri" pitchFamily="34" charset="-122"/>
                <a:cs typeface="Calibri" pitchFamily="34" charset="-120"/>
              </a:rPr>
              <a:t>The S-bend selects negative muons and blocks positive ones at the collimator</a:t>
            </a:r>
            <a:endParaRPr lang="en-US" sz="1600" dirty="0"/>
          </a:p>
        </p:txBody>
      </p:sp>
      <p:pic>
        <p:nvPicPr>
          <p:cNvPr id="4" name="Image 0" descr="Mu2e schematic segment"/>
          <p:cNvPicPr>
            <a:picLocks noChangeAspect="1"/>
          </p:cNvPicPr>
          <p:nvPr/>
        </p:nvPicPr>
        <p:blipFill>
          <a:blip r:embed="rId3"/>
          <a:stretch>
            <a:fillRect/>
          </a:stretch>
        </p:blipFill>
        <p:spPr>
          <a:xfrm>
            <a:off x="457200" y="1436992"/>
            <a:ext cx="11274552" cy="3115337"/>
          </a:xfrm>
          <a:prstGeom prst="rect">
            <a:avLst/>
          </a:prstGeom>
        </p:spPr>
      </p:pic>
      <p:sp>
        <p:nvSpPr>
          <p:cNvPr id="5" name="Shape 2"/>
          <p:cNvSpPr/>
          <p:nvPr/>
        </p:nvSpPr>
        <p:spPr>
          <a:xfrm>
            <a:off x="967748" y="2107601"/>
            <a:ext cx="10142168" cy="1981590"/>
          </a:xfrm>
          <a:custGeom>
            <a:avLst/>
            <a:gdLst/>
            <a:ahLst/>
            <a:cxnLst/>
            <a:rect l="l" t="t" r="r" b="b"/>
            <a:pathLst>
              <a:path w="10142168" h="1981590">
                <a:moveTo>
                  <a:pt x="0" y="718439"/>
                </a:moveTo>
                <a:lnTo>
                  <a:pt x="2657" y="683117"/>
                </a:lnTo>
                <a:lnTo>
                  <a:pt x="2696" y="652821"/>
                </a:lnTo>
                <a:lnTo>
                  <a:pt x="1532" y="631216"/>
                </a:lnTo>
                <a:lnTo>
                  <a:pt x="738" y="620838"/>
                </a:lnTo>
                <a:lnTo>
                  <a:pt x="1836" y="622765"/>
                </a:lnTo>
                <a:lnTo>
                  <a:pt x="6104" y="636474"/>
                </a:lnTo>
                <a:lnTo>
                  <a:pt x="14408" y="659913"/>
                </a:lnTo>
                <a:lnTo>
                  <a:pt x="27088" y="689762"/>
                </a:lnTo>
                <a:lnTo>
                  <a:pt x="43918" y="721871"/>
                </a:lnTo>
                <a:lnTo>
                  <a:pt x="64129" y="751795"/>
                </a:lnTo>
                <a:lnTo>
                  <a:pt x="86516" y="775374"/>
                </a:lnTo>
                <a:lnTo>
                  <a:pt x="109589" y="789270"/>
                </a:lnTo>
                <a:lnTo>
                  <a:pt x="131770" y="791407"/>
                </a:lnTo>
                <a:lnTo>
                  <a:pt x="151596" y="781234"/>
                </a:lnTo>
                <a:lnTo>
                  <a:pt x="167911" y="759803"/>
                </a:lnTo>
                <a:lnTo>
                  <a:pt x="180014" y="729626"/>
                </a:lnTo>
                <a:lnTo>
                  <a:pt x="187753" y="694355"/>
                </a:lnTo>
                <a:lnTo>
                  <a:pt x="191543" y="658301"/>
                </a:lnTo>
                <a:lnTo>
                  <a:pt x="192311" y="625879"/>
                </a:lnTo>
                <a:lnTo>
                  <a:pt x="191377" y="601031"/>
                </a:lnTo>
                <a:lnTo>
                  <a:pt x="190284" y="586714"/>
                </a:lnTo>
                <a:lnTo>
                  <a:pt x="190593" y="584518"/>
                </a:lnTo>
                <a:lnTo>
                  <a:pt x="193685" y="594456"/>
                </a:lnTo>
                <a:lnTo>
                  <a:pt x="200578" y="614965"/>
                </a:lnTo>
                <a:lnTo>
                  <a:pt x="211797" y="643108"/>
                </a:lnTo>
                <a:lnTo>
                  <a:pt x="227303" y="674955"/>
                </a:lnTo>
                <a:lnTo>
                  <a:pt x="246502" y="706096"/>
                </a:lnTo>
                <a:lnTo>
                  <a:pt x="268319" y="732211"/>
                </a:lnTo>
                <a:lnTo>
                  <a:pt x="291339" y="749635"/>
                </a:lnTo>
                <a:lnTo>
                  <a:pt x="313990" y="755831"/>
                </a:lnTo>
                <a:lnTo>
                  <a:pt x="334748" y="749723"/>
                </a:lnTo>
                <a:lnTo>
                  <a:pt x="352336" y="731833"/>
                </a:lnTo>
                <a:lnTo>
                  <a:pt x="365888" y="704213"/>
                </a:lnTo>
                <a:lnTo>
                  <a:pt x="375063" y="670183"/>
                </a:lnTo>
                <a:lnTo>
                  <a:pt x="380090" y="633892"/>
                </a:lnTo>
                <a:lnTo>
                  <a:pt x="381735" y="599787"/>
                </a:lnTo>
                <a:lnTo>
                  <a:pt x="381204" y="572027"/>
                </a:lnTo>
                <a:lnTo>
                  <a:pt x="379987" y="553950"/>
                </a:lnTo>
                <a:lnTo>
                  <a:pt x="379662" y="547632"/>
                </a:lnTo>
                <a:lnTo>
                  <a:pt x="381692" y="553624"/>
                </a:lnTo>
                <a:lnTo>
                  <a:pt x="387233" y="570874"/>
                </a:lnTo>
                <a:lnTo>
                  <a:pt x="396986" y="596869"/>
                </a:lnTo>
                <a:lnTo>
                  <a:pt x="411103" y="627959"/>
                </a:lnTo>
                <a:lnTo>
                  <a:pt x="429169" y="659832"/>
                </a:lnTo>
                <a:lnTo>
                  <a:pt x="450258" y="688073"/>
                </a:lnTo>
                <a:lnTo>
                  <a:pt x="473047" y="708740"/>
                </a:lnTo>
                <a:lnTo>
                  <a:pt x="495997" y="718876"/>
                </a:lnTo>
                <a:lnTo>
                  <a:pt x="517544" y="716891"/>
                </a:lnTo>
                <a:lnTo>
                  <a:pt x="536308" y="702771"/>
                </a:lnTo>
                <a:lnTo>
                  <a:pt x="551271" y="678081"/>
                </a:lnTo>
                <a:lnTo>
                  <a:pt x="561908" y="645757"/>
                </a:lnTo>
                <a:lnTo>
                  <a:pt x="568258" y="609729"/>
                </a:lnTo>
                <a:lnTo>
                  <a:pt x="570914" y="574407"/>
                </a:lnTo>
                <a:lnTo>
                  <a:pt x="570953" y="544111"/>
                </a:lnTo>
                <a:lnTo>
                  <a:pt x="569790" y="522505"/>
                </a:lnTo>
                <a:lnTo>
                  <a:pt x="568995" y="512128"/>
                </a:lnTo>
                <a:lnTo>
                  <a:pt x="570093" y="514055"/>
                </a:lnTo>
                <a:lnTo>
                  <a:pt x="574361" y="527764"/>
                </a:lnTo>
                <a:lnTo>
                  <a:pt x="582665" y="551202"/>
                </a:lnTo>
                <a:lnTo>
                  <a:pt x="595346" y="581052"/>
                </a:lnTo>
                <a:lnTo>
                  <a:pt x="612175" y="613161"/>
                </a:lnTo>
                <a:lnTo>
                  <a:pt x="632387" y="643085"/>
                </a:lnTo>
                <a:lnTo>
                  <a:pt x="654774" y="666663"/>
                </a:lnTo>
                <a:lnTo>
                  <a:pt x="677847" y="680560"/>
                </a:lnTo>
                <a:lnTo>
                  <a:pt x="700027" y="682696"/>
                </a:lnTo>
                <a:lnTo>
                  <a:pt x="719853" y="672524"/>
                </a:lnTo>
                <a:lnTo>
                  <a:pt x="736168" y="651092"/>
                </a:lnTo>
                <a:lnTo>
                  <a:pt x="748272" y="620916"/>
                </a:lnTo>
                <a:lnTo>
                  <a:pt x="756011" y="585645"/>
                </a:lnTo>
                <a:lnTo>
                  <a:pt x="759801" y="549591"/>
                </a:lnTo>
                <a:lnTo>
                  <a:pt x="760568" y="517169"/>
                </a:lnTo>
                <a:lnTo>
                  <a:pt x="759635" y="492321"/>
                </a:lnTo>
                <a:lnTo>
                  <a:pt x="758541" y="478004"/>
                </a:lnTo>
                <a:lnTo>
                  <a:pt x="758850" y="475808"/>
                </a:lnTo>
                <a:lnTo>
                  <a:pt x="761942" y="485746"/>
                </a:lnTo>
                <a:lnTo>
                  <a:pt x="768885" y="506227"/>
                </a:lnTo>
                <a:lnTo>
                  <a:pt x="780104" y="534340"/>
                </a:lnTo>
                <a:lnTo>
                  <a:pt x="795546" y="566169"/>
                </a:lnTo>
                <a:lnTo>
                  <a:pt x="814633" y="597369"/>
                </a:lnTo>
                <a:lnTo>
                  <a:pt x="836301" y="623574"/>
                </a:lnTo>
                <a:lnTo>
                  <a:pt x="859167" y="641112"/>
                </a:lnTo>
                <a:lnTo>
                  <a:pt x="881780" y="647431"/>
                </a:lnTo>
                <a:lnTo>
                  <a:pt x="902570" y="641435"/>
                </a:lnTo>
                <a:lnTo>
                  <a:pt x="920255" y="623640"/>
                </a:lnTo>
                <a:lnTo>
                  <a:pt x="933956" y="596094"/>
                </a:lnTo>
                <a:lnTo>
                  <a:pt x="943315" y="562113"/>
                </a:lnTo>
                <a:lnTo>
                  <a:pt x="948537" y="525851"/>
                </a:lnTo>
                <a:lnTo>
                  <a:pt x="950366" y="491755"/>
                </a:lnTo>
                <a:lnTo>
                  <a:pt x="949985" y="463993"/>
                </a:lnTo>
                <a:lnTo>
                  <a:pt x="948866" y="445909"/>
                </a:lnTo>
                <a:lnTo>
                  <a:pt x="948575" y="439590"/>
                </a:lnTo>
                <a:lnTo>
                  <a:pt x="950573" y="445592"/>
                </a:lnTo>
                <a:lnTo>
                  <a:pt x="956021" y="462872"/>
                </a:lnTo>
                <a:lnTo>
                  <a:pt x="965633" y="488919"/>
                </a:lnTo>
                <a:lnTo>
                  <a:pt x="979582" y="520085"/>
                </a:lnTo>
                <a:lnTo>
                  <a:pt x="997476" y="552055"/>
                </a:lnTo>
                <a:lnTo>
                  <a:pt x="1018412" y="580409"/>
                </a:lnTo>
                <a:lnTo>
                  <a:pt x="1041089" y="601199"/>
                </a:lnTo>
                <a:lnTo>
                  <a:pt x="1063984" y="611458"/>
                </a:lnTo>
                <a:lnTo>
                  <a:pt x="1085541" y="609590"/>
                </a:lnTo>
                <a:lnTo>
                  <a:pt x="1104381" y="595572"/>
                </a:lnTo>
                <a:lnTo>
                  <a:pt x="1119477" y="570963"/>
                </a:lnTo>
                <a:lnTo>
                  <a:pt x="1130289" y="538697"/>
                </a:lnTo>
                <a:lnTo>
                  <a:pt x="1136833" y="502703"/>
                </a:lnTo>
                <a:lnTo>
                  <a:pt x="1139680" y="467396"/>
                </a:lnTo>
                <a:lnTo>
                  <a:pt x="1139883" y="437101"/>
                </a:lnTo>
                <a:lnTo>
                  <a:pt x="1138836" y="415489"/>
                </a:lnTo>
                <a:lnTo>
                  <a:pt x="1138097" y="405108"/>
                </a:lnTo>
                <a:lnTo>
                  <a:pt x="1139185" y="407041"/>
                </a:lnTo>
                <a:lnTo>
                  <a:pt x="1143379" y="420773"/>
                </a:lnTo>
                <a:lnTo>
                  <a:pt x="1151556" y="444256"/>
                </a:lnTo>
                <a:lnTo>
                  <a:pt x="1164075" y="474173"/>
                </a:lnTo>
                <a:lnTo>
                  <a:pt x="1180731" y="506372"/>
                </a:lnTo>
                <a:lnTo>
                  <a:pt x="1200781" y="536405"/>
                </a:lnTo>
                <a:lnTo>
                  <a:pt x="1223040" y="560104"/>
                </a:lnTo>
                <a:lnTo>
                  <a:pt x="1246038" y="574125"/>
                </a:lnTo>
                <a:lnTo>
                  <a:pt x="1268207" y="576381"/>
                </a:lnTo>
                <a:lnTo>
                  <a:pt x="1288087" y="566316"/>
                </a:lnTo>
                <a:lnTo>
                  <a:pt x="1304518" y="544973"/>
                </a:lnTo>
                <a:lnTo>
                  <a:pt x="1316784" y="514862"/>
                </a:lnTo>
                <a:lnTo>
                  <a:pt x="1324713" y="479633"/>
                </a:lnTo>
                <a:lnTo>
                  <a:pt x="1328698" y="443600"/>
                </a:lnTo>
                <a:lnTo>
                  <a:pt x="1329640" y="411183"/>
                </a:lnTo>
                <a:lnTo>
                  <a:pt x="1328841" y="386330"/>
                </a:lnTo>
                <a:lnTo>
                  <a:pt x="1327825" y="372007"/>
                </a:lnTo>
                <a:lnTo>
                  <a:pt x="1328146" y="369813"/>
                </a:lnTo>
                <a:lnTo>
                  <a:pt x="1331184" y="379768"/>
                </a:lnTo>
                <a:lnTo>
                  <a:pt x="1337966" y="400314"/>
                </a:lnTo>
                <a:lnTo>
                  <a:pt x="1349033" y="428517"/>
                </a:lnTo>
                <a:lnTo>
                  <a:pt x="1364367" y="460447"/>
                </a:lnTo>
                <a:lnTo>
                  <a:pt x="1383398" y="491691"/>
                </a:lnTo>
                <a:lnTo>
                  <a:pt x="1405074" y="517923"/>
                </a:lnTo>
                <a:lnTo>
                  <a:pt x="1427999" y="535471"/>
                </a:lnTo>
                <a:lnTo>
                  <a:pt x="1450616" y="541790"/>
                </a:lnTo>
                <a:lnTo>
                  <a:pt x="1471407" y="535794"/>
                </a:lnTo>
                <a:lnTo>
                  <a:pt x="1489091" y="517999"/>
                </a:lnTo>
                <a:lnTo>
                  <a:pt x="1502792" y="490453"/>
                </a:lnTo>
                <a:lnTo>
                  <a:pt x="1512151" y="456472"/>
                </a:lnTo>
                <a:lnTo>
                  <a:pt x="1517374" y="420210"/>
                </a:lnTo>
                <a:lnTo>
                  <a:pt x="1519202" y="386114"/>
                </a:lnTo>
                <a:lnTo>
                  <a:pt x="1518821" y="358352"/>
                </a:lnTo>
                <a:lnTo>
                  <a:pt x="1517702" y="340268"/>
                </a:lnTo>
                <a:lnTo>
                  <a:pt x="1517411" y="333949"/>
                </a:lnTo>
                <a:lnTo>
                  <a:pt x="1519409" y="339951"/>
                </a:lnTo>
                <a:lnTo>
                  <a:pt x="1524857" y="357231"/>
                </a:lnTo>
                <a:lnTo>
                  <a:pt x="1534469" y="383278"/>
                </a:lnTo>
                <a:lnTo>
                  <a:pt x="1548418" y="414444"/>
                </a:lnTo>
                <a:lnTo>
                  <a:pt x="1566312" y="446414"/>
                </a:lnTo>
                <a:lnTo>
                  <a:pt x="1587248" y="474768"/>
                </a:lnTo>
                <a:lnTo>
                  <a:pt x="1609926" y="495558"/>
                </a:lnTo>
                <a:lnTo>
                  <a:pt x="1632820" y="505817"/>
                </a:lnTo>
                <a:lnTo>
                  <a:pt x="1654377" y="503949"/>
                </a:lnTo>
                <a:lnTo>
                  <a:pt x="1673217" y="489931"/>
                </a:lnTo>
                <a:lnTo>
                  <a:pt x="1688313" y="465322"/>
                </a:lnTo>
                <a:lnTo>
                  <a:pt x="1699125" y="433056"/>
                </a:lnTo>
                <a:lnTo>
                  <a:pt x="1705669" y="397062"/>
                </a:lnTo>
                <a:lnTo>
                  <a:pt x="1708516" y="361755"/>
                </a:lnTo>
                <a:lnTo>
                  <a:pt x="1708719" y="331460"/>
                </a:lnTo>
                <a:lnTo>
                  <a:pt x="1707672" y="309848"/>
                </a:lnTo>
                <a:lnTo>
                  <a:pt x="1706934" y="299467"/>
                </a:lnTo>
                <a:lnTo>
                  <a:pt x="1708021" y="301400"/>
                </a:lnTo>
                <a:lnTo>
                  <a:pt x="1712215" y="315132"/>
                </a:lnTo>
                <a:lnTo>
                  <a:pt x="1720392" y="338615"/>
                </a:lnTo>
                <a:lnTo>
                  <a:pt x="1732911" y="368532"/>
                </a:lnTo>
                <a:lnTo>
                  <a:pt x="1749567" y="400731"/>
                </a:lnTo>
                <a:lnTo>
                  <a:pt x="1769617" y="430764"/>
                </a:lnTo>
                <a:lnTo>
                  <a:pt x="1791876" y="454463"/>
                </a:lnTo>
                <a:lnTo>
                  <a:pt x="1814874" y="468484"/>
                </a:lnTo>
                <a:lnTo>
                  <a:pt x="1837043" y="470740"/>
                </a:lnTo>
                <a:lnTo>
                  <a:pt x="1856936" y="460671"/>
                </a:lnTo>
                <a:lnTo>
                  <a:pt x="1874051" y="438996"/>
                </a:lnTo>
                <a:lnTo>
                  <a:pt x="1886424" y="408526"/>
                </a:lnTo>
                <a:lnTo>
                  <a:pt x="1893724" y="373045"/>
                </a:lnTo>
                <a:lnTo>
                  <a:pt x="1896226" y="336347"/>
                </a:lnTo>
                <a:lnTo>
                  <a:pt x="1895184" y="303589"/>
                </a:lnTo>
                <a:lnTo>
                  <a:pt x="1892268" y="278730"/>
                </a:lnTo>
                <a:lnTo>
                  <a:pt x="1890376" y="264496"/>
                </a:lnTo>
                <a:lnTo>
                  <a:pt x="1890562" y="262286"/>
                </a:lnTo>
                <a:lnTo>
                  <a:pt x="1894205" y="272035"/>
                </a:lnTo>
                <a:lnTo>
                  <a:pt x="1902234" y="292126"/>
                </a:lnTo>
                <a:lnTo>
                  <a:pt x="1915009" y="319597"/>
                </a:lnTo>
                <a:lnTo>
                  <a:pt x="1932272" y="350527"/>
                </a:lnTo>
                <a:lnTo>
                  <a:pt x="1953183" y="380546"/>
                </a:lnTo>
                <a:lnTo>
                  <a:pt x="1976426" y="405400"/>
                </a:lnTo>
                <a:lnTo>
                  <a:pt x="2000384" y="421510"/>
                </a:lnTo>
                <a:lnTo>
                  <a:pt x="2023346" y="426430"/>
                </a:lnTo>
                <a:lnTo>
                  <a:pt x="2043730" y="419171"/>
                </a:lnTo>
                <a:lnTo>
                  <a:pt x="2060290" y="400325"/>
                </a:lnTo>
                <a:lnTo>
                  <a:pt x="2072277" y="371991"/>
                </a:lnTo>
                <a:lnTo>
                  <a:pt x="2079535" y="337500"/>
                </a:lnTo>
                <a:lnTo>
                  <a:pt x="2082524" y="300986"/>
                </a:lnTo>
                <a:lnTo>
                  <a:pt x="2082258" y="266842"/>
                </a:lnTo>
                <a:lnTo>
                  <a:pt x="2080176" y="239155"/>
                </a:lnTo>
                <a:lnTo>
                  <a:pt x="2077950" y="221174"/>
                </a:lnTo>
                <a:lnTo>
                  <a:pt x="2077272" y="214884"/>
                </a:lnTo>
                <a:lnTo>
                  <a:pt x="2079634" y="220752"/>
                </a:lnTo>
                <a:lnTo>
                  <a:pt x="2086131" y="237665"/>
                </a:lnTo>
                <a:lnTo>
                  <a:pt x="2097323" y="263074"/>
                </a:lnTo>
                <a:lnTo>
                  <a:pt x="2113156" y="293326"/>
                </a:lnTo>
                <a:lnTo>
                  <a:pt x="2132977" y="324138"/>
                </a:lnTo>
                <a:lnTo>
                  <a:pt x="2155611" y="351155"/>
                </a:lnTo>
                <a:lnTo>
                  <a:pt x="2179521" y="370516"/>
                </a:lnTo>
                <a:lnTo>
                  <a:pt x="2203002" y="379352"/>
                </a:lnTo>
                <a:lnTo>
                  <a:pt x="2224404" y="376166"/>
                </a:lnTo>
                <a:lnTo>
                  <a:pt x="2242349" y="361019"/>
                </a:lnTo>
                <a:lnTo>
                  <a:pt x="2255908" y="335531"/>
                </a:lnTo>
                <a:lnTo>
                  <a:pt x="2264721" y="302663"/>
                </a:lnTo>
                <a:lnTo>
                  <a:pt x="2269046" y="266336"/>
                </a:lnTo>
                <a:lnTo>
                  <a:pt x="2269723" y="230921"/>
                </a:lnTo>
                <a:lnTo>
                  <a:pt x="2268067" y="200669"/>
                </a:lnTo>
                <a:lnTo>
                  <a:pt x="2265697" y="179163"/>
                </a:lnTo>
                <a:lnTo>
                  <a:pt x="2265036" y="168697"/>
                </a:lnTo>
                <a:lnTo>
                  <a:pt x="2267076" y="170212"/>
                </a:lnTo>
                <a:lnTo>
                  <a:pt x="2272542" y="183232"/>
                </a:lnTo>
                <a:lnTo>
                  <a:pt x="2282031" y="206276"/>
                </a:lnTo>
                <a:lnTo>
                  <a:pt x="2295492" y="235798"/>
                </a:lnTo>
                <a:lnTo>
                  <a:pt x="2312485" y="267623"/>
                </a:lnTo>
                <a:lnTo>
                  <a:pt x="2332591" y="297540"/>
                </a:lnTo>
                <a:lnTo>
                  <a:pt x="2354922" y="321173"/>
                </a:lnTo>
                <a:lnTo>
                  <a:pt x="2377963" y="335127"/>
                </a:lnTo>
                <a:lnTo>
                  <a:pt x="2400139" y="337319"/>
                </a:lnTo>
                <a:lnTo>
                  <a:pt x="2419990" y="327196"/>
                </a:lnTo>
                <a:lnTo>
                  <a:pt x="2436356" y="305806"/>
                </a:lnTo>
                <a:lnTo>
                  <a:pt x="2448531" y="275660"/>
                </a:lnTo>
                <a:lnTo>
                  <a:pt x="2456354" y="240408"/>
                </a:lnTo>
                <a:lnTo>
                  <a:pt x="2460228" y="204363"/>
                </a:lnTo>
                <a:lnTo>
                  <a:pt x="2461072" y="171941"/>
                </a:lnTo>
                <a:lnTo>
                  <a:pt x="2460197" y="147088"/>
                </a:lnTo>
                <a:lnTo>
                  <a:pt x="2459137" y="132765"/>
                </a:lnTo>
                <a:lnTo>
                  <a:pt x="2459450" y="130566"/>
                </a:lnTo>
                <a:lnTo>
                  <a:pt x="2462518" y="140507"/>
                </a:lnTo>
                <a:lnTo>
                  <a:pt x="2469362" y="161029"/>
                </a:lnTo>
                <a:lnTo>
                  <a:pt x="2480514" y="189196"/>
                </a:lnTo>
                <a:lnTo>
                  <a:pt x="2495945" y="221079"/>
                </a:lnTo>
                <a:lnTo>
                  <a:pt x="2515070" y="252265"/>
                </a:lnTo>
                <a:lnTo>
                  <a:pt x="2536826" y="278434"/>
                </a:lnTo>
                <a:lnTo>
                  <a:pt x="2559805" y="295914"/>
                </a:lnTo>
                <a:lnTo>
                  <a:pt x="2582441" y="302167"/>
                </a:lnTo>
                <a:lnTo>
                  <a:pt x="2603214" y="296112"/>
                </a:lnTo>
                <a:lnTo>
                  <a:pt x="2620845" y="278266"/>
                </a:lnTo>
                <a:lnTo>
                  <a:pt x="2634463" y="250680"/>
                </a:lnTo>
                <a:lnTo>
                  <a:pt x="2643719" y="216673"/>
                </a:lnTo>
                <a:lnTo>
                  <a:pt x="2648831" y="180394"/>
                </a:lnTo>
                <a:lnTo>
                  <a:pt x="2650556" y="146291"/>
                </a:lnTo>
                <a:lnTo>
                  <a:pt x="2650091" y="118528"/>
                </a:lnTo>
                <a:lnTo>
                  <a:pt x="2648916" y="100444"/>
                </a:lnTo>
                <a:lnTo>
                  <a:pt x="2648605" y="94122"/>
                </a:lnTo>
                <a:lnTo>
                  <a:pt x="2650621" y="100114"/>
                </a:lnTo>
                <a:lnTo>
                  <a:pt x="2656120" y="117374"/>
                </a:lnTo>
                <a:lnTo>
                  <a:pt x="2665811" y="143390"/>
                </a:lnTo>
                <a:lnTo>
                  <a:pt x="2679854" y="174512"/>
                </a:lnTo>
                <a:lnTo>
                  <a:pt x="2697845" y="206427"/>
                </a:lnTo>
                <a:lnTo>
                  <a:pt x="2718867" y="234719"/>
                </a:lnTo>
                <a:lnTo>
                  <a:pt x="2741608" y="255442"/>
                </a:lnTo>
                <a:lnTo>
                  <a:pt x="2764534" y="265635"/>
                </a:lnTo>
                <a:lnTo>
                  <a:pt x="2786086" y="263704"/>
                </a:lnTo>
                <a:lnTo>
                  <a:pt x="2804884" y="249632"/>
                </a:lnTo>
                <a:lnTo>
                  <a:pt x="2819906" y="224980"/>
                </a:lnTo>
                <a:lnTo>
                  <a:pt x="2830620" y="192682"/>
                </a:lnTo>
                <a:lnTo>
                  <a:pt x="2837054" y="156670"/>
                </a:lnTo>
                <a:lnTo>
                  <a:pt x="2839795" y="121353"/>
                </a:lnTo>
                <a:lnTo>
                  <a:pt x="2839905" y="91055"/>
                </a:lnTo>
                <a:lnTo>
                  <a:pt x="2838792" y="69444"/>
                </a:lnTo>
                <a:lnTo>
                  <a:pt x="2838021" y="59060"/>
                </a:lnTo>
                <a:lnTo>
                  <a:pt x="2839114" y="60986"/>
                </a:lnTo>
                <a:lnTo>
                  <a:pt x="2843349" y="74702"/>
                </a:lnTo>
                <a:lnTo>
                  <a:pt x="2851597" y="98157"/>
                </a:lnTo>
                <a:lnTo>
                  <a:pt x="2864206" y="128034"/>
                </a:lnTo>
                <a:lnTo>
                  <a:pt x="2880960" y="160183"/>
                </a:lnTo>
                <a:lnTo>
                  <a:pt x="2901100" y="190155"/>
                </a:lnTo>
                <a:lnTo>
                  <a:pt x="2923432" y="213788"/>
                </a:lnTo>
                <a:lnTo>
                  <a:pt x="2946472" y="227742"/>
                </a:lnTo>
                <a:lnTo>
                  <a:pt x="2967091" y="230215"/>
                </a:lnTo>
                <a:lnTo>
                  <a:pt x="2985081" y="220796"/>
                </a:lnTo>
                <a:lnTo>
                  <a:pt x="3000628" y="200290"/>
                </a:lnTo>
                <a:lnTo>
                  <a:pt x="3013717" y="172120"/>
                </a:lnTo>
                <a:lnTo>
                  <a:pt x="3024343" y="138915"/>
                </a:lnTo>
                <a:lnTo>
                  <a:pt x="3032662" y="104419"/>
                </a:lnTo>
                <a:lnTo>
                  <a:pt x="3038078" y="72574"/>
                </a:lnTo>
                <a:lnTo>
                  <a:pt x="3040602" y="47816"/>
                </a:lnTo>
                <a:lnTo>
                  <a:pt x="3041506" y="33461"/>
                </a:lnTo>
                <a:lnTo>
                  <a:pt x="3042116" y="31301"/>
                </a:lnTo>
                <a:lnTo>
                  <a:pt x="3043797" y="41546"/>
                </a:lnTo>
                <a:lnTo>
                  <a:pt x="3047774" y="62791"/>
                </a:lnTo>
                <a:lnTo>
                  <a:pt x="3054976" y="92203"/>
                </a:lnTo>
                <a:lnTo>
                  <a:pt x="3065910" y="125888"/>
                </a:lnTo>
                <a:lnTo>
                  <a:pt x="3080599" y="159395"/>
                </a:lnTo>
                <a:lnTo>
                  <a:pt x="3098579" y="188297"/>
                </a:lnTo>
                <a:lnTo>
                  <a:pt x="3118958" y="208765"/>
                </a:lnTo>
                <a:lnTo>
                  <a:pt x="3140529" y="218068"/>
                </a:lnTo>
                <a:lnTo>
                  <a:pt x="3161936" y="214924"/>
                </a:lnTo>
                <a:lnTo>
                  <a:pt x="3181838" y="199669"/>
                </a:lnTo>
                <a:lnTo>
                  <a:pt x="3199095" y="174214"/>
                </a:lnTo>
                <a:lnTo>
                  <a:pt x="3212907" y="141795"/>
                </a:lnTo>
                <a:lnTo>
                  <a:pt x="3222924" y="106552"/>
                </a:lnTo>
                <a:lnTo>
                  <a:pt x="3229288" y="72996"/>
                </a:lnTo>
                <a:lnTo>
                  <a:pt x="3232616" y="45413"/>
                </a:lnTo>
                <a:lnTo>
                  <a:pt x="3233919" y="27318"/>
                </a:lnTo>
                <a:lnTo>
                  <a:pt x="3234473" y="20989"/>
                </a:lnTo>
                <a:lnTo>
                  <a:pt x="3235651" y="27177"/>
                </a:lnTo>
                <a:lnTo>
                  <a:pt x="3238742" y="45005"/>
                </a:lnTo>
                <a:lnTo>
                  <a:pt x="3244790" y="72085"/>
                </a:lnTo>
                <a:lnTo>
                  <a:pt x="3254452" y="104824"/>
                </a:lnTo>
                <a:lnTo>
                  <a:pt x="3267918" y="138895"/>
                </a:lnTo>
                <a:lnTo>
                  <a:pt x="3284881" y="169798"/>
                </a:lnTo>
                <a:lnTo>
                  <a:pt x="3304581" y="193444"/>
                </a:lnTo>
                <a:lnTo>
                  <a:pt x="3325902" y="206689"/>
                </a:lnTo>
                <a:lnTo>
                  <a:pt x="3347517" y="207737"/>
                </a:lnTo>
                <a:lnTo>
                  <a:pt x="3368061" y="196381"/>
                </a:lnTo>
                <a:lnTo>
                  <a:pt x="3386308" y="174025"/>
                </a:lnTo>
                <a:lnTo>
                  <a:pt x="3401331" y="143501"/>
                </a:lnTo>
                <a:lnTo>
                  <a:pt x="3412622" y="108706"/>
                </a:lnTo>
                <a:lnTo>
                  <a:pt x="3420157" y="74088"/>
                </a:lnTo>
                <a:lnTo>
                  <a:pt x="3424402" y="44075"/>
                </a:lnTo>
                <a:lnTo>
                  <a:pt x="3426248" y="22495"/>
                </a:lnTo>
                <a:lnTo>
                  <a:pt x="3426901" y="12081"/>
                </a:lnTo>
                <a:lnTo>
                  <a:pt x="3427719" y="14114"/>
                </a:lnTo>
                <a:lnTo>
                  <a:pt x="3430041" y="28257"/>
                </a:lnTo>
                <a:lnTo>
                  <a:pt x="3435009" y="52601"/>
                </a:lnTo>
                <a:lnTo>
                  <a:pt x="3443422" y="83909"/>
                </a:lnTo>
                <a:lnTo>
                  <a:pt x="3455629" y="118040"/>
                </a:lnTo>
                <a:lnTo>
                  <a:pt x="3471490" y="150486"/>
                </a:lnTo>
                <a:lnTo>
                  <a:pt x="3490387" y="176957"/>
                </a:lnTo>
                <a:lnTo>
                  <a:pt x="3511308" y="193941"/>
                </a:lnTo>
                <a:lnTo>
                  <a:pt x="3532979" y="199159"/>
                </a:lnTo>
                <a:lnTo>
                  <a:pt x="3554026" y="191859"/>
                </a:lnTo>
                <a:lnTo>
                  <a:pt x="3573160" y="172920"/>
                </a:lnTo>
                <a:lnTo>
                  <a:pt x="3589336" y="144729"/>
                </a:lnTo>
                <a:lnTo>
                  <a:pt x="3601898" y="110879"/>
                </a:lnTo>
                <a:lnTo>
                  <a:pt x="3610657" y="75696"/>
                </a:lnTo>
                <a:lnTo>
                  <a:pt x="3615919" y="43682"/>
                </a:lnTo>
                <a:lnTo>
                  <a:pt x="3618443" y="18924"/>
                </a:lnTo>
                <a:lnTo>
                  <a:pt x="3619347" y="4569"/>
                </a:lnTo>
                <a:lnTo>
                  <a:pt x="3619957" y="2409"/>
                </a:lnTo>
                <a:lnTo>
                  <a:pt x="3621637" y="12654"/>
                </a:lnTo>
                <a:lnTo>
                  <a:pt x="3625615" y="33899"/>
                </a:lnTo>
                <a:lnTo>
                  <a:pt x="3632817" y="63311"/>
                </a:lnTo>
                <a:lnTo>
                  <a:pt x="3643751" y="96996"/>
                </a:lnTo>
                <a:lnTo>
                  <a:pt x="3658440" y="130503"/>
                </a:lnTo>
                <a:lnTo>
                  <a:pt x="3675582" y="159160"/>
                </a:lnTo>
                <a:lnTo>
                  <a:pt x="3694545" y="179602"/>
                </a:lnTo>
                <a:lnTo>
                  <a:pt x="3714578" y="189151"/>
                </a:lnTo>
                <a:lnTo>
                  <a:pt x="3734838" y="187378"/>
                </a:lnTo>
                <a:lnTo>
                  <a:pt x="3754455" y="173708"/>
                </a:lnTo>
                <a:lnTo>
                  <a:pt x="3772618" y="149904"/>
                </a:lnTo>
                <a:lnTo>
                  <a:pt x="3788955" y="118700"/>
                </a:lnTo>
                <a:lnTo>
                  <a:pt x="3801755" y="84371"/>
                </a:lnTo>
                <a:lnTo>
                  <a:pt x="3810778" y="51429"/>
                </a:lnTo>
                <a:lnTo>
                  <a:pt x="3816299" y="24200"/>
                </a:lnTo>
                <a:lnTo>
                  <a:pt x="3819044" y="6266"/>
                </a:lnTo>
                <a:lnTo>
                  <a:pt x="3820102" y="0"/>
                </a:lnTo>
                <a:lnTo>
                  <a:pt x="3820781" y="6261"/>
                </a:lnTo>
                <a:lnTo>
                  <a:pt x="3822438" y="24279"/>
                </a:lnTo>
                <a:lnTo>
                  <a:pt x="3826304" y="51754"/>
                </a:lnTo>
                <a:lnTo>
                  <a:pt x="3833321" y="85160"/>
                </a:lnTo>
                <a:lnTo>
                  <a:pt x="3844022" y="120198"/>
                </a:lnTo>
                <a:lnTo>
                  <a:pt x="3858463" y="152357"/>
                </a:lnTo>
                <a:lnTo>
                  <a:pt x="3876211" y="177502"/>
                </a:lnTo>
                <a:lnTo>
                  <a:pt x="3896406" y="192408"/>
                </a:lnTo>
                <a:lnTo>
                  <a:pt x="3917868" y="195180"/>
                </a:lnTo>
                <a:lnTo>
                  <a:pt x="3939253" y="185502"/>
                </a:lnTo>
                <a:lnTo>
                  <a:pt x="3959228" y="164676"/>
                </a:lnTo>
                <a:lnTo>
                  <a:pt x="3976641" y="135450"/>
                </a:lnTo>
                <a:lnTo>
                  <a:pt x="3990675" y="101667"/>
                </a:lnTo>
                <a:lnTo>
                  <a:pt x="4000951" y="67762"/>
                </a:lnTo>
                <a:lnTo>
                  <a:pt x="4007579" y="38183"/>
                </a:lnTo>
                <a:lnTo>
                  <a:pt x="4011143" y="16818"/>
                </a:lnTo>
                <a:lnTo>
                  <a:pt x="4012626" y="6489"/>
                </a:lnTo>
                <a:lnTo>
                  <a:pt x="4013279" y="8580"/>
                </a:lnTo>
                <a:lnTo>
                  <a:pt x="4014464" y="22862"/>
                </a:lnTo>
                <a:lnTo>
                  <a:pt x="4017472" y="47525"/>
                </a:lnTo>
                <a:lnTo>
                  <a:pt x="4023357" y="79404"/>
                </a:lnTo>
                <a:lnTo>
                  <a:pt x="4032799" y="114400"/>
                </a:lnTo>
                <a:lnTo>
                  <a:pt x="4046018" y="148009"/>
                </a:lnTo>
                <a:lnTo>
                  <a:pt x="4062740" y="175906"/>
                </a:lnTo>
                <a:lnTo>
                  <a:pt x="4082238" y="194508"/>
                </a:lnTo>
                <a:lnTo>
                  <a:pt x="4103422" y="201440"/>
                </a:lnTo>
                <a:lnTo>
                  <a:pt x="4124985" y="195847"/>
                </a:lnTo>
                <a:lnTo>
                  <a:pt x="4145570" y="178497"/>
                </a:lnTo>
                <a:lnTo>
                  <a:pt x="4163947" y="151688"/>
                </a:lnTo>
                <a:lnTo>
                  <a:pt x="4179173" y="118950"/>
                </a:lnTo>
                <a:lnTo>
                  <a:pt x="4190714" y="84579"/>
                </a:lnTo>
                <a:lnTo>
                  <a:pt x="4198515" y="53087"/>
                </a:lnTo>
                <a:lnTo>
                  <a:pt x="4203009" y="28609"/>
                </a:lnTo>
                <a:lnTo>
                  <a:pt x="4205057" y="14371"/>
                </a:lnTo>
                <a:lnTo>
                  <a:pt x="4205837" y="12266"/>
                </a:lnTo>
                <a:lnTo>
                  <a:pt x="4206694" y="22611"/>
                </a:lnTo>
                <a:lnTo>
                  <a:pt x="4208962" y="44105"/>
                </a:lnTo>
                <a:lnTo>
                  <a:pt x="4213792" y="73998"/>
                </a:lnTo>
                <a:lnTo>
                  <a:pt x="4222000" y="108448"/>
                </a:lnTo>
                <a:lnTo>
                  <a:pt x="4233967" y="143021"/>
                </a:lnTo>
                <a:lnTo>
                  <a:pt x="4249581" y="173267"/>
                </a:lnTo>
                <a:lnTo>
                  <a:pt x="4268259" y="195298"/>
                </a:lnTo>
                <a:lnTo>
                  <a:pt x="4289019" y="206295"/>
                </a:lnTo>
                <a:lnTo>
                  <a:pt x="4310608" y="204872"/>
                </a:lnTo>
                <a:lnTo>
                  <a:pt x="4331665" y="191256"/>
                </a:lnTo>
                <a:lnTo>
                  <a:pt x="4350900" y="167261"/>
                </a:lnTo>
                <a:lnTo>
                  <a:pt x="4367257" y="136049"/>
                </a:lnTo>
                <a:lnTo>
                  <a:pt x="4380057" y="101720"/>
                </a:lnTo>
                <a:lnTo>
                  <a:pt x="4389081" y="68778"/>
                </a:lnTo>
                <a:lnTo>
                  <a:pt x="4394601" y="41549"/>
                </a:lnTo>
                <a:lnTo>
                  <a:pt x="4397346" y="23615"/>
                </a:lnTo>
                <a:lnTo>
                  <a:pt x="4398404" y="17349"/>
                </a:lnTo>
                <a:lnTo>
                  <a:pt x="4399083" y="23610"/>
                </a:lnTo>
                <a:lnTo>
                  <a:pt x="4400741" y="41628"/>
                </a:lnTo>
                <a:lnTo>
                  <a:pt x="4404956" y="68919"/>
                </a:lnTo>
                <a:lnTo>
                  <a:pt x="4412086" y="101510"/>
                </a:lnTo>
                <a:lnTo>
                  <a:pt x="4420978" y="135678"/>
                </a:lnTo>
                <a:lnTo>
                  <a:pt x="4431880" y="167585"/>
                </a:lnTo>
                <a:lnTo>
                  <a:pt x="4444982" y="194348"/>
                </a:lnTo>
                <a:lnTo>
                  <a:pt x="4460613" y="211493"/>
                </a:lnTo>
                <a:lnTo>
                  <a:pt x="4479478" y="217348"/>
                </a:lnTo>
                <a:lnTo>
                  <a:pt x="4502174" y="211402"/>
                </a:lnTo>
                <a:lnTo>
                  <a:pt x="4525340" y="194223"/>
                </a:lnTo>
                <a:lnTo>
                  <a:pt x="4547385" y="168328"/>
                </a:lnTo>
                <a:lnTo>
                  <a:pt x="4566860" y="137364"/>
                </a:lnTo>
                <a:lnTo>
                  <a:pt x="4582654" y="105640"/>
                </a:lnTo>
                <a:lnTo>
                  <a:pt x="4594130" y="77563"/>
                </a:lnTo>
                <a:lnTo>
                  <a:pt x="4601216" y="57066"/>
                </a:lnTo>
                <a:lnTo>
                  <a:pt x="4604409" y="47095"/>
                </a:lnTo>
                <a:lnTo>
                  <a:pt x="4604711" y="49231"/>
                </a:lnTo>
                <a:lnTo>
                  <a:pt x="4603502" y="63479"/>
                </a:lnTo>
                <a:lnTo>
                  <a:pt x="4602355" y="88272"/>
                </a:lnTo>
                <a:lnTo>
                  <a:pt x="4602840" y="120670"/>
                </a:lnTo>
                <a:lnTo>
                  <a:pt x="4606309" y="156747"/>
                </a:lnTo>
                <a:lnTo>
                  <a:pt x="4613731" y="192096"/>
                </a:lnTo>
                <a:lnTo>
                  <a:pt x="4625559" y="222409"/>
                </a:lnTo>
                <a:lnTo>
                  <a:pt x="4641673" y="244028"/>
                </a:lnTo>
                <a:lnTo>
                  <a:pt x="4661397" y="254427"/>
                </a:lnTo>
                <a:lnTo>
                  <a:pt x="4683586" y="252539"/>
                </a:lnTo>
                <a:lnTo>
                  <a:pt x="4706774" y="238892"/>
                </a:lnTo>
                <a:lnTo>
                  <a:pt x="4729365" y="215543"/>
                </a:lnTo>
                <a:lnTo>
                  <a:pt x="4749840" y="185812"/>
                </a:lnTo>
                <a:lnTo>
                  <a:pt x="4766958" y="153845"/>
                </a:lnTo>
                <a:lnTo>
                  <a:pt x="4779910" y="124080"/>
                </a:lnTo>
                <a:lnTo>
                  <a:pt x="4788432" y="100671"/>
                </a:lnTo>
                <a:lnTo>
                  <a:pt x="4792834" y="86942"/>
                </a:lnTo>
                <a:lnTo>
                  <a:pt x="4793962" y="84962"/>
                </a:lnTo>
                <a:lnTo>
                  <a:pt x="4793086" y="95272"/>
                </a:lnTo>
                <a:lnTo>
                  <a:pt x="4791740" y="116815"/>
                </a:lnTo>
                <a:lnTo>
                  <a:pt x="4791516" y="147075"/>
                </a:lnTo>
                <a:lnTo>
                  <a:pt x="4793861" y="182402"/>
                </a:lnTo>
                <a:lnTo>
                  <a:pt x="4799888" y="218490"/>
                </a:lnTo>
                <a:lnTo>
                  <a:pt x="4810231" y="250931"/>
                </a:lnTo>
                <a:lnTo>
                  <a:pt x="4824965" y="275793"/>
                </a:lnTo>
                <a:lnTo>
                  <a:pt x="4843593" y="290127"/>
                </a:lnTo>
                <a:lnTo>
                  <a:pt x="4865111" y="292356"/>
                </a:lnTo>
                <a:lnTo>
                  <a:pt x="4888141" y="282471"/>
                </a:lnTo>
                <a:lnTo>
                  <a:pt x="4911107" y="262043"/>
                </a:lnTo>
                <a:lnTo>
                  <a:pt x="4932444" y="234009"/>
                </a:lnTo>
                <a:lnTo>
                  <a:pt x="4950794" y="202296"/>
                </a:lnTo>
                <a:lnTo>
                  <a:pt x="4965193" y="171310"/>
                </a:lnTo>
                <a:lnTo>
                  <a:pt x="4975185" y="145362"/>
                </a:lnTo>
                <a:lnTo>
                  <a:pt x="4983479" y="128983"/>
                </a:lnTo>
                <a:lnTo>
                  <a:pt x="4989968" y="123745"/>
                </a:lnTo>
                <a:lnTo>
                  <a:pt x="4993308" y="129877"/>
                </a:lnTo>
                <a:lnTo>
                  <a:pt x="4992937" y="148352"/>
                </a:lnTo>
                <a:lnTo>
                  <a:pt x="4989496" y="176248"/>
                </a:lnTo>
                <a:lnTo>
                  <a:pt x="4984490" y="209501"/>
                </a:lnTo>
                <a:lnTo>
                  <a:pt x="4979766" y="245498"/>
                </a:lnTo>
                <a:lnTo>
                  <a:pt x="4979300" y="280780"/>
                </a:lnTo>
                <a:lnTo>
                  <a:pt x="4984773" y="311126"/>
                </a:lnTo>
                <a:lnTo>
                  <a:pt x="4996768" y="333237"/>
                </a:lnTo>
                <a:lnTo>
                  <a:pt x="5015017" y="344888"/>
                </a:lnTo>
                <a:lnTo>
                  <a:pt x="5038444" y="345209"/>
                </a:lnTo>
                <a:lnTo>
                  <a:pt x="5065296" y="334807"/>
                </a:lnTo>
                <a:lnTo>
                  <a:pt x="5093377" y="315680"/>
                </a:lnTo>
                <a:lnTo>
                  <a:pt x="5120331" y="290960"/>
                </a:lnTo>
                <a:lnTo>
                  <a:pt x="5143948" y="264507"/>
                </a:lnTo>
                <a:lnTo>
                  <a:pt x="5162452" y="240406"/>
                </a:lnTo>
                <a:lnTo>
                  <a:pt x="5174731" y="222435"/>
                </a:lnTo>
                <a:lnTo>
                  <a:pt x="5180484" y="213578"/>
                </a:lnTo>
                <a:lnTo>
                  <a:pt x="5180255" y="215631"/>
                </a:lnTo>
                <a:lnTo>
                  <a:pt x="5175368" y="228975"/>
                </a:lnTo>
                <a:lnTo>
                  <a:pt x="5167751" y="252522"/>
                </a:lnTo>
                <a:lnTo>
                  <a:pt x="5159688" y="283859"/>
                </a:lnTo>
                <a:lnTo>
                  <a:pt x="5153520" y="319559"/>
                </a:lnTo>
                <a:lnTo>
                  <a:pt x="5151342" y="355629"/>
                </a:lnTo>
                <a:lnTo>
                  <a:pt x="5154730" y="388028"/>
                </a:lnTo>
                <a:lnTo>
                  <a:pt x="5164538" y="413192"/>
                </a:lnTo>
                <a:lnTo>
                  <a:pt x="5180784" y="428497"/>
                </a:lnTo>
                <a:lnTo>
                  <a:pt x="5202650" y="432601"/>
                </a:lnTo>
                <a:lnTo>
                  <a:pt x="5228588" y="425616"/>
                </a:lnTo>
                <a:lnTo>
                  <a:pt x="5256520" y="409098"/>
                </a:lnTo>
                <a:lnTo>
                  <a:pt x="5284108" y="385840"/>
                </a:lnTo>
                <a:lnTo>
                  <a:pt x="5309062" y="359511"/>
                </a:lnTo>
                <a:lnTo>
                  <a:pt x="5329430" y="334180"/>
                </a:lnTo>
                <a:lnTo>
                  <a:pt x="5343860" y="313786"/>
                </a:lnTo>
                <a:lnTo>
                  <a:pt x="5351769" y="301626"/>
                </a:lnTo>
                <a:lnTo>
                  <a:pt x="5353423" y="299927"/>
                </a:lnTo>
                <a:lnTo>
                  <a:pt x="5349899" y="309557"/>
                </a:lnTo>
                <a:lnTo>
                  <a:pt x="5342950" y="329911"/>
                </a:lnTo>
                <a:lnTo>
                  <a:pt x="5334772" y="358990"/>
                </a:lnTo>
                <a:lnTo>
                  <a:pt x="5327722" y="393662"/>
                </a:lnTo>
                <a:lnTo>
                  <a:pt x="5324008" y="430066"/>
                </a:lnTo>
                <a:lnTo>
                  <a:pt x="5325407" y="464119"/>
                </a:lnTo>
                <a:lnTo>
                  <a:pt x="5333031" y="492041"/>
                </a:lnTo>
                <a:lnTo>
                  <a:pt x="5347181" y="510850"/>
                </a:lnTo>
                <a:lnTo>
                  <a:pt x="5366246" y="518300"/>
                </a:lnTo>
                <a:lnTo>
                  <a:pt x="5390139" y="514803"/>
                </a:lnTo>
                <a:lnTo>
                  <a:pt x="5417354" y="501587"/>
                </a:lnTo>
                <a:lnTo>
                  <a:pt x="5445472" y="481795"/>
                </a:lnTo>
                <a:lnTo>
                  <a:pt x="5472610" y="458042"/>
                </a:lnTo>
                <a:lnTo>
                  <a:pt x="5496552" y="434076"/>
                </a:lnTo>
                <a:lnTo>
                  <a:pt x="5514752" y="412982"/>
                </a:lnTo>
                <a:lnTo>
                  <a:pt x="5525985" y="398588"/>
                </a:lnTo>
                <a:lnTo>
                  <a:pt x="5530043" y="393529"/>
                </a:lnTo>
                <a:lnTo>
                  <a:pt x="5527638" y="399209"/>
                </a:lnTo>
                <a:lnTo>
                  <a:pt x="5520322" y="415631"/>
                </a:lnTo>
                <a:lnTo>
                  <a:pt x="5510288" y="441406"/>
                </a:lnTo>
                <a:lnTo>
                  <a:pt x="5500078" y="473928"/>
                </a:lnTo>
                <a:lnTo>
                  <a:pt x="5492259" y="509714"/>
                </a:lnTo>
                <a:lnTo>
                  <a:pt x="5489088" y="544857"/>
                </a:lnTo>
                <a:lnTo>
                  <a:pt x="5492218" y="575534"/>
                </a:lnTo>
                <a:lnTo>
                  <a:pt x="5502480" y="598501"/>
                </a:lnTo>
                <a:lnTo>
                  <a:pt x="5519781" y="611518"/>
                </a:lnTo>
                <a:lnTo>
                  <a:pt x="5543114" y="613636"/>
                </a:lnTo>
                <a:lnTo>
                  <a:pt x="5570684" y="605325"/>
                </a:lnTo>
                <a:lnTo>
                  <a:pt x="5600149" y="588409"/>
                </a:lnTo>
                <a:lnTo>
                  <a:pt x="5628920" y="565829"/>
                </a:lnTo>
                <a:lnTo>
                  <a:pt x="5654497" y="541266"/>
                </a:lnTo>
                <a:lnTo>
                  <a:pt x="5674796" y="518654"/>
                </a:lnTo>
                <a:lnTo>
                  <a:pt x="5688418" y="501678"/>
                </a:lnTo>
                <a:lnTo>
                  <a:pt x="5694833" y="493287"/>
                </a:lnTo>
                <a:lnTo>
                  <a:pt x="5694448" y="495315"/>
                </a:lnTo>
                <a:lnTo>
                  <a:pt x="5688553" y="508244"/>
                </a:lnTo>
                <a:lnTo>
                  <a:pt x="5679153" y="531137"/>
                </a:lnTo>
                <a:lnTo>
                  <a:pt x="5668710" y="561762"/>
                </a:lnTo>
                <a:lnTo>
                  <a:pt x="5659821" y="596884"/>
                </a:lnTo>
                <a:lnTo>
                  <a:pt x="5654883" y="632681"/>
                </a:lnTo>
                <a:lnTo>
                  <a:pt x="5655776" y="665245"/>
                </a:lnTo>
                <a:lnTo>
                  <a:pt x="5663624" y="691088"/>
                </a:lnTo>
                <a:lnTo>
                  <a:pt x="5678648" y="707594"/>
                </a:lnTo>
                <a:lnTo>
                  <a:pt x="5700134" y="713364"/>
                </a:lnTo>
                <a:lnTo>
                  <a:pt x="5726531" y="708390"/>
                </a:lnTo>
                <a:lnTo>
                  <a:pt x="5755647" y="694064"/>
                </a:lnTo>
                <a:lnTo>
                  <a:pt x="5784899" y="673019"/>
                </a:lnTo>
                <a:lnTo>
                  <a:pt x="5811924" y="649323"/>
                </a:lnTo>
                <a:lnTo>
                  <a:pt x="5835292" y="626721"/>
                </a:lnTo>
                <a:lnTo>
                  <a:pt x="5853053" y="608822"/>
                </a:lnTo>
                <a:lnTo>
                  <a:pt x="5863408" y="599248"/>
                </a:lnTo>
                <a:lnTo>
                  <a:pt x="5866456" y="599008"/>
                </a:lnTo>
                <a:lnTo>
                  <a:pt x="5862505" y="608693"/>
                </a:lnTo>
                <a:lnTo>
                  <a:pt x="5852029" y="627471"/>
                </a:lnTo>
                <a:lnTo>
                  <a:pt x="5838782" y="654614"/>
                </a:lnTo>
                <a:lnTo>
                  <a:pt x="5825642" y="687462"/>
                </a:lnTo>
                <a:lnTo>
                  <a:pt x="5815473" y="722615"/>
                </a:lnTo>
                <a:lnTo>
                  <a:pt x="5810755" y="756370"/>
                </a:lnTo>
                <a:lnTo>
                  <a:pt x="5813257" y="785209"/>
                </a:lnTo>
                <a:lnTo>
                  <a:pt x="5823810" y="806251"/>
                </a:lnTo>
                <a:lnTo>
                  <a:pt x="5842201" y="817629"/>
                </a:lnTo>
                <a:lnTo>
                  <a:pt x="5867195" y="818731"/>
                </a:lnTo>
                <a:lnTo>
                  <a:pt x="5896701" y="810282"/>
                </a:lnTo>
                <a:lnTo>
                  <a:pt x="5928042" y="794248"/>
                </a:lnTo>
                <a:lnTo>
                  <a:pt x="5958300" y="773581"/>
                </a:lnTo>
                <a:lnTo>
                  <a:pt x="5984700" y="751833"/>
                </a:lnTo>
                <a:lnTo>
                  <a:pt x="6004967" y="732700"/>
                </a:lnTo>
                <a:lnTo>
                  <a:pt x="6017625" y="719534"/>
                </a:lnTo>
                <a:lnTo>
                  <a:pt x="6022186" y="714917"/>
                </a:lnTo>
                <a:lnTo>
                  <a:pt x="6019212" y="720314"/>
                </a:lnTo>
                <a:lnTo>
                  <a:pt x="6010248" y="735892"/>
                </a:lnTo>
                <a:lnTo>
                  <a:pt x="5997615" y="760494"/>
                </a:lnTo>
                <a:lnTo>
                  <a:pt x="5984112" y="791791"/>
                </a:lnTo>
                <a:lnTo>
                  <a:pt x="5972651" y="826581"/>
                </a:lnTo>
                <a:lnTo>
                  <a:pt x="5965879" y="861213"/>
                </a:lnTo>
                <a:lnTo>
                  <a:pt x="5965831" y="892051"/>
                </a:lnTo>
                <a:lnTo>
                  <a:pt x="5973672" y="915956"/>
                </a:lnTo>
                <a:lnTo>
                  <a:pt x="5989539" y="930688"/>
                </a:lnTo>
                <a:lnTo>
                  <a:pt x="6012527" y="935200"/>
                </a:lnTo>
                <a:lnTo>
                  <a:pt x="6040804" y="929774"/>
                </a:lnTo>
                <a:lnTo>
                  <a:pt x="6071681" y="915986"/>
                </a:lnTo>
                <a:lnTo>
                  <a:pt x="6102633" y="896694"/>
                </a:lnTo>
                <a:lnTo>
                  <a:pt x="6130916" y="875287"/>
                </a:lnTo>
                <a:lnTo>
                  <a:pt x="6153854" y="855584"/>
                </a:lnTo>
                <a:lnTo>
                  <a:pt x="6169679" y="840830"/>
                </a:lnTo>
                <a:lnTo>
                  <a:pt x="6177450" y="833701"/>
                </a:lnTo>
                <a:lnTo>
                  <a:pt x="6176893" y="835734"/>
                </a:lnTo>
                <a:lnTo>
                  <a:pt x="6169322" y="847752"/>
                </a:lnTo>
                <a:lnTo>
                  <a:pt x="6156943" y="869175"/>
                </a:lnTo>
                <a:lnTo>
                  <a:pt x="6142493" y="898122"/>
                </a:lnTo>
                <a:lnTo>
                  <a:pt x="6128980" y="931736"/>
                </a:lnTo>
                <a:lnTo>
                  <a:pt x="6119289" y="966549"/>
                </a:lnTo>
                <a:lnTo>
                  <a:pt x="6115809" y="998942"/>
                </a:lnTo>
                <a:lnTo>
                  <a:pt x="6120122" y="1025607"/>
                </a:lnTo>
                <a:lnTo>
                  <a:pt x="6132795" y="1043982"/>
                </a:lnTo>
                <a:lnTo>
                  <a:pt x="6153312" y="1052582"/>
                </a:lnTo>
                <a:lnTo>
                  <a:pt x="6180134" y="1051193"/>
                </a:lnTo>
                <a:lnTo>
                  <a:pt x="6210905" y="1040899"/>
                </a:lnTo>
                <a:lnTo>
                  <a:pt x="6242755" y="1023941"/>
                </a:lnTo>
                <a:lnTo>
                  <a:pt x="6272673" y="1003426"/>
                </a:lnTo>
                <a:lnTo>
                  <a:pt x="6297901" y="982924"/>
                </a:lnTo>
                <a:lnTo>
                  <a:pt x="6316288" y="966003"/>
                </a:lnTo>
                <a:lnTo>
                  <a:pt x="6326575" y="955765"/>
                </a:lnTo>
                <a:lnTo>
                  <a:pt x="6328553" y="954445"/>
                </a:lnTo>
                <a:lnTo>
                  <a:pt x="6323094" y="963117"/>
                </a:lnTo>
                <a:lnTo>
                  <a:pt x="6312037" y="981557"/>
                </a:lnTo>
                <a:lnTo>
                  <a:pt x="6297949" y="1008272"/>
                </a:lnTo>
                <a:lnTo>
                  <a:pt x="6283789" y="1040694"/>
                </a:lnTo>
                <a:lnTo>
                  <a:pt x="6272527" y="1075512"/>
                </a:lnTo>
                <a:lnTo>
                  <a:pt x="6266756" y="1109104"/>
                </a:lnTo>
                <a:lnTo>
                  <a:pt x="6268355" y="1138007"/>
                </a:lnTo>
                <a:lnTo>
                  <a:pt x="6278245" y="1159369"/>
                </a:lnTo>
                <a:lnTo>
                  <a:pt x="6296271" y="1171317"/>
                </a:lnTo>
                <a:lnTo>
                  <a:pt x="6321218" y="1173200"/>
                </a:lnTo>
                <a:lnTo>
                  <a:pt x="6350973" y="1165678"/>
                </a:lnTo>
                <a:lnTo>
                  <a:pt x="6382799" y="1150631"/>
                </a:lnTo>
                <a:lnTo>
                  <a:pt x="6413688" y="1130919"/>
                </a:lnTo>
                <a:lnTo>
                  <a:pt x="6440755" y="1110006"/>
                </a:lnTo>
                <a:lnTo>
                  <a:pt x="6461611" y="1091515"/>
                </a:lnTo>
                <a:lnTo>
                  <a:pt x="6474675" y="1078751"/>
                </a:lnTo>
                <a:lnTo>
                  <a:pt x="6479378" y="1074277"/>
                </a:lnTo>
                <a:lnTo>
                  <a:pt x="6476238" y="1079578"/>
                </a:lnTo>
                <a:lnTo>
                  <a:pt x="6466705" y="1094829"/>
                </a:lnTo>
                <a:lnTo>
                  <a:pt x="6452390" y="1118909"/>
                </a:lnTo>
                <a:lnTo>
                  <a:pt x="6437895" y="1150505"/>
                </a:lnTo>
                <a:lnTo>
                  <a:pt x="6426500" y="1186289"/>
                </a:lnTo>
                <a:lnTo>
                  <a:pt x="6421499" y="1221516"/>
                </a:lnTo>
                <a:lnTo>
                  <a:pt x="6424043" y="1253062"/>
                </a:lnTo>
                <a:lnTo>
                  <a:pt x="6434722" y="1277248"/>
                </a:lnTo>
                <a:lnTo>
                  <a:pt x="6451698" y="1290688"/>
                </a:lnTo>
                <a:lnTo>
                  <a:pt x="6474967" y="1293379"/>
                </a:lnTo>
                <a:lnTo>
                  <a:pt x="6502727" y="1285745"/>
                </a:lnTo>
                <a:lnTo>
                  <a:pt x="6532591" y="1269552"/>
                </a:lnTo>
                <a:lnTo>
                  <a:pt x="6561901" y="1247677"/>
                </a:lnTo>
                <a:lnTo>
                  <a:pt x="6588067" y="1223738"/>
                </a:lnTo>
                <a:lnTo>
                  <a:pt x="6608912" y="1201620"/>
                </a:lnTo>
                <a:lnTo>
                  <a:pt x="6622946" y="1184971"/>
                </a:lnTo>
                <a:lnTo>
                  <a:pt x="6629570" y="1176729"/>
                </a:lnTo>
                <a:lnTo>
                  <a:pt x="6629142" y="1178738"/>
                </a:lnTo>
                <a:lnTo>
                  <a:pt x="6622940" y="1191511"/>
                </a:lnTo>
                <a:lnTo>
                  <a:pt x="6612992" y="1214162"/>
                </a:lnTo>
                <a:lnTo>
                  <a:pt x="6601813" y="1244520"/>
                </a:lnTo>
                <a:lnTo>
                  <a:pt x="6592076" y="1279414"/>
                </a:lnTo>
                <a:lnTo>
                  <a:pt x="6586270" y="1315082"/>
                </a:lnTo>
                <a:lnTo>
                  <a:pt x="6586370" y="1347663"/>
                </a:lnTo>
                <a:lnTo>
                  <a:pt x="6593585" y="1373695"/>
                </a:lnTo>
                <a:lnTo>
                  <a:pt x="6608199" y="1390569"/>
                </a:lnTo>
                <a:lnTo>
                  <a:pt x="6629535" y="1396866"/>
                </a:lnTo>
                <a:lnTo>
                  <a:pt x="6656040" y="1392541"/>
                </a:lnTo>
                <a:lnTo>
                  <a:pt x="6685492" y="1378929"/>
                </a:lnTo>
                <a:lnTo>
                  <a:pt x="6715285" y="1358574"/>
                </a:lnTo>
                <a:lnTo>
                  <a:pt x="6742767" y="1334895"/>
                </a:lnTo>
                <a:lnTo>
                  <a:pt x="6765590" y="1311742"/>
                </a:lnTo>
                <a:lnTo>
                  <a:pt x="6782008" y="1292900"/>
                </a:lnTo>
                <a:lnTo>
                  <a:pt x="6791110" y="1281590"/>
                </a:lnTo>
                <a:lnTo>
                  <a:pt x="6792933" y="1280055"/>
                </a:lnTo>
                <a:lnTo>
                  <a:pt x="6788463" y="1289270"/>
                </a:lnTo>
                <a:lnTo>
                  <a:pt x="6779502" y="1308811"/>
                </a:lnTo>
                <a:lnTo>
                  <a:pt x="6768437" y="1336910"/>
                </a:lnTo>
                <a:lnTo>
                  <a:pt x="6757927" y="1370691"/>
                </a:lnTo>
                <a:lnTo>
                  <a:pt x="6750560" y="1406536"/>
                </a:lnTo>
                <a:lnTo>
                  <a:pt x="6748515" y="1440560"/>
                </a:lnTo>
                <a:lnTo>
                  <a:pt x="6753279" y="1469115"/>
                </a:lnTo>
                <a:lnTo>
                  <a:pt x="6765455" y="1489264"/>
                </a:lnTo>
                <a:lnTo>
                  <a:pt x="6784683" y="1499161"/>
                </a:lnTo>
                <a:lnTo>
                  <a:pt x="6809684" y="1498295"/>
                </a:lnTo>
                <a:lnTo>
                  <a:pt x="6838431" y="1487550"/>
                </a:lnTo>
                <a:lnTo>
                  <a:pt x="6868409" y="1469098"/>
                </a:lnTo>
                <a:lnTo>
                  <a:pt x="6896945" y="1446110"/>
                </a:lnTo>
                <a:lnTo>
                  <a:pt x="6921550" y="1422348"/>
                </a:lnTo>
                <a:lnTo>
                  <a:pt x="6939274" y="1400634"/>
                </a:lnTo>
                <a:lnTo>
                  <a:pt x="6948551" y="1385017"/>
                </a:lnTo>
                <a:lnTo>
                  <a:pt x="6949995" y="1379051"/>
                </a:lnTo>
                <a:lnTo>
                  <a:pt x="6945836" y="1383505"/>
                </a:lnTo>
                <a:lnTo>
                  <a:pt x="6938106" y="1399393"/>
                </a:lnTo>
                <a:lnTo>
                  <a:pt x="6929516" y="1425800"/>
                </a:lnTo>
                <a:lnTo>
                  <a:pt x="6923406" y="1459426"/>
                </a:lnTo>
                <a:lnTo>
                  <a:pt x="6920481" y="1495938"/>
                </a:lnTo>
                <a:lnTo>
                  <a:pt x="6922070" y="1531199"/>
                </a:lnTo>
                <a:lnTo>
                  <a:pt x="6929294" y="1561196"/>
                </a:lnTo>
                <a:lnTo>
                  <a:pt x="6942545" y="1582600"/>
                </a:lnTo>
                <a:lnTo>
                  <a:pt x="6961429" y="1593200"/>
                </a:lnTo>
                <a:lnTo>
                  <a:pt x="6984820" y="1592186"/>
                </a:lnTo>
                <a:lnTo>
                  <a:pt x="7011009" y="1580261"/>
                </a:lnTo>
                <a:lnTo>
                  <a:pt x="7037919" y="1559544"/>
                </a:lnTo>
                <a:lnTo>
                  <a:pt x="7063384" y="1533297"/>
                </a:lnTo>
                <a:lnTo>
                  <a:pt x="7085422" y="1505501"/>
                </a:lnTo>
                <a:lnTo>
                  <a:pt x="7102499" y="1480338"/>
                </a:lnTo>
                <a:lnTo>
                  <a:pt x="7113724" y="1461648"/>
                </a:lnTo>
                <a:lnTo>
                  <a:pt x="7118967" y="1452430"/>
                </a:lnTo>
                <a:lnTo>
                  <a:pt x="7118876" y="1454452"/>
                </a:lnTo>
                <a:lnTo>
                  <a:pt x="7114792" y="1468020"/>
                </a:lnTo>
                <a:lnTo>
                  <a:pt x="7108575" y="1491941"/>
                </a:lnTo>
                <a:lnTo>
                  <a:pt x="7102362" y="1523675"/>
                </a:lnTo>
                <a:lnTo>
                  <a:pt x="7098290" y="1559667"/>
                </a:lnTo>
                <a:lnTo>
                  <a:pt x="7098216" y="1595810"/>
                </a:lnTo>
                <a:lnTo>
                  <a:pt x="7103481" y="1627975"/>
                </a:lnTo>
                <a:lnTo>
                  <a:pt x="7114728" y="1652552"/>
                </a:lnTo>
                <a:lnTo>
                  <a:pt x="7131825" y="1666917"/>
                </a:lnTo>
                <a:lnTo>
                  <a:pt x="7153879" y="1669771"/>
                </a:lnTo>
                <a:lnTo>
                  <a:pt x="7179353" y="1661314"/>
                </a:lnTo>
                <a:lnTo>
                  <a:pt x="7206265" y="1643214"/>
                </a:lnTo>
                <a:lnTo>
                  <a:pt x="7232447" y="1618393"/>
                </a:lnTo>
                <a:lnTo>
                  <a:pt x="7255825" y="1590647"/>
                </a:lnTo>
                <a:lnTo>
                  <a:pt x="7274689" y="1564152"/>
                </a:lnTo>
                <a:lnTo>
                  <a:pt x="7287918" y="1542921"/>
                </a:lnTo>
                <a:lnTo>
                  <a:pt x="7295120" y="1530282"/>
                </a:lnTo>
                <a:lnTo>
                  <a:pt x="7296690" y="1528448"/>
                </a:lnTo>
                <a:lnTo>
                  <a:pt x="7293751" y="1538227"/>
                </a:lnTo>
                <a:lnTo>
                  <a:pt x="7288016" y="1558918"/>
                </a:lnTo>
                <a:lnTo>
                  <a:pt x="7281558" y="1588401"/>
                </a:lnTo>
                <a:lnTo>
                  <a:pt x="7276547" y="1623413"/>
                </a:lnTo>
                <a:lnTo>
                  <a:pt x="7274962" y="1659975"/>
                </a:lnTo>
                <a:lnTo>
                  <a:pt x="7278338" y="1693904"/>
                </a:lnTo>
                <a:lnTo>
                  <a:pt x="7287567" y="1721359"/>
                </a:lnTo>
                <a:lnTo>
                  <a:pt x="7302777" y="1739342"/>
                </a:lnTo>
                <a:lnTo>
                  <a:pt x="7323321" y="1746086"/>
                </a:lnTo>
                <a:lnTo>
                  <a:pt x="7347858" y="1741284"/>
                </a:lnTo>
                <a:lnTo>
                  <a:pt x="7374528" y="1726129"/>
                </a:lnTo>
                <a:lnTo>
                  <a:pt x="7401195" y="1703161"/>
                </a:lnTo>
                <a:lnTo>
                  <a:pt x="7425720" y="1675934"/>
                </a:lnTo>
                <a:lnTo>
                  <a:pt x="7445224" y="1647230"/>
                </a:lnTo>
                <a:lnTo>
                  <a:pt x="7457404" y="1622193"/>
                </a:lnTo>
                <a:lnTo>
                  <a:pt x="7462406" y="1605170"/>
                </a:lnTo>
                <a:lnTo>
                  <a:pt x="7462232" y="1597288"/>
                </a:lnTo>
                <a:lnTo>
                  <a:pt x="7458520" y="1602145"/>
                </a:lnTo>
                <a:lnTo>
                  <a:pt x="7454012" y="1619672"/>
                </a:lnTo>
                <a:lnTo>
                  <a:pt x="7453096" y="1647291"/>
                </a:lnTo>
                <a:lnTo>
                  <a:pt x="7454407" y="1681333"/>
                </a:lnTo>
                <a:lnTo>
                  <a:pt x="7459062" y="1717663"/>
                </a:lnTo>
                <a:lnTo>
                  <a:pt x="7467877" y="1751845"/>
                </a:lnTo>
                <a:lnTo>
                  <a:pt x="7481122" y="1779718"/>
                </a:lnTo>
                <a:lnTo>
                  <a:pt x="7498494" y="1797945"/>
                </a:lnTo>
                <a:lnTo>
                  <a:pt x="7519153" y="1804440"/>
                </a:lnTo>
                <a:lnTo>
                  <a:pt x="7541833" y="1798641"/>
                </a:lnTo>
                <a:lnTo>
                  <a:pt x="7565003" y="1781587"/>
                </a:lnTo>
                <a:lnTo>
                  <a:pt x="7587071" y="1755778"/>
                </a:lnTo>
                <a:lnTo>
                  <a:pt x="7606585" y="1724851"/>
                </a:lnTo>
                <a:lnTo>
                  <a:pt x="7622429" y="1693110"/>
                </a:lnTo>
                <a:lnTo>
                  <a:pt x="7633960" y="1664963"/>
                </a:lnTo>
                <a:lnTo>
                  <a:pt x="7641098" y="1644352"/>
                </a:lnTo>
                <a:lnTo>
                  <a:pt x="7644333" y="1634240"/>
                </a:lnTo>
                <a:lnTo>
                  <a:pt x="7644663" y="1636224"/>
                </a:lnTo>
                <a:lnTo>
                  <a:pt x="7643462" y="1650331"/>
                </a:lnTo>
                <a:lnTo>
                  <a:pt x="7642306" y="1675010"/>
                </a:lnTo>
                <a:lnTo>
                  <a:pt x="7642761" y="1707337"/>
                </a:lnTo>
                <a:lnTo>
                  <a:pt x="7646187" y="1743395"/>
                </a:lnTo>
                <a:lnTo>
                  <a:pt x="7653557" y="1778780"/>
                </a:lnTo>
                <a:lnTo>
                  <a:pt x="7665330" y="1809178"/>
                </a:lnTo>
                <a:lnTo>
                  <a:pt x="7681395" y="1830922"/>
                </a:lnTo>
                <a:lnTo>
                  <a:pt x="7701081" y="1841468"/>
                </a:lnTo>
                <a:lnTo>
                  <a:pt x="7723249" y="1839730"/>
                </a:lnTo>
                <a:lnTo>
                  <a:pt x="7746434" y="1826217"/>
                </a:lnTo>
                <a:lnTo>
                  <a:pt x="7769041" y="1802970"/>
                </a:lnTo>
                <a:lnTo>
                  <a:pt x="7789551" y="1773292"/>
                </a:lnTo>
                <a:lnTo>
                  <a:pt x="7806715" y="1741326"/>
                </a:lnTo>
                <a:lnTo>
                  <a:pt x="7819721" y="1711508"/>
                </a:lnTo>
                <a:lnTo>
                  <a:pt x="7828297" y="1687999"/>
                </a:lnTo>
                <a:lnTo>
                  <a:pt x="7832745" y="1674136"/>
                </a:lnTo>
                <a:lnTo>
                  <a:pt x="7833906" y="1672006"/>
                </a:lnTo>
                <a:lnTo>
                  <a:pt x="7833046" y="1682168"/>
                </a:lnTo>
                <a:lnTo>
                  <a:pt x="7831696" y="1703586"/>
                </a:lnTo>
                <a:lnTo>
                  <a:pt x="7831449" y="1733760"/>
                </a:lnTo>
                <a:lnTo>
                  <a:pt x="7833755" y="1769051"/>
                </a:lnTo>
                <a:lnTo>
                  <a:pt x="7839731" y="1805156"/>
                </a:lnTo>
                <a:lnTo>
                  <a:pt x="7850021" y="1837667"/>
                </a:lnTo>
                <a:lnTo>
                  <a:pt x="7864703" y="1862642"/>
                </a:lnTo>
                <a:lnTo>
                  <a:pt x="7883288" y="1877118"/>
                </a:lnTo>
                <a:lnTo>
                  <a:pt x="7904779" y="1879498"/>
                </a:lnTo>
                <a:lnTo>
                  <a:pt x="7927799" y="1869755"/>
                </a:lnTo>
                <a:lnTo>
                  <a:pt x="7950776" y="1849440"/>
                </a:lnTo>
                <a:lnTo>
                  <a:pt x="7972141" y="1821477"/>
                </a:lnTo>
                <a:lnTo>
                  <a:pt x="7990535" y="1789783"/>
                </a:lnTo>
                <a:lnTo>
                  <a:pt x="8004986" y="1758762"/>
                </a:lnTo>
                <a:lnTo>
                  <a:pt x="8015033" y="1732728"/>
                </a:lnTo>
                <a:lnTo>
                  <a:pt x="8020788" y="1715349"/>
                </a:lnTo>
                <a:lnTo>
                  <a:pt x="8022922" y="1709166"/>
                </a:lnTo>
                <a:lnTo>
                  <a:pt x="8022575" y="1715268"/>
                </a:lnTo>
                <a:lnTo>
                  <a:pt x="8021210" y="1733145"/>
                </a:lnTo>
                <a:lnTo>
                  <a:pt x="8020423" y="1760757"/>
                </a:lnTo>
                <a:lnTo>
                  <a:pt x="8021734" y="1794798"/>
                </a:lnTo>
                <a:lnTo>
                  <a:pt x="8026390" y="1831129"/>
                </a:lnTo>
                <a:lnTo>
                  <a:pt x="8035204" y="1865310"/>
                </a:lnTo>
                <a:lnTo>
                  <a:pt x="8048449" y="1893184"/>
                </a:lnTo>
                <a:lnTo>
                  <a:pt x="8065821" y="1911411"/>
                </a:lnTo>
                <a:lnTo>
                  <a:pt x="8086480" y="1917905"/>
                </a:lnTo>
                <a:lnTo>
                  <a:pt x="8109160" y="1912107"/>
                </a:lnTo>
                <a:lnTo>
                  <a:pt x="8132330" y="1895053"/>
                </a:lnTo>
                <a:lnTo>
                  <a:pt x="8154398" y="1869243"/>
                </a:lnTo>
                <a:lnTo>
                  <a:pt x="8174035" y="1837738"/>
                </a:lnTo>
                <a:lnTo>
                  <a:pt x="8188574" y="1805216"/>
                </a:lnTo>
                <a:lnTo>
                  <a:pt x="8197571" y="1776416"/>
                </a:lnTo>
                <a:lnTo>
                  <a:pt x="8201705" y="1754229"/>
                </a:lnTo>
                <a:lnTo>
                  <a:pt x="8202108" y="1743112"/>
                </a:lnTo>
                <a:lnTo>
                  <a:pt x="8200670" y="1744784"/>
                </a:lnTo>
                <a:lnTo>
                  <a:pt x="8201200" y="1758926"/>
                </a:lnTo>
                <a:lnTo>
                  <a:pt x="8203190" y="1783548"/>
                </a:lnTo>
                <a:lnTo>
                  <a:pt x="8207752" y="1815554"/>
                </a:lnTo>
                <a:lnTo>
                  <a:pt x="8215734" y="1850883"/>
                </a:lnTo>
                <a:lnTo>
                  <a:pt x="8227543" y="1885045"/>
                </a:lnTo>
                <a:lnTo>
                  <a:pt x="8243085" y="1913701"/>
                </a:lnTo>
                <a:lnTo>
                  <a:pt x="8261784" y="1933228"/>
                </a:lnTo>
                <a:lnTo>
                  <a:pt x="8282651" y="1941189"/>
                </a:lnTo>
                <a:lnTo>
                  <a:pt x="8304417" y="1936650"/>
                </a:lnTo>
                <a:lnTo>
                  <a:pt x="8325696" y="1920302"/>
                </a:lnTo>
                <a:lnTo>
                  <a:pt x="8345164" y="1894371"/>
                </a:lnTo>
                <a:lnTo>
                  <a:pt x="8361734" y="1862327"/>
                </a:lnTo>
                <a:lnTo>
                  <a:pt x="8374695" y="1828437"/>
                </a:lnTo>
                <a:lnTo>
                  <a:pt x="8383805" y="1797207"/>
                </a:lnTo>
                <a:lnTo>
                  <a:pt x="8389323" y="1772795"/>
                </a:lnTo>
                <a:lnTo>
                  <a:pt x="8391972" y="1758476"/>
                </a:lnTo>
                <a:lnTo>
                  <a:pt x="8392853" y="1756212"/>
                </a:lnTo>
                <a:lnTo>
                  <a:pt x="8393293" y="1766397"/>
                </a:lnTo>
                <a:lnTo>
                  <a:pt x="8394677" y="1787810"/>
                </a:lnTo>
                <a:lnTo>
                  <a:pt x="8398268" y="1817768"/>
                </a:lnTo>
                <a:lnTo>
                  <a:pt x="8405042" y="1852479"/>
                </a:lnTo>
                <a:lnTo>
                  <a:pt x="8415560" y="1887532"/>
                </a:lnTo>
                <a:lnTo>
                  <a:pt x="8429899" y="1918472"/>
                </a:lnTo>
                <a:lnTo>
                  <a:pt x="8447637" y="1941380"/>
                </a:lnTo>
                <a:lnTo>
                  <a:pt x="8467912" y="1953378"/>
                </a:lnTo>
                <a:lnTo>
                  <a:pt x="8489530" y="1953009"/>
                </a:lnTo>
                <a:lnTo>
                  <a:pt x="8511125" y="1940422"/>
                </a:lnTo>
                <a:lnTo>
                  <a:pt x="8531333" y="1917353"/>
                </a:lnTo>
                <a:lnTo>
                  <a:pt x="8548969" y="1886902"/>
                </a:lnTo>
                <a:lnTo>
                  <a:pt x="8563185" y="1853126"/>
                </a:lnTo>
                <a:lnTo>
                  <a:pt x="8573574" y="1820518"/>
                </a:lnTo>
                <a:lnTo>
                  <a:pt x="8580230" y="1793416"/>
                </a:lnTo>
                <a:lnTo>
                  <a:pt x="8583730" y="1775443"/>
                </a:lnTo>
                <a:lnTo>
                  <a:pt x="8585061" y="1769036"/>
                </a:lnTo>
                <a:lnTo>
                  <a:pt x="8585493" y="1775129"/>
                </a:lnTo>
                <a:lnTo>
                  <a:pt x="8586412" y="1793030"/>
                </a:lnTo>
                <a:lnTo>
                  <a:pt x="8589142" y="1820516"/>
                </a:lnTo>
                <a:lnTo>
                  <a:pt x="8594769" y="1854113"/>
                </a:lnTo>
                <a:lnTo>
                  <a:pt x="8604006" y="1889557"/>
                </a:lnTo>
                <a:lnTo>
                  <a:pt x="8617095" y="1922341"/>
                </a:lnTo>
                <a:lnTo>
                  <a:pt x="8633775" y="1948307"/>
                </a:lnTo>
                <a:lnTo>
                  <a:pt x="8653324" y="1964180"/>
                </a:lnTo>
                <a:lnTo>
                  <a:pt x="8674641" y="1967998"/>
                </a:lnTo>
                <a:lnTo>
                  <a:pt x="8696399" y="1959366"/>
                </a:lnTo>
                <a:lnTo>
                  <a:pt x="8717213" y="1939507"/>
                </a:lnTo>
                <a:lnTo>
                  <a:pt x="8735820" y="1911103"/>
                </a:lnTo>
                <a:lnTo>
                  <a:pt x="8751245" y="1877946"/>
                </a:lnTo>
                <a:lnTo>
                  <a:pt x="8762924" y="1844447"/>
                </a:lnTo>
                <a:lnTo>
                  <a:pt x="8770784" y="1815061"/>
                </a:lnTo>
                <a:lnTo>
                  <a:pt x="8775243" y="1793707"/>
                </a:lnTo>
                <a:lnTo>
                  <a:pt x="8777167" y="1783262"/>
                </a:lnTo>
                <a:lnTo>
                  <a:pt x="8777747" y="1785185"/>
                </a:lnTo>
                <a:lnTo>
                  <a:pt x="8778350" y="1799326"/>
                </a:lnTo>
                <a:lnTo>
                  <a:pt x="8780340" y="1823949"/>
                </a:lnTo>
                <a:lnTo>
                  <a:pt x="8784902" y="1855954"/>
                </a:lnTo>
                <a:lnTo>
                  <a:pt x="8792884" y="1891283"/>
                </a:lnTo>
                <a:lnTo>
                  <a:pt x="8804693" y="1925446"/>
                </a:lnTo>
                <a:lnTo>
                  <a:pt x="8820235" y="1954102"/>
                </a:lnTo>
                <a:lnTo>
                  <a:pt x="8838934" y="1973629"/>
                </a:lnTo>
                <a:lnTo>
                  <a:pt x="8859801" y="1981590"/>
                </a:lnTo>
                <a:lnTo>
                  <a:pt x="8881748" y="1977043"/>
                </a:lnTo>
                <a:lnTo>
                  <a:pt x="8904095" y="1960456"/>
                </a:lnTo>
                <a:lnTo>
                  <a:pt x="8923805" y="1934035"/>
                </a:lnTo>
                <a:lnTo>
                  <a:pt x="8939523" y="1901292"/>
                </a:lnTo>
                <a:lnTo>
                  <a:pt x="8950552" y="1865927"/>
                </a:lnTo>
                <a:lnTo>
                  <a:pt x="8956899" y="1833520"/>
                </a:lnTo>
                <a:lnTo>
                  <a:pt x="8959495" y="1808407"/>
                </a:lnTo>
                <a:lnTo>
                  <a:pt x="8960850" y="1793902"/>
                </a:lnTo>
                <a:lnTo>
                  <a:pt x="8961524" y="1791562"/>
                </a:lnTo>
                <a:lnTo>
                  <a:pt x="8962876" y="1801661"/>
                </a:lnTo>
                <a:lnTo>
                  <a:pt x="8966175" y="1822859"/>
                </a:lnTo>
                <a:lnTo>
                  <a:pt x="8972439" y="1852371"/>
                </a:lnTo>
                <a:lnTo>
                  <a:pt x="8982299" y="1886332"/>
                </a:lnTo>
                <a:lnTo>
                  <a:pt x="8995920" y="1920300"/>
                </a:lnTo>
                <a:lnTo>
                  <a:pt x="9012977" y="1949832"/>
                </a:lnTo>
                <a:lnTo>
                  <a:pt x="9032699" y="1971059"/>
                </a:lnTo>
                <a:lnTo>
                  <a:pt x="9053968" y="1981195"/>
                </a:lnTo>
                <a:lnTo>
                  <a:pt x="9075466" y="1978893"/>
                </a:lnTo>
                <a:lnTo>
                  <a:pt x="9095845" y="1964424"/>
                </a:lnTo>
                <a:lnTo>
                  <a:pt x="9113902" y="1939638"/>
                </a:lnTo>
                <a:lnTo>
                  <a:pt x="9128735" y="1907729"/>
                </a:lnTo>
                <a:lnTo>
                  <a:pt x="9139863" y="1872814"/>
                </a:lnTo>
                <a:lnTo>
                  <a:pt x="9147286" y="1839403"/>
                </a:lnTo>
                <a:lnTo>
                  <a:pt x="9151483" y="1811809"/>
                </a:lnTo>
                <a:lnTo>
                  <a:pt x="9153356" y="1793590"/>
                </a:lnTo>
                <a:lnTo>
                  <a:pt x="9154107" y="1787083"/>
                </a:lnTo>
                <a:lnTo>
                  <a:pt x="9155083" y="1793107"/>
                </a:lnTo>
                <a:lnTo>
                  <a:pt x="9157605" y="1810849"/>
                </a:lnTo>
                <a:lnTo>
                  <a:pt x="9162789" y="1837975"/>
                </a:lnTo>
                <a:lnTo>
                  <a:pt x="9171408" y="1870929"/>
                </a:lnTo>
                <a:lnTo>
                  <a:pt x="9183788" y="1905401"/>
                </a:lnTo>
                <a:lnTo>
                  <a:pt x="9199764" y="1936881"/>
                </a:lnTo>
                <a:lnTo>
                  <a:pt x="9218708" y="1961249"/>
                </a:lnTo>
                <a:lnTo>
                  <a:pt x="9239601" y="1975308"/>
                </a:lnTo>
                <a:lnTo>
                  <a:pt x="9261175" y="1977203"/>
                </a:lnTo>
                <a:lnTo>
                  <a:pt x="9282071" y="1966659"/>
                </a:lnTo>
                <a:lnTo>
                  <a:pt x="9301020" y="1945017"/>
                </a:lnTo>
                <a:lnTo>
                  <a:pt x="9317004" y="1915060"/>
                </a:lnTo>
                <a:lnTo>
                  <a:pt x="9329391" y="1880654"/>
                </a:lnTo>
                <a:lnTo>
                  <a:pt x="9338019" y="1846240"/>
                </a:lnTo>
                <a:lnTo>
                  <a:pt x="9343210" y="1816264"/>
                </a:lnTo>
                <a:lnTo>
                  <a:pt x="9345736" y="1794591"/>
                </a:lnTo>
                <a:lnTo>
                  <a:pt x="9346715" y="1784010"/>
                </a:lnTo>
                <a:lnTo>
                  <a:pt x="9347464" y="1785867"/>
                </a:lnTo>
                <a:lnTo>
                  <a:pt x="9349333" y="1799892"/>
                </a:lnTo>
                <a:lnTo>
                  <a:pt x="9353525" y="1824233"/>
                </a:lnTo>
                <a:lnTo>
                  <a:pt x="9360939" y="1855697"/>
                </a:lnTo>
                <a:lnTo>
                  <a:pt x="9372059" y="1890167"/>
                </a:lnTo>
                <a:lnTo>
                  <a:pt x="9386885" y="1923133"/>
                </a:lnTo>
                <a:lnTo>
                  <a:pt x="9404935" y="1950282"/>
                </a:lnTo>
                <a:lnTo>
                  <a:pt x="9425310" y="1968057"/>
                </a:lnTo>
                <a:lnTo>
                  <a:pt x="9446807" y="1974118"/>
                </a:lnTo>
                <a:lnTo>
                  <a:pt x="9468079" y="1967649"/>
                </a:lnTo>
                <a:lnTo>
                  <a:pt x="9487805" y="1949462"/>
                </a:lnTo>
                <a:lnTo>
                  <a:pt x="9504869" y="1921892"/>
                </a:lnTo>
                <a:lnTo>
                  <a:pt x="9518498" y="1888492"/>
                </a:lnTo>
                <a:lnTo>
                  <a:pt x="9528366" y="1853575"/>
                </a:lnTo>
                <a:lnTo>
                  <a:pt x="9534637" y="1821650"/>
                </a:lnTo>
                <a:lnTo>
                  <a:pt x="9537942" y="1796838"/>
                </a:lnTo>
                <a:lnTo>
                  <a:pt x="9539297" y="1782333"/>
                </a:lnTo>
                <a:lnTo>
                  <a:pt x="9539971" y="1779993"/>
                </a:lnTo>
                <a:lnTo>
                  <a:pt x="9541323" y="1790093"/>
                </a:lnTo>
                <a:lnTo>
                  <a:pt x="9544622" y="1811290"/>
                </a:lnTo>
                <a:lnTo>
                  <a:pt x="9550886" y="1840802"/>
                </a:lnTo>
                <a:lnTo>
                  <a:pt x="9560746" y="1874763"/>
                </a:lnTo>
                <a:lnTo>
                  <a:pt x="9574367" y="1908731"/>
                </a:lnTo>
                <a:lnTo>
                  <a:pt x="9591424" y="1938263"/>
                </a:lnTo>
                <a:lnTo>
                  <a:pt x="9611293" y="1959511"/>
                </a:lnTo>
                <a:lnTo>
                  <a:pt x="9632944" y="1969635"/>
                </a:lnTo>
                <a:lnTo>
                  <a:pt x="9654787" y="1967240"/>
                </a:lnTo>
                <a:lnTo>
                  <a:pt x="9675329" y="1952499"/>
                </a:lnTo>
                <a:lnTo>
                  <a:pt x="9693262" y="1927274"/>
                </a:lnTo>
                <a:lnTo>
                  <a:pt x="9707636" y="1894943"/>
                </a:lnTo>
                <a:lnTo>
                  <a:pt x="9718011" y="1859723"/>
                </a:lnTo>
                <a:lnTo>
                  <a:pt x="9724669" y="1826151"/>
                </a:lnTo>
                <a:lnTo>
                  <a:pt x="9728235" y="1798468"/>
                </a:lnTo>
                <a:lnTo>
                  <a:pt x="9729692" y="1780209"/>
                </a:lnTo>
                <a:lnTo>
                  <a:pt x="9730294" y="1773687"/>
                </a:lnTo>
                <a:lnTo>
                  <a:pt x="9731408" y="1779686"/>
                </a:lnTo>
                <a:lnTo>
                  <a:pt x="9734334" y="1797365"/>
                </a:lnTo>
                <a:lnTo>
                  <a:pt x="9740136" y="1824365"/>
                </a:lnTo>
                <a:lnTo>
                  <a:pt x="9749505" y="1857114"/>
                </a:lnTo>
                <a:lnTo>
                  <a:pt x="9762668" y="1891294"/>
                </a:lnTo>
                <a:lnTo>
                  <a:pt x="9779359" y="1922401"/>
                </a:lnTo>
                <a:lnTo>
                  <a:pt x="9798853" y="1946331"/>
                </a:lnTo>
                <a:lnTo>
                  <a:pt x="9820062" y="1959910"/>
                </a:lnTo>
                <a:lnTo>
                  <a:pt x="9841674" y="1961313"/>
                </a:lnTo>
                <a:lnTo>
                  <a:pt x="9862324" y="1950295"/>
                </a:lnTo>
                <a:lnTo>
                  <a:pt x="9880774" y="1928226"/>
                </a:lnTo>
                <a:lnTo>
                  <a:pt x="9896070" y="1897913"/>
                </a:lnTo>
                <a:lnTo>
                  <a:pt x="9907669" y="1863233"/>
                </a:lnTo>
                <a:lnTo>
                  <a:pt x="9915508" y="1828631"/>
                </a:lnTo>
                <a:lnTo>
                  <a:pt x="9920014" y="1798544"/>
                </a:lnTo>
                <a:lnTo>
                  <a:pt x="9922045" y="1776819"/>
                </a:lnTo>
                <a:lnTo>
                  <a:pt x="9922782" y="1766217"/>
                </a:lnTo>
                <a:lnTo>
                  <a:pt x="9923573" y="1768056"/>
                </a:lnTo>
                <a:lnTo>
                  <a:pt x="9925762" y="1782034"/>
                </a:lnTo>
                <a:lnTo>
                  <a:pt x="9930508" y="1806272"/>
                </a:lnTo>
                <a:lnTo>
                  <a:pt x="9938639" y="1837558"/>
                </a:lnTo>
                <a:lnTo>
                  <a:pt x="9950542" y="1871765"/>
                </a:lnTo>
                <a:lnTo>
                  <a:pt x="9966117" y="1904384"/>
                </a:lnTo>
                <a:lnTo>
                  <a:pt x="9984782" y="1931114"/>
                </a:lnTo>
                <a:lnTo>
                  <a:pt x="10005557" y="1948420"/>
                </a:lnTo>
                <a:lnTo>
                  <a:pt x="10027187" y="1953990"/>
                </a:lnTo>
                <a:lnTo>
                  <a:pt x="10048306" y="1947038"/>
                </a:lnTo>
                <a:lnTo>
                  <a:pt x="10067612" y="1928406"/>
                </a:lnTo>
                <a:lnTo>
                  <a:pt x="10084042" y="1900453"/>
                </a:lnTo>
                <a:lnTo>
                  <a:pt x="10096905" y="1866751"/>
                </a:lnTo>
                <a:lnTo>
                  <a:pt x="10105974" y="1831618"/>
                </a:lnTo>
                <a:lnTo>
                  <a:pt x="10111515" y="1799558"/>
                </a:lnTo>
                <a:lnTo>
                  <a:pt x="10114252" y="1774676"/>
                </a:lnTo>
                <a:lnTo>
                  <a:pt x="10115275" y="1760144"/>
                </a:lnTo>
                <a:lnTo>
                  <a:pt x="10115896" y="1757788"/>
                </a:lnTo>
                <a:lnTo>
                  <a:pt x="10117478" y="1767853"/>
                </a:lnTo>
                <a:lnTo>
                  <a:pt x="10121260" y="1788969"/>
                </a:lnTo>
                <a:lnTo>
                  <a:pt x="10128196" y="1818330"/>
                </a:lnTo>
                <a:lnTo>
                  <a:pt x="10138829" y="1852057"/>
                </a:lnTo>
                <a:lnTo>
                  <a:pt x="10142168" y="1860872"/>
                </a:lnTo>
              </a:path>
            </a:pathLst>
          </a:custGeom>
          <a:ln w="28575">
            <a:solidFill>
              <a:srgbClr val="C00000"/>
            </a:solidFill>
            <a:prstDash val="solid"/>
            <a:tailEnd type="triangle"/>
          </a:ln>
        </p:spPr>
        <p:txBody>
          <a:bodyPr/>
          <a:lstStyle/>
          <a:p>
            <a:endParaRPr lang="en-US"/>
          </a:p>
        </p:txBody>
      </p:sp>
      <p:sp>
        <p:nvSpPr>
          <p:cNvPr id="6" name="Shape 3"/>
          <p:cNvSpPr/>
          <p:nvPr/>
        </p:nvSpPr>
        <p:spPr>
          <a:xfrm>
            <a:off x="909117" y="2084358"/>
            <a:ext cx="6209862" cy="879653"/>
          </a:xfrm>
          <a:custGeom>
            <a:avLst/>
            <a:gdLst/>
            <a:ahLst/>
            <a:cxnLst/>
            <a:rect l="l" t="t" r="r" b="b"/>
            <a:pathLst>
              <a:path w="6209862" h="879653">
                <a:moveTo>
                  <a:pt x="0" y="707587"/>
                </a:moveTo>
                <a:lnTo>
                  <a:pt x="17925" y="733058"/>
                </a:lnTo>
                <a:lnTo>
                  <a:pt x="38113" y="753696"/>
                </a:lnTo>
                <a:lnTo>
                  <a:pt x="59152" y="766042"/>
                </a:lnTo>
                <a:lnTo>
                  <a:pt x="79505" y="767897"/>
                </a:lnTo>
                <a:lnTo>
                  <a:pt x="97736" y="758661"/>
                </a:lnTo>
                <a:lnTo>
                  <a:pt x="112734" y="739421"/>
                </a:lnTo>
                <a:lnTo>
                  <a:pt x="123878" y="712789"/>
                </a:lnTo>
                <a:lnTo>
                  <a:pt x="131136" y="682500"/>
                </a:lnTo>
                <a:lnTo>
                  <a:pt x="135067" y="652848"/>
                </a:lnTo>
                <a:lnTo>
                  <a:pt x="136736" y="628028"/>
                </a:lnTo>
                <a:lnTo>
                  <a:pt x="137552" y="611501"/>
                </a:lnTo>
                <a:lnTo>
                  <a:pt x="139055" y="605465"/>
                </a:lnTo>
                <a:lnTo>
                  <a:pt x="142680" y="610520"/>
                </a:lnTo>
                <a:lnTo>
                  <a:pt x="149539" y="625579"/>
                </a:lnTo>
                <a:lnTo>
                  <a:pt x="160251" y="648030"/>
                </a:lnTo>
                <a:lnTo>
                  <a:pt x="174848" y="674138"/>
                </a:lnTo>
                <a:lnTo>
                  <a:pt x="192774" y="699609"/>
                </a:lnTo>
                <a:lnTo>
                  <a:pt x="212961" y="720247"/>
                </a:lnTo>
                <a:lnTo>
                  <a:pt x="234001" y="732593"/>
                </a:lnTo>
                <a:lnTo>
                  <a:pt x="254354" y="734448"/>
                </a:lnTo>
                <a:lnTo>
                  <a:pt x="272585" y="725211"/>
                </a:lnTo>
                <a:lnTo>
                  <a:pt x="287582" y="705972"/>
                </a:lnTo>
                <a:lnTo>
                  <a:pt x="298727" y="679339"/>
                </a:lnTo>
                <a:lnTo>
                  <a:pt x="305985" y="649051"/>
                </a:lnTo>
                <a:lnTo>
                  <a:pt x="309916" y="619399"/>
                </a:lnTo>
                <a:lnTo>
                  <a:pt x="311584" y="594579"/>
                </a:lnTo>
                <a:lnTo>
                  <a:pt x="312401" y="578052"/>
                </a:lnTo>
                <a:lnTo>
                  <a:pt x="313904" y="572016"/>
                </a:lnTo>
                <a:lnTo>
                  <a:pt x="317529" y="577071"/>
                </a:lnTo>
                <a:lnTo>
                  <a:pt x="324387" y="592130"/>
                </a:lnTo>
                <a:lnTo>
                  <a:pt x="335099" y="614581"/>
                </a:lnTo>
                <a:lnTo>
                  <a:pt x="349697" y="640688"/>
                </a:lnTo>
                <a:lnTo>
                  <a:pt x="367622" y="666159"/>
                </a:lnTo>
                <a:lnTo>
                  <a:pt x="387810" y="686798"/>
                </a:lnTo>
                <a:lnTo>
                  <a:pt x="408849" y="699143"/>
                </a:lnTo>
                <a:lnTo>
                  <a:pt x="429202" y="700998"/>
                </a:lnTo>
                <a:lnTo>
                  <a:pt x="447433" y="691762"/>
                </a:lnTo>
                <a:lnTo>
                  <a:pt x="462431" y="672522"/>
                </a:lnTo>
                <a:lnTo>
                  <a:pt x="473575" y="645890"/>
                </a:lnTo>
                <a:lnTo>
                  <a:pt x="480833" y="615601"/>
                </a:lnTo>
                <a:lnTo>
                  <a:pt x="484764" y="585949"/>
                </a:lnTo>
                <a:lnTo>
                  <a:pt x="486433" y="561130"/>
                </a:lnTo>
                <a:lnTo>
                  <a:pt x="487249" y="544603"/>
                </a:lnTo>
                <a:lnTo>
                  <a:pt x="488752" y="538567"/>
                </a:lnTo>
                <a:lnTo>
                  <a:pt x="492377" y="543622"/>
                </a:lnTo>
                <a:lnTo>
                  <a:pt x="499236" y="558680"/>
                </a:lnTo>
                <a:lnTo>
                  <a:pt x="509948" y="581132"/>
                </a:lnTo>
                <a:lnTo>
                  <a:pt x="524545" y="607239"/>
                </a:lnTo>
                <a:lnTo>
                  <a:pt x="542471" y="632710"/>
                </a:lnTo>
                <a:lnTo>
                  <a:pt x="562658" y="653349"/>
                </a:lnTo>
                <a:lnTo>
                  <a:pt x="583698" y="665694"/>
                </a:lnTo>
                <a:lnTo>
                  <a:pt x="604051" y="667549"/>
                </a:lnTo>
                <a:lnTo>
                  <a:pt x="622282" y="658313"/>
                </a:lnTo>
                <a:lnTo>
                  <a:pt x="637279" y="639073"/>
                </a:lnTo>
                <a:lnTo>
                  <a:pt x="648424" y="612441"/>
                </a:lnTo>
                <a:lnTo>
                  <a:pt x="655682" y="582152"/>
                </a:lnTo>
                <a:lnTo>
                  <a:pt x="659613" y="552500"/>
                </a:lnTo>
                <a:lnTo>
                  <a:pt x="661281" y="527680"/>
                </a:lnTo>
                <a:lnTo>
                  <a:pt x="662098" y="511154"/>
                </a:lnTo>
                <a:lnTo>
                  <a:pt x="663601" y="505117"/>
                </a:lnTo>
                <a:lnTo>
                  <a:pt x="667226" y="510173"/>
                </a:lnTo>
                <a:lnTo>
                  <a:pt x="674084" y="525231"/>
                </a:lnTo>
                <a:lnTo>
                  <a:pt x="684796" y="547682"/>
                </a:lnTo>
                <a:lnTo>
                  <a:pt x="699394" y="573790"/>
                </a:lnTo>
                <a:lnTo>
                  <a:pt x="717319" y="599261"/>
                </a:lnTo>
                <a:lnTo>
                  <a:pt x="737507" y="619899"/>
                </a:lnTo>
                <a:lnTo>
                  <a:pt x="758546" y="632245"/>
                </a:lnTo>
                <a:lnTo>
                  <a:pt x="778899" y="634100"/>
                </a:lnTo>
                <a:lnTo>
                  <a:pt x="797130" y="624864"/>
                </a:lnTo>
                <a:lnTo>
                  <a:pt x="812128" y="605624"/>
                </a:lnTo>
                <a:lnTo>
                  <a:pt x="823272" y="578992"/>
                </a:lnTo>
                <a:lnTo>
                  <a:pt x="830530" y="548703"/>
                </a:lnTo>
                <a:lnTo>
                  <a:pt x="834461" y="519051"/>
                </a:lnTo>
                <a:lnTo>
                  <a:pt x="836130" y="494231"/>
                </a:lnTo>
                <a:lnTo>
                  <a:pt x="836946" y="477704"/>
                </a:lnTo>
                <a:lnTo>
                  <a:pt x="838548" y="471649"/>
                </a:lnTo>
                <a:lnTo>
                  <a:pt x="842266" y="476672"/>
                </a:lnTo>
                <a:lnTo>
                  <a:pt x="849177" y="491693"/>
                </a:lnTo>
                <a:lnTo>
                  <a:pt x="859896" y="514169"/>
                </a:lnTo>
                <a:lnTo>
                  <a:pt x="874440" y="540321"/>
                </a:lnTo>
                <a:lnTo>
                  <a:pt x="892265" y="565861"/>
                </a:lnTo>
                <a:lnTo>
                  <a:pt x="912341" y="586607"/>
                </a:lnTo>
                <a:lnTo>
                  <a:pt x="933314" y="599066"/>
                </a:lnTo>
                <a:lnTo>
                  <a:pt x="953657" y="601031"/>
                </a:lnTo>
                <a:lnTo>
                  <a:pt x="971937" y="591893"/>
                </a:lnTo>
                <a:lnTo>
                  <a:pt x="987038" y="572735"/>
                </a:lnTo>
                <a:lnTo>
                  <a:pt x="998326" y="546163"/>
                </a:lnTo>
                <a:lnTo>
                  <a:pt x="1005748" y="515914"/>
                </a:lnTo>
                <a:lnTo>
                  <a:pt x="1009839" y="486284"/>
                </a:lnTo>
                <a:lnTo>
                  <a:pt x="1011641" y="461473"/>
                </a:lnTo>
                <a:lnTo>
                  <a:pt x="1012547" y="444951"/>
                </a:lnTo>
                <a:lnTo>
                  <a:pt x="1014082" y="438923"/>
                </a:lnTo>
                <a:lnTo>
                  <a:pt x="1017680" y="443998"/>
                </a:lnTo>
                <a:lnTo>
                  <a:pt x="1024457" y="459093"/>
                </a:lnTo>
                <a:lnTo>
                  <a:pt x="1035048" y="481602"/>
                </a:lnTo>
                <a:lnTo>
                  <a:pt x="1049504" y="507788"/>
                </a:lnTo>
                <a:lnTo>
                  <a:pt x="1067292" y="533355"/>
                </a:lnTo>
                <a:lnTo>
                  <a:pt x="1087368" y="554102"/>
                </a:lnTo>
                <a:lnTo>
                  <a:pt x="1108341" y="566561"/>
                </a:lnTo>
                <a:lnTo>
                  <a:pt x="1128683" y="568526"/>
                </a:lnTo>
                <a:lnTo>
                  <a:pt x="1146964" y="559388"/>
                </a:lnTo>
                <a:lnTo>
                  <a:pt x="1162065" y="540230"/>
                </a:lnTo>
                <a:lnTo>
                  <a:pt x="1173353" y="513658"/>
                </a:lnTo>
                <a:lnTo>
                  <a:pt x="1180774" y="483409"/>
                </a:lnTo>
                <a:lnTo>
                  <a:pt x="1184865" y="453779"/>
                </a:lnTo>
                <a:lnTo>
                  <a:pt x="1186668" y="428968"/>
                </a:lnTo>
                <a:lnTo>
                  <a:pt x="1187573" y="412446"/>
                </a:lnTo>
                <a:lnTo>
                  <a:pt x="1189109" y="406418"/>
                </a:lnTo>
                <a:lnTo>
                  <a:pt x="1192707" y="411493"/>
                </a:lnTo>
                <a:lnTo>
                  <a:pt x="1199484" y="426588"/>
                </a:lnTo>
                <a:lnTo>
                  <a:pt x="1210074" y="449097"/>
                </a:lnTo>
                <a:lnTo>
                  <a:pt x="1224531" y="475283"/>
                </a:lnTo>
                <a:lnTo>
                  <a:pt x="1242318" y="500850"/>
                </a:lnTo>
                <a:lnTo>
                  <a:pt x="1262394" y="521597"/>
                </a:lnTo>
                <a:lnTo>
                  <a:pt x="1283367" y="534056"/>
                </a:lnTo>
                <a:lnTo>
                  <a:pt x="1303710" y="536021"/>
                </a:lnTo>
                <a:lnTo>
                  <a:pt x="1321990" y="526883"/>
                </a:lnTo>
                <a:lnTo>
                  <a:pt x="1337091" y="507725"/>
                </a:lnTo>
                <a:lnTo>
                  <a:pt x="1348379" y="481153"/>
                </a:lnTo>
                <a:lnTo>
                  <a:pt x="1355801" y="450904"/>
                </a:lnTo>
                <a:lnTo>
                  <a:pt x="1359892" y="421274"/>
                </a:lnTo>
                <a:lnTo>
                  <a:pt x="1361694" y="396463"/>
                </a:lnTo>
                <a:lnTo>
                  <a:pt x="1362600" y="379941"/>
                </a:lnTo>
                <a:lnTo>
                  <a:pt x="1364135" y="373913"/>
                </a:lnTo>
                <a:lnTo>
                  <a:pt x="1367733" y="378988"/>
                </a:lnTo>
                <a:lnTo>
                  <a:pt x="1374510" y="394083"/>
                </a:lnTo>
                <a:lnTo>
                  <a:pt x="1385101" y="416592"/>
                </a:lnTo>
                <a:lnTo>
                  <a:pt x="1399557" y="442778"/>
                </a:lnTo>
                <a:lnTo>
                  <a:pt x="1417345" y="468345"/>
                </a:lnTo>
                <a:lnTo>
                  <a:pt x="1437421" y="489092"/>
                </a:lnTo>
                <a:lnTo>
                  <a:pt x="1458394" y="501551"/>
                </a:lnTo>
                <a:lnTo>
                  <a:pt x="1478736" y="503516"/>
                </a:lnTo>
                <a:lnTo>
                  <a:pt x="1497017" y="494379"/>
                </a:lnTo>
                <a:lnTo>
                  <a:pt x="1512118" y="475220"/>
                </a:lnTo>
                <a:lnTo>
                  <a:pt x="1523406" y="448648"/>
                </a:lnTo>
                <a:lnTo>
                  <a:pt x="1530827" y="418399"/>
                </a:lnTo>
                <a:lnTo>
                  <a:pt x="1534918" y="388769"/>
                </a:lnTo>
                <a:lnTo>
                  <a:pt x="1536721" y="363958"/>
                </a:lnTo>
                <a:lnTo>
                  <a:pt x="1537626" y="347436"/>
                </a:lnTo>
                <a:lnTo>
                  <a:pt x="1539162" y="341408"/>
                </a:lnTo>
                <a:lnTo>
                  <a:pt x="1542760" y="346483"/>
                </a:lnTo>
                <a:lnTo>
                  <a:pt x="1549537" y="361578"/>
                </a:lnTo>
                <a:lnTo>
                  <a:pt x="1560127" y="384087"/>
                </a:lnTo>
                <a:lnTo>
                  <a:pt x="1574584" y="410273"/>
                </a:lnTo>
                <a:lnTo>
                  <a:pt x="1592371" y="435840"/>
                </a:lnTo>
                <a:lnTo>
                  <a:pt x="1612447" y="456587"/>
                </a:lnTo>
                <a:lnTo>
                  <a:pt x="1633420" y="469046"/>
                </a:lnTo>
                <a:lnTo>
                  <a:pt x="1653763" y="471011"/>
                </a:lnTo>
                <a:lnTo>
                  <a:pt x="1672043" y="461874"/>
                </a:lnTo>
                <a:lnTo>
                  <a:pt x="1687144" y="442715"/>
                </a:lnTo>
                <a:lnTo>
                  <a:pt x="1698432" y="416143"/>
                </a:lnTo>
                <a:lnTo>
                  <a:pt x="1705854" y="385894"/>
                </a:lnTo>
                <a:lnTo>
                  <a:pt x="1709945" y="356264"/>
                </a:lnTo>
                <a:lnTo>
                  <a:pt x="1711747" y="331454"/>
                </a:lnTo>
                <a:lnTo>
                  <a:pt x="1712653" y="314931"/>
                </a:lnTo>
                <a:lnTo>
                  <a:pt x="1714188" y="308903"/>
                </a:lnTo>
                <a:lnTo>
                  <a:pt x="1717786" y="313978"/>
                </a:lnTo>
                <a:lnTo>
                  <a:pt x="1724563" y="329073"/>
                </a:lnTo>
                <a:lnTo>
                  <a:pt x="1735154" y="351582"/>
                </a:lnTo>
                <a:lnTo>
                  <a:pt x="1749610" y="377768"/>
                </a:lnTo>
                <a:lnTo>
                  <a:pt x="1767398" y="403335"/>
                </a:lnTo>
                <a:lnTo>
                  <a:pt x="1787474" y="424083"/>
                </a:lnTo>
                <a:lnTo>
                  <a:pt x="1808447" y="436542"/>
                </a:lnTo>
                <a:lnTo>
                  <a:pt x="1828789" y="438506"/>
                </a:lnTo>
                <a:lnTo>
                  <a:pt x="1847070" y="429369"/>
                </a:lnTo>
                <a:lnTo>
                  <a:pt x="1862171" y="410210"/>
                </a:lnTo>
                <a:lnTo>
                  <a:pt x="1873459" y="383638"/>
                </a:lnTo>
                <a:lnTo>
                  <a:pt x="1880880" y="353389"/>
                </a:lnTo>
                <a:lnTo>
                  <a:pt x="1884971" y="323759"/>
                </a:lnTo>
                <a:lnTo>
                  <a:pt x="1886760" y="298949"/>
                </a:lnTo>
                <a:lnTo>
                  <a:pt x="1886512" y="282560"/>
                </a:lnTo>
                <a:lnTo>
                  <a:pt x="1886817" y="276869"/>
                </a:lnTo>
                <a:lnTo>
                  <a:pt x="1889448" y="282410"/>
                </a:lnTo>
                <a:lnTo>
                  <a:pt x="1895677" y="297331"/>
                </a:lnTo>
                <a:lnTo>
                  <a:pt x="1906451" y="319541"/>
                </a:lnTo>
                <a:lnTo>
                  <a:pt x="1921822" y="345167"/>
                </a:lnTo>
                <a:lnTo>
                  <a:pt x="1941144" y="369596"/>
                </a:lnTo>
                <a:lnTo>
                  <a:pt x="1962454" y="389073"/>
                </a:lnTo>
                <a:lnTo>
                  <a:pt x="1984151" y="400223"/>
                </a:lnTo>
                <a:lnTo>
                  <a:pt x="2004576" y="400937"/>
                </a:lnTo>
                <a:lnTo>
                  <a:pt x="2022262" y="390695"/>
                </a:lnTo>
                <a:lnTo>
                  <a:pt x="2036160" y="370647"/>
                </a:lnTo>
                <a:lnTo>
                  <a:pt x="2045797" y="343434"/>
                </a:lnTo>
                <a:lnTo>
                  <a:pt x="2051350" y="312786"/>
                </a:lnTo>
                <a:lnTo>
                  <a:pt x="2053617" y="282961"/>
                </a:lnTo>
                <a:lnTo>
                  <a:pt x="2053895" y="258086"/>
                </a:lnTo>
                <a:lnTo>
                  <a:pt x="2053785" y="241540"/>
                </a:lnTo>
                <a:lnTo>
                  <a:pt x="2054948" y="235429"/>
                </a:lnTo>
                <a:lnTo>
                  <a:pt x="2058850" y="240273"/>
                </a:lnTo>
                <a:lnTo>
                  <a:pt x="2066540" y="254924"/>
                </a:lnTo>
                <a:lnTo>
                  <a:pt x="2078491" y="276741"/>
                </a:lnTo>
                <a:lnTo>
                  <a:pt x="2094526" y="301991"/>
                </a:lnTo>
                <a:lnTo>
                  <a:pt x="2113848" y="326419"/>
                </a:lnTo>
                <a:lnTo>
                  <a:pt x="2135158" y="345897"/>
                </a:lnTo>
                <a:lnTo>
                  <a:pt x="2156855" y="357047"/>
                </a:lnTo>
                <a:lnTo>
                  <a:pt x="2177280" y="357761"/>
                </a:lnTo>
                <a:lnTo>
                  <a:pt x="2194966" y="347519"/>
                </a:lnTo>
                <a:lnTo>
                  <a:pt x="2208864" y="327471"/>
                </a:lnTo>
                <a:lnTo>
                  <a:pt x="2218501" y="300258"/>
                </a:lnTo>
                <a:lnTo>
                  <a:pt x="2224054" y="269610"/>
                </a:lnTo>
                <a:lnTo>
                  <a:pt x="2226321" y="239785"/>
                </a:lnTo>
                <a:lnTo>
                  <a:pt x="2226599" y="214910"/>
                </a:lnTo>
                <a:lnTo>
                  <a:pt x="2226489" y="198364"/>
                </a:lnTo>
                <a:lnTo>
                  <a:pt x="2227652" y="192253"/>
                </a:lnTo>
                <a:lnTo>
                  <a:pt x="2231554" y="197097"/>
                </a:lnTo>
                <a:lnTo>
                  <a:pt x="2239244" y="211748"/>
                </a:lnTo>
                <a:lnTo>
                  <a:pt x="2251195" y="233565"/>
                </a:lnTo>
                <a:lnTo>
                  <a:pt x="2267230" y="258815"/>
                </a:lnTo>
                <a:lnTo>
                  <a:pt x="2286552" y="283243"/>
                </a:lnTo>
                <a:lnTo>
                  <a:pt x="2307862" y="302721"/>
                </a:lnTo>
                <a:lnTo>
                  <a:pt x="2329559" y="313871"/>
                </a:lnTo>
                <a:lnTo>
                  <a:pt x="2349765" y="314639"/>
                </a:lnTo>
                <a:lnTo>
                  <a:pt x="2367300" y="304584"/>
                </a:lnTo>
                <a:lnTo>
                  <a:pt x="2381457" y="284759"/>
                </a:lnTo>
                <a:lnTo>
                  <a:pt x="2392062" y="258188"/>
                </a:lnTo>
                <a:lnTo>
                  <a:pt x="2399252" y="228126"/>
                </a:lnTo>
                <a:lnTo>
                  <a:pt x="2403661" y="198625"/>
                </a:lnTo>
                <a:lnTo>
                  <a:pt x="2405547" y="173822"/>
                </a:lnTo>
                <a:lnTo>
                  <a:pt x="2406401" y="157294"/>
                </a:lnTo>
                <a:lnTo>
                  <a:pt x="2407918" y="151258"/>
                </a:lnTo>
                <a:lnTo>
                  <a:pt x="2411531" y="156318"/>
                </a:lnTo>
                <a:lnTo>
                  <a:pt x="2418353" y="171389"/>
                </a:lnTo>
                <a:lnTo>
                  <a:pt x="2429011" y="193864"/>
                </a:lnTo>
                <a:lnTo>
                  <a:pt x="2443547" y="220005"/>
                </a:lnTo>
                <a:lnTo>
                  <a:pt x="2461412" y="245518"/>
                </a:lnTo>
                <a:lnTo>
                  <a:pt x="2481551" y="266206"/>
                </a:lnTo>
                <a:lnTo>
                  <a:pt x="2502562" y="278604"/>
                </a:lnTo>
                <a:lnTo>
                  <a:pt x="2522910" y="280509"/>
                </a:lnTo>
                <a:lnTo>
                  <a:pt x="2541164" y="271319"/>
                </a:lnTo>
                <a:lnTo>
                  <a:pt x="2556207" y="252117"/>
                </a:lnTo>
                <a:lnTo>
                  <a:pt x="2567415" y="225513"/>
                </a:lnTo>
                <a:lnTo>
                  <a:pt x="2574745" y="195242"/>
                </a:lnTo>
                <a:lnTo>
                  <a:pt x="2578746" y="165598"/>
                </a:lnTo>
                <a:lnTo>
                  <a:pt x="2580473" y="140780"/>
                </a:lnTo>
                <a:lnTo>
                  <a:pt x="2581327" y="124252"/>
                </a:lnTo>
                <a:lnTo>
                  <a:pt x="2582844" y="118216"/>
                </a:lnTo>
                <a:lnTo>
                  <a:pt x="2586457" y="123276"/>
                </a:lnTo>
                <a:lnTo>
                  <a:pt x="2593279" y="138348"/>
                </a:lnTo>
                <a:lnTo>
                  <a:pt x="2603937" y="160822"/>
                </a:lnTo>
                <a:lnTo>
                  <a:pt x="2618473" y="186963"/>
                </a:lnTo>
                <a:lnTo>
                  <a:pt x="2636338" y="212477"/>
                </a:lnTo>
                <a:lnTo>
                  <a:pt x="2656477" y="233164"/>
                </a:lnTo>
                <a:lnTo>
                  <a:pt x="2677488" y="245562"/>
                </a:lnTo>
                <a:lnTo>
                  <a:pt x="2697836" y="247468"/>
                </a:lnTo>
                <a:lnTo>
                  <a:pt x="2716090" y="238278"/>
                </a:lnTo>
                <a:lnTo>
                  <a:pt x="2731133" y="219076"/>
                </a:lnTo>
                <a:lnTo>
                  <a:pt x="2742341" y="192471"/>
                </a:lnTo>
                <a:lnTo>
                  <a:pt x="2749671" y="162200"/>
                </a:lnTo>
                <a:lnTo>
                  <a:pt x="2753672" y="132556"/>
                </a:lnTo>
                <a:lnTo>
                  <a:pt x="2755399" y="107738"/>
                </a:lnTo>
                <a:lnTo>
                  <a:pt x="2756253" y="91211"/>
                </a:lnTo>
                <a:lnTo>
                  <a:pt x="2757770" y="85174"/>
                </a:lnTo>
                <a:lnTo>
                  <a:pt x="2761383" y="90235"/>
                </a:lnTo>
                <a:lnTo>
                  <a:pt x="2768205" y="105306"/>
                </a:lnTo>
                <a:lnTo>
                  <a:pt x="2778863" y="127781"/>
                </a:lnTo>
                <a:lnTo>
                  <a:pt x="2793399" y="153922"/>
                </a:lnTo>
                <a:lnTo>
                  <a:pt x="2811264" y="179435"/>
                </a:lnTo>
                <a:lnTo>
                  <a:pt x="2831403" y="200123"/>
                </a:lnTo>
                <a:lnTo>
                  <a:pt x="2852414" y="212520"/>
                </a:lnTo>
                <a:lnTo>
                  <a:pt x="2872762" y="214426"/>
                </a:lnTo>
                <a:lnTo>
                  <a:pt x="2891016" y="205236"/>
                </a:lnTo>
                <a:lnTo>
                  <a:pt x="2906059" y="186034"/>
                </a:lnTo>
                <a:lnTo>
                  <a:pt x="2917267" y="159430"/>
                </a:lnTo>
                <a:lnTo>
                  <a:pt x="2924597" y="129158"/>
                </a:lnTo>
                <a:lnTo>
                  <a:pt x="2928598" y="99515"/>
                </a:lnTo>
                <a:lnTo>
                  <a:pt x="2930325" y="74697"/>
                </a:lnTo>
                <a:lnTo>
                  <a:pt x="2931179" y="58169"/>
                </a:lnTo>
                <a:lnTo>
                  <a:pt x="2932696" y="52133"/>
                </a:lnTo>
                <a:lnTo>
                  <a:pt x="2936309" y="57193"/>
                </a:lnTo>
                <a:lnTo>
                  <a:pt x="2943131" y="72265"/>
                </a:lnTo>
                <a:lnTo>
                  <a:pt x="2953789" y="94739"/>
                </a:lnTo>
                <a:lnTo>
                  <a:pt x="2968325" y="120880"/>
                </a:lnTo>
                <a:lnTo>
                  <a:pt x="2986390" y="146014"/>
                </a:lnTo>
                <a:lnTo>
                  <a:pt x="3005919" y="166525"/>
                </a:lnTo>
                <a:lnTo>
                  <a:pt x="3025786" y="179188"/>
                </a:lnTo>
                <a:lnTo>
                  <a:pt x="3045311" y="182837"/>
                </a:lnTo>
                <a:lnTo>
                  <a:pt x="3063796" y="176066"/>
                </a:lnTo>
                <a:lnTo>
                  <a:pt x="3080684" y="159301"/>
                </a:lnTo>
                <a:lnTo>
                  <a:pt x="3095374" y="134586"/>
                </a:lnTo>
                <a:lnTo>
                  <a:pt x="3106768" y="105600"/>
                </a:lnTo>
                <a:lnTo>
                  <a:pt x="3114779" y="76774"/>
                </a:lnTo>
                <a:lnTo>
                  <a:pt x="3119877" y="52411"/>
                </a:lnTo>
                <a:lnTo>
                  <a:pt x="3122979" y="36136"/>
                </a:lnTo>
                <a:lnTo>
                  <a:pt x="3125305" y="30342"/>
                </a:lnTo>
                <a:lnTo>
                  <a:pt x="3128191" y="35827"/>
                </a:lnTo>
                <a:lnTo>
                  <a:pt x="3132891" y="51670"/>
                </a:lnTo>
                <a:lnTo>
                  <a:pt x="3140381" y="75376"/>
                </a:lnTo>
                <a:lnTo>
                  <a:pt x="3151211" y="103250"/>
                </a:lnTo>
                <a:lnTo>
                  <a:pt x="3165426" y="130965"/>
                </a:lnTo>
                <a:lnTo>
                  <a:pt x="3182552" y="154217"/>
                </a:lnTo>
                <a:lnTo>
                  <a:pt x="3201674" y="169381"/>
                </a:lnTo>
                <a:lnTo>
                  <a:pt x="3221573" y="174063"/>
                </a:lnTo>
                <a:lnTo>
                  <a:pt x="3240911" y="167468"/>
                </a:lnTo>
                <a:lnTo>
                  <a:pt x="3258436" y="150513"/>
                </a:lnTo>
                <a:lnTo>
                  <a:pt x="3273171" y="125696"/>
                </a:lnTo>
                <a:lnTo>
                  <a:pt x="3284566" y="96710"/>
                </a:lnTo>
                <a:lnTo>
                  <a:pt x="3292576" y="67884"/>
                </a:lnTo>
                <a:lnTo>
                  <a:pt x="3297674" y="43521"/>
                </a:lnTo>
                <a:lnTo>
                  <a:pt x="3300776" y="27246"/>
                </a:lnTo>
                <a:lnTo>
                  <a:pt x="3303102" y="21452"/>
                </a:lnTo>
                <a:lnTo>
                  <a:pt x="3305989" y="26937"/>
                </a:lnTo>
                <a:lnTo>
                  <a:pt x="3310689" y="42780"/>
                </a:lnTo>
                <a:lnTo>
                  <a:pt x="3318178" y="66486"/>
                </a:lnTo>
                <a:lnTo>
                  <a:pt x="3329008" y="94360"/>
                </a:lnTo>
                <a:lnTo>
                  <a:pt x="3343223" y="122075"/>
                </a:lnTo>
                <a:lnTo>
                  <a:pt x="3360349" y="145327"/>
                </a:lnTo>
                <a:lnTo>
                  <a:pt x="3379472" y="160491"/>
                </a:lnTo>
                <a:lnTo>
                  <a:pt x="3399371" y="165173"/>
                </a:lnTo>
                <a:lnTo>
                  <a:pt x="3418709" y="158578"/>
                </a:lnTo>
                <a:lnTo>
                  <a:pt x="3436233" y="141623"/>
                </a:lnTo>
                <a:lnTo>
                  <a:pt x="3450969" y="116806"/>
                </a:lnTo>
                <a:lnTo>
                  <a:pt x="3462363" y="87820"/>
                </a:lnTo>
                <a:lnTo>
                  <a:pt x="3470373" y="58994"/>
                </a:lnTo>
                <a:lnTo>
                  <a:pt x="3475471" y="34631"/>
                </a:lnTo>
                <a:lnTo>
                  <a:pt x="3478574" y="18356"/>
                </a:lnTo>
                <a:lnTo>
                  <a:pt x="3480899" y="12562"/>
                </a:lnTo>
                <a:lnTo>
                  <a:pt x="3483786" y="18047"/>
                </a:lnTo>
                <a:lnTo>
                  <a:pt x="3488486" y="33890"/>
                </a:lnTo>
                <a:lnTo>
                  <a:pt x="3495975" y="57596"/>
                </a:lnTo>
                <a:lnTo>
                  <a:pt x="3506806" y="85470"/>
                </a:lnTo>
                <a:lnTo>
                  <a:pt x="3521020" y="113185"/>
                </a:lnTo>
                <a:lnTo>
                  <a:pt x="3538146" y="136437"/>
                </a:lnTo>
                <a:lnTo>
                  <a:pt x="3557269" y="151601"/>
                </a:lnTo>
                <a:lnTo>
                  <a:pt x="3577168" y="156284"/>
                </a:lnTo>
                <a:lnTo>
                  <a:pt x="3596506" y="149688"/>
                </a:lnTo>
                <a:lnTo>
                  <a:pt x="3614030" y="132733"/>
                </a:lnTo>
                <a:lnTo>
                  <a:pt x="3628766" y="107916"/>
                </a:lnTo>
                <a:lnTo>
                  <a:pt x="3640160" y="78931"/>
                </a:lnTo>
                <a:lnTo>
                  <a:pt x="3648170" y="50104"/>
                </a:lnTo>
                <a:lnTo>
                  <a:pt x="3653268" y="25742"/>
                </a:lnTo>
                <a:lnTo>
                  <a:pt x="3656371" y="9467"/>
                </a:lnTo>
                <a:lnTo>
                  <a:pt x="3658696" y="3673"/>
                </a:lnTo>
                <a:lnTo>
                  <a:pt x="3661583" y="9157"/>
                </a:lnTo>
                <a:lnTo>
                  <a:pt x="3666283" y="25000"/>
                </a:lnTo>
                <a:lnTo>
                  <a:pt x="3673772" y="48706"/>
                </a:lnTo>
                <a:lnTo>
                  <a:pt x="3684603" y="76581"/>
                </a:lnTo>
                <a:lnTo>
                  <a:pt x="3698817" y="104296"/>
                </a:lnTo>
                <a:lnTo>
                  <a:pt x="3715943" y="127547"/>
                </a:lnTo>
                <a:lnTo>
                  <a:pt x="3735066" y="142711"/>
                </a:lnTo>
                <a:lnTo>
                  <a:pt x="3754581" y="147410"/>
                </a:lnTo>
                <a:lnTo>
                  <a:pt x="3773680" y="141044"/>
                </a:lnTo>
                <a:lnTo>
                  <a:pt x="3791530" y="124475"/>
                </a:lnTo>
                <a:lnTo>
                  <a:pt x="3807446" y="100960"/>
                </a:lnTo>
                <a:lnTo>
                  <a:pt x="3820943" y="73221"/>
                </a:lnTo>
                <a:lnTo>
                  <a:pt x="3831804" y="45437"/>
                </a:lnTo>
                <a:lnTo>
                  <a:pt x="3838859" y="21567"/>
                </a:lnTo>
                <a:lnTo>
                  <a:pt x="3843252" y="5591"/>
                </a:lnTo>
                <a:lnTo>
                  <a:pt x="3846033" y="0"/>
                </a:lnTo>
                <a:lnTo>
                  <a:pt x="3848472" y="5697"/>
                </a:lnTo>
                <a:lnTo>
                  <a:pt x="3851891" y="21864"/>
                </a:lnTo>
                <a:lnTo>
                  <a:pt x="3857463" y="46091"/>
                </a:lnTo>
                <a:lnTo>
                  <a:pt x="3866033" y="74742"/>
                </a:lnTo>
                <a:lnTo>
                  <a:pt x="3877988" y="103504"/>
                </a:lnTo>
                <a:lnTo>
                  <a:pt x="3893202" y="128049"/>
                </a:lnTo>
                <a:lnTo>
                  <a:pt x="3911052" y="144692"/>
                </a:lnTo>
                <a:lnTo>
                  <a:pt x="3930514" y="150950"/>
                </a:lnTo>
                <a:lnTo>
                  <a:pt x="3950317" y="145921"/>
                </a:lnTo>
                <a:lnTo>
                  <a:pt x="3969140" y="130421"/>
                </a:lnTo>
                <a:lnTo>
                  <a:pt x="3985810" y="106861"/>
                </a:lnTo>
                <a:lnTo>
                  <a:pt x="3999483" y="78878"/>
                </a:lnTo>
                <a:lnTo>
                  <a:pt x="4009770" y="50783"/>
                </a:lnTo>
                <a:lnTo>
                  <a:pt x="4016798" y="26905"/>
                </a:lnTo>
                <a:lnTo>
                  <a:pt x="4021191" y="10929"/>
                </a:lnTo>
                <a:lnTo>
                  <a:pt x="4023972" y="5338"/>
                </a:lnTo>
                <a:lnTo>
                  <a:pt x="4026411" y="11035"/>
                </a:lnTo>
                <a:lnTo>
                  <a:pt x="4029831" y="27202"/>
                </a:lnTo>
                <a:lnTo>
                  <a:pt x="4035403" y="51430"/>
                </a:lnTo>
                <a:lnTo>
                  <a:pt x="4043972" y="80080"/>
                </a:lnTo>
                <a:lnTo>
                  <a:pt x="4055927" y="108842"/>
                </a:lnTo>
                <a:lnTo>
                  <a:pt x="4071142" y="133387"/>
                </a:lnTo>
                <a:lnTo>
                  <a:pt x="4088992" y="150031"/>
                </a:lnTo>
                <a:lnTo>
                  <a:pt x="4108453" y="156289"/>
                </a:lnTo>
                <a:lnTo>
                  <a:pt x="4128256" y="151259"/>
                </a:lnTo>
                <a:lnTo>
                  <a:pt x="4147079" y="135759"/>
                </a:lnTo>
                <a:lnTo>
                  <a:pt x="4163749" y="112199"/>
                </a:lnTo>
                <a:lnTo>
                  <a:pt x="4177422" y="84216"/>
                </a:lnTo>
                <a:lnTo>
                  <a:pt x="4187709" y="56121"/>
                </a:lnTo>
                <a:lnTo>
                  <a:pt x="4194738" y="32243"/>
                </a:lnTo>
                <a:lnTo>
                  <a:pt x="4199130" y="16267"/>
                </a:lnTo>
                <a:lnTo>
                  <a:pt x="4201911" y="10676"/>
                </a:lnTo>
                <a:lnTo>
                  <a:pt x="4204350" y="16373"/>
                </a:lnTo>
                <a:lnTo>
                  <a:pt x="4207770" y="32540"/>
                </a:lnTo>
                <a:lnTo>
                  <a:pt x="4213342" y="56768"/>
                </a:lnTo>
                <a:lnTo>
                  <a:pt x="4221911" y="85418"/>
                </a:lnTo>
                <a:lnTo>
                  <a:pt x="4233867" y="114180"/>
                </a:lnTo>
                <a:lnTo>
                  <a:pt x="4249081" y="138726"/>
                </a:lnTo>
                <a:lnTo>
                  <a:pt x="4266931" y="155369"/>
                </a:lnTo>
                <a:lnTo>
                  <a:pt x="4286392" y="161627"/>
                </a:lnTo>
                <a:lnTo>
                  <a:pt x="4306195" y="156598"/>
                </a:lnTo>
                <a:lnTo>
                  <a:pt x="4325018" y="141098"/>
                </a:lnTo>
                <a:lnTo>
                  <a:pt x="4341689" y="117537"/>
                </a:lnTo>
                <a:lnTo>
                  <a:pt x="4355362" y="89554"/>
                </a:lnTo>
                <a:lnTo>
                  <a:pt x="4365649" y="61460"/>
                </a:lnTo>
                <a:lnTo>
                  <a:pt x="4372677" y="37581"/>
                </a:lnTo>
                <a:lnTo>
                  <a:pt x="4377069" y="21605"/>
                </a:lnTo>
                <a:lnTo>
                  <a:pt x="4379850" y="16015"/>
                </a:lnTo>
                <a:lnTo>
                  <a:pt x="4382289" y="21711"/>
                </a:lnTo>
                <a:lnTo>
                  <a:pt x="4385709" y="37878"/>
                </a:lnTo>
                <a:lnTo>
                  <a:pt x="4391281" y="62106"/>
                </a:lnTo>
                <a:lnTo>
                  <a:pt x="4399850" y="90756"/>
                </a:lnTo>
                <a:lnTo>
                  <a:pt x="4411806" y="119518"/>
                </a:lnTo>
                <a:lnTo>
                  <a:pt x="4427020" y="144064"/>
                </a:lnTo>
                <a:lnTo>
                  <a:pt x="4444870" y="160707"/>
                </a:lnTo>
                <a:lnTo>
                  <a:pt x="4464331" y="166965"/>
                </a:lnTo>
                <a:lnTo>
                  <a:pt x="4484134" y="161936"/>
                </a:lnTo>
                <a:lnTo>
                  <a:pt x="4502892" y="146554"/>
                </a:lnTo>
                <a:lnTo>
                  <a:pt x="4520162" y="123631"/>
                </a:lnTo>
                <a:lnTo>
                  <a:pt x="4536027" y="96475"/>
                </a:lnTo>
                <a:lnTo>
                  <a:pt x="4550023" y="69759"/>
                </a:lnTo>
                <a:lnTo>
                  <a:pt x="4561700" y="48242"/>
                </a:lnTo>
                <a:lnTo>
                  <a:pt x="4570951" y="34152"/>
                </a:lnTo>
                <a:lnTo>
                  <a:pt x="4576838" y="29666"/>
                </a:lnTo>
                <a:lnTo>
                  <a:pt x="4578298" y="35658"/>
                </a:lnTo>
                <a:lnTo>
                  <a:pt x="4578976" y="52143"/>
                </a:lnTo>
                <a:lnTo>
                  <a:pt x="4580429" y="76941"/>
                </a:lnTo>
                <a:lnTo>
                  <a:pt x="4584097" y="106611"/>
                </a:lnTo>
                <a:lnTo>
                  <a:pt x="4591082" y="136967"/>
                </a:lnTo>
                <a:lnTo>
                  <a:pt x="4601983" y="163720"/>
                </a:lnTo>
                <a:lnTo>
                  <a:pt x="4616800" y="183130"/>
                </a:lnTo>
                <a:lnTo>
                  <a:pt x="4634938" y="192573"/>
                </a:lnTo>
                <a:lnTo>
                  <a:pt x="4655298" y="190945"/>
                </a:lnTo>
                <a:lnTo>
                  <a:pt x="4676441" y="178825"/>
                </a:lnTo>
                <a:lnTo>
                  <a:pt x="4696808" y="158390"/>
                </a:lnTo>
                <a:lnTo>
                  <a:pt x="4714960" y="133085"/>
                </a:lnTo>
                <a:lnTo>
                  <a:pt x="4729795" y="107093"/>
                </a:lnTo>
                <a:lnTo>
                  <a:pt x="4740715" y="84703"/>
                </a:lnTo>
                <a:lnTo>
                  <a:pt x="4747718" y="69658"/>
                </a:lnTo>
                <a:lnTo>
                  <a:pt x="4751400" y="64578"/>
                </a:lnTo>
                <a:lnTo>
                  <a:pt x="4752860" y="70571"/>
                </a:lnTo>
                <a:lnTo>
                  <a:pt x="4753538" y="87055"/>
                </a:lnTo>
                <a:lnTo>
                  <a:pt x="4754991" y="111853"/>
                </a:lnTo>
                <a:lnTo>
                  <a:pt x="4758659" y="141523"/>
                </a:lnTo>
                <a:lnTo>
                  <a:pt x="4765644" y="171879"/>
                </a:lnTo>
                <a:lnTo>
                  <a:pt x="4776545" y="198632"/>
                </a:lnTo>
                <a:lnTo>
                  <a:pt x="4791362" y="218042"/>
                </a:lnTo>
                <a:lnTo>
                  <a:pt x="4809501" y="227486"/>
                </a:lnTo>
                <a:lnTo>
                  <a:pt x="4829860" y="225857"/>
                </a:lnTo>
                <a:lnTo>
                  <a:pt x="4851003" y="213737"/>
                </a:lnTo>
                <a:lnTo>
                  <a:pt x="4871370" y="193303"/>
                </a:lnTo>
                <a:lnTo>
                  <a:pt x="4889523" y="167997"/>
                </a:lnTo>
                <a:lnTo>
                  <a:pt x="4904357" y="142005"/>
                </a:lnTo>
                <a:lnTo>
                  <a:pt x="4915277" y="119616"/>
                </a:lnTo>
                <a:lnTo>
                  <a:pt x="4922281" y="104570"/>
                </a:lnTo>
                <a:lnTo>
                  <a:pt x="4925962" y="99491"/>
                </a:lnTo>
                <a:lnTo>
                  <a:pt x="4927423" y="105483"/>
                </a:lnTo>
                <a:lnTo>
                  <a:pt x="4928100" y="121967"/>
                </a:lnTo>
                <a:lnTo>
                  <a:pt x="4929553" y="146766"/>
                </a:lnTo>
                <a:lnTo>
                  <a:pt x="4933221" y="176436"/>
                </a:lnTo>
                <a:lnTo>
                  <a:pt x="4940207" y="206792"/>
                </a:lnTo>
                <a:lnTo>
                  <a:pt x="4951107" y="233545"/>
                </a:lnTo>
                <a:lnTo>
                  <a:pt x="4965924" y="252955"/>
                </a:lnTo>
                <a:lnTo>
                  <a:pt x="4984063" y="262398"/>
                </a:lnTo>
                <a:lnTo>
                  <a:pt x="5004423" y="260770"/>
                </a:lnTo>
                <a:lnTo>
                  <a:pt x="5025228" y="249061"/>
                </a:lnTo>
                <a:lnTo>
                  <a:pt x="5046734" y="229979"/>
                </a:lnTo>
                <a:lnTo>
                  <a:pt x="5068516" y="206811"/>
                </a:lnTo>
                <a:lnTo>
                  <a:pt x="5088721" y="185543"/>
                </a:lnTo>
                <a:lnTo>
                  <a:pt x="5106450" y="168502"/>
                </a:lnTo>
                <a:lnTo>
                  <a:pt x="5120565" y="158171"/>
                </a:lnTo>
                <a:lnTo>
                  <a:pt x="5126848" y="154963"/>
                </a:lnTo>
                <a:lnTo>
                  <a:pt x="5126714" y="161050"/>
                </a:lnTo>
                <a:lnTo>
                  <a:pt x="5123050" y="177060"/>
                </a:lnTo>
                <a:lnTo>
                  <a:pt x="5117930" y="201314"/>
                </a:lnTo>
                <a:lnTo>
                  <a:pt x="5113647" y="230877"/>
                </a:lnTo>
                <a:lnTo>
                  <a:pt x="5112368" y="262005"/>
                </a:lnTo>
                <a:lnTo>
                  <a:pt x="5115805" y="290716"/>
                </a:lnTo>
                <a:lnTo>
                  <a:pt x="5124947" y="313399"/>
                </a:lnTo>
                <a:lnTo>
                  <a:pt x="5139919" y="327356"/>
                </a:lnTo>
                <a:lnTo>
                  <a:pt x="5159957" y="331220"/>
                </a:lnTo>
                <a:lnTo>
                  <a:pt x="5183524" y="325161"/>
                </a:lnTo>
                <a:lnTo>
                  <a:pt x="5208548" y="310859"/>
                </a:lnTo>
                <a:lnTo>
                  <a:pt x="5232734" y="291248"/>
                </a:lnTo>
                <a:lnTo>
                  <a:pt x="5253915" y="270072"/>
                </a:lnTo>
                <a:lnTo>
                  <a:pt x="5270382" y="251312"/>
                </a:lnTo>
                <a:lnTo>
                  <a:pt x="5281143" y="238581"/>
                </a:lnTo>
                <a:lnTo>
                  <a:pt x="5286074" y="234575"/>
                </a:lnTo>
                <a:lnTo>
                  <a:pt x="5285940" y="240663"/>
                </a:lnTo>
                <a:lnTo>
                  <a:pt x="5282276" y="256673"/>
                </a:lnTo>
                <a:lnTo>
                  <a:pt x="5277155" y="280927"/>
                </a:lnTo>
                <a:lnTo>
                  <a:pt x="5272872" y="310489"/>
                </a:lnTo>
                <a:lnTo>
                  <a:pt x="5271594" y="341617"/>
                </a:lnTo>
                <a:lnTo>
                  <a:pt x="5275030" y="370329"/>
                </a:lnTo>
                <a:lnTo>
                  <a:pt x="5284172" y="393011"/>
                </a:lnTo>
                <a:lnTo>
                  <a:pt x="5299145" y="406968"/>
                </a:lnTo>
                <a:lnTo>
                  <a:pt x="5319182" y="410833"/>
                </a:lnTo>
                <a:lnTo>
                  <a:pt x="5342749" y="404774"/>
                </a:lnTo>
                <a:lnTo>
                  <a:pt x="5367773" y="390472"/>
                </a:lnTo>
                <a:lnTo>
                  <a:pt x="5391959" y="370861"/>
                </a:lnTo>
                <a:lnTo>
                  <a:pt x="5413140" y="349685"/>
                </a:lnTo>
                <a:lnTo>
                  <a:pt x="5429607" y="330924"/>
                </a:lnTo>
                <a:lnTo>
                  <a:pt x="5440368" y="318194"/>
                </a:lnTo>
                <a:lnTo>
                  <a:pt x="5445299" y="314188"/>
                </a:lnTo>
                <a:lnTo>
                  <a:pt x="5445165" y="320275"/>
                </a:lnTo>
                <a:lnTo>
                  <a:pt x="5441501" y="336286"/>
                </a:lnTo>
                <a:lnTo>
                  <a:pt x="5436380" y="360539"/>
                </a:lnTo>
                <a:lnTo>
                  <a:pt x="5432097" y="390102"/>
                </a:lnTo>
                <a:lnTo>
                  <a:pt x="5430819" y="421230"/>
                </a:lnTo>
                <a:lnTo>
                  <a:pt x="5434255" y="449942"/>
                </a:lnTo>
                <a:lnTo>
                  <a:pt x="5443184" y="472396"/>
                </a:lnTo>
                <a:lnTo>
                  <a:pt x="5457709" y="486237"/>
                </a:lnTo>
                <a:lnTo>
                  <a:pt x="5477448" y="490303"/>
                </a:lnTo>
                <a:lnTo>
                  <a:pt x="5500837" y="485614"/>
                </a:lnTo>
                <a:lnTo>
                  <a:pt x="5526452" y="473178"/>
                </a:lnTo>
                <a:lnTo>
                  <a:pt x="5552100" y="455802"/>
                </a:lnTo>
                <a:lnTo>
                  <a:pt x="5574856" y="436332"/>
                </a:lnTo>
                <a:lnTo>
                  <a:pt x="5592714" y="418890"/>
                </a:lnTo>
                <a:lnTo>
                  <a:pt x="5604420" y="407021"/>
                </a:lnTo>
                <a:lnTo>
                  <a:pt x="5609644" y="403404"/>
                </a:lnTo>
                <a:lnTo>
                  <a:pt x="5609044" y="409462"/>
                </a:lnTo>
                <a:lnTo>
                  <a:pt x="5604164" y="425144"/>
                </a:lnTo>
                <a:lnTo>
                  <a:pt x="5597198" y="448933"/>
                </a:lnTo>
                <a:lnTo>
                  <a:pt x="5590660" y="478079"/>
                </a:lnTo>
                <a:lnTo>
                  <a:pt x="5586998" y="509017"/>
                </a:lnTo>
                <a:lnTo>
                  <a:pt x="5588221" y="537908"/>
                </a:lnTo>
                <a:lnTo>
                  <a:pt x="5595596" y="561226"/>
                </a:lnTo>
                <a:lnTo>
                  <a:pt x="5609453" y="576291"/>
                </a:lnTo>
                <a:lnTo>
                  <a:pt x="5629135" y="581682"/>
                </a:lnTo>
                <a:lnTo>
                  <a:pt x="5653097" y="577450"/>
                </a:lnTo>
                <a:lnTo>
                  <a:pt x="5679144" y="565109"/>
                </a:lnTo>
                <a:lnTo>
                  <a:pt x="5704763" y="547412"/>
                </a:lnTo>
                <a:lnTo>
                  <a:pt x="5727507" y="527922"/>
                </a:lnTo>
                <a:lnTo>
                  <a:pt x="5745364" y="510480"/>
                </a:lnTo>
                <a:lnTo>
                  <a:pt x="5757070" y="498611"/>
                </a:lnTo>
                <a:lnTo>
                  <a:pt x="5762295" y="494995"/>
                </a:lnTo>
                <a:lnTo>
                  <a:pt x="5761695" y="501052"/>
                </a:lnTo>
                <a:lnTo>
                  <a:pt x="5756814" y="516734"/>
                </a:lnTo>
                <a:lnTo>
                  <a:pt x="5749848" y="540523"/>
                </a:lnTo>
                <a:lnTo>
                  <a:pt x="5743310" y="569669"/>
                </a:lnTo>
                <a:lnTo>
                  <a:pt x="5739648" y="600607"/>
                </a:lnTo>
                <a:lnTo>
                  <a:pt x="5740871" y="629499"/>
                </a:lnTo>
                <a:lnTo>
                  <a:pt x="5748247" y="652816"/>
                </a:lnTo>
                <a:lnTo>
                  <a:pt x="5762104" y="667881"/>
                </a:lnTo>
                <a:lnTo>
                  <a:pt x="5781785" y="673272"/>
                </a:lnTo>
                <a:lnTo>
                  <a:pt x="5805747" y="669040"/>
                </a:lnTo>
                <a:lnTo>
                  <a:pt x="5831794" y="656699"/>
                </a:lnTo>
                <a:lnTo>
                  <a:pt x="5857413" y="639002"/>
                </a:lnTo>
                <a:lnTo>
                  <a:pt x="5880236" y="619597"/>
                </a:lnTo>
                <a:lnTo>
                  <a:pt x="5899402" y="603267"/>
                </a:lnTo>
                <a:lnTo>
                  <a:pt x="5912993" y="592610"/>
                </a:lnTo>
                <a:lnTo>
                  <a:pt x="5920201" y="590061"/>
                </a:lnTo>
                <a:lnTo>
                  <a:pt x="5920646" y="597510"/>
                </a:lnTo>
                <a:lnTo>
                  <a:pt x="5915980" y="613852"/>
                </a:lnTo>
                <a:lnTo>
                  <a:pt x="5907971" y="637500"/>
                </a:lnTo>
                <a:lnTo>
                  <a:pt x="5898468" y="665818"/>
                </a:lnTo>
                <a:lnTo>
                  <a:pt x="5891640" y="696215"/>
                </a:lnTo>
                <a:lnTo>
                  <a:pt x="5889882" y="725080"/>
                </a:lnTo>
                <a:lnTo>
                  <a:pt x="5894815" y="749035"/>
                </a:lnTo>
                <a:lnTo>
                  <a:pt x="5907045" y="765450"/>
                </a:lnTo>
                <a:lnTo>
                  <a:pt x="5926065" y="772842"/>
                </a:lnTo>
                <a:lnTo>
                  <a:pt x="5950333" y="771101"/>
                </a:lnTo>
                <a:lnTo>
                  <a:pt x="5977511" y="761509"/>
                </a:lnTo>
                <a:lnTo>
                  <a:pt x="6004816" y="746544"/>
                </a:lnTo>
                <a:lnTo>
                  <a:pt x="6029446" y="729498"/>
                </a:lnTo>
                <a:lnTo>
                  <a:pt x="6049007" y="713984"/>
                </a:lnTo>
                <a:lnTo>
                  <a:pt x="6061875" y="703380"/>
                </a:lnTo>
                <a:lnTo>
                  <a:pt x="6067447" y="700317"/>
                </a:lnTo>
                <a:lnTo>
                  <a:pt x="6066229" y="706277"/>
                </a:lnTo>
                <a:lnTo>
                  <a:pt x="6059763" y="721369"/>
                </a:lnTo>
                <a:lnTo>
                  <a:pt x="6050387" y="744312"/>
                </a:lnTo>
                <a:lnTo>
                  <a:pt x="6040884" y="772629"/>
                </a:lnTo>
                <a:lnTo>
                  <a:pt x="6034056" y="803026"/>
                </a:lnTo>
                <a:lnTo>
                  <a:pt x="6032297" y="831891"/>
                </a:lnTo>
                <a:lnTo>
                  <a:pt x="6037231" y="855847"/>
                </a:lnTo>
                <a:lnTo>
                  <a:pt x="6049461" y="872262"/>
                </a:lnTo>
                <a:lnTo>
                  <a:pt x="6068480" y="879653"/>
                </a:lnTo>
                <a:lnTo>
                  <a:pt x="6092749" y="877913"/>
                </a:lnTo>
                <a:lnTo>
                  <a:pt x="6119927" y="868321"/>
                </a:lnTo>
                <a:lnTo>
                  <a:pt x="6147232" y="853355"/>
                </a:lnTo>
                <a:lnTo>
                  <a:pt x="6171862" y="836310"/>
                </a:lnTo>
                <a:lnTo>
                  <a:pt x="6191422" y="820796"/>
                </a:lnTo>
                <a:lnTo>
                  <a:pt x="6204290" y="810192"/>
                </a:lnTo>
                <a:lnTo>
                  <a:pt x="6209862" y="807128"/>
                </a:lnTo>
                <a:lnTo>
                  <a:pt x="6208645" y="813088"/>
                </a:lnTo>
                <a:lnTo>
                  <a:pt x="6207476" y="815947"/>
                </a:lnTo>
              </a:path>
            </a:pathLst>
          </a:custGeom>
          <a:ln w="25400">
            <a:solidFill>
              <a:srgbClr val="0070C0"/>
            </a:solidFill>
            <a:prstDash val="dash"/>
          </a:ln>
        </p:spPr>
        <p:txBody>
          <a:bodyPr/>
          <a:lstStyle/>
          <a:p>
            <a:endParaRPr lang="en-US">
              <a:solidFill>
                <a:srgbClr val="73000A"/>
              </a:solidFill>
            </a:endParaRPr>
          </a:p>
        </p:txBody>
      </p:sp>
      <p:sp>
        <p:nvSpPr>
          <p:cNvPr id="7" name="Shape 4"/>
          <p:cNvSpPr/>
          <p:nvPr/>
        </p:nvSpPr>
        <p:spPr>
          <a:xfrm>
            <a:off x="7034297" y="2818009"/>
            <a:ext cx="164592" cy="164592"/>
          </a:xfrm>
          <a:custGeom>
            <a:avLst/>
            <a:gdLst/>
            <a:ahLst/>
            <a:cxnLst/>
            <a:rect l="l" t="t" r="r" b="b"/>
            <a:pathLst>
              <a:path w="164592" h="164592">
                <a:moveTo>
                  <a:pt x="0" y="0"/>
                </a:moveTo>
                <a:lnTo>
                  <a:pt x="164592" y="164592"/>
                </a:lnTo>
              </a:path>
            </a:pathLst>
          </a:custGeom>
          <a:ln w="31750">
            <a:solidFill>
              <a:srgbClr val="0070C0"/>
            </a:solidFill>
            <a:prstDash val="solid"/>
          </a:ln>
        </p:spPr>
        <p:txBody>
          <a:bodyPr/>
          <a:lstStyle/>
          <a:p>
            <a:endParaRPr lang="en-US">
              <a:solidFill>
                <a:srgbClr val="73000A"/>
              </a:solidFill>
            </a:endParaRPr>
          </a:p>
        </p:txBody>
      </p:sp>
      <p:sp>
        <p:nvSpPr>
          <p:cNvPr id="8" name="Shape 5"/>
          <p:cNvSpPr/>
          <p:nvPr/>
        </p:nvSpPr>
        <p:spPr>
          <a:xfrm>
            <a:off x="7034297" y="2818009"/>
            <a:ext cx="164592" cy="164592"/>
          </a:xfrm>
          <a:custGeom>
            <a:avLst/>
            <a:gdLst/>
            <a:ahLst/>
            <a:cxnLst/>
            <a:rect l="l" t="t" r="r" b="b"/>
            <a:pathLst>
              <a:path w="164592" h="164592">
                <a:moveTo>
                  <a:pt x="0" y="164592"/>
                </a:moveTo>
                <a:lnTo>
                  <a:pt x="164592" y="0"/>
                </a:lnTo>
              </a:path>
            </a:pathLst>
          </a:custGeom>
          <a:ln w="31750">
            <a:solidFill>
              <a:srgbClr val="0070C0"/>
            </a:solidFill>
            <a:prstDash val="solid"/>
          </a:ln>
        </p:spPr>
        <p:txBody>
          <a:bodyPr/>
          <a:lstStyle/>
          <a:p>
            <a:endParaRPr lang="en-US"/>
          </a:p>
        </p:txBody>
      </p:sp>
      <p:sp>
        <p:nvSpPr>
          <p:cNvPr id="9" name="Shape 6"/>
          <p:cNvSpPr/>
          <p:nvPr/>
        </p:nvSpPr>
        <p:spPr>
          <a:xfrm>
            <a:off x="884471" y="2776612"/>
            <a:ext cx="109728" cy="109728"/>
          </a:xfrm>
          <a:prstGeom prst="ellipse">
            <a:avLst/>
          </a:prstGeom>
          <a:solidFill>
            <a:srgbClr val="C00000"/>
          </a:solidFill>
          <a:ln w="12700">
            <a:solidFill>
              <a:srgbClr val="FFFFFF"/>
            </a:solidFill>
            <a:prstDash val="solid"/>
          </a:ln>
        </p:spPr>
        <p:txBody>
          <a:bodyPr/>
          <a:lstStyle/>
          <a:p>
            <a:endParaRPr lang="en-US"/>
          </a:p>
        </p:txBody>
      </p:sp>
      <mc:AlternateContent xmlns:mc="http://schemas.openxmlformats.org/markup-compatibility/2006">
        <mc:Choice xmlns:a14="http://schemas.microsoft.com/office/drawing/2010/main" Requires="a14">
          <p:sp>
            <p:nvSpPr>
              <p:cNvPr id="10" name="Text 7"/>
              <p:cNvSpPr txBox="1"/>
              <p:nvPr/>
            </p:nvSpPr>
            <p:spPr>
              <a:xfrm>
                <a:off x="3288410" y="2722649"/>
                <a:ext cx="2523443" cy="690347"/>
              </a:xfrm>
              <a:prstGeom prst="rect">
                <a:avLst/>
              </a:prstGeom>
              <a:solidFill>
                <a:srgbClr val="FFFFFF">
                  <a:alpha val="85000"/>
                </a:srgbClr>
              </a:solidFill>
              <a:ln/>
            </p:spPr>
            <p:txBody>
              <a:bodyPr wrap="square" lIns="381" tIns="381" rIns="381" bIns="381" rtlCol="0" anchor="ctr"/>
              <a:lstStyle/>
              <a:p>
                <a:pPr marL="0" indent="0" algn="l">
                  <a:buNone/>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𝜋</m:t>
                          </m:r>
                        </m:e>
                        <m:sup>
                          <m:r>
                            <a:rPr lang="en-US" sz="2000" b="0" i="1" smtClean="0">
                              <a:latin typeface="Cambria Math" panose="02040503050406030204" pitchFamily="18" charset="0"/>
                            </a:rPr>
                            <m:t>+</m:t>
                          </m:r>
                        </m:sup>
                      </m:sSup>
                      <m:r>
                        <a:rPr lang="en-US" sz="2000" i="1" smtClean="0">
                          <a:latin typeface="Cambria Math" panose="02040503050406030204" pitchFamily="18" charset="0"/>
                          <a:ea typeface="Cambria Math" panose="02040503050406030204" pitchFamily="18" charset="0"/>
                        </a:rPr>
                        <m:t>→</m:t>
                      </m:r>
                      <m:sSup>
                        <m:sSupPr>
                          <m:ctrlPr>
                            <a:rPr lang="en-US" sz="2000" i="1" smtClean="0">
                              <a:latin typeface="Cambria Math" panose="02040503050406030204" pitchFamily="18" charset="0"/>
                              <a:ea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𝜇</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𝜈</m:t>
                          </m:r>
                        </m:e>
                        <m:sub>
                          <m:r>
                            <a:rPr lang="en-US" sz="2000" b="0" i="1" smtClean="0">
                              <a:latin typeface="Cambria Math" panose="02040503050406030204" pitchFamily="18" charset="0"/>
                              <a:ea typeface="Cambria Math" panose="02040503050406030204" pitchFamily="18" charset="0"/>
                            </a:rPr>
                            <m:t>𝜇</m:t>
                          </m:r>
                        </m:sub>
                      </m:sSub>
                    </m:oMath>
                  </m:oMathPara>
                </a14:m>
                <a:endParaRPr lang="en-US" sz="2000" dirty="0"/>
              </a:p>
              <a:p>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𝜋</m:t>
                          </m:r>
                        </m:e>
                        <m:sup>
                          <m:r>
                            <a:rPr lang="en-US" sz="2000" b="0" i="1" smtClean="0">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𝜇</m:t>
                          </m:r>
                        </m:e>
                        <m:sup>
                          <m:r>
                            <a:rPr lang="en-US" sz="2000" b="0" i="1" smtClean="0">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𝜐</m:t>
                              </m:r>
                            </m:e>
                            <m:sub>
                              <m:r>
                                <a:rPr lang="en-US" sz="2000" i="1" smtClean="0">
                                  <a:latin typeface="Cambria Math" panose="02040503050406030204" pitchFamily="18" charset="0"/>
                                  <a:ea typeface="Cambria Math" panose="02040503050406030204" pitchFamily="18" charset="0"/>
                                </a:rPr>
                                <m:t>𝜇</m:t>
                              </m:r>
                            </m:sub>
                          </m:sSub>
                        </m:e>
                      </m:acc>
                    </m:oMath>
                  </m:oMathPara>
                </a14:m>
                <a:endParaRPr lang="en-US" sz="2000" dirty="0"/>
              </a:p>
            </p:txBody>
          </p:sp>
        </mc:Choice>
        <mc:Fallback>
          <p:sp>
            <p:nvSpPr>
              <p:cNvPr id="10" name="Text 7"/>
              <p:cNvSpPr txBox="1">
                <a:spLocks noRot="1" noChangeAspect="1" noMove="1" noResize="1" noEditPoints="1" noAdjustHandles="1" noChangeArrowheads="1" noChangeShapeType="1" noTextEdit="1"/>
              </p:cNvSpPr>
              <p:nvPr/>
            </p:nvSpPr>
            <p:spPr>
              <a:xfrm>
                <a:off x="3288410" y="2722649"/>
                <a:ext cx="2523443" cy="690347"/>
              </a:xfrm>
              <a:prstGeom prst="rect">
                <a:avLst/>
              </a:prstGeom>
              <a:blipFill>
                <a:blip r:embed="rId4"/>
                <a:stretch>
                  <a:fillRect b="-9091"/>
                </a:stretch>
              </a:blipFill>
              <a:ln/>
            </p:spPr>
            <p:txBody>
              <a:bodyPr/>
              <a:lstStyle/>
              <a:p>
                <a:r>
                  <a:rPr lang="en-US">
                    <a:noFill/>
                  </a:rPr>
                  <a:t> </a:t>
                </a:r>
              </a:p>
            </p:txBody>
          </p:sp>
        </mc:Fallback>
      </mc:AlternateContent>
      <p:sp>
        <p:nvSpPr>
          <p:cNvPr id="11" name="Text 8"/>
          <p:cNvSpPr txBox="1"/>
          <p:nvPr/>
        </p:nvSpPr>
        <p:spPr>
          <a:xfrm>
            <a:off x="7816133" y="2315089"/>
            <a:ext cx="2377440" cy="320040"/>
          </a:xfrm>
          <a:prstGeom prst="rect">
            <a:avLst/>
          </a:prstGeom>
          <a:solidFill>
            <a:srgbClr val="FFFFFF">
              <a:alpha val="85000"/>
            </a:srgbClr>
          </a:solidFill>
          <a:ln/>
        </p:spPr>
        <p:txBody>
          <a:bodyPr wrap="square" lIns="381" tIns="381" rIns="381" bIns="381" rtlCol="0" anchor="ctr"/>
          <a:lstStyle/>
          <a:p>
            <a:pPr marL="0" indent="0" algn="l">
              <a:buNone/>
            </a:pPr>
            <a:r>
              <a:rPr lang="en-US" sz="1400" b="1" dirty="0">
                <a:solidFill>
                  <a:srgbClr val="0070C0"/>
                </a:solidFill>
                <a:latin typeface="Calibri" pitchFamily="34" charset="0"/>
                <a:ea typeface="Calibri" pitchFamily="34" charset="-122"/>
                <a:cs typeface="Calibri" pitchFamily="34" charset="-120"/>
              </a:rPr>
              <a:t>μ⁺ stopped at collimator</a:t>
            </a:r>
            <a:endParaRPr lang="en-US" sz="1400" dirty="0">
              <a:solidFill>
                <a:srgbClr val="0070C0"/>
              </a:solidFill>
            </a:endParaRPr>
          </a:p>
        </p:txBody>
      </p:sp>
      <p:sp>
        <p:nvSpPr>
          <p:cNvPr id="12" name="Shape 9"/>
          <p:cNvSpPr/>
          <p:nvPr/>
        </p:nvSpPr>
        <p:spPr>
          <a:xfrm>
            <a:off x="457200" y="4754880"/>
            <a:ext cx="11274552" cy="1143000"/>
          </a:xfrm>
          <a:prstGeom prst="roundRect">
            <a:avLst>
              <a:gd name="adj" fmla="val 8000"/>
            </a:avLst>
          </a:prstGeom>
          <a:solidFill>
            <a:srgbClr val="F4F0F0"/>
          </a:solidFill>
          <a:ln/>
        </p:spPr>
        <p:txBody>
          <a:bodyPr/>
          <a:lstStyle/>
          <a:p>
            <a:endParaRPr lang="en-US"/>
          </a:p>
        </p:txBody>
      </p:sp>
      <p:sp>
        <p:nvSpPr>
          <p:cNvPr id="13" name="Text 10"/>
          <p:cNvSpPr txBox="1"/>
          <p:nvPr/>
        </p:nvSpPr>
        <p:spPr>
          <a:xfrm>
            <a:off x="685800" y="4846320"/>
            <a:ext cx="5394960" cy="9601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S-shape removes line of sight from target to detector</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Curved field drifts μ⁻ and μ⁺ in opposite vertical directions</a:t>
            </a:r>
            <a:endParaRPr lang="en-US" sz="1300" dirty="0"/>
          </a:p>
        </p:txBody>
      </p:sp>
      <p:sp>
        <p:nvSpPr>
          <p:cNvPr id="14" name="Text 11"/>
          <p:cNvSpPr txBox="1"/>
          <p:nvPr/>
        </p:nvSpPr>
        <p:spPr>
          <a:xfrm>
            <a:off x="6217920" y="4846320"/>
            <a:ext cx="5394960" cy="9601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Off-axis collimator passes low-momentum μ⁻ and blocks μ⁺</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Thin window in the collimator absorbs antiprotons</a:t>
            </a:r>
            <a:endParaRPr lang="en-US" sz="1300" dirty="0"/>
          </a:p>
        </p:txBody>
      </p:sp>
      <p:sp>
        <p:nvSpPr>
          <p:cNvPr id="15" name="Shape 12"/>
          <p:cNvSpPr/>
          <p:nvPr/>
        </p:nvSpPr>
        <p:spPr>
          <a:xfrm>
            <a:off x="548640" y="6080760"/>
            <a:ext cx="411480" cy="9144"/>
          </a:xfrm>
          <a:custGeom>
            <a:avLst/>
            <a:gdLst/>
            <a:ahLst/>
            <a:cxnLst/>
            <a:rect l="l" t="t" r="r" b="b"/>
            <a:pathLst>
              <a:path w="411480" h="9144">
                <a:moveTo>
                  <a:pt x="0" y="0"/>
                </a:moveTo>
                <a:lnTo>
                  <a:pt x="411480" y="0"/>
                </a:lnTo>
              </a:path>
            </a:pathLst>
          </a:custGeom>
          <a:ln w="31750">
            <a:solidFill>
              <a:srgbClr val="C00000"/>
            </a:solidFill>
            <a:prstDash val="solid"/>
          </a:ln>
        </p:spPr>
        <p:txBody>
          <a:bodyPr/>
          <a:lstStyle/>
          <a:p>
            <a:endParaRPr lang="en-US"/>
          </a:p>
        </p:txBody>
      </p:sp>
      <mc:AlternateContent xmlns:mc="http://schemas.openxmlformats.org/markup-compatibility/2006">
        <mc:Choice xmlns:a14="http://schemas.microsoft.com/office/drawing/2010/main" Requires="a14">
          <p:sp>
            <p:nvSpPr>
              <p:cNvPr id="16" name="Text 13"/>
              <p:cNvSpPr txBox="1"/>
              <p:nvPr/>
            </p:nvSpPr>
            <p:spPr>
              <a:xfrm>
                <a:off x="1051560" y="5943600"/>
                <a:ext cx="1645920" cy="274320"/>
              </a:xfrm>
              <a:prstGeom prst="rect">
                <a:avLst/>
              </a:prstGeom>
              <a:noFill/>
              <a:ln/>
            </p:spPr>
            <p:txBody>
              <a:bodyPr wrap="square" lIns="381" tIns="381" rIns="381" bIns="381" rtlCol="0" anchor="ctr"/>
              <a:lstStyle/>
              <a:p>
                <a:pPr marL="0" indent="0" algn="l">
                  <a:buNone/>
                </a:pPr>
                <a14:m>
                  <m:oMath xmlns:m="http://schemas.openxmlformats.org/officeDocument/2006/math">
                    <m:sSup>
                      <m:sSupPr>
                        <m:ctrlPr>
                          <a:rPr lang="en-US" sz="1100" i="1" smtClean="0">
                            <a:solidFill>
                              <a:srgbClr val="333333"/>
                            </a:solidFill>
                            <a:latin typeface="Cambria Math" panose="02040503050406030204" pitchFamily="18" charset="0"/>
                            <a:cs typeface="Calibri" pitchFamily="34" charset="-120"/>
                          </a:rPr>
                        </m:ctrlPr>
                      </m:sSupPr>
                      <m:e>
                        <m:r>
                          <a:rPr lang="en-US" sz="1100" i="1" smtClean="0">
                            <a:solidFill>
                              <a:srgbClr val="333333"/>
                            </a:solidFill>
                            <a:latin typeface="Cambria Math" panose="02040503050406030204" pitchFamily="18" charset="0"/>
                            <a:ea typeface="Cambria Math" panose="02040503050406030204" pitchFamily="18" charset="0"/>
                            <a:cs typeface="Calibri" pitchFamily="34" charset="-120"/>
                          </a:rPr>
                          <m:t>𝜇</m:t>
                        </m:r>
                      </m:e>
                      <m:sup>
                        <m:r>
                          <a:rPr lang="en-US" sz="1100" b="0" i="1" smtClean="0">
                            <a:solidFill>
                              <a:srgbClr val="333333"/>
                            </a:solidFill>
                            <a:latin typeface="Cambria Math" panose="02040503050406030204" pitchFamily="18" charset="0"/>
                            <a:cs typeface="Calibri" pitchFamily="34" charset="-120"/>
                          </a:rPr>
                          <m:t>−</m:t>
                        </m:r>
                      </m:sup>
                    </m:sSup>
                  </m:oMath>
                </a14:m>
                <a:r>
                  <a:rPr lang="en-US" sz="1100" dirty="0">
                    <a:solidFill>
                      <a:srgbClr val="333333"/>
                    </a:solidFill>
                    <a:latin typeface="Calibri" pitchFamily="34" charset="0"/>
                    <a:ea typeface="Calibri" pitchFamily="34" charset="-122"/>
                    <a:cs typeface="Calibri" pitchFamily="34" charset="-120"/>
                  </a:rPr>
                  <a:t> or </a:t>
                </a:r>
                <a14:m>
                  <m:oMath xmlns:m="http://schemas.openxmlformats.org/officeDocument/2006/math">
                    <m:sSup>
                      <m:sSupPr>
                        <m:ctrlPr>
                          <a:rPr lang="en-US" sz="1100" i="1" smtClean="0">
                            <a:solidFill>
                              <a:srgbClr val="333333"/>
                            </a:solidFill>
                            <a:latin typeface="Cambria Math" panose="02040503050406030204" pitchFamily="18" charset="0"/>
                            <a:cs typeface="Calibri" pitchFamily="34" charset="-120"/>
                          </a:rPr>
                        </m:ctrlPr>
                      </m:sSupPr>
                      <m:e>
                        <m:r>
                          <a:rPr lang="en-US" sz="1100" i="1" smtClean="0">
                            <a:solidFill>
                              <a:srgbClr val="333333"/>
                            </a:solidFill>
                            <a:latin typeface="Cambria Math" panose="02040503050406030204" pitchFamily="18" charset="0"/>
                            <a:ea typeface="Cambria Math" panose="02040503050406030204" pitchFamily="18" charset="0"/>
                            <a:cs typeface="Calibri" pitchFamily="34" charset="-120"/>
                          </a:rPr>
                          <m:t>𝜋</m:t>
                        </m:r>
                      </m:e>
                      <m:sup>
                        <m:r>
                          <a:rPr lang="en-US" sz="1100" b="0" i="1" smtClean="0">
                            <a:solidFill>
                              <a:srgbClr val="333333"/>
                            </a:solidFill>
                            <a:latin typeface="Cambria Math" panose="02040503050406030204" pitchFamily="18" charset="0"/>
                            <a:cs typeface="Calibri" pitchFamily="34" charset="-120"/>
                          </a:rPr>
                          <m:t>−</m:t>
                        </m:r>
                      </m:sup>
                    </m:sSup>
                  </m:oMath>
                </a14:m>
                <a:endParaRPr lang="en-US" sz="1100" dirty="0"/>
              </a:p>
            </p:txBody>
          </p:sp>
        </mc:Choice>
        <mc:Fallback>
          <p:sp>
            <p:nvSpPr>
              <p:cNvPr id="16" name="Text 13"/>
              <p:cNvSpPr txBox="1">
                <a:spLocks noRot="1" noChangeAspect="1" noMove="1" noResize="1" noEditPoints="1" noAdjustHandles="1" noChangeArrowheads="1" noChangeShapeType="1" noTextEdit="1"/>
              </p:cNvSpPr>
              <p:nvPr/>
            </p:nvSpPr>
            <p:spPr>
              <a:xfrm>
                <a:off x="1051560" y="5943600"/>
                <a:ext cx="1645920" cy="274320"/>
              </a:xfrm>
              <a:prstGeom prst="rect">
                <a:avLst/>
              </a:prstGeom>
              <a:blipFill>
                <a:blip r:embed="rId5"/>
                <a:stretch>
                  <a:fillRect l="-3077" b="-13636"/>
                </a:stretch>
              </a:blipFill>
              <a:ln/>
            </p:spPr>
            <p:txBody>
              <a:bodyPr/>
              <a:lstStyle/>
              <a:p>
                <a:r>
                  <a:rPr lang="en-US">
                    <a:noFill/>
                  </a:rPr>
                  <a:t> </a:t>
                </a:r>
              </a:p>
            </p:txBody>
          </p:sp>
        </mc:Fallback>
      </mc:AlternateContent>
      <p:sp>
        <p:nvSpPr>
          <p:cNvPr id="17" name="Shape 14"/>
          <p:cNvSpPr/>
          <p:nvPr/>
        </p:nvSpPr>
        <p:spPr>
          <a:xfrm>
            <a:off x="2560320" y="6080760"/>
            <a:ext cx="411480" cy="9144"/>
          </a:xfrm>
          <a:custGeom>
            <a:avLst/>
            <a:gdLst/>
            <a:ahLst/>
            <a:cxnLst/>
            <a:rect l="l" t="t" r="r" b="b"/>
            <a:pathLst>
              <a:path w="411480" h="9144">
                <a:moveTo>
                  <a:pt x="0" y="0"/>
                </a:moveTo>
                <a:lnTo>
                  <a:pt x="411480" y="0"/>
                </a:lnTo>
              </a:path>
            </a:pathLst>
          </a:custGeom>
          <a:ln w="31750">
            <a:solidFill>
              <a:srgbClr val="0070C0"/>
            </a:solidFill>
            <a:prstDash val="dash"/>
          </a:ln>
        </p:spPr>
        <p:txBody>
          <a:bodyPr/>
          <a:lstStyle/>
          <a:p>
            <a:endParaRPr lang="en-US"/>
          </a:p>
        </p:txBody>
      </p:sp>
      <mc:AlternateContent xmlns:mc="http://schemas.openxmlformats.org/markup-compatibility/2006">
        <mc:Choice xmlns:a14="http://schemas.microsoft.com/office/drawing/2010/main" Requires="a14">
          <p:sp>
            <p:nvSpPr>
              <p:cNvPr id="18" name="Text 15"/>
              <p:cNvSpPr txBox="1"/>
              <p:nvPr/>
            </p:nvSpPr>
            <p:spPr>
              <a:xfrm>
                <a:off x="3063240" y="5943600"/>
                <a:ext cx="1645920" cy="274320"/>
              </a:xfrm>
              <a:prstGeom prst="rect">
                <a:avLst/>
              </a:prstGeom>
              <a:noFill/>
              <a:ln/>
            </p:spPr>
            <p:txBody>
              <a:bodyPr wrap="square" lIns="381" tIns="381" rIns="381" bIns="381" rtlCol="0" anchor="ctr"/>
              <a:lstStyle/>
              <a:p>
                <a:pPr marL="0" indent="0" algn="l">
                  <a:buNone/>
                </a:pPr>
                <a14:m>
                  <m:oMath xmlns:m="http://schemas.openxmlformats.org/officeDocument/2006/math">
                    <m:sSup>
                      <m:sSupPr>
                        <m:ctrlPr>
                          <a:rPr lang="en-US" sz="1100" i="1" smtClean="0">
                            <a:solidFill>
                              <a:srgbClr val="333333"/>
                            </a:solidFill>
                            <a:latin typeface="Cambria Math" panose="02040503050406030204" pitchFamily="18" charset="0"/>
                            <a:cs typeface="Calibri" pitchFamily="34" charset="-120"/>
                          </a:rPr>
                        </m:ctrlPr>
                      </m:sSupPr>
                      <m:e>
                        <m:r>
                          <a:rPr lang="en-US" sz="1100" i="1" smtClean="0">
                            <a:solidFill>
                              <a:srgbClr val="333333"/>
                            </a:solidFill>
                            <a:latin typeface="Cambria Math" panose="02040503050406030204" pitchFamily="18" charset="0"/>
                            <a:ea typeface="Cambria Math" panose="02040503050406030204" pitchFamily="18" charset="0"/>
                            <a:cs typeface="Calibri" pitchFamily="34" charset="-120"/>
                          </a:rPr>
                          <m:t>𝜇</m:t>
                        </m:r>
                      </m:e>
                      <m:sup>
                        <m:r>
                          <a:rPr lang="en-US" sz="1100" b="0" i="1" smtClean="0">
                            <a:solidFill>
                              <a:srgbClr val="333333"/>
                            </a:solidFill>
                            <a:latin typeface="Cambria Math" panose="02040503050406030204" pitchFamily="18" charset="0"/>
                            <a:cs typeface="Calibri" pitchFamily="34" charset="-120"/>
                          </a:rPr>
                          <m:t>+</m:t>
                        </m:r>
                      </m:sup>
                    </m:sSup>
                  </m:oMath>
                </a14:m>
                <a:r>
                  <a:rPr lang="en-US" sz="1100" dirty="0">
                    <a:solidFill>
                      <a:srgbClr val="333333"/>
                    </a:solidFill>
                    <a:latin typeface="Calibri" pitchFamily="34" charset="0"/>
                    <a:ea typeface="Calibri" pitchFamily="34" charset="-122"/>
                    <a:cs typeface="Calibri" pitchFamily="34" charset="-120"/>
                  </a:rPr>
                  <a:t> or </a:t>
                </a:r>
                <a14:m>
                  <m:oMath xmlns:m="http://schemas.openxmlformats.org/officeDocument/2006/math">
                    <m:sSup>
                      <m:sSupPr>
                        <m:ctrlPr>
                          <a:rPr lang="en-US" sz="1100" i="1" smtClean="0">
                            <a:solidFill>
                              <a:srgbClr val="333333"/>
                            </a:solidFill>
                            <a:latin typeface="Cambria Math" panose="02040503050406030204" pitchFamily="18" charset="0"/>
                            <a:cs typeface="Calibri" pitchFamily="34" charset="-120"/>
                          </a:rPr>
                        </m:ctrlPr>
                      </m:sSupPr>
                      <m:e>
                        <m:r>
                          <a:rPr lang="en-US" sz="1100" i="1" smtClean="0">
                            <a:solidFill>
                              <a:srgbClr val="333333"/>
                            </a:solidFill>
                            <a:latin typeface="Cambria Math" panose="02040503050406030204" pitchFamily="18" charset="0"/>
                            <a:ea typeface="Cambria Math" panose="02040503050406030204" pitchFamily="18" charset="0"/>
                            <a:cs typeface="Calibri" pitchFamily="34" charset="-120"/>
                          </a:rPr>
                          <m:t>𝜋</m:t>
                        </m:r>
                      </m:e>
                      <m:sup>
                        <m:r>
                          <a:rPr lang="en-US" sz="1100" b="0" i="1" smtClean="0">
                            <a:solidFill>
                              <a:srgbClr val="333333"/>
                            </a:solidFill>
                            <a:latin typeface="Cambria Math" panose="02040503050406030204" pitchFamily="18" charset="0"/>
                            <a:cs typeface="Calibri" pitchFamily="34" charset="-120"/>
                          </a:rPr>
                          <m:t>+</m:t>
                        </m:r>
                      </m:sup>
                    </m:sSup>
                  </m:oMath>
                </a14:m>
                <a:endParaRPr lang="en-US" sz="1100" dirty="0"/>
              </a:p>
            </p:txBody>
          </p:sp>
        </mc:Choice>
        <mc:Fallback>
          <p:sp>
            <p:nvSpPr>
              <p:cNvPr id="18" name="Text 15"/>
              <p:cNvSpPr txBox="1">
                <a:spLocks noRot="1" noChangeAspect="1" noMove="1" noResize="1" noEditPoints="1" noAdjustHandles="1" noChangeArrowheads="1" noChangeShapeType="1" noTextEdit="1"/>
              </p:cNvSpPr>
              <p:nvPr/>
            </p:nvSpPr>
            <p:spPr>
              <a:xfrm>
                <a:off x="3063240" y="5943600"/>
                <a:ext cx="1645920" cy="274320"/>
              </a:xfrm>
              <a:prstGeom prst="rect">
                <a:avLst/>
              </a:prstGeom>
              <a:blipFill>
                <a:blip r:embed="rId6"/>
                <a:stretch>
                  <a:fillRect l="-3053" b="-13636"/>
                </a:stretch>
              </a:blipFill>
              <a:ln/>
            </p:spPr>
            <p:txBody>
              <a:bodyPr/>
              <a:lstStyle/>
              <a:p>
                <a:r>
                  <a:rPr lang="en-US">
                    <a:noFill/>
                  </a:rPr>
                  <a:t> </a:t>
                </a:r>
              </a:p>
            </p:txBody>
          </p:sp>
        </mc:Fallback>
      </mc:AlternateContent>
      <p:sp>
        <p:nvSpPr>
          <p:cNvPr id="19" name="Rectangle 18">
            <a:extLst>
              <a:ext uri="{FF2B5EF4-FFF2-40B4-BE49-F238E27FC236}">
                <a16:creationId xmlns:a16="http://schemas.microsoft.com/office/drawing/2014/main" id="{57E9702B-4D8B-0E5D-718E-5C55EE7EA859}"/>
              </a:ext>
            </a:extLst>
          </p:cNvPr>
          <p:cNvSpPr/>
          <p:nvPr/>
        </p:nvSpPr>
        <p:spPr>
          <a:xfrm>
            <a:off x="3383280" y="1316477"/>
            <a:ext cx="1668618" cy="5853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urved Connector 20">
            <a:extLst>
              <a:ext uri="{FF2B5EF4-FFF2-40B4-BE49-F238E27FC236}">
                <a16:creationId xmlns:a16="http://schemas.microsoft.com/office/drawing/2014/main" id="{73838281-392F-1A27-FC4A-B544B810F481}"/>
              </a:ext>
            </a:extLst>
          </p:cNvPr>
          <p:cNvCxnSpPr>
            <a:cxnSpLocks/>
            <a:stCxn id="11" idx="1"/>
          </p:cNvCxnSpPr>
          <p:nvPr/>
        </p:nvCxnSpPr>
        <p:spPr>
          <a:xfrm rot="10800000" flipV="1">
            <a:off x="7198889" y="2475108"/>
            <a:ext cx="617244" cy="452003"/>
          </a:xfrm>
          <a:prstGeom prst="curvedConnector3">
            <a:avLst>
              <a:gd name="adj1" fmla="val 50000"/>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381" tIns="381" rIns="381" bIns="381"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Muon Stopping Target</a:t>
            </a:r>
            <a:endParaRPr lang="en-US" sz="3200" dirty="0"/>
          </a:p>
        </p:txBody>
      </p:sp>
      <p:sp>
        <p:nvSpPr>
          <p:cNvPr id="3" name="Text 1"/>
          <p:cNvSpPr txBox="1"/>
          <p:nvPr/>
        </p:nvSpPr>
        <p:spPr>
          <a:xfrm>
            <a:off x="548640" y="896112"/>
            <a:ext cx="11064240" cy="365760"/>
          </a:xfrm>
          <a:prstGeom prst="rect">
            <a:avLst/>
          </a:prstGeom>
          <a:noFill/>
          <a:ln/>
        </p:spPr>
        <p:txBody>
          <a:bodyPr wrap="square" lIns="381" tIns="381" rIns="381" bIns="381" rtlCol="0" anchor="ctr"/>
          <a:lstStyle/>
          <a:p>
            <a:pPr marL="0" indent="0" algn="l">
              <a:buNone/>
            </a:pPr>
            <a:r>
              <a:rPr lang="en-US" sz="1600" i="1" dirty="0">
                <a:solidFill>
                  <a:srgbClr val="73000A"/>
                </a:solidFill>
                <a:latin typeface="Calibri" pitchFamily="34" charset="0"/>
                <a:ea typeface="Calibri" pitchFamily="34" charset="-122"/>
                <a:cs typeface="Calibri" pitchFamily="34" charset="-120"/>
              </a:rPr>
              <a:t>Muons stop in the aluminum target, and a conversion electron leaves on a helix</a:t>
            </a:r>
            <a:endParaRPr lang="en-US" sz="1600" dirty="0"/>
          </a:p>
        </p:txBody>
      </p:sp>
      <p:pic>
        <p:nvPicPr>
          <p:cNvPr id="4" name="Image 0" descr="Mu2e schematic segment"/>
          <p:cNvPicPr>
            <a:picLocks noChangeAspect="1"/>
          </p:cNvPicPr>
          <p:nvPr/>
        </p:nvPicPr>
        <p:blipFill>
          <a:blip r:embed="rId3"/>
          <a:stretch>
            <a:fillRect/>
          </a:stretch>
        </p:blipFill>
        <p:spPr>
          <a:xfrm>
            <a:off x="457200" y="1892808"/>
            <a:ext cx="8046720" cy="3621024"/>
          </a:xfrm>
          <a:prstGeom prst="rect">
            <a:avLst/>
          </a:prstGeom>
        </p:spPr>
      </p:pic>
      <p:sp>
        <p:nvSpPr>
          <p:cNvPr id="5" name="Shape 2"/>
          <p:cNvSpPr/>
          <p:nvPr/>
        </p:nvSpPr>
        <p:spPr>
          <a:xfrm>
            <a:off x="1046983" y="3603213"/>
            <a:ext cx="5474266" cy="926962"/>
          </a:xfrm>
          <a:custGeom>
            <a:avLst/>
            <a:gdLst/>
            <a:ahLst/>
            <a:cxnLst/>
            <a:rect l="l" t="t" r="r" b="b"/>
            <a:pathLst>
              <a:path w="5474266" h="926962">
                <a:moveTo>
                  <a:pt x="0" y="76665"/>
                </a:moveTo>
                <a:lnTo>
                  <a:pt x="28322" y="50694"/>
                </a:lnTo>
                <a:lnTo>
                  <a:pt x="50842" y="26755"/>
                </a:lnTo>
                <a:lnTo>
                  <a:pt x="65959" y="8800"/>
                </a:lnTo>
                <a:lnTo>
                  <a:pt x="73034" y="0"/>
                </a:lnTo>
                <a:lnTo>
                  <a:pt x="72472" y="2339"/>
                </a:lnTo>
                <a:lnTo>
                  <a:pt x="65672" y="16353"/>
                </a:lnTo>
                <a:lnTo>
                  <a:pt x="54843" y="41059"/>
                </a:lnTo>
                <a:lnTo>
                  <a:pt x="42717" y="74086"/>
                </a:lnTo>
                <a:lnTo>
                  <a:pt x="32196" y="111980"/>
                </a:lnTo>
                <a:lnTo>
                  <a:pt x="25972" y="150657"/>
                </a:lnTo>
                <a:lnTo>
                  <a:pt x="26180" y="185927"/>
                </a:lnTo>
                <a:lnTo>
                  <a:pt x="34118" y="214048"/>
                </a:lnTo>
                <a:lnTo>
                  <a:pt x="50079" y="232203"/>
                </a:lnTo>
                <a:lnTo>
                  <a:pt x="73314" y="238873"/>
                </a:lnTo>
                <a:lnTo>
                  <a:pt x="102130" y="234029"/>
                </a:lnTo>
                <a:lnTo>
                  <a:pt x="134105" y="219141"/>
                </a:lnTo>
                <a:lnTo>
                  <a:pt x="166410" y="196983"/>
                </a:lnTo>
                <a:lnTo>
                  <a:pt x="196171" y="171274"/>
                </a:lnTo>
                <a:lnTo>
                  <a:pt x="220845" y="146194"/>
                </a:lnTo>
                <a:lnTo>
                  <a:pt x="238552" y="125844"/>
                </a:lnTo>
                <a:lnTo>
                  <a:pt x="248314" y="113706"/>
                </a:lnTo>
                <a:lnTo>
                  <a:pt x="250189" y="112198"/>
                </a:lnTo>
                <a:lnTo>
                  <a:pt x="245258" y="122356"/>
                </a:lnTo>
                <a:lnTo>
                  <a:pt x="235487" y="143697"/>
                </a:lnTo>
                <a:lnTo>
                  <a:pt x="223472" y="174289"/>
                </a:lnTo>
                <a:lnTo>
                  <a:pt x="212098" y="210994"/>
                </a:lnTo>
                <a:lnTo>
                  <a:pt x="204171" y="249881"/>
                </a:lnTo>
                <a:lnTo>
                  <a:pt x="202045" y="286736"/>
                </a:lnTo>
                <a:lnTo>
                  <a:pt x="207322" y="317607"/>
                </a:lnTo>
                <a:lnTo>
                  <a:pt x="220641" y="339323"/>
                </a:lnTo>
                <a:lnTo>
                  <a:pt x="241597" y="349900"/>
                </a:lnTo>
                <a:lnTo>
                  <a:pt x="268791" y="348802"/>
                </a:lnTo>
                <a:lnTo>
                  <a:pt x="300014" y="337013"/>
                </a:lnTo>
                <a:lnTo>
                  <a:pt x="332534" y="316902"/>
                </a:lnTo>
                <a:lnTo>
                  <a:pt x="363449" y="291924"/>
                </a:lnTo>
                <a:lnTo>
                  <a:pt x="390067" y="266164"/>
                </a:lnTo>
                <a:lnTo>
                  <a:pt x="410253" y="243809"/>
                </a:lnTo>
                <a:lnTo>
                  <a:pt x="422710" y="228605"/>
                </a:lnTo>
                <a:lnTo>
                  <a:pt x="427142" y="223366"/>
                </a:lnTo>
                <a:lnTo>
                  <a:pt x="424301" y="229613"/>
                </a:lnTo>
                <a:lnTo>
                  <a:pt x="415880" y="247373"/>
                </a:lnTo>
                <a:lnTo>
                  <a:pt x="404298" y="275177"/>
                </a:lnTo>
                <a:lnTo>
                  <a:pt x="392388" y="310252"/>
                </a:lnTo>
                <a:lnTo>
                  <a:pt x="383021" y="348877"/>
                </a:lnTo>
                <a:lnTo>
                  <a:pt x="379378" y="387795"/>
                </a:lnTo>
                <a:lnTo>
                  <a:pt x="384261" y="422762"/>
                </a:lnTo>
                <a:lnTo>
                  <a:pt x="397978" y="449269"/>
                </a:lnTo>
                <a:lnTo>
                  <a:pt x="420091" y="463163"/>
                </a:lnTo>
                <a:lnTo>
                  <a:pt x="448257" y="463537"/>
                </a:lnTo>
                <a:lnTo>
                  <a:pt x="479259" y="451283"/>
                </a:lnTo>
                <a:lnTo>
                  <a:pt x="509120" y="428759"/>
                </a:lnTo>
                <a:lnTo>
                  <a:pt x="536709" y="400233"/>
                </a:lnTo>
                <a:lnTo>
                  <a:pt x="560554" y="370087"/>
                </a:lnTo>
                <a:lnTo>
                  <a:pt x="578999" y="342858"/>
                </a:lnTo>
                <a:lnTo>
                  <a:pt x="591088" y="322701"/>
                </a:lnTo>
                <a:lnTo>
                  <a:pt x="596692" y="312856"/>
                </a:lnTo>
                <a:lnTo>
                  <a:pt x="596524" y="315218"/>
                </a:lnTo>
                <a:lnTo>
                  <a:pt x="592049" y="330100"/>
                </a:lnTo>
                <a:lnTo>
                  <a:pt x="585288" y="356184"/>
                </a:lnTo>
                <a:lnTo>
                  <a:pt x="578565" y="390700"/>
                </a:lnTo>
                <a:lnTo>
                  <a:pt x="574193" y="429778"/>
                </a:lnTo>
                <a:lnTo>
                  <a:pt x="574183" y="468958"/>
                </a:lnTo>
                <a:lnTo>
                  <a:pt x="579978" y="503766"/>
                </a:lnTo>
                <a:lnTo>
                  <a:pt x="592267" y="530296"/>
                </a:lnTo>
                <a:lnTo>
                  <a:pt x="610894" y="545717"/>
                </a:lnTo>
                <a:lnTo>
                  <a:pt x="634881" y="548644"/>
                </a:lnTo>
                <a:lnTo>
                  <a:pt x="662552" y="539313"/>
                </a:lnTo>
                <a:lnTo>
                  <a:pt x="691753" y="519556"/>
                </a:lnTo>
                <a:lnTo>
                  <a:pt x="720129" y="492559"/>
                </a:lnTo>
                <a:lnTo>
                  <a:pt x="745436" y="462447"/>
                </a:lnTo>
                <a:lnTo>
                  <a:pt x="765825" y="433753"/>
                </a:lnTo>
                <a:lnTo>
                  <a:pt x="780089" y="410824"/>
                </a:lnTo>
                <a:lnTo>
                  <a:pt x="787816" y="397257"/>
                </a:lnTo>
                <a:lnTo>
                  <a:pt x="789444" y="395435"/>
                </a:lnTo>
                <a:lnTo>
                  <a:pt x="786202" y="406211"/>
                </a:lnTo>
                <a:lnTo>
                  <a:pt x="779954" y="428803"/>
                </a:lnTo>
                <a:lnTo>
                  <a:pt x="772954" y="460893"/>
                </a:lnTo>
                <a:lnTo>
                  <a:pt x="767554" y="498928"/>
                </a:lnTo>
                <a:lnTo>
                  <a:pt x="765897" y="538583"/>
                </a:lnTo>
                <a:lnTo>
                  <a:pt x="769640" y="575322"/>
                </a:lnTo>
                <a:lnTo>
                  <a:pt x="779739" y="604987"/>
                </a:lnTo>
                <a:lnTo>
                  <a:pt x="796324" y="624343"/>
                </a:lnTo>
                <a:lnTo>
                  <a:pt x="818680" y="631489"/>
                </a:lnTo>
                <a:lnTo>
                  <a:pt x="845344" y="626117"/>
                </a:lnTo>
                <a:lnTo>
                  <a:pt x="874292" y="609542"/>
                </a:lnTo>
                <a:lnTo>
                  <a:pt x="903205" y="584535"/>
                </a:lnTo>
                <a:lnTo>
                  <a:pt x="929765" y="554966"/>
                </a:lnTo>
                <a:lnTo>
                  <a:pt x="951963" y="525296"/>
                </a:lnTo>
                <a:lnTo>
                  <a:pt x="968356" y="499997"/>
                </a:lnTo>
                <a:lnTo>
                  <a:pt x="978256" y="482977"/>
                </a:lnTo>
                <a:lnTo>
                  <a:pt x="981816" y="477065"/>
                </a:lnTo>
                <a:lnTo>
                  <a:pt x="980018" y="483647"/>
                </a:lnTo>
                <a:lnTo>
                  <a:pt x="974535" y="502487"/>
                </a:lnTo>
                <a:lnTo>
                  <a:pt x="967523" y="531753"/>
                </a:lnTo>
                <a:lnTo>
                  <a:pt x="961335" y="568260"/>
                </a:lnTo>
                <a:lnTo>
                  <a:pt x="958565" y="609023"/>
                </a:lnTo>
                <a:lnTo>
                  <a:pt x="962993" y="649048"/>
                </a:lnTo>
                <a:lnTo>
                  <a:pt x="975353" y="683167"/>
                </a:lnTo>
                <a:lnTo>
                  <a:pt x="995558" y="704940"/>
                </a:lnTo>
                <a:lnTo>
                  <a:pt x="1021161" y="713363"/>
                </a:lnTo>
                <a:lnTo>
                  <a:pt x="1049340" y="707618"/>
                </a:lnTo>
                <a:lnTo>
                  <a:pt x="1074856" y="688999"/>
                </a:lnTo>
                <a:lnTo>
                  <a:pt x="1098771" y="660907"/>
                </a:lnTo>
                <a:lnTo>
                  <a:pt x="1119899" y="627317"/>
                </a:lnTo>
                <a:lnTo>
                  <a:pt x="1137032" y="592902"/>
                </a:lnTo>
                <a:lnTo>
                  <a:pt x="1149483" y="562443"/>
                </a:lnTo>
                <a:lnTo>
                  <a:pt x="1157170" y="540205"/>
                </a:lnTo>
                <a:lnTo>
                  <a:pt x="1160634" y="529388"/>
                </a:lnTo>
                <a:lnTo>
                  <a:pt x="1160962" y="531704"/>
                </a:lnTo>
                <a:lnTo>
                  <a:pt x="1159650" y="547160"/>
                </a:lnTo>
                <a:lnTo>
                  <a:pt x="1158407" y="574055"/>
                </a:lnTo>
                <a:lnTo>
                  <a:pt x="1158932" y="609202"/>
                </a:lnTo>
                <a:lnTo>
                  <a:pt x="1162695" y="648339"/>
                </a:lnTo>
                <a:lnTo>
                  <a:pt x="1170746" y="686688"/>
                </a:lnTo>
                <a:lnTo>
                  <a:pt x="1183577" y="719572"/>
                </a:lnTo>
                <a:lnTo>
                  <a:pt x="1201058" y="743026"/>
                </a:lnTo>
                <a:lnTo>
                  <a:pt x="1222456" y="754308"/>
                </a:lnTo>
                <a:lnTo>
                  <a:pt x="1246527" y="752261"/>
                </a:lnTo>
                <a:lnTo>
                  <a:pt x="1271681" y="737457"/>
                </a:lnTo>
                <a:lnTo>
                  <a:pt x="1296189" y="712128"/>
                </a:lnTo>
                <a:lnTo>
                  <a:pt x="1318402" y="679875"/>
                </a:lnTo>
                <a:lnTo>
                  <a:pt x="1336971" y="645196"/>
                </a:lnTo>
                <a:lnTo>
                  <a:pt x="1351023" y="612906"/>
                </a:lnTo>
                <a:lnTo>
                  <a:pt x="1360268" y="587510"/>
                </a:lnTo>
                <a:lnTo>
                  <a:pt x="1365044" y="572616"/>
                </a:lnTo>
                <a:lnTo>
                  <a:pt x="1366267" y="570467"/>
                </a:lnTo>
                <a:lnTo>
                  <a:pt x="1365318" y="581650"/>
                </a:lnTo>
                <a:lnTo>
                  <a:pt x="1363858" y="605020"/>
                </a:lnTo>
                <a:lnTo>
                  <a:pt x="1363614" y="637846"/>
                </a:lnTo>
                <a:lnTo>
                  <a:pt x="1366158" y="676171"/>
                </a:lnTo>
                <a:lnTo>
                  <a:pt x="1372695" y="715320"/>
                </a:lnTo>
                <a:lnTo>
                  <a:pt x="1383916" y="750514"/>
                </a:lnTo>
                <a:lnTo>
                  <a:pt x="1399900" y="777485"/>
                </a:lnTo>
                <a:lnTo>
                  <a:pt x="1420108" y="793037"/>
                </a:lnTo>
                <a:lnTo>
                  <a:pt x="1443451" y="795455"/>
                </a:lnTo>
                <a:lnTo>
                  <a:pt x="1468434" y="784733"/>
                </a:lnTo>
                <a:lnTo>
                  <a:pt x="1493349" y="762572"/>
                </a:lnTo>
                <a:lnTo>
                  <a:pt x="1516496" y="732160"/>
                </a:lnTo>
                <a:lnTo>
                  <a:pt x="1536403" y="697758"/>
                </a:lnTo>
                <a:lnTo>
                  <a:pt x="1552023" y="664143"/>
                </a:lnTo>
                <a:lnTo>
                  <a:pt x="1562864" y="635993"/>
                </a:lnTo>
                <a:lnTo>
                  <a:pt x="1569055" y="617273"/>
                </a:lnTo>
                <a:lnTo>
                  <a:pt x="1571329" y="610725"/>
                </a:lnTo>
                <a:lnTo>
                  <a:pt x="1570929" y="617507"/>
                </a:lnTo>
                <a:lnTo>
                  <a:pt x="1569445" y="637045"/>
                </a:lnTo>
                <a:lnTo>
                  <a:pt x="1568610" y="667108"/>
                </a:lnTo>
                <a:lnTo>
                  <a:pt x="1570068" y="704096"/>
                </a:lnTo>
                <a:lnTo>
                  <a:pt x="1575170" y="743509"/>
                </a:lnTo>
                <a:lnTo>
                  <a:pt x="1584790" y="780533"/>
                </a:lnTo>
                <a:lnTo>
                  <a:pt x="1599216" y="810663"/>
                </a:lnTo>
                <a:lnTo>
                  <a:pt x="1618112" y="830292"/>
                </a:lnTo>
                <a:lnTo>
                  <a:pt x="1640559" y="837175"/>
                </a:lnTo>
                <a:lnTo>
                  <a:pt x="1665180" y="830726"/>
                </a:lnTo>
                <a:lnTo>
                  <a:pt x="1690312" y="812091"/>
                </a:lnTo>
                <a:lnTo>
                  <a:pt x="1714226" y="783998"/>
                </a:lnTo>
                <a:lnTo>
                  <a:pt x="1735354" y="750408"/>
                </a:lnTo>
                <a:lnTo>
                  <a:pt x="1752488" y="715993"/>
                </a:lnTo>
                <a:lnTo>
                  <a:pt x="1764939" y="685534"/>
                </a:lnTo>
                <a:lnTo>
                  <a:pt x="1772626" y="663296"/>
                </a:lnTo>
                <a:lnTo>
                  <a:pt x="1776090" y="652479"/>
                </a:lnTo>
                <a:lnTo>
                  <a:pt x="1776418" y="654795"/>
                </a:lnTo>
                <a:lnTo>
                  <a:pt x="1775106" y="670251"/>
                </a:lnTo>
                <a:lnTo>
                  <a:pt x="1773862" y="697147"/>
                </a:lnTo>
                <a:lnTo>
                  <a:pt x="1773810" y="732771"/>
                </a:lnTo>
                <a:lnTo>
                  <a:pt x="1778421" y="772751"/>
                </a:lnTo>
                <a:lnTo>
                  <a:pt x="1788856" y="811959"/>
                </a:lnTo>
                <a:lnTo>
                  <a:pt x="1805334" y="843990"/>
                </a:lnTo>
                <a:lnTo>
                  <a:pt x="1826783" y="865842"/>
                </a:lnTo>
                <a:lnTo>
                  <a:pt x="1851470" y="874754"/>
                </a:lnTo>
                <a:lnTo>
                  <a:pt x="1875320" y="869689"/>
                </a:lnTo>
                <a:lnTo>
                  <a:pt x="1898389" y="851816"/>
                </a:lnTo>
                <a:lnTo>
                  <a:pt x="1919479" y="823583"/>
                </a:lnTo>
                <a:lnTo>
                  <a:pt x="1937413" y="788770"/>
                </a:lnTo>
                <a:lnTo>
                  <a:pt x="1951425" y="752011"/>
                </a:lnTo>
                <a:lnTo>
                  <a:pt x="1961259" y="718193"/>
                </a:lnTo>
                <a:lnTo>
                  <a:pt x="1967203" y="691820"/>
                </a:lnTo>
                <a:lnTo>
                  <a:pt x="1970048" y="676430"/>
                </a:lnTo>
                <a:lnTo>
                  <a:pt x="1970989" y="674132"/>
                </a:lnTo>
                <a:lnTo>
                  <a:pt x="1971469" y="685335"/>
                </a:lnTo>
                <a:lnTo>
                  <a:pt x="1972991" y="708693"/>
                </a:lnTo>
                <a:lnTo>
                  <a:pt x="1976922" y="741278"/>
                </a:lnTo>
                <a:lnTo>
                  <a:pt x="1984315" y="778966"/>
                </a:lnTo>
                <a:lnTo>
                  <a:pt x="1995775" y="816968"/>
                </a:lnTo>
                <a:lnTo>
                  <a:pt x="2011377" y="850454"/>
                </a:lnTo>
                <a:lnTo>
                  <a:pt x="2030658" y="875182"/>
                </a:lnTo>
                <a:lnTo>
                  <a:pt x="2052678" y="888047"/>
                </a:lnTo>
                <a:lnTo>
                  <a:pt x="2076139" y="887488"/>
                </a:lnTo>
                <a:lnTo>
                  <a:pt x="2099556" y="873686"/>
                </a:lnTo>
                <a:lnTo>
                  <a:pt x="2121453" y="848544"/>
                </a:lnTo>
                <a:lnTo>
                  <a:pt x="2140546" y="815440"/>
                </a:lnTo>
                <a:lnTo>
                  <a:pt x="2155921" y="778786"/>
                </a:lnTo>
                <a:lnTo>
                  <a:pt x="2167143" y="743455"/>
                </a:lnTo>
                <a:lnTo>
                  <a:pt x="2174319" y="714149"/>
                </a:lnTo>
                <a:lnTo>
                  <a:pt x="2178081" y="694785"/>
                </a:lnTo>
                <a:lnTo>
                  <a:pt x="2179505" y="687991"/>
                </a:lnTo>
                <a:lnTo>
                  <a:pt x="2179971" y="694758"/>
                </a:lnTo>
                <a:lnTo>
                  <a:pt x="2180983" y="714317"/>
                </a:lnTo>
                <a:lnTo>
                  <a:pt x="2183975" y="744235"/>
                </a:lnTo>
                <a:lnTo>
                  <a:pt x="2190122" y="780734"/>
                </a:lnTo>
                <a:lnTo>
                  <a:pt x="2200191" y="819179"/>
                </a:lnTo>
                <a:lnTo>
                  <a:pt x="2214438" y="854683"/>
                </a:lnTo>
                <a:lnTo>
                  <a:pt x="2232576" y="882742"/>
                </a:lnTo>
                <a:lnTo>
                  <a:pt x="2253812" y="899818"/>
                </a:lnTo>
                <a:lnTo>
                  <a:pt x="2276952" y="903801"/>
                </a:lnTo>
                <a:lnTo>
                  <a:pt x="2300553" y="894283"/>
                </a:lnTo>
                <a:lnTo>
                  <a:pt x="2323112" y="872612"/>
                </a:lnTo>
                <a:lnTo>
                  <a:pt x="2343263" y="841712"/>
                </a:lnTo>
                <a:lnTo>
                  <a:pt x="2359951" y="805710"/>
                </a:lnTo>
                <a:lnTo>
                  <a:pt x="2372572" y="769394"/>
                </a:lnTo>
                <a:lnTo>
                  <a:pt x="2381051" y="737593"/>
                </a:lnTo>
                <a:lnTo>
                  <a:pt x="2385851" y="714551"/>
                </a:lnTo>
                <a:lnTo>
                  <a:pt x="2387913" y="703371"/>
                </a:lnTo>
                <a:lnTo>
                  <a:pt x="2388533" y="705616"/>
                </a:lnTo>
                <a:lnTo>
                  <a:pt x="2389197" y="721104"/>
                </a:lnTo>
                <a:lnTo>
                  <a:pt x="2391382" y="747931"/>
                </a:lnTo>
                <a:lnTo>
                  <a:pt x="2396369" y="782721"/>
                </a:lnTo>
                <a:lnTo>
                  <a:pt x="2405076" y="821061"/>
                </a:lnTo>
                <a:lnTo>
                  <a:pt x="2417935" y="858077"/>
                </a:lnTo>
                <a:lnTo>
                  <a:pt x="2434841" y="889069"/>
                </a:lnTo>
                <a:lnTo>
                  <a:pt x="2455160" y="910119"/>
                </a:lnTo>
                <a:lnTo>
                  <a:pt x="2477817" y="918599"/>
                </a:lnTo>
                <a:lnTo>
                  <a:pt x="2501432" y="913517"/>
                </a:lnTo>
                <a:lnTo>
                  <a:pt x="2524501" y="895644"/>
                </a:lnTo>
                <a:lnTo>
                  <a:pt x="2545591" y="867411"/>
                </a:lnTo>
                <a:lnTo>
                  <a:pt x="2563525" y="832598"/>
                </a:lnTo>
                <a:lnTo>
                  <a:pt x="2577537" y="795839"/>
                </a:lnTo>
                <a:lnTo>
                  <a:pt x="2587371" y="762021"/>
                </a:lnTo>
                <a:lnTo>
                  <a:pt x="2593315" y="735648"/>
                </a:lnTo>
                <a:lnTo>
                  <a:pt x="2596160" y="720258"/>
                </a:lnTo>
                <a:lnTo>
                  <a:pt x="2597001" y="717957"/>
                </a:lnTo>
                <a:lnTo>
                  <a:pt x="2596093" y="729303"/>
                </a:lnTo>
                <a:lnTo>
                  <a:pt x="2596918" y="753127"/>
                </a:lnTo>
                <a:lnTo>
                  <a:pt x="2601263" y="786292"/>
                </a:lnTo>
                <a:lnTo>
                  <a:pt x="2610367" y="823539"/>
                </a:lnTo>
                <a:lnTo>
                  <a:pt x="2624667" y="860865"/>
                </a:lnTo>
                <a:lnTo>
                  <a:pt x="2643733" y="893222"/>
                </a:lnTo>
                <a:lnTo>
                  <a:pt x="2665156" y="916122"/>
                </a:lnTo>
                <a:lnTo>
                  <a:pt x="2688241" y="926962"/>
                </a:lnTo>
                <a:lnTo>
                  <a:pt x="2711557" y="924302"/>
                </a:lnTo>
                <a:lnTo>
                  <a:pt x="2733642" y="908457"/>
                </a:lnTo>
                <a:lnTo>
                  <a:pt x="2753194" y="881454"/>
                </a:lnTo>
                <a:lnTo>
                  <a:pt x="2769240" y="846771"/>
                </a:lnTo>
                <a:lnTo>
                  <a:pt x="2781263" y="808885"/>
                </a:lnTo>
                <a:lnTo>
                  <a:pt x="2789269" y="772688"/>
                </a:lnTo>
                <a:lnTo>
                  <a:pt x="2793786" y="742854"/>
                </a:lnTo>
                <a:lnTo>
                  <a:pt x="2795795" y="723228"/>
                </a:lnTo>
                <a:lnTo>
                  <a:pt x="2796604" y="716330"/>
                </a:lnTo>
                <a:lnTo>
                  <a:pt x="2797675" y="723025"/>
                </a:lnTo>
                <a:lnTo>
                  <a:pt x="2800438" y="742411"/>
                </a:lnTo>
                <a:lnTo>
                  <a:pt x="2806103" y="771938"/>
                </a:lnTo>
                <a:lnTo>
                  <a:pt x="2815501" y="807737"/>
                </a:lnTo>
                <a:lnTo>
                  <a:pt x="2828979" y="845123"/>
                </a:lnTo>
                <a:lnTo>
                  <a:pt x="2846354" y="879206"/>
                </a:lnTo>
                <a:lnTo>
                  <a:pt x="2866937" y="905526"/>
                </a:lnTo>
                <a:lnTo>
                  <a:pt x="2889620" y="920629"/>
                </a:lnTo>
                <a:lnTo>
                  <a:pt x="2913024" y="922523"/>
                </a:lnTo>
                <a:lnTo>
                  <a:pt x="2935675" y="910929"/>
                </a:lnTo>
                <a:lnTo>
                  <a:pt x="2956199" y="887322"/>
                </a:lnTo>
                <a:lnTo>
                  <a:pt x="2973496" y="854740"/>
                </a:lnTo>
                <a:lnTo>
                  <a:pt x="2986886" y="817386"/>
                </a:lnTo>
                <a:lnTo>
                  <a:pt x="2996197" y="780083"/>
                </a:lnTo>
                <a:lnTo>
                  <a:pt x="3001788" y="747648"/>
                </a:lnTo>
                <a:lnTo>
                  <a:pt x="3004501" y="724265"/>
                </a:lnTo>
                <a:lnTo>
                  <a:pt x="3005551" y="712942"/>
                </a:lnTo>
                <a:lnTo>
                  <a:pt x="3006371" y="715119"/>
                </a:lnTo>
                <a:lnTo>
                  <a:pt x="3008421" y="730482"/>
                </a:lnTo>
                <a:lnTo>
                  <a:pt x="3013005" y="757002"/>
                </a:lnTo>
                <a:lnTo>
                  <a:pt x="3021094" y="791202"/>
                </a:lnTo>
                <a:lnTo>
                  <a:pt x="3033206" y="828606"/>
                </a:lnTo>
                <a:lnTo>
                  <a:pt x="3049335" y="864320"/>
                </a:lnTo>
                <a:lnTo>
                  <a:pt x="3068954" y="893671"/>
                </a:lnTo>
                <a:lnTo>
                  <a:pt x="3091080" y="912815"/>
                </a:lnTo>
                <a:lnTo>
                  <a:pt x="3114406" y="919230"/>
                </a:lnTo>
                <a:lnTo>
                  <a:pt x="3137470" y="912052"/>
                </a:lnTo>
                <a:lnTo>
                  <a:pt x="3158842" y="892183"/>
                </a:lnTo>
                <a:lnTo>
                  <a:pt x="3177313" y="862174"/>
                </a:lnTo>
                <a:lnTo>
                  <a:pt x="3192051" y="825892"/>
                </a:lnTo>
                <a:lnTo>
                  <a:pt x="3202708" y="788023"/>
                </a:lnTo>
                <a:lnTo>
                  <a:pt x="3209468" y="753457"/>
                </a:lnTo>
                <a:lnTo>
                  <a:pt x="3213021" y="726655"/>
                </a:lnTo>
                <a:lnTo>
                  <a:pt x="3214473" y="711069"/>
                </a:lnTo>
                <a:lnTo>
                  <a:pt x="3215204" y="708693"/>
                </a:lnTo>
                <a:lnTo>
                  <a:pt x="3216688" y="719804"/>
                </a:lnTo>
                <a:lnTo>
                  <a:pt x="3220300" y="742928"/>
                </a:lnTo>
                <a:lnTo>
                  <a:pt x="3227139" y="775027"/>
                </a:lnTo>
                <a:lnTo>
                  <a:pt x="3237884" y="811899"/>
                </a:lnTo>
                <a:lnTo>
                  <a:pt x="3252708" y="848719"/>
                </a:lnTo>
                <a:lnTo>
                  <a:pt x="3271252" y="880671"/>
                </a:lnTo>
                <a:lnTo>
                  <a:pt x="3292674" y="903572"/>
                </a:lnTo>
                <a:lnTo>
                  <a:pt x="3315760" y="914412"/>
                </a:lnTo>
                <a:lnTo>
                  <a:pt x="3339076" y="911752"/>
                </a:lnTo>
                <a:lnTo>
                  <a:pt x="3361160" y="895907"/>
                </a:lnTo>
                <a:lnTo>
                  <a:pt x="3380712" y="868903"/>
                </a:lnTo>
                <a:lnTo>
                  <a:pt x="3396758" y="834221"/>
                </a:lnTo>
                <a:lnTo>
                  <a:pt x="3408781" y="796335"/>
                </a:lnTo>
                <a:lnTo>
                  <a:pt x="3416788" y="760138"/>
                </a:lnTo>
                <a:lnTo>
                  <a:pt x="3421190" y="730275"/>
                </a:lnTo>
                <a:lnTo>
                  <a:pt x="3422798" y="710630"/>
                </a:lnTo>
                <a:lnTo>
                  <a:pt x="3423174" y="703802"/>
                </a:lnTo>
                <a:lnTo>
                  <a:pt x="3423935" y="710544"/>
                </a:lnTo>
                <a:lnTo>
                  <a:pt x="3426647" y="729861"/>
                </a:lnTo>
                <a:lnTo>
                  <a:pt x="3432618" y="759328"/>
                </a:lnTo>
                <a:lnTo>
                  <a:pt x="3442719" y="794972"/>
                </a:lnTo>
                <a:lnTo>
                  <a:pt x="3457047" y="832041"/>
                </a:lnTo>
                <a:lnTo>
                  <a:pt x="3475196" y="865719"/>
                </a:lnTo>
                <a:lnTo>
                  <a:pt x="3496374" y="891562"/>
                </a:lnTo>
                <a:lnTo>
                  <a:pt x="3519396" y="906145"/>
                </a:lnTo>
                <a:lnTo>
                  <a:pt x="3542837" y="907504"/>
                </a:lnTo>
                <a:lnTo>
                  <a:pt x="3565218" y="895396"/>
                </a:lnTo>
                <a:lnTo>
                  <a:pt x="3585198" y="871328"/>
                </a:lnTo>
                <a:lnTo>
                  <a:pt x="3601746" y="838360"/>
                </a:lnTo>
                <a:lnTo>
                  <a:pt x="3614280" y="800710"/>
                </a:lnTo>
                <a:lnTo>
                  <a:pt x="3622738" y="763204"/>
                </a:lnTo>
                <a:lnTo>
                  <a:pt x="3627587" y="730649"/>
                </a:lnTo>
                <a:lnTo>
                  <a:pt x="3629765" y="707210"/>
                </a:lnTo>
                <a:lnTo>
                  <a:pt x="3630557" y="695865"/>
                </a:lnTo>
                <a:lnTo>
                  <a:pt x="3631426" y="698022"/>
                </a:lnTo>
                <a:lnTo>
                  <a:pt x="3633826" y="713333"/>
                </a:lnTo>
                <a:lnTo>
                  <a:pt x="3639014" y="739742"/>
                </a:lnTo>
                <a:lnTo>
                  <a:pt x="3647882" y="773748"/>
                </a:lnTo>
                <a:lnTo>
                  <a:pt x="3660844" y="810865"/>
                </a:lnTo>
                <a:lnTo>
                  <a:pt x="3677784" y="846201"/>
                </a:lnTo>
                <a:lnTo>
                  <a:pt x="3698068" y="875098"/>
                </a:lnTo>
                <a:lnTo>
                  <a:pt x="3720625" y="893732"/>
                </a:lnTo>
                <a:lnTo>
                  <a:pt x="3744092" y="899614"/>
                </a:lnTo>
                <a:lnTo>
                  <a:pt x="3766986" y="891912"/>
                </a:lnTo>
                <a:lnTo>
                  <a:pt x="3787899" y="871561"/>
                </a:lnTo>
                <a:lnTo>
                  <a:pt x="3805680" y="841138"/>
                </a:lnTo>
                <a:lnTo>
                  <a:pt x="3819586" y="804530"/>
                </a:lnTo>
                <a:lnTo>
                  <a:pt x="3829376" y="766428"/>
                </a:lnTo>
                <a:lnTo>
                  <a:pt x="3835345" y="731716"/>
                </a:lnTo>
                <a:lnTo>
                  <a:pt x="3838285" y="704839"/>
                </a:lnTo>
                <a:lnTo>
                  <a:pt x="3839381" y="689223"/>
                </a:lnTo>
                <a:lnTo>
                  <a:pt x="3840058" y="686830"/>
                </a:lnTo>
                <a:lnTo>
                  <a:pt x="3841795" y="697904"/>
                </a:lnTo>
                <a:lnTo>
                  <a:pt x="3845934" y="720938"/>
                </a:lnTo>
                <a:lnTo>
                  <a:pt x="3853503" y="752873"/>
                </a:lnTo>
                <a:lnTo>
                  <a:pt x="3865087" y="789489"/>
                </a:lnTo>
                <a:lnTo>
                  <a:pt x="3880748" y="825962"/>
                </a:lnTo>
                <a:lnTo>
                  <a:pt x="3900016" y="857483"/>
                </a:lnTo>
                <a:lnTo>
                  <a:pt x="3921956" y="879888"/>
                </a:lnTo>
                <a:lnTo>
                  <a:pt x="3945283" y="890200"/>
                </a:lnTo>
                <a:lnTo>
                  <a:pt x="3968532" y="887009"/>
                </a:lnTo>
                <a:lnTo>
                  <a:pt x="3992175" y="870157"/>
                </a:lnTo>
                <a:lnTo>
                  <a:pt x="4012424" y="841536"/>
                </a:lnTo>
                <a:lnTo>
                  <a:pt x="4026455" y="805251"/>
                </a:lnTo>
                <a:lnTo>
                  <a:pt x="4033457" y="764895"/>
                </a:lnTo>
                <a:lnTo>
                  <a:pt x="4034134" y="726344"/>
                </a:lnTo>
                <a:lnTo>
                  <a:pt x="4030398" y="695499"/>
                </a:lnTo>
                <a:lnTo>
                  <a:pt x="4027094" y="675846"/>
                </a:lnTo>
                <a:lnTo>
                  <a:pt x="4026332" y="668881"/>
                </a:lnTo>
                <a:lnTo>
                  <a:pt x="4028852" y="675110"/>
                </a:lnTo>
                <a:lnTo>
                  <a:pt x="4035849" y="693342"/>
                </a:lnTo>
                <a:lnTo>
                  <a:pt x="4047934" y="720827"/>
                </a:lnTo>
                <a:lnTo>
                  <a:pt x="4065059" y="753613"/>
                </a:lnTo>
                <a:lnTo>
                  <a:pt x="4086521" y="787058"/>
                </a:lnTo>
                <a:lnTo>
                  <a:pt x="4111052" y="816435"/>
                </a:lnTo>
                <a:lnTo>
                  <a:pt x="4136985" y="837546"/>
                </a:lnTo>
                <a:lnTo>
                  <a:pt x="4162472" y="847265"/>
                </a:lnTo>
                <a:lnTo>
                  <a:pt x="4185723" y="843950"/>
                </a:lnTo>
                <a:lnTo>
                  <a:pt x="4205236" y="827651"/>
                </a:lnTo>
                <a:lnTo>
                  <a:pt x="4219999" y="800105"/>
                </a:lnTo>
                <a:lnTo>
                  <a:pt x="4229615" y="764513"/>
                </a:lnTo>
                <a:lnTo>
                  <a:pt x="4234355" y="725120"/>
                </a:lnTo>
                <a:lnTo>
                  <a:pt x="4235125" y="686664"/>
                </a:lnTo>
                <a:lnTo>
                  <a:pt x="4233347" y="653765"/>
                </a:lnTo>
                <a:lnTo>
                  <a:pt x="4230774" y="630316"/>
                </a:lnTo>
                <a:lnTo>
                  <a:pt x="4229263" y="618985"/>
                </a:lnTo>
                <a:lnTo>
                  <a:pt x="4230531" y="620865"/>
                </a:lnTo>
                <a:lnTo>
                  <a:pt x="4235936" y="635330"/>
                </a:lnTo>
                <a:lnTo>
                  <a:pt x="4246297" y="660120"/>
                </a:lnTo>
                <a:lnTo>
                  <a:pt x="4261790" y="691632"/>
                </a:lnTo>
                <a:lnTo>
                  <a:pt x="4281922" y="725392"/>
                </a:lnTo>
                <a:lnTo>
                  <a:pt x="4305599" y="756630"/>
                </a:lnTo>
                <a:lnTo>
                  <a:pt x="4331266" y="780905"/>
                </a:lnTo>
                <a:lnTo>
                  <a:pt x="4357108" y="794684"/>
                </a:lnTo>
                <a:lnTo>
                  <a:pt x="4381290" y="795794"/>
                </a:lnTo>
                <a:lnTo>
                  <a:pt x="4402189" y="783710"/>
                </a:lnTo>
                <a:lnTo>
                  <a:pt x="4418613" y="759623"/>
                </a:lnTo>
                <a:lnTo>
                  <a:pt x="4429947" y="726283"/>
                </a:lnTo>
                <a:lnTo>
                  <a:pt x="4436241" y="687642"/>
                </a:lnTo>
                <a:lnTo>
                  <a:pt x="4438198" y="648342"/>
                </a:lnTo>
                <a:lnTo>
                  <a:pt x="4437087" y="613111"/>
                </a:lnTo>
                <a:lnTo>
                  <a:pt x="4434573" y="586145"/>
                </a:lnTo>
                <a:lnTo>
                  <a:pt x="4432505" y="570571"/>
                </a:lnTo>
                <a:lnTo>
                  <a:pt x="4432674" y="568031"/>
                </a:lnTo>
                <a:lnTo>
                  <a:pt x="4436580" y="578476"/>
                </a:lnTo>
                <a:lnTo>
                  <a:pt x="4445236" y="600166"/>
                </a:lnTo>
                <a:lnTo>
                  <a:pt x="4459040" y="629904"/>
                </a:lnTo>
                <a:lnTo>
                  <a:pt x="4477720" y="663442"/>
                </a:lnTo>
                <a:lnTo>
                  <a:pt x="4500369" y="696043"/>
                </a:lnTo>
                <a:lnTo>
                  <a:pt x="4525566" y="723088"/>
                </a:lnTo>
                <a:lnTo>
                  <a:pt x="4551558" y="740681"/>
                </a:lnTo>
                <a:lnTo>
                  <a:pt x="4576489" y="746157"/>
                </a:lnTo>
                <a:lnTo>
                  <a:pt x="4598640" y="738423"/>
                </a:lnTo>
                <a:lnTo>
                  <a:pt x="4616655" y="718103"/>
                </a:lnTo>
                <a:lnTo>
                  <a:pt x="4629713" y="687458"/>
                </a:lnTo>
                <a:lnTo>
                  <a:pt x="4637640" y="650091"/>
                </a:lnTo>
                <a:lnTo>
                  <a:pt x="4640543" y="609948"/>
                </a:lnTo>
                <a:lnTo>
                  <a:pt x="4638109" y="572717"/>
                </a:lnTo>
                <a:lnTo>
                  <a:pt x="4632322" y="543381"/>
                </a:lnTo>
                <a:lnTo>
                  <a:pt x="4625573" y="524150"/>
                </a:lnTo>
                <a:lnTo>
                  <a:pt x="4621053" y="517578"/>
                </a:lnTo>
                <a:lnTo>
                  <a:pt x="4621768" y="524308"/>
                </a:lnTo>
                <a:lnTo>
                  <a:pt x="4630977" y="541495"/>
                </a:lnTo>
                <a:lnTo>
                  <a:pt x="4647468" y="566555"/>
                </a:lnTo>
                <a:lnTo>
                  <a:pt x="4669817" y="596011"/>
                </a:lnTo>
                <a:lnTo>
                  <a:pt x="4696557" y="625405"/>
                </a:lnTo>
                <a:lnTo>
                  <a:pt x="4725649" y="650288"/>
                </a:lnTo>
                <a:lnTo>
                  <a:pt x="4754749" y="666796"/>
                </a:lnTo>
                <a:lnTo>
                  <a:pt x="4781512" y="672155"/>
                </a:lnTo>
                <a:lnTo>
                  <a:pt x="4803897" y="665037"/>
                </a:lnTo>
                <a:lnTo>
                  <a:pt x="4820431" y="645740"/>
                </a:lnTo>
                <a:lnTo>
                  <a:pt x="4830402" y="616141"/>
                </a:lnTo>
                <a:lnTo>
                  <a:pt x="4833951" y="579457"/>
                </a:lnTo>
                <a:lnTo>
                  <a:pt x="4832054" y="539828"/>
                </a:lnTo>
                <a:lnTo>
                  <a:pt x="4826393" y="501774"/>
                </a:lnTo>
                <a:lnTo>
                  <a:pt x="4819143" y="469611"/>
                </a:lnTo>
                <a:lnTo>
                  <a:pt x="4812681" y="446889"/>
                </a:lnTo>
                <a:lnTo>
                  <a:pt x="4809285" y="435934"/>
                </a:lnTo>
                <a:lnTo>
                  <a:pt x="4810833" y="437538"/>
                </a:lnTo>
                <a:lnTo>
                  <a:pt x="4818560" y="450865"/>
                </a:lnTo>
                <a:lnTo>
                  <a:pt x="4832900" y="473551"/>
                </a:lnTo>
                <a:lnTo>
                  <a:pt x="4853424" y="502020"/>
                </a:lnTo>
                <a:lnTo>
                  <a:pt x="4878904" y="531942"/>
                </a:lnTo>
                <a:lnTo>
                  <a:pt x="4907463" y="558799"/>
                </a:lnTo>
                <a:lnTo>
                  <a:pt x="4936828" y="578470"/>
                </a:lnTo>
                <a:lnTo>
                  <a:pt x="4964618" y="587769"/>
                </a:lnTo>
                <a:lnTo>
                  <a:pt x="4988659" y="584859"/>
                </a:lnTo>
                <a:lnTo>
                  <a:pt x="5007263" y="569488"/>
                </a:lnTo>
                <a:lnTo>
                  <a:pt x="5019448" y="543024"/>
                </a:lnTo>
                <a:lnTo>
                  <a:pt x="5025069" y="508277"/>
                </a:lnTo>
                <a:lnTo>
                  <a:pt x="5024832" y="469135"/>
                </a:lnTo>
                <a:lnTo>
                  <a:pt x="5020203" y="430053"/>
                </a:lnTo>
                <a:lnTo>
                  <a:pt x="5013222" y="395483"/>
                </a:lnTo>
                <a:lnTo>
                  <a:pt x="5006233" y="369288"/>
                </a:lnTo>
                <a:lnTo>
                  <a:pt x="5001581" y="354243"/>
                </a:lnTo>
                <a:lnTo>
                  <a:pt x="5001308" y="351673"/>
                </a:lnTo>
                <a:lnTo>
                  <a:pt x="5006885" y="361284"/>
                </a:lnTo>
                <a:lnTo>
                  <a:pt x="5019026" y="381196"/>
                </a:lnTo>
                <a:lnTo>
                  <a:pt x="5037588" y="408193"/>
                </a:lnTo>
                <a:lnTo>
                  <a:pt x="5061597" y="438135"/>
                </a:lnTo>
                <a:lnTo>
                  <a:pt x="5089368" y="466503"/>
                </a:lnTo>
                <a:lnTo>
                  <a:pt x="5118730" y="488979"/>
                </a:lnTo>
                <a:lnTo>
                  <a:pt x="5147303" y="502013"/>
                </a:lnTo>
                <a:lnTo>
                  <a:pt x="5172810" y="503282"/>
                </a:lnTo>
                <a:lnTo>
                  <a:pt x="5193374" y="491991"/>
                </a:lnTo>
                <a:lnTo>
                  <a:pt x="5207758" y="468978"/>
                </a:lnTo>
                <a:lnTo>
                  <a:pt x="5215530" y="436604"/>
                </a:lnTo>
                <a:lnTo>
                  <a:pt x="5217117" y="398448"/>
                </a:lnTo>
                <a:lnTo>
                  <a:pt x="5213749" y="358839"/>
                </a:lnTo>
                <a:lnTo>
                  <a:pt x="5207301" y="322296"/>
                </a:lnTo>
                <a:lnTo>
                  <a:pt x="5200047" y="292938"/>
                </a:lnTo>
                <a:lnTo>
                  <a:pt x="5194369" y="273952"/>
                </a:lnTo>
                <a:lnTo>
                  <a:pt x="5192439" y="267175"/>
                </a:lnTo>
                <a:lnTo>
                  <a:pt x="5195947" y="272860"/>
                </a:lnTo>
                <a:lnTo>
                  <a:pt x="5205872" y="289636"/>
                </a:lnTo>
                <a:lnTo>
                  <a:pt x="5222363" y="314696"/>
                </a:lnTo>
                <a:lnTo>
                  <a:pt x="5244712" y="344152"/>
                </a:lnTo>
                <a:lnTo>
                  <a:pt x="5271452" y="373546"/>
                </a:lnTo>
                <a:lnTo>
                  <a:pt x="5300544" y="398429"/>
                </a:lnTo>
                <a:lnTo>
                  <a:pt x="5329644" y="414937"/>
                </a:lnTo>
                <a:lnTo>
                  <a:pt x="5356407" y="420296"/>
                </a:lnTo>
                <a:lnTo>
                  <a:pt x="5378792" y="413179"/>
                </a:lnTo>
                <a:lnTo>
                  <a:pt x="5395326" y="393881"/>
                </a:lnTo>
                <a:lnTo>
                  <a:pt x="5405297" y="364282"/>
                </a:lnTo>
                <a:lnTo>
                  <a:pt x="5408846" y="327599"/>
                </a:lnTo>
                <a:lnTo>
                  <a:pt x="5406949" y="287969"/>
                </a:lnTo>
                <a:lnTo>
                  <a:pt x="5401289" y="249915"/>
                </a:lnTo>
                <a:lnTo>
                  <a:pt x="5394038" y="217752"/>
                </a:lnTo>
                <a:lnTo>
                  <a:pt x="5387576" y="195031"/>
                </a:lnTo>
                <a:lnTo>
                  <a:pt x="5384180" y="184075"/>
                </a:lnTo>
                <a:lnTo>
                  <a:pt x="5385728" y="185680"/>
                </a:lnTo>
                <a:lnTo>
                  <a:pt x="5393455" y="199006"/>
                </a:lnTo>
                <a:lnTo>
                  <a:pt x="5407795" y="221692"/>
                </a:lnTo>
                <a:lnTo>
                  <a:pt x="5428320" y="250161"/>
                </a:lnTo>
                <a:lnTo>
                  <a:pt x="5453799" y="280083"/>
                </a:lnTo>
                <a:lnTo>
                  <a:pt x="5474266" y="300058"/>
                </a:lnTo>
              </a:path>
            </a:pathLst>
          </a:custGeom>
          <a:ln w="31750">
            <a:solidFill>
              <a:srgbClr val="C00000"/>
            </a:solidFill>
            <a:prstDash val="solid"/>
          </a:ln>
        </p:spPr>
        <p:txBody>
          <a:bodyPr/>
          <a:lstStyle/>
          <a:p>
            <a:endParaRPr lang="en-US"/>
          </a:p>
        </p:txBody>
      </p:sp>
      <p:sp>
        <p:nvSpPr>
          <p:cNvPr id="6" name="Shape 3"/>
          <p:cNvSpPr/>
          <p:nvPr/>
        </p:nvSpPr>
        <p:spPr>
          <a:xfrm>
            <a:off x="6894576" y="3128742"/>
            <a:ext cx="1670600" cy="986180"/>
          </a:xfrm>
          <a:custGeom>
            <a:avLst/>
            <a:gdLst/>
            <a:ahLst/>
            <a:cxnLst/>
            <a:rect l="l" t="t" r="r" b="b"/>
            <a:pathLst>
              <a:path w="1670600" h="986180">
                <a:moveTo>
                  <a:pt x="0" y="655045"/>
                </a:moveTo>
                <a:lnTo>
                  <a:pt x="7846" y="636704"/>
                </a:lnTo>
                <a:lnTo>
                  <a:pt x="14366" y="619542"/>
                </a:lnTo>
                <a:lnTo>
                  <a:pt x="19812" y="604393"/>
                </a:lnTo>
                <a:lnTo>
                  <a:pt x="24481" y="592032"/>
                </a:lnTo>
                <a:lnTo>
                  <a:pt x="28698" y="583143"/>
                </a:lnTo>
                <a:lnTo>
                  <a:pt x="32817" y="578304"/>
                </a:lnTo>
                <a:lnTo>
                  <a:pt x="37201" y="577967"/>
                </a:lnTo>
                <a:lnTo>
                  <a:pt x="42220" y="582439"/>
                </a:lnTo>
                <a:lnTo>
                  <a:pt x="48234" y="591875"/>
                </a:lnTo>
                <a:lnTo>
                  <a:pt x="55583" y="606267"/>
                </a:lnTo>
                <a:lnTo>
                  <a:pt x="64580" y="625440"/>
                </a:lnTo>
                <a:lnTo>
                  <a:pt x="75498" y="649057"/>
                </a:lnTo>
                <a:lnTo>
                  <a:pt x="88562" y="676620"/>
                </a:lnTo>
                <a:lnTo>
                  <a:pt x="103941" y="707478"/>
                </a:lnTo>
                <a:lnTo>
                  <a:pt x="121741" y="740849"/>
                </a:lnTo>
                <a:lnTo>
                  <a:pt x="142001" y="775828"/>
                </a:lnTo>
                <a:lnTo>
                  <a:pt x="164691" y="811412"/>
                </a:lnTo>
                <a:lnTo>
                  <a:pt x="189706" y="846527"/>
                </a:lnTo>
                <a:lnTo>
                  <a:pt x="216870" y="880049"/>
                </a:lnTo>
                <a:lnTo>
                  <a:pt x="245936" y="910836"/>
                </a:lnTo>
                <a:lnTo>
                  <a:pt x="276592" y="937756"/>
                </a:lnTo>
                <a:lnTo>
                  <a:pt x="308465" y="959719"/>
                </a:lnTo>
                <a:lnTo>
                  <a:pt x="341129" y="975703"/>
                </a:lnTo>
                <a:lnTo>
                  <a:pt x="374111" y="984788"/>
                </a:lnTo>
                <a:lnTo>
                  <a:pt x="406909" y="986180"/>
                </a:lnTo>
                <a:lnTo>
                  <a:pt x="438993" y="979237"/>
                </a:lnTo>
                <a:lnTo>
                  <a:pt x="467971" y="958894"/>
                </a:lnTo>
                <a:lnTo>
                  <a:pt x="490897" y="922002"/>
                </a:lnTo>
                <a:lnTo>
                  <a:pt x="510936" y="879080"/>
                </a:lnTo>
                <a:lnTo>
                  <a:pt x="527940" y="830859"/>
                </a:lnTo>
                <a:lnTo>
                  <a:pt x="541814" y="778171"/>
                </a:lnTo>
                <a:lnTo>
                  <a:pt x="552523" y="721926"/>
                </a:lnTo>
                <a:lnTo>
                  <a:pt x="560086" y="663099"/>
                </a:lnTo>
                <a:lnTo>
                  <a:pt x="564581" y="602713"/>
                </a:lnTo>
                <a:lnTo>
                  <a:pt x="566140" y="541817"/>
                </a:lnTo>
                <a:lnTo>
                  <a:pt x="564951" y="481471"/>
                </a:lnTo>
                <a:lnTo>
                  <a:pt x="561247" y="422724"/>
                </a:lnTo>
                <a:lnTo>
                  <a:pt x="555312" y="366597"/>
                </a:lnTo>
                <a:lnTo>
                  <a:pt x="547466" y="314063"/>
                </a:lnTo>
                <a:lnTo>
                  <a:pt x="538065" y="266030"/>
                </a:lnTo>
                <a:lnTo>
                  <a:pt x="527495" y="223324"/>
                </a:lnTo>
                <a:lnTo>
                  <a:pt x="516160" y="186676"/>
                </a:lnTo>
                <a:lnTo>
                  <a:pt x="504480" y="156706"/>
                </a:lnTo>
                <a:lnTo>
                  <a:pt x="492880" y="133914"/>
                </a:lnTo>
                <a:lnTo>
                  <a:pt x="481786" y="118669"/>
                </a:lnTo>
                <a:lnTo>
                  <a:pt x="471611" y="111205"/>
                </a:lnTo>
                <a:lnTo>
                  <a:pt x="462755" y="111614"/>
                </a:lnTo>
                <a:lnTo>
                  <a:pt x="455592" y="119846"/>
                </a:lnTo>
                <a:lnTo>
                  <a:pt x="450465" y="135708"/>
                </a:lnTo>
                <a:lnTo>
                  <a:pt x="447682" y="158871"/>
                </a:lnTo>
                <a:lnTo>
                  <a:pt x="447507" y="188872"/>
                </a:lnTo>
                <a:lnTo>
                  <a:pt x="450158" y="225126"/>
                </a:lnTo>
                <a:lnTo>
                  <a:pt x="455801" y="266935"/>
                </a:lnTo>
                <a:lnTo>
                  <a:pt x="464548" y="313497"/>
                </a:lnTo>
                <a:lnTo>
                  <a:pt x="476454" y="363927"/>
                </a:lnTo>
                <a:lnTo>
                  <a:pt x="491520" y="417271"/>
                </a:lnTo>
                <a:lnTo>
                  <a:pt x="509686" y="472519"/>
                </a:lnTo>
                <a:lnTo>
                  <a:pt x="530837" y="528628"/>
                </a:lnTo>
                <a:lnTo>
                  <a:pt x="554806" y="584541"/>
                </a:lnTo>
                <a:lnTo>
                  <a:pt x="581372" y="639202"/>
                </a:lnTo>
                <a:lnTo>
                  <a:pt x="610269" y="691579"/>
                </a:lnTo>
                <a:lnTo>
                  <a:pt x="641187" y="740681"/>
                </a:lnTo>
                <a:lnTo>
                  <a:pt x="673782" y="785576"/>
                </a:lnTo>
                <a:lnTo>
                  <a:pt x="707679" y="825409"/>
                </a:lnTo>
                <a:lnTo>
                  <a:pt x="742476" y="859417"/>
                </a:lnTo>
                <a:lnTo>
                  <a:pt x="777760" y="886940"/>
                </a:lnTo>
                <a:lnTo>
                  <a:pt x="813104" y="907438"/>
                </a:lnTo>
                <a:lnTo>
                  <a:pt x="848085" y="920497"/>
                </a:lnTo>
                <a:lnTo>
                  <a:pt x="882283" y="925838"/>
                </a:lnTo>
                <a:lnTo>
                  <a:pt x="915293" y="923320"/>
                </a:lnTo>
                <a:lnTo>
                  <a:pt x="946732" y="912948"/>
                </a:lnTo>
                <a:lnTo>
                  <a:pt x="976245" y="894865"/>
                </a:lnTo>
                <a:lnTo>
                  <a:pt x="1003513" y="869357"/>
                </a:lnTo>
                <a:lnTo>
                  <a:pt x="1028255" y="836841"/>
                </a:lnTo>
                <a:lnTo>
                  <a:pt x="1050238" y="797865"/>
                </a:lnTo>
                <a:lnTo>
                  <a:pt x="1069279" y="753089"/>
                </a:lnTo>
                <a:lnTo>
                  <a:pt x="1085247" y="703283"/>
                </a:lnTo>
                <a:lnTo>
                  <a:pt x="1098068" y="649304"/>
                </a:lnTo>
                <a:lnTo>
                  <a:pt x="1107723" y="592088"/>
                </a:lnTo>
                <a:lnTo>
                  <a:pt x="1114252" y="532626"/>
                </a:lnTo>
                <a:lnTo>
                  <a:pt x="1117751" y="471952"/>
                </a:lnTo>
                <a:lnTo>
                  <a:pt x="1118371" y="411122"/>
                </a:lnTo>
                <a:lnTo>
                  <a:pt x="1116315" y="351193"/>
                </a:lnTo>
                <a:lnTo>
                  <a:pt x="1111834" y="293208"/>
                </a:lnTo>
                <a:lnTo>
                  <a:pt x="1105224" y="238174"/>
                </a:lnTo>
                <a:lnTo>
                  <a:pt x="1096818" y="187043"/>
                </a:lnTo>
                <a:lnTo>
                  <a:pt x="1086984" y="140698"/>
                </a:lnTo>
                <a:lnTo>
                  <a:pt x="1076113" y="99935"/>
                </a:lnTo>
                <a:lnTo>
                  <a:pt x="1064616" y="65450"/>
                </a:lnTo>
                <a:lnTo>
                  <a:pt x="1052915" y="37824"/>
                </a:lnTo>
                <a:lnTo>
                  <a:pt x="1041438" y="17513"/>
                </a:lnTo>
                <a:lnTo>
                  <a:pt x="1030604" y="4843"/>
                </a:lnTo>
                <a:lnTo>
                  <a:pt x="1020826" y="0"/>
                </a:lnTo>
                <a:lnTo>
                  <a:pt x="1012494" y="3029"/>
                </a:lnTo>
                <a:lnTo>
                  <a:pt x="1005972" y="13832"/>
                </a:lnTo>
                <a:lnTo>
                  <a:pt x="1001595" y="32171"/>
                </a:lnTo>
                <a:lnTo>
                  <a:pt x="999654" y="57671"/>
                </a:lnTo>
                <a:lnTo>
                  <a:pt x="1000399" y="89828"/>
                </a:lnTo>
                <a:lnTo>
                  <a:pt x="1004032" y="128017"/>
                </a:lnTo>
                <a:lnTo>
                  <a:pt x="1010699" y="171503"/>
                </a:lnTo>
                <a:lnTo>
                  <a:pt x="1020496" y="219457"/>
                </a:lnTo>
                <a:lnTo>
                  <a:pt x="1033459" y="270967"/>
                </a:lnTo>
                <a:lnTo>
                  <a:pt x="1049568" y="325060"/>
                </a:lnTo>
                <a:lnTo>
                  <a:pt x="1068744" y="380712"/>
                </a:lnTo>
                <a:lnTo>
                  <a:pt x="1090856" y="436874"/>
                </a:lnTo>
                <a:lnTo>
                  <a:pt x="1115717" y="492486"/>
                </a:lnTo>
                <a:lnTo>
                  <a:pt x="1143092" y="546498"/>
                </a:lnTo>
                <a:lnTo>
                  <a:pt x="1172699" y="597891"/>
                </a:lnTo>
                <a:lnTo>
                  <a:pt x="1204216" y="645691"/>
                </a:lnTo>
                <a:lnTo>
                  <a:pt x="1237288" y="688990"/>
                </a:lnTo>
                <a:lnTo>
                  <a:pt x="1271530" y="726961"/>
                </a:lnTo>
                <a:lnTo>
                  <a:pt x="1306536" y="758875"/>
                </a:lnTo>
                <a:lnTo>
                  <a:pt x="1341887" y="784110"/>
                </a:lnTo>
                <a:lnTo>
                  <a:pt x="1377158" y="802168"/>
                </a:lnTo>
                <a:lnTo>
                  <a:pt x="1411924" y="812678"/>
                </a:lnTo>
                <a:lnTo>
                  <a:pt x="1445770" y="815408"/>
                </a:lnTo>
                <a:lnTo>
                  <a:pt x="1478298" y="810265"/>
                </a:lnTo>
                <a:lnTo>
                  <a:pt x="1509133" y="797299"/>
                </a:lnTo>
                <a:lnTo>
                  <a:pt x="1537931" y="776703"/>
                </a:lnTo>
                <a:lnTo>
                  <a:pt x="1564385" y="748806"/>
                </a:lnTo>
                <a:lnTo>
                  <a:pt x="1588231" y="714070"/>
                </a:lnTo>
                <a:lnTo>
                  <a:pt x="1609252" y="673081"/>
                </a:lnTo>
                <a:lnTo>
                  <a:pt x="1627280" y="626539"/>
                </a:lnTo>
                <a:lnTo>
                  <a:pt x="1642205" y="575243"/>
                </a:lnTo>
                <a:lnTo>
                  <a:pt x="1653969" y="520078"/>
                </a:lnTo>
                <a:lnTo>
                  <a:pt x="1662575" y="462000"/>
                </a:lnTo>
                <a:lnTo>
                  <a:pt x="1668080" y="402018"/>
                </a:lnTo>
                <a:lnTo>
                  <a:pt x="1670600" y="341174"/>
                </a:lnTo>
                <a:lnTo>
                  <a:pt x="1670303" y="280527"/>
                </a:lnTo>
                <a:lnTo>
                  <a:pt x="1669977" y="270003"/>
                </a:lnTo>
              </a:path>
            </a:pathLst>
          </a:custGeom>
          <a:ln w="34925">
            <a:solidFill>
              <a:srgbClr val="0070C0"/>
            </a:solidFill>
            <a:prstDash val="solid"/>
            <a:tailEnd type="triangle"/>
          </a:ln>
        </p:spPr>
        <p:txBody>
          <a:bodyPr/>
          <a:lstStyle/>
          <a:p>
            <a:endParaRPr lang="en-US"/>
          </a:p>
        </p:txBody>
      </p:sp>
      <p:sp>
        <p:nvSpPr>
          <p:cNvPr id="7" name="Shape 4"/>
          <p:cNvSpPr/>
          <p:nvPr/>
        </p:nvSpPr>
        <p:spPr>
          <a:xfrm>
            <a:off x="6508699" y="3776106"/>
            <a:ext cx="128016" cy="128016"/>
          </a:xfrm>
          <a:prstGeom prst="ellipse">
            <a:avLst/>
          </a:prstGeom>
          <a:solidFill>
            <a:srgbClr val="73000A"/>
          </a:solidFill>
          <a:ln w="12700">
            <a:solidFill>
              <a:srgbClr val="FFFFFF"/>
            </a:solidFill>
            <a:prstDash val="solid"/>
          </a:ln>
        </p:spPr>
        <p:txBody>
          <a:bodyPr/>
          <a:lstStyle/>
          <a:p>
            <a:endParaRPr lang="en-US"/>
          </a:p>
        </p:txBody>
      </p:sp>
      <p:sp>
        <p:nvSpPr>
          <p:cNvPr id="8" name="Text 5"/>
          <p:cNvSpPr txBox="1"/>
          <p:nvPr/>
        </p:nvSpPr>
        <p:spPr>
          <a:xfrm>
            <a:off x="2468880" y="3663086"/>
            <a:ext cx="411480" cy="365760"/>
          </a:xfrm>
          <a:prstGeom prst="rect">
            <a:avLst/>
          </a:prstGeom>
          <a:solidFill>
            <a:srgbClr val="FFFFFF">
              <a:alpha val="85000"/>
            </a:srgbClr>
          </a:solidFill>
          <a:ln/>
        </p:spPr>
        <p:txBody>
          <a:bodyPr wrap="square" lIns="381" tIns="381" rIns="381" bIns="381" rtlCol="0" anchor="ctr"/>
          <a:lstStyle/>
          <a:p>
            <a:pPr marL="0" indent="0" algn="l">
              <a:buNone/>
            </a:pPr>
            <a:r>
              <a:rPr lang="en-US" sz="2000" b="1" dirty="0">
                <a:solidFill>
                  <a:srgbClr val="73000A"/>
                </a:solidFill>
                <a:latin typeface="Calibri" pitchFamily="34" charset="0"/>
                <a:ea typeface="Calibri" pitchFamily="34" charset="-122"/>
                <a:cs typeface="Calibri" pitchFamily="34" charset="-120"/>
              </a:rPr>
              <a:t>μ⁻</a:t>
            </a:r>
            <a:endParaRPr lang="en-US" sz="2000" dirty="0"/>
          </a:p>
        </p:txBody>
      </p:sp>
      <p:sp>
        <p:nvSpPr>
          <p:cNvPr id="9" name="Text 6"/>
          <p:cNvSpPr txBox="1"/>
          <p:nvPr/>
        </p:nvSpPr>
        <p:spPr>
          <a:xfrm>
            <a:off x="7860182" y="2777947"/>
            <a:ext cx="411480" cy="365760"/>
          </a:xfrm>
          <a:prstGeom prst="rect">
            <a:avLst/>
          </a:prstGeom>
          <a:solidFill>
            <a:srgbClr val="FFFFFF">
              <a:alpha val="85000"/>
            </a:srgbClr>
          </a:solidFill>
          <a:ln/>
        </p:spPr>
        <p:txBody>
          <a:bodyPr wrap="square" lIns="381" tIns="381" rIns="381" bIns="381" rtlCol="0" anchor="ctr"/>
          <a:lstStyle/>
          <a:p>
            <a:pPr marL="0" indent="0" algn="l">
              <a:buNone/>
            </a:pPr>
            <a:r>
              <a:rPr lang="en-US" sz="2000" b="1" dirty="0">
                <a:solidFill>
                  <a:srgbClr val="1F3A68"/>
                </a:solidFill>
                <a:latin typeface="Calibri" pitchFamily="34" charset="0"/>
                <a:ea typeface="Calibri" pitchFamily="34" charset="-122"/>
                <a:cs typeface="Calibri" pitchFamily="34" charset="-120"/>
              </a:rPr>
              <a:t>e⁻</a:t>
            </a:r>
            <a:endParaRPr lang="en-US" sz="2000" dirty="0"/>
          </a:p>
        </p:txBody>
      </p:sp>
      <p:sp>
        <p:nvSpPr>
          <p:cNvPr id="10" name="Text 7"/>
          <p:cNvSpPr txBox="1"/>
          <p:nvPr/>
        </p:nvSpPr>
        <p:spPr>
          <a:xfrm>
            <a:off x="6170371" y="4467758"/>
            <a:ext cx="1645920" cy="320040"/>
          </a:xfrm>
          <a:prstGeom prst="rect">
            <a:avLst/>
          </a:prstGeom>
          <a:solidFill>
            <a:srgbClr val="FFFFFF">
              <a:alpha val="85000"/>
            </a:srgbClr>
          </a:solidFill>
          <a:ln/>
        </p:spPr>
        <p:txBody>
          <a:bodyPr wrap="square" lIns="381" tIns="381" rIns="381" bIns="381"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Stopping target</a:t>
            </a:r>
            <a:endParaRPr lang="en-US" sz="1400" dirty="0"/>
          </a:p>
        </p:txBody>
      </p:sp>
      <p:sp>
        <p:nvSpPr>
          <p:cNvPr id="11" name="Shape 8"/>
          <p:cNvSpPr/>
          <p:nvPr/>
        </p:nvSpPr>
        <p:spPr>
          <a:xfrm>
            <a:off x="548640" y="6080760"/>
            <a:ext cx="411480" cy="9144"/>
          </a:xfrm>
          <a:custGeom>
            <a:avLst/>
            <a:gdLst/>
            <a:ahLst/>
            <a:cxnLst/>
            <a:rect l="l" t="t" r="r" b="b"/>
            <a:pathLst>
              <a:path w="411480" h="9144">
                <a:moveTo>
                  <a:pt x="0" y="0"/>
                </a:moveTo>
                <a:lnTo>
                  <a:pt x="411480" y="0"/>
                </a:lnTo>
              </a:path>
            </a:pathLst>
          </a:custGeom>
          <a:ln w="31750">
            <a:solidFill>
              <a:srgbClr val="C00000"/>
            </a:solidFill>
            <a:prstDash val="solid"/>
          </a:ln>
        </p:spPr>
        <p:txBody>
          <a:bodyPr/>
          <a:lstStyle/>
          <a:p>
            <a:endParaRPr lang="en-US"/>
          </a:p>
        </p:txBody>
      </p:sp>
      <p:sp>
        <p:nvSpPr>
          <p:cNvPr id="12" name="Text 9"/>
          <p:cNvSpPr txBox="1"/>
          <p:nvPr/>
        </p:nvSpPr>
        <p:spPr>
          <a:xfrm>
            <a:off x="1051560" y="5943600"/>
            <a:ext cx="1645920" cy="274320"/>
          </a:xfrm>
          <a:prstGeom prst="rect">
            <a:avLst/>
          </a:prstGeom>
          <a:noFill/>
          <a:ln/>
        </p:spPr>
        <p:txBody>
          <a:bodyPr wrap="square" lIns="381" tIns="381" rIns="381" bIns="381"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μ⁻</a:t>
            </a:r>
            <a:endParaRPr lang="en-US" sz="1100" dirty="0"/>
          </a:p>
        </p:txBody>
      </p:sp>
      <p:sp>
        <p:nvSpPr>
          <p:cNvPr id="13" name="Shape 10"/>
          <p:cNvSpPr/>
          <p:nvPr/>
        </p:nvSpPr>
        <p:spPr>
          <a:xfrm>
            <a:off x="2560320" y="6080760"/>
            <a:ext cx="411480" cy="9144"/>
          </a:xfrm>
          <a:custGeom>
            <a:avLst/>
            <a:gdLst/>
            <a:ahLst/>
            <a:cxnLst/>
            <a:rect l="l" t="t" r="r" b="b"/>
            <a:pathLst>
              <a:path w="411480" h="9144">
                <a:moveTo>
                  <a:pt x="0" y="0"/>
                </a:moveTo>
                <a:lnTo>
                  <a:pt x="411480" y="0"/>
                </a:lnTo>
              </a:path>
            </a:pathLst>
          </a:custGeom>
          <a:ln w="31750">
            <a:solidFill>
              <a:srgbClr val="0070C0"/>
            </a:solidFill>
            <a:prstDash val="solid"/>
          </a:ln>
        </p:spPr>
        <p:txBody>
          <a:bodyPr/>
          <a:lstStyle/>
          <a:p>
            <a:endParaRPr lang="en-US"/>
          </a:p>
        </p:txBody>
      </p:sp>
      <p:sp>
        <p:nvSpPr>
          <p:cNvPr id="14" name="Text 11"/>
          <p:cNvSpPr txBox="1"/>
          <p:nvPr/>
        </p:nvSpPr>
        <p:spPr>
          <a:xfrm>
            <a:off x="3063240" y="5943600"/>
            <a:ext cx="1645920" cy="274320"/>
          </a:xfrm>
          <a:prstGeom prst="rect">
            <a:avLst/>
          </a:prstGeom>
          <a:noFill/>
          <a:ln/>
        </p:spPr>
        <p:txBody>
          <a:bodyPr wrap="square" lIns="381" tIns="381" rIns="381" bIns="381"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e⁻</a:t>
            </a:r>
            <a:endParaRPr lang="en-US" sz="1100" dirty="0"/>
          </a:p>
        </p:txBody>
      </p:sp>
      <p:sp>
        <p:nvSpPr>
          <p:cNvPr id="15" name="Shape 12"/>
          <p:cNvSpPr/>
          <p:nvPr/>
        </p:nvSpPr>
        <p:spPr>
          <a:xfrm>
            <a:off x="8732520" y="1508760"/>
            <a:ext cx="3017520" cy="4526280"/>
          </a:xfrm>
          <a:prstGeom prst="roundRect">
            <a:avLst>
              <a:gd name="adj" fmla="val 3030"/>
            </a:avLst>
          </a:prstGeom>
          <a:solidFill>
            <a:srgbClr val="F4F0F0"/>
          </a:solidFill>
          <a:ln/>
        </p:spPr>
        <p:txBody>
          <a:bodyPr/>
          <a:lstStyle/>
          <a:p>
            <a:endParaRPr lang="en-US"/>
          </a:p>
        </p:txBody>
      </p:sp>
      <p:sp>
        <p:nvSpPr>
          <p:cNvPr id="16" name="Text 13"/>
          <p:cNvSpPr txBox="1"/>
          <p:nvPr/>
        </p:nvSpPr>
        <p:spPr>
          <a:xfrm>
            <a:off x="8961120" y="1645920"/>
            <a:ext cx="2651760" cy="365760"/>
          </a:xfrm>
          <a:prstGeom prst="rect">
            <a:avLst/>
          </a:prstGeom>
          <a:noFill/>
          <a:ln/>
        </p:spPr>
        <p:txBody>
          <a:bodyPr wrap="square" lIns="381" tIns="381" rIns="381" bIns="381" rtlCol="0" anchor="ctr"/>
          <a:lstStyle/>
          <a:p>
            <a:pPr marL="0" indent="0" algn="l">
              <a:buNone/>
            </a:pPr>
            <a:r>
              <a:rPr lang="en-US" sz="1500" b="1" dirty="0">
                <a:solidFill>
                  <a:srgbClr val="73000A"/>
                </a:solidFill>
                <a:latin typeface="Calibri" pitchFamily="34" charset="0"/>
                <a:ea typeface="Calibri" pitchFamily="34" charset="-122"/>
                <a:cs typeface="Calibri" pitchFamily="34" charset="-120"/>
              </a:rPr>
              <a:t>Key points</a:t>
            </a:r>
            <a:endParaRPr lang="en-US" sz="1500" dirty="0"/>
          </a:p>
        </p:txBody>
      </p:sp>
      <p:sp>
        <p:nvSpPr>
          <p:cNvPr id="17" name="Text 14"/>
          <p:cNvSpPr txBox="1"/>
          <p:nvPr/>
        </p:nvSpPr>
        <p:spPr>
          <a:xfrm>
            <a:off x="8961120" y="2057400"/>
            <a:ext cx="2606040" cy="3794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Muons stop in thin annular aluminum foils</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Captured μ⁻ cascades to the 1s orbit (τ ≈ 864 ns in Al)</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Conversion electron leaves at 104.97 MeV</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Field gradient guides electrons toward the tracker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381" tIns="381" rIns="381" bIns="381"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Straw Tracker</a:t>
            </a:r>
            <a:endParaRPr lang="en-US" sz="3200" dirty="0"/>
          </a:p>
        </p:txBody>
      </p:sp>
      <p:sp>
        <p:nvSpPr>
          <p:cNvPr id="3" name="Text 1"/>
          <p:cNvSpPr txBox="1"/>
          <p:nvPr/>
        </p:nvSpPr>
        <p:spPr>
          <a:xfrm>
            <a:off x="548640" y="896112"/>
            <a:ext cx="11064240" cy="365760"/>
          </a:xfrm>
          <a:prstGeom prst="rect">
            <a:avLst/>
          </a:prstGeom>
          <a:noFill/>
          <a:ln/>
        </p:spPr>
        <p:txBody>
          <a:bodyPr wrap="square" lIns="381" tIns="381" rIns="381" bIns="381" rtlCol="0" anchor="ctr"/>
          <a:lstStyle/>
          <a:p>
            <a:pPr marL="0" indent="0" algn="l">
              <a:buNone/>
            </a:pPr>
            <a:r>
              <a:rPr lang="en-US" sz="1600" i="1" dirty="0">
                <a:solidFill>
                  <a:srgbClr val="73000A"/>
                </a:solidFill>
                <a:latin typeface="Calibri" pitchFamily="34" charset="0"/>
                <a:ea typeface="Calibri" pitchFamily="34" charset="-122"/>
                <a:cs typeface="Calibri" pitchFamily="34" charset="-120"/>
              </a:rPr>
              <a:t>The electron helix enters the annular straw tracker downstream of the target</a:t>
            </a:r>
            <a:endParaRPr lang="en-US" sz="1600" dirty="0"/>
          </a:p>
        </p:txBody>
      </p:sp>
      <p:pic>
        <p:nvPicPr>
          <p:cNvPr id="4" name="Image 0" descr="Mu2e schematic segment"/>
          <p:cNvPicPr>
            <a:picLocks noChangeAspect="1"/>
          </p:cNvPicPr>
          <p:nvPr/>
        </p:nvPicPr>
        <p:blipFill>
          <a:blip r:embed="rId3"/>
          <a:stretch>
            <a:fillRect/>
          </a:stretch>
        </p:blipFill>
        <p:spPr>
          <a:xfrm>
            <a:off x="457200" y="1750518"/>
            <a:ext cx="8046720" cy="3905603"/>
          </a:xfrm>
          <a:prstGeom prst="rect">
            <a:avLst/>
          </a:prstGeom>
          <a:ln>
            <a:noFill/>
          </a:ln>
        </p:spPr>
      </p:pic>
      <p:sp>
        <p:nvSpPr>
          <p:cNvPr id="5" name="Shape 2"/>
          <p:cNvSpPr/>
          <p:nvPr/>
        </p:nvSpPr>
        <p:spPr>
          <a:xfrm>
            <a:off x="1929161" y="3096416"/>
            <a:ext cx="2951003" cy="1492091"/>
          </a:xfrm>
          <a:custGeom>
            <a:avLst/>
            <a:gdLst/>
            <a:ahLst/>
            <a:cxnLst/>
            <a:rect l="l" t="t" r="r" b="b"/>
            <a:pathLst>
              <a:path w="2951003" h="1492091">
                <a:moveTo>
                  <a:pt x="0" y="1058305"/>
                </a:moveTo>
                <a:lnTo>
                  <a:pt x="8982" y="1035587"/>
                </a:lnTo>
                <a:lnTo>
                  <a:pt x="16554" y="1014055"/>
                </a:lnTo>
                <a:lnTo>
                  <a:pt x="22968" y="994493"/>
                </a:lnTo>
                <a:lnTo>
                  <a:pt x="28511" y="977635"/>
                </a:lnTo>
                <a:lnTo>
                  <a:pt x="33496" y="964149"/>
                </a:lnTo>
                <a:lnTo>
                  <a:pt x="38260" y="954627"/>
                </a:lnTo>
                <a:lnTo>
                  <a:pt x="43152" y="949561"/>
                </a:lnTo>
                <a:lnTo>
                  <a:pt x="48526" y="949338"/>
                </a:lnTo>
                <a:lnTo>
                  <a:pt x="54734" y="954228"/>
                </a:lnTo>
                <a:lnTo>
                  <a:pt x="62118" y="964372"/>
                </a:lnTo>
                <a:lnTo>
                  <a:pt x="71002" y="979784"/>
                </a:lnTo>
                <a:lnTo>
                  <a:pt x="81684" y="1000339"/>
                </a:lnTo>
                <a:lnTo>
                  <a:pt x="94427" y="1025780"/>
                </a:lnTo>
                <a:lnTo>
                  <a:pt x="109457" y="1055718"/>
                </a:lnTo>
                <a:lnTo>
                  <a:pt x="126952" y="1089637"/>
                </a:lnTo>
                <a:lnTo>
                  <a:pt x="147040" y="1126901"/>
                </a:lnTo>
                <a:lnTo>
                  <a:pt x="169795" y="1166768"/>
                </a:lnTo>
                <a:lnTo>
                  <a:pt x="195231" y="1208397"/>
                </a:lnTo>
                <a:lnTo>
                  <a:pt x="223304" y="1250870"/>
                </a:lnTo>
                <a:lnTo>
                  <a:pt x="253906" y="1293203"/>
                </a:lnTo>
                <a:lnTo>
                  <a:pt x="286872" y="1334368"/>
                </a:lnTo>
                <a:lnTo>
                  <a:pt x="321975" y="1373310"/>
                </a:lnTo>
                <a:lnTo>
                  <a:pt x="358933" y="1408971"/>
                </a:lnTo>
                <a:lnTo>
                  <a:pt x="397410" y="1440307"/>
                </a:lnTo>
                <a:lnTo>
                  <a:pt x="437024" y="1466314"/>
                </a:lnTo>
                <a:lnTo>
                  <a:pt x="477349" y="1486046"/>
                </a:lnTo>
                <a:lnTo>
                  <a:pt x="516311" y="1492091"/>
                </a:lnTo>
                <a:lnTo>
                  <a:pt x="550802" y="1477690"/>
                </a:lnTo>
                <a:lnTo>
                  <a:pt x="583223" y="1456183"/>
                </a:lnTo>
                <a:lnTo>
                  <a:pt x="613323" y="1427822"/>
                </a:lnTo>
                <a:lnTo>
                  <a:pt x="640884" y="1392954"/>
                </a:lnTo>
                <a:lnTo>
                  <a:pt x="665722" y="1352016"/>
                </a:lnTo>
                <a:lnTo>
                  <a:pt x="687692" y="1305529"/>
                </a:lnTo>
                <a:lnTo>
                  <a:pt x="706687" y="1254093"/>
                </a:lnTo>
                <a:lnTo>
                  <a:pt x="722645" y="1198374"/>
                </a:lnTo>
                <a:lnTo>
                  <a:pt x="735541" y="1139098"/>
                </a:lnTo>
                <a:lnTo>
                  <a:pt x="745396" y="1077040"/>
                </a:lnTo>
                <a:lnTo>
                  <a:pt x="752272" y="1013016"/>
                </a:lnTo>
                <a:lnTo>
                  <a:pt x="756273" y="947866"/>
                </a:lnTo>
                <a:lnTo>
                  <a:pt x="757542" y="882447"/>
                </a:lnTo>
                <a:lnTo>
                  <a:pt x="756260" y="817621"/>
                </a:lnTo>
                <a:lnTo>
                  <a:pt x="752643" y="754239"/>
                </a:lnTo>
                <a:lnTo>
                  <a:pt x="746941" y="693135"/>
                </a:lnTo>
                <a:lnTo>
                  <a:pt x="739431" y="635109"/>
                </a:lnTo>
                <a:lnTo>
                  <a:pt x="730417" y="580919"/>
                </a:lnTo>
                <a:lnTo>
                  <a:pt x="720222" y="531271"/>
                </a:lnTo>
                <a:lnTo>
                  <a:pt x="709185" y="486806"/>
                </a:lnTo>
                <a:lnTo>
                  <a:pt x="697660" y="448096"/>
                </a:lnTo>
                <a:lnTo>
                  <a:pt x="686004" y="415630"/>
                </a:lnTo>
                <a:lnTo>
                  <a:pt x="674577" y="389812"/>
                </a:lnTo>
                <a:lnTo>
                  <a:pt x="663738" y="370955"/>
                </a:lnTo>
                <a:lnTo>
                  <a:pt x="653835" y="359273"/>
                </a:lnTo>
                <a:lnTo>
                  <a:pt x="645203" y="354882"/>
                </a:lnTo>
                <a:lnTo>
                  <a:pt x="638162" y="357798"/>
                </a:lnTo>
                <a:lnTo>
                  <a:pt x="633008" y="367932"/>
                </a:lnTo>
                <a:lnTo>
                  <a:pt x="630012" y="385100"/>
                </a:lnTo>
                <a:lnTo>
                  <a:pt x="629412" y="409016"/>
                </a:lnTo>
                <a:lnTo>
                  <a:pt x="631417" y="439303"/>
                </a:lnTo>
                <a:lnTo>
                  <a:pt x="636198" y="475495"/>
                </a:lnTo>
                <a:lnTo>
                  <a:pt x="643886" y="517044"/>
                </a:lnTo>
                <a:lnTo>
                  <a:pt x="654575" y="563328"/>
                </a:lnTo>
                <a:lnTo>
                  <a:pt x="668314" y="613660"/>
                </a:lnTo>
                <a:lnTo>
                  <a:pt x="685113" y="667294"/>
                </a:lnTo>
                <a:lnTo>
                  <a:pt x="704936" y="723442"/>
                </a:lnTo>
                <a:lnTo>
                  <a:pt x="727708" y="781279"/>
                </a:lnTo>
                <a:lnTo>
                  <a:pt x="753313" y="839957"/>
                </a:lnTo>
                <a:lnTo>
                  <a:pt x="781593" y="898617"/>
                </a:lnTo>
                <a:lnTo>
                  <a:pt x="812356" y="956399"/>
                </a:lnTo>
                <a:lnTo>
                  <a:pt x="845373" y="1012455"/>
                </a:lnTo>
                <a:lnTo>
                  <a:pt x="880387" y="1065964"/>
                </a:lnTo>
                <a:lnTo>
                  <a:pt x="917109" y="1116136"/>
                </a:lnTo>
                <a:lnTo>
                  <a:pt x="955231" y="1162230"/>
                </a:lnTo>
                <a:lnTo>
                  <a:pt x="994422" y="1203561"/>
                </a:lnTo>
                <a:lnTo>
                  <a:pt x="1034337" y="1239510"/>
                </a:lnTo>
                <a:lnTo>
                  <a:pt x="1074623" y="1269532"/>
                </a:lnTo>
                <a:lnTo>
                  <a:pt x="1114919" y="1293166"/>
                </a:lnTo>
                <a:lnTo>
                  <a:pt x="1154866" y="1310036"/>
                </a:lnTo>
                <a:lnTo>
                  <a:pt x="1194108" y="1319864"/>
                </a:lnTo>
                <a:lnTo>
                  <a:pt x="1232301" y="1322466"/>
                </a:lnTo>
                <a:lnTo>
                  <a:pt x="1269113" y="1317761"/>
                </a:lnTo>
                <a:lnTo>
                  <a:pt x="1304233" y="1305767"/>
                </a:lnTo>
                <a:lnTo>
                  <a:pt x="1337373" y="1286606"/>
                </a:lnTo>
                <a:lnTo>
                  <a:pt x="1368273" y="1260495"/>
                </a:lnTo>
                <a:lnTo>
                  <a:pt x="1396702" y="1227752"/>
                </a:lnTo>
                <a:lnTo>
                  <a:pt x="1422466" y="1188783"/>
                </a:lnTo>
                <a:lnTo>
                  <a:pt x="1445405" y="1144084"/>
                </a:lnTo>
                <a:lnTo>
                  <a:pt x="1465402" y="1094227"/>
                </a:lnTo>
                <a:lnTo>
                  <a:pt x="1482376" y="1039857"/>
                </a:lnTo>
                <a:lnTo>
                  <a:pt x="1496293" y="981683"/>
                </a:lnTo>
                <a:lnTo>
                  <a:pt x="1507157" y="920463"/>
                </a:lnTo>
                <a:lnTo>
                  <a:pt x="1515016" y="857002"/>
                </a:lnTo>
                <a:lnTo>
                  <a:pt x="1519962" y="792133"/>
                </a:lnTo>
                <a:lnTo>
                  <a:pt x="1522123" y="726708"/>
                </a:lnTo>
                <a:lnTo>
                  <a:pt x="1521669" y="661589"/>
                </a:lnTo>
                <a:lnTo>
                  <a:pt x="1518804" y="597632"/>
                </a:lnTo>
                <a:lnTo>
                  <a:pt x="1513768" y="535678"/>
                </a:lnTo>
                <a:lnTo>
                  <a:pt x="1506828" y="476539"/>
                </a:lnTo>
                <a:lnTo>
                  <a:pt x="1498280" y="420989"/>
                </a:lnTo>
                <a:lnTo>
                  <a:pt x="1488442" y="369752"/>
                </a:lnTo>
                <a:lnTo>
                  <a:pt x="1477647" y="323493"/>
                </a:lnTo>
                <a:lnTo>
                  <a:pt x="1466245" y="282806"/>
                </a:lnTo>
                <a:lnTo>
                  <a:pt x="1454592" y="248209"/>
                </a:lnTo>
                <a:lnTo>
                  <a:pt x="1443049" y="220136"/>
                </a:lnTo>
                <a:lnTo>
                  <a:pt x="1431975" y="198930"/>
                </a:lnTo>
                <a:lnTo>
                  <a:pt x="1421722" y="184838"/>
                </a:lnTo>
                <a:lnTo>
                  <a:pt x="1412630" y="178010"/>
                </a:lnTo>
                <a:lnTo>
                  <a:pt x="1405025" y="178495"/>
                </a:lnTo>
                <a:lnTo>
                  <a:pt x="1399211" y="186239"/>
                </a:lnTo>
                <a:lnTo>
                  <a:pt x="1395466" y="201089"/>
                </a:lnTo>
                <a:lnTo>
                  <a:pt x="1394043" y="222793"/>
                </a:lnTo>
                <a:lnTo>
                  <a:pt x="1395159" y="251004"/>
                </a:lnTo>
                <a:lnTo>
                  <a:pt x="1398998" y="285285"/>
                </a:lnTo>
                <a:lnTo>
                  <a:pt x="1405705" y="325114"/>
                </a:lnTo>
                <a:lnTo>
                  <a:pt x="1415386" y="369893"/>
                </a:lnTo>
                <a:lnTo>
                  <a:pt x="1428105" y="418956"/>
                </a:lnTo>
                <a:lnTo>
                  <a:pt x="1443886" y="471575"/>
                </a:lnTo>
                <a:lnTo>
                  <a:pt x="1462707" y="526975"/>
                </a:lnTo>
                <a:lnTo>
                  <a:pt x="1484507" y="584342"/>
                </a:lnTo>
                <a:lnTo>
                  <a:pt x="1509183" y="642835"/>
                </a:lnTo>
                <a:lnTo>
                  <a:pt x="1536591" y="701597"/>
                </a:lnTo>
                <a:lnTo>
                  <a:pt x="1566550" y="759766"/>
                </a:lnTo>
                <a:lnTo>
                  <a:pt x="1598843" y="816491"/>
                </a:lnTo>
                <a:lnTo>
                  <a:pt x="1633222" y="870938"/>
                </a:lnTo>
                <a:lnTo>
                  <a:pt x="1669408" y="922307"/>
                </a:lnTo>
                <a:lnTo>
                  <a:pt x="1707099" y="969840"/>
                </a:lnTo>
                <a:lnTo>
                  <a:pt x="1745971" y="1012831"/>
                </a:lnTo>
                <a:lnTo>
                  <a:pt x="1785684" y="1050638"/>
                </a:lnTo>
                <a:lnTo>
                  <a:pt x="1825886" y="1082692"/>
                </a:lnTo>
                <a:lnTo>
                  <a:pt x="1866219" y="1108501"/>
                </a:lnTo>
                <a:lnTo>
                  <a:pt x="1906322" y="1127661"/>
                </a:lnTo>
                <a:lnTo>
                  <a:pt x="1945838" y="1139861"/>
                </a:lnTo>
                <a:lnTo>
                  <a:pt x="1984418" y="1144886"/>
                </a:lnTo>
                <a:lnTo>
                  <a:pt x="2021726" y="1142620"/>
                </a:lnTo>
                <a:lnTo>
                  <a:pt x="2057444" y="1133047"/>
                </a:lnTo>
                <a:lnTo>
                  <a:pt x="2091274" y="1116256"/>
                </a:lnTo>
                <a:lnTo>
                  <a:pt x="2122948" y="1092431"/>
                </a:lnTo>
                <a:lnTo>
                  <a:pt x="2152224" y="1061858"/>
                </a:lnTo>
                <a:lnTo>
                  <a:pt x="2178896" y="1024914"/>
                </a:lnTo>
                <a:lnTo>
                  <a:pt x="2202792" y="982064"/>
                </a:lnTo>
                <a:lnTo>
                  <a:pt x="2223780" y="933858"/>
                </a:lnTo>
                <a:lnTo>
                  <a:pt x="2241768" y="880917"/>
                </a:lnTo>
                <a:lnTo>
                  <a:pt x="2256705" y="823929"/>
                </a:lnTo>
                <a:lnTo>
                  <a:pt x="2268583" y="763637"/>
                </a:lnTo>
                <a:lnTo>
                  <a:pt x="2277437" y="700832"/>
                </a:lnTo>
                <a:lnTo>
                  <a:pt x="2283341" y="636338"/>
                </a:lnTo>
                <a:lnTo>
                  <a:pt x="2286413" y="571003"/>
                </a:lnTo>
                <a:lnTo>
                  <a:pt x="2286810" y="505686"/>
                </a:lnTo>
                <a:lnTo>
                  <a:pt x="2284724" y="441247"/>
                </a:lnTo>
                <a:lnTo>
                  <a:pt x="2280383" y="378533"/>
                </a:lnTo>
                <a:lnTo>
                  <a:pt x="2274046" y="318368"/>
                </a:lnTo>
                <a:lnTo>
                  <a:pt x="2266000" y="261539"/>
                </a:lnTo>
                <a:lnTo>
                  <a:pt x="2256555" y="208787"/>
                </a:lnTo>
                <a:lnTo>
                  <a:pt x="2246041" y="160799"/>
                </a:lnTo>
                <a:lnTo>
                  <a:pt x="2234802" y="118193"/>
                </a:lnTo>
                <a:lnTo>
                  <a:pt x="2223193" y="81514"/>
                </a:lnTo>
                <a:lnTo>
                  <a:pt x="2211573" y="51223"/>
                </a:lnTo>
                <a:lnTo>
                  <a:pt x="2200303" y="27696"/>
                </a:lnTo>
                <a:lnTo>
                  <a:pt x="2189738" y="11211"/>
                </a:lnTo>
                <a:lnTo>
                  <a:pt x="2180222" y="1952"/>
                </a:lnTo>
                <a:lnTo>
                  <a:pt x="2172086" y="0"/>
                </a:lnTo>
                <a:lnTo>
                  <a:pt x="2165643" y="5336"/>
                </a:lnTo>
                <a:lnTo>
                  <a:pt x="2161179" y="17841"/>
                </a:lnTo>
                <a:lnTo>
                  <a:pt x="2158956" y="37294"/>
                </a:lnTo>
                <a:lnTo>
                  <a:pt x="2159204" y="63381"/>
                </a:lnTo>
                <a:lnTo>
                  <a:pt x="2162117" y="95692"/>
                </a:lnTo>
                <a:lnTo>
                  <a:pt x="2167854" y="133735"/>
                </a:lnTo>
                <a:lnTo>
                  <a:pt x="2176534" y="176935"/>
                </a:lnTo>
                <a:lnTo>
                  <a:pt x="2188236" y="224647"/>
                </a:lnTo>
                <a:lnTo>
                  <a:pt x="2202997" y="276165"/>
                </a:lnTo>
                <a:lnTo>
                  <a:pt x="2220809" y="330727"/>
                </a:lnTo>
                <a:lnTo>
                  <a:pt x="2241626" y="387531"/>
                </a:lnTo>
                <a:lnTo>
                  <a:pt x="2265357" y="445743"/>
                </a:lnTo>
                <a:lnTo>
                  <a:pt x="2291873" y="504511"/>
                </a:lnTo>
                <a:lnTo>
                  <a:pt x="2321004" y="562973"/>
                </a:lnTo>
                <a:lnTo>
                  <a:pt x="2352545" y="620273"/>
                </a:lnTo>
                <a:lnTo>
                  <a:pt x="2386258" y="675570"/>
                </a:lnTo>
                <a:lnTo>
                  <a:pt x="2421874" y="728052"/>
                </a:lnTo>
                <a:lnTo>
                  <a:pt x="2459099" y="776944"/>
                </a:lnTo>
                <a:lnTo>
                  <a:pt x="2497614" y="821524"/>
                </a:lnTo>
                <a:lnTo>
                  <a:pt x="2537086" y="861126"/>
                </a:lnTo>
                <a:lnTo>
                  <a:pt x="2577164" y="895156"/>
                </a:lnTo>
                <a:lnTo>
                  <a:pt x="2617494" y="923096"/>
                </a:lnTo>
                <a:lnTo>
                  <a:pt x="2657713" y="944512"/>
                </a:lnTo>
                <a:lnTo>
                  <a:pt x="2697464" y="959061"/>
                </a:lnTo>
                <a:lnTo>
                  <a:pt x="2736394" y="966496"/>
                </a:lnTo>
                <a:lnTo>
                  <a:pt x="2774163" y="966666"/>
                </a:lnTo>
                <a:lnTo>
                  <a:pt x="2810444" y="959525"/>
                </a:lnTo>
                <a:lnTo>
                  <a:pt x="2844935" y="945123"/>
                </a:lnTo>
                <a:lnTo>
                  <a:pt x="2877356" y="923616"/>
                </a:lnTo>
                <a:lnTo>
                  <a:pt x="2907456" y="895255"/>
                </a:lnTo>
                <a:lnTo>
                  <a:pt x="2935017" y="860387"/>
                </a:lnTo>
                <a:lnTo>
                  <a:pt x="2951003" y="835254"/>
                </a:lnTo>
              </a:path>
            </a:pathLst>
          </a:custGeom>
          <a:ln w="34925">
            <a:solidFill>
              <a:srgbClr val="0070C0"/>
            </a:solidFill>
            <a:prstDash val="solid"/>
            <a:tailEnd type="triangle"/>
          </a:ln>
        </p:spPr>
        <p:txBody>
          <a:bodyPr/>
          <a:lstStyle/>
          <a:p>
            <a:endParaRPr lang="en-US"/>
          </a:p>
        </p:txBody>
      </p:sp>
      <p:sp>
        <p:nvSpPr>
          <p:cNvPr id="6" name="Shape 3"/>
          <p:cNvSpPr/>
          <p:nvPr/>
        </p:nvSpPr>
        <p:spPr>
          <a:xfrm>
            <a:off x="1874297" y="4099857"/>
            <a:ext cx="109728" cy="109728"/>
          </a:xfrm>
          <a:prstGeom prst="ellipse">
            <a:avLst/>
          </a:prstGeom>
          <a:solidFill>
            <a:srgbClr val="73000A"/>
          </a:solidFill>
          <a:ln w="12700">
            <a:solidFill>
              <a:srgbClr val="FFFFFF"/>
            </a:solidFill>
            <a:prstDash val="solid"/>
          </a:ln>
        </p:spPr>
        <p:txBody>
          <a:bodyPr/>
          <a:lstStyle/>
          <a:p>
            <a:endParaRPr lang="en-US"/>
          </a:p>
        </p:txBody>
      </p:sp>
      <p:sp>
        <p:nvSpPr>
          <p:cNvPr id="7" name="Text 4"/>
          <p:cNvSpPr txBox="1"/>
          <p:nvPr/>
        </p:nvSpPr>
        <p:spPr>
          <a:xfrm>
            <a:off x="2910468" y="3026218"/>
            <a:ext cx="411480" cy="365760"/>
          </a:xfrm>
          <a:prstGeom prst="rect">
            <a:avLst/>
          </a:prstGeom>
          <a:solidFill>
            <a:srgbClr val="FFFFFF">
              <a:alpha val="85000"/>
            </a:srgbClr>
          </a:solidFill>
          <a:ln/>
        </p:spPr>
        <p:txBody>
          <a:bodyPr wrap="square" lIns="381" tIns="381" rIns="381" bIns="381" rtlCol="0" anchor="ctr"/>
          <a:lstStyle/>
          <a:p>
            <a:pPr marL="0" indent="0" algn="l">
              <a:buNone/>
            </a:pPr>
            <a:r>
              <a:rPr lang="en-US" sz="2000" b="1" dirty="0">
                <a:solidFill>
                  <a:srgbClr val="1F3A68"/>
                </a:solidFill>
                <a:latin typeface="Calibri" pitchFamily="34" charset="0"/>
                <a:ea typeface="Calibri" pitchFamily="34" charset="-122"/>
                <a:cs typeface="Calibri" pitchFamily="34" charset="-120"/>
              </a:rPr>
              <a:t>e⁻</a:t>
            </a:r>
            <a:endParaRPr lang="en-US" sz="2000" dirty="0"/>
          </a:p>
        </p:txBody>
      </p:sp>
      <p:sp>
        <p:nvSpPr>
          <p:cNvPr id="8" name="Text 5"/>
          <p:cNvSpPr txBox="1"/>
          <p:nvPr/>
        </p:nvSpPr>
        <p:spPr>
          <a:xfrm>
            <a:off x="1045984" y="4596310"/>
            <a:ext cx="1645920" cy="320040"/>
          </a:xfrm>
          <a:prstGeom prst="rect">
            <a:avLst/>
          </a:prstGeom>
          <a:solidFill>
            <a:srgbClr val="FFFFFF">
              <a:alpha val="85000"/>
            </a:srgbClr>
          </a:solidFill>
          <a:ln/>
        </p:spPr>
        <p:txBody>
          <a:bodyPr wrap="square" lIns="381" tIns="381" rIns="381" bIns="381"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Stopping target</a:t>
            </a:r>
            <a:endParaRPr lang="en-US" sz="1400" dirty="0"/>
          </a:p>
        </p:txBody>
      </p:sp>
      <p:sp>
        <p:nvSpPr>
          <p:cNvPr id="9" name="Text 6"/>
          <p:cNvSpPr txBox="1"/>
          <p:nvPr/>
        </p:nvSpPr>
        <p:spPr>
          <a:xfrm>
            <a:off x="5559998" y="4596310"/>
            <a:ext cx="1097280" cy="320040"/>
          </a:xfrm>
          <a:prstGeom prst="rect">
            <a:avLst/>
          </a:prstGeom>
          <a:solidFill>
            <a:srgbClr val="FFFFFF">
              <a:alpha val="85000"/>
            </a:srgbClr>
          </a:solidFill>
          <a:ln/>
        </p:spPr>
        <p:txBody>
          <a:bodyPr wrap="square" lIns="381" tIns="381" rIns="381" bIns="381"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Tracker</a:t>
            </a:r>
            <a:endParaRPr lang="en-US" sz="1400" dirty="0"/>
          </a:p>
        </p:txBody>
      </p:sp>
      <p:sp>
        <p:nvSpPr>
          <p:cNvPr id="10" name="Shape 7"/>
          <p:cNvSpPr/>
          <p:nvPr/>
        </p:nvSpPr>
        <p:spPr>
          <a:xfrm>
            <a:off x="548640" y="6080760"/>
            <a:ext cx="411480" cy="9144"/>
          </a:xfrm>
          <a:custGeom>
            <a:avLst/>
            <a:gdLst/>
            <a:ahLst/>
            <a:cxnLst/>
            <a:rect l="l" t="t" r="r" b="b"/>
            <a:pathLst>
              <a:path w="411480" h="9144">
                <a:moveTo>
                  <a:pt x="0" y="0"/>
                </a:moveTo>
                <a:lnTo>
                  <a:pt x="411480" y="0"/>
                </a:lnTo>
              </a:path>
            </a:pathLst>
          </a:custGeom>
          <a:ln w="31750">
            <a:solidFill>
              <a:srgbClr val="1F3A68"/>
            </a:solidFill>
            <a:prstDash val="solid"/>
          </a:ln>
        </p:spPr>
        <p:txBody>
          <a:bodyPr/>
          <a:lstStyle/>
          <a:p>
            <a:endParaRPr lang="en-US"/>
          </a:p>
        </p:txBody>
      </p:sp>
      <p:sp>
        <p:nvSpPr>
          <p:cNvPr id="11" name="Text 8"/>
          <p:cNvSpPr txBox="1"/>
          <p:nvPr/>
        </p:nvSpPr>
        <p:spPr>
          <a:xfrm>
            <a:off x="1051560" y="5943600"/>
            <a:ext cx="1645920" cy="274320"/>
          </a:xfrm>
          <a:prstGeom prst="rect">
            <a:avLst/>
          </a:prstGeom>
          <a:noFill/>
          <a:ln/>
        </p:spPr>
        <p:txBody>
          <a:bodyPr wrap="square" lIns="381" tIns="381" rIns="381" bIns="381"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e⁻</a:t>
            </a:r>
            <a:endParaRPr lang="en-US" sz="1100" dirty="0"/>
          </a:p>
        </p:txBody>
      </p:sp>
      <p:sp>
        <p:nvSpPr>
          <p:cNvPr id="12" name="Shape 9"/>
          <p:cNvSpPr/>
          <p:nvPr/>
        </p:nvSpPr>
        <p:spPr>
          <a:xfrm>
            <a:off x="8732520" y="1508760"/>
            <a:ext cx="3017520" cy="4526280"/>
          </a:xfrm>
          <a:prstGeom prst="roundRect">
            <a:avLst>
              <a:gd name="adj" fmla="val 3030"/>
            </a:avLst>
          </a:prstGeom>
          <a:solidFill>
            <a:srgbClr val="F4F0F0"/>
          </a:solidFill>
          <a:ln/>
        </p:spPr>
        <p:txBody>
          <a:bodyPr/>
          <a:lstStyle/>
          <a:p>
            <a:endParaRPr lang="en-US"/>
          </a:p>
        </p:txBody>
      </p:sp>
      <p:sp>
        <p:nvSpPr>
          <p:cNvPr id="13" name="Text 10"/>
          <p:cNvSpPr txBox="1"/>
          <p:nvPr/>
        </p:nvSpPr>
        <p:spPr>
          <a:xfrm>
            <a:off x="8961120" y="1645920"/>
            <a:ext cx="2651760" cy="365760"/>
          </a:xfrm>
          <a:prstGeom prst="rect">
            <a:avLst/>
          </a:prstGeom>
          <a:noFill/>
          <a:ln/>
        </p:spPr>
        <p:txBody>
          <a:bodyPr wrap="square" lIns="381" tIns="381" rIns="381" bIns="381" rtlCol="0" anchor="ctr"/>
          <a:lstStyle/>
          <a:p>
            <a:pPr marL="0" indent="0" algn="l">
              <a:buNone/>
            </a:pPr>
            <a:r>
              <a:rPr lang="en-US" sz="1500" b="1" dirty="0">
                <a:solidFill>
                  <a:srgbClr val="73000A"/>
                </a:solidFill>
                <a:latin typeface="Calibri" pitchFamily="34" charset="0"/>
                <a:ea typeface="Calibri" pitchFamily="34" charset="-122"/>
                <a:cs typeface="Calibri" pitchFamily="34" charset="-120"/>
              </a:rPr>
              <a:t>Key points</a:t>
            </a:r>
            <a:endParaRPr lang="en-US" sz="1500" dirty="0"/>
          </a:p>
        </p:txBody>
      </p:sp>
      <p:sp>
        <p:nvSpPr>
          <p:cNvPr id="14" name="Text 11"/>
          <p:cNvSpPr txBox="1"/>
          <p:nvPr/>
        </p:nvSpPr>
        <p:spPr>
          <a:xfrm>
            <a:off x="8961120" y="2057400"/>
            <a:ext cx="2606040" cy="3794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18 stations, 20,736 straw tubes</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80:20 Ar:CO₂ drift gas, ionized by passing electrons</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Annular design lets low-momentum DIO electrons pass through the center</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Half field doubles helix reach, so 52.8 MeV electrons hit the straws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381" tIns="381" rIns="381" bIns="381"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Electromagnetic Calorimeter</a:t>
            </a:r>
            <a:endParaRPr lang="en-US" sz="3200" dirty="0"/>
          </a:p>
        </p:txBody>
      </p:sp>
      <p:sp>
        <p:nvSpPr>
          <p:cNvPr id="3" name="Text 1"/>
          <p:cNvSpPr txBox="1"/>
          <p:nvPr/>
        </p:nvSpPr>
        <p:spPr>
          <a:xfrm>
            <a:off x="548640" y="896112"/>
            <a:ext cx="11064240" cy="365760"/>
          </a:xfrm>
          <a:prstGeom prst="rect">
            <a:avLst/>
          </a:prstGeom>
          <a:noFill/>
          <a:ln/>
        </p:spPr>
        <p:txBody>
          <a:bodyPr wrap="square" lIns="381" tIns="381" rIns="381" bIns="381" rtlCol="0" anchor="ctr"/>
          <a:lstStyle/>
          <a:p>
            <a:pPr marL="0" indent="0" algn="l">
              <a:buNone/>
            </a:pPr>
            <a:r>
              <a:rPr lang="en-US" sz="1600" i="1" dirty="0">
                <a:solidFill>
                  <a:srgbClr val="73000A"/>
                </a:solidFill>
                <a:latin typeface="Calibri" pitchFamily="34" charset="0"/>
                <a:ea typeface="Calibri" pitchFamily="34" charset="-122"/>
                <a:cs typeface="Calibri" pitchFamily="34" charset="-120"/>
              </a:rPr>
              <a:t>The electron exits the tracker and showers in the CsI disks</a:t>
            </a:r>
            <a:endParaRPr lang="en-US" sz="1600" dirty="0"/>
          </a:p>
        </p:txBody>
      </p:sp>
      <p:pic>
        <p:nvPicPr>
          <p:cNvPr id="4" name="Image 0" descr="Mu2e schematic segment"/>
          <p:cNvPicPr>
            <a:picLocks noChangeAspect="1"/>
          </p:cNvPicPr>
          <p:nvPr/>
        </p:nvPicPr>
        <p:blipFill>
          <a:blip r:embed="rId3"/>
          <a:stretch>
            <a:fillRect/>
          </a:stretch>
        </p:blipFill>
        <p:spPr>
          <a:xfrm>
            <a:off x="535719" y="1463040"/>
            <a:ext cx="7889682" cy="4480560"/>
          </a:xfrm>
          <a:prstGeom prst="rect">
            <a:avLst/>
          </a:prstGeom>
        </p:spPr>
      </p:pic>
      <p:sp>
        <p:nvSpPr>
          <p:cNvPr id="5" name="Shape 2"/>
          <p:cNvSpPr/>
          <p:nvPr/>
        </p:nvSpPr>
        <p:spPr>
          <a:xfrm>
            <a:off x="1102200" y="2618730"/>
            <a:ext cx="3355836" cy="1503338"/>
          </a:xfrm>
          <a:custGeom>
            <a:avLst/>
            <a:gdLst/>
            <a:ahLst/>
            <a:cxnLst/>
            <a:rect l="l" t="t" r="r" b="b"/>
            <a:pathLst>
              <a:path w="3355836" h="1503338">
                <a:moveTo>
                  <a:pt x="13821" y="506489"/>
                </a:moveTo>
                <a:lnTo>
                  <a:pt x="8260" y="510680"/>
                </a:lnTo>
                <a:lnTo>
                  <a:pt x="3953" y="521293"/>
                </a:lnTo>
                <a:lnTo>
                  <a:pt x="1129" y="538172"/>
                </a:lnTo>
                <a:lnTo>
                  <a:pt x="0" y="561082"/>
                </a:lnTo>
                <a:lnTo>
                  <a:pt x="758" y="589713"/>
                </a:lnTo>
                <a:lnTo>
                  <a:pt x="3571" y="623686"/>
                </a:lnTo>
                <a:lnTo>
                  <a:pt x="8581" y="662557"/>
                </a:lnTo>
                <a:lnTo>
                  <a:pt x="15904" y="705821"/>
                </a:lnTo>
                <a:lnTo>
                  <a:pt x="25628" y="752918"/>
                </a:lnTo>
                <a:lnTo>
                  <a:pt x="37811" y="803244"/>
                </a:lnTo>
                <a:lnTo>
                  <a:pt x="52480" y="856152"/>
                </a:lnTo>
                <a:lnTo>
                  <a:pt x="69632" y="910966"/>
                </a:lnTo>
                <a:lnTo>
                  <a:pt x="89234" y="966984"/>
                </a:lnTo>
                <a:lnTo>
                  <a:pt x="111223" y="1023491"/>
                </a:lnTo>
                <a:lnTo>
                  <a:pt x="135506" y="1079765"/>
                </a:lnTo>
                <a:lnTo>
                  <a:pt x="161962" y="1135089"/>
                </a:lnTo>
                <a:lnTo>
                  <a:pt x="190443" y="1188754"/>
                </a:lnTo>
                <a:lnTo>
                  <a:pt x="220777" y="1240075"/>
                </a:lnTo>
                <a:lnTo>
                  <a:pt x="252769" y="1288393"/>
                </a:lnTo>
                <a:lnTo>
                  <a:pt x="286203" y="1333088"/>
                </a:lnTo>
                <a:lnTo>
                  <a:pt x="320846" y="1373583"/>
                </a:lnTo>
                <a:lnTo>
                  <a:pt x="356449" y="1409354"/>
                </a:lnTo>
                <a:lnTo>
                  <a:pt x="392753" y="1439934"/>
                </a:lnTo>
                <a:lnTo>
                  <a:pt x="429490" y="1464919"/>
                </a:lnTo>
                <a:lnTo>
                  <a:pt x="466384" y="1483975"/>
                </a:lnTo>
                <a:lnTo>
                  <a:pt x="503161" y="1496841"/>
                </a:lnTo>
                <a:lnTo>
                  <a:pt x="539547" y="1503331"/>
                </a:lnTo>
                <a:lnTo>
                  <a:pt x="575270" y="1503338"/>
                </a:lnTo>
                <a:lnTo>
                  <a:pt x="610071" y="1496835"/>
                </a:lnTo>
                <a:lnTo>
                  <a:pt x="643700" y="1483873"/>
                </a:lnTo>
                <a:lnTo>
                  <a:pt x="675919" y="1464585"/>
                </a:lnTo>
                <a:lnTo>
                  <a:pt x="706512" y="1439180"/>
                </a:lnTo>
                <a:lnTo>
                  <a:pt x="735279" y="1407943"/>
                </a:lnTo>
                <a:lnTo>
                  <a:pt x="762044" y="1371229"/>
                </a:lnTo>
                <a:lnTo>
                  <a:pt x="786657" y="1329463"/>
                </a:lnTo>
                <a:lnTo>
                  <a:pt x="808993" y="1283129"/>
                </a:lnTo>
                <a:lnTo>
                  <a:pt x="828953" y="1232769"/>
                </a:lnTo>
                <a:lnTo>
                  <a:pt x="846471" y="1178974"/>
                </a:lnTo>
                <a:lnTo>
                  <a:pt x="861508" y="1122378"/>
                </a:lnTo>
                <a:lnTo>
                  <a:pt x="874058" y="1063648"/>
                </a:lnTo>
                <a:lnTo>
                  <a:pt x="884143" y="1003477"/>
                </a:lnTo>
                <a:lnTo>
                  <a:pt x="891818" y="942578"/>
                </a:lnTo>
                <a:lnTo>
                  <a:pt x="897164" y="881671"/>
                </a:lnTo>
                <a:lnTo>
                  <a:pt x="900293" y="821476"/>
                </a:lnTo>
                <a:lnTo>
                  <a:pt x="901346" y="762706"/>
                </a:lnTo>
                <a:lnTo>
                  <a:pt x="900485" y="706054"/>
                </a:lnTo>
                <a:lnTo>
                  <a:pt x="897899" y="652189"/>
                </a:lnTo>
                <a:lnTo>
                  <a:pt x="893797" y="601745"/>
                </a:lnTo>
                <a:lnTo>
                  <a:pt x="888407" y="555313"/>
                </a:lnTo>
                <a:lnTo>
                  <a:pt x="881971" y="513438"/>
                </a:lnTo>
                <a:lnTo>
                  <a:pt x="874748" y="476605"/>
                </a:lnTo>
                <a:lnTo>
                  <a:pt x="867001" y="445240"/>
                </a:lnTo>
                <a:lnTo>
                  <a:pt x="859005" y="419699"/>
                </a:lnTo>
                <a:lnTo>
                  <a:pt x="851035" y="400271"/>
                </a:lnTo>
                <a:lnTo>
                  <a:pt x="843365" y="387164"/>
                </a:lnTo>
                <a:lnTo>
                  <a:pt x="836267" y="380514"/>
                </a:lnTo>
                <a:lnTo>
                  <a:pt x="830007" y="380374"/>
                </a:lnTo>
                <a:lnTo>
                  <a:pt x="824837" y="386719"/>
                </a:lnTo>
                <a:lnTo>
                  <a:pt x="820999" y="399442"/>
                </a:lnTo>
                <a:lnTo>
                  <a:pt x="818718" y="418361"/>
                </a:lnTo>
                <a:lnTo>
                  <a:pt x="818198" y="443216"/>
                </a:lnTo>
                <a:lnTo>
                  <a:pt x="819623" y="473673"/>
                </a:lnTo>
                <a:lnTo>
                  <a:pt x="823154" y="509331"/>
                </a:lnTo>
                <a:lnTo>
                  <a:pt x="828923" y="549725"/>
                </a:lnTo>
                <a:lnTo>
                  <a:pt x="837039" y="594331"/>
                </a:lnTo>
                <a:lnTo>
                  <a:pt x="847577" y="642575"/>
                </a:lnTo>
                <a:lnTo>
                  <a:pt x="860587" y="693835"/>
                </a:lnTo>
                <a:lnTo>
                  <a:pt x="876085" y="747455"/>
                </a:lnTo>
                <a:lnTo>
                  <a:pt x="894059" y="802748"/>
                </a:lnTo>
                <a:lnTo>
                  <a:pt x="914466" y="859009"/>
                </a:lnTo>
                <a:lnTo>
                  <a:pt x="937231" y="915519"/>
                </a:lnTo>
                <a:lnTo>
                  <a:pt x="962253" y="971556"/>
                </a:lnTo>
                <a:lnTo>
                  <a:pt x="989402" y="1026404"/>
                </a:lnTo>
                <a:lnTo>
                  <a:pt x="1018521" y="1079363"/>
                </a:lnTo>
                <a:lnTo>
                  <a:pt x="1049430" y="1129755"/>
                </a:lnTo>
                <a:lnTo>
                  <a:pt x="1081928" y="1176932"/>
                </a:lnTo>
                <a:lnTo>
                  <a:pt x="1115791" y="1220289"/>
                </a:lnTo>
                <a:lnTo>
                  <a:pt x="1150783" y="1259265"/>
                </a:lnTo>
                <a:lnTo>
                  <a:pt x="1186649" y="1293354"/>
                </a:lnTo>
                <a:lnTo>
                  <a:pt x="1223127" y="1322110"/>
                </a:lnTo>
                <a:lnTo>
                  <a:pt x="1259947" y="1345152"/>
                </a:lnTo>
                <a:lnTo>
                  <a:pt x="1296833" y="1362171"/>
                </a:lnTo>
                <a:lnTo>
                  <a:pt x="1333510" y="1372928"/>
                </a:lnTo>
                <a:lnTo>
                  <a:pt x="1369705" y="1377265"/>
                </a:lnTo>
                <a:lnTo>
                  <a:pt x="1405149" y="1375101"/>
                </a:lnTo>
                <a:lnTo>
                  <a:pt x="1439587" y="1366436"/>
                </a:lnTo>
                <a:lnTo>
                  <a:pt x="1472770" y="1351347"/>
                </a:lnTo>
                <a:lnTo>
                  <a:pt x="1504471" y="1329993"/>
                </a:lnTo>
                <a:lnTo>
                  <a:pt x="1534476" y="1302609"/>
                </a:lnTo>
                <a:lnTo>
                  <a:pt x="1562594" y="1269503"/>
                </a:lnTo>
                <a:lnTo>
                  <a:pt x="1588658" y="1231054"/>
                </a:lnTo>
                <a:lnTo>
                  <a:pt x="1612524" y="1187708"/>
                </a:lnTo>
                <a:lnTo>
                  <a:pt x="1634077" y="1139970"/>
                </a:lnTo>
                <a:lnTo>
                  <a:pt x="1653230" y="1088397"/>
                </a:lnTo>
                <a:lnTo>
                  <a:pt x="1669923" y="1033596"/>
                </a:lnTo>
                <a:lnTo>
                  <a:pt x="1684131" y="976213"/>
                </a:lnTo>
                <a:lnTo>
                  <a:pt x="1695855" y="916925"/>
                </a:lnTo>
                <a:lnTo>
                  <a:pt x="1705129" y="856432"/>
                </a:lnTo>
                <a:lnTo>
                  <a:pt x="1712017" y="795450"/>
                </a:lnTo>
                <a:lnTo>
                  <a:pt x="1716610" y="734700"/>
                </a:lnTo>
                <a:lnTo>
                  <a:pt x="1719031" y="674902"/>
                </a:lnTo>
                <a:lnTo>
                  <a:pt x="1719426" y="616761"/>
                </a:lnTo>
                <a:lnTo>
                  <a:pt x="1717968" y="560966"/>
                </a:lnTo>
                <a:lnTo>
                  <a:pt x="1714853" y="508172"/>
                </a:lnTo>
                <a:lnTo>
                  <a:pt x="1710295" y="459002"/>
                </a:lnTo>
                <a:lnTo>
                  <a:pt x="1704528" y="414032"/>
                </a:lnTo>
                <a:lnTo>
                  <a:pt x="1697801" y="373786"/>
                </a:lnTo>
                <a:lnTo>
                  <a:pt x="1690374" y="338732"/>
                </a:lnTo>
                <a:lnTo>
                  <a:pt x="1682514" y="309272"/>
                </a:lnTo>
                <a:lnTo>
                  <a:pt x="1674495" y="285741"/>
                </a:lnTo>
                <a:lnTo>
                  <a:pt x="1666595" y="268400"/>
                </a:lnTo>
                <a:lnTo>
                  <a:pt x="1659086" y="257435"/>
                </a:lnTo>
                <a:lnTo>
                  <a:pt x="1652238" y="252952"/>
                </a:lnTo>
                <a:lnTo>
                  <a:pt x="1646313" y="254981"/>
                </a:lnTo>
                <a:lnTo>
                  <a:pt x="1641562" y="263467"/>
                </a:lnTo>
                <a:lnTo>
                  <a:pt x="1638218" y="278280"/>
                </a:lnTo>
                <a:lnTo>
                  <a:pt x="1636502" y="299210"/>
                </a:lnTo>
                <a:lnTo>
                  <a:pt x="1636612" y="325972"/>
                </a:lnTo>
                <a:lnTo>
                  <a:pt x="1638722" y="358211"/>
                </a:lnTo>
                <a:lnTo>
                  <a:pt x="1642986" y="395503"/>
                </a:lnTo>
                <a:lnTo>
                  <a:pt x="1649527" y="437362"/>
                </a:lnTo>
                <a:lnTo>
                  <a:pt x="1658443" y="483247"/>
                </a:lnTo>
                <a:lnTo>
                  <a:pt x="1669801" y="532566"/>
                </a:lnTo>
                <a:lnTo>
                  <a:pt x="1683640" y="584688"/>
                </a:lnTo>
                <a:lnTo>
                  <a:pt x="1699967" y="638943"/>
                </a:lnTo>
                <a:lnTo>
                  <a:pt x="1718758" y="694638"/>
                </a:lnTo>
                <a:lnTo>
                  <a:pt x="1739960" y="751062"/>
                </a:lnTo>
                <a:lnTo>
                  <a:pt x="1763490" y="807495"/>
                </a:lnTo>
                <a:lnTo>
                  <a:pt x="1789237" y="863214"/>
                </a:lnTo>
                <a:lnTo>
                  <a:pt x="1817061" y="917510"/>
                </a:lnTo>
                <a:lnTo>
                  <a:pt x="1846798" y="969687"/>
                </a:lnTo>
                <a:lnTo>
                  <a:pt x="1878260" y="1019077"/>
                </a:lnTo>
                <a:lnTo>
                  <a:pt x="1911239" y="1065046"/>
                </a:lnTo>
                <a:lnTo>
                  <a:pt x="1945505" y="1107002"/>
                </a:lnTo>
                <a:lnTo>
                  <a:pt x="1980817" y="1144403"/>
                </a:lnTo>
                <a:lnTo>
                  <a:pt x="2016917" y="1176761"/>
                </a:lnTo>
                <a:lnTo>
                  <a:pt x="2053540" y="1203651"/>
                </a:lnTo>
                <a:lnTo>
                  <a:pt x="2090412" y="1224716"/>
                </a:lnTo>
                <a:lnTo>
                  <a:pt x="2127259" y="1239670"/>
                </a:lnTo>
                <a:lnTo>
                  <a:pt x="2163805" y="1248301"/>
                </a:lnTo>
                <a:lnTo>
                  <a:pt x="2199779" y="1250477"/>
                </a:lnTo>
                <a:lnTo>
                  <a:pt x="2234916" y="1246142"/>
                </a:lnTo>
                <a:lnTo>
                  <a:pt x="2268962" y="1235322"/>
                </a:lnTo>
                <a:lnTo>
                  <a:pt x="2301676" y="1218124"/>
                </a:lnTo>
                <a:lnTo>
                  <a:pt x="2332834" y="1194730"/>
                </a:lnTo>
                <a:lnTo>
                  <a:pt x="2362231" y="1165400"/>
                </a:lnTo>
                <a:lnTo>
                  <a:pt x="2389682" y="1130468"/>
                </a:lnTo>
                <a:lnTo>
                  <a:pt x="2415027" y="1090335"/>
                </a:lnTo>
                <a:lnTo>
                  <a:pt x="2438134" y="1045466"/>
                </a:lnTo>
                <a:lnTo>
                  <a:pt x="2458895" y="996384"/>
                </a:lnTo>
                <a:lnTo>
                  <a:pt x="2477233" y="943666"/>
                </a:lnTo>
                <a:lnTo>
                  <a:pt x="2493099" y="887931"/>
                </a:lnTo>
                <a:lnTo>
                  <a:pt x="2506477" y="829836"/>
                </a:lnTo>
                <a:lnTo>
                  <a:pt x="2517380" y="770068"/>
                </a:lnTo>
                <a:lnTo>
                  <a:pt x="2525850" y="709332"/>
                </a:lnTo>
                <a:lnTo>
                  <a:pt x="2531961" y="648347"/>
                </a:lnTo>
                <a:lnTo>
                  <a:pt x="2535815" y="587835"/>
                </a:lnTo>
                <a:lnTo>
                  <a:pt x="2537543" y="528512"/>
                </a:lnTo>
                <a:lnTo>
                  <a:pt x="2537300" y="471078"/>
                </a:lnTo>
                <a:lnTo>
                  <a:pt x="2535267" y="416211"/>
                </a:lnTo>
                <a:lnTo>
                  <a:pt x="2531646" y="364559"/>
                </a:lnTo>
                <a:lnTo>
                  <a:pt x="2526658" y="316727"/>
                </a:lnTo>
                <a:lnTo>
                  <a:pt x="2520544" y="273276"/>
                </a:lnTo>
                <a:lnTo>
                  <a:pt x="2513554" y="234712"/>
                </a:lnTo>
                <a:lnTo>
                  <a:pt x="2505952" y="201481"/>
                </a:lnTo>
                <a:lnTo>
                  <a:pt x="2498008" y="173964"/>
                </a:lnTo>
                <a:lnTo>
                  <a:pt x="2489998" y="152470"/>
                </a:lnTo>
                <a:lnTo>
                  <a:pt x="2482198" y="137238"/>
                </a:lnTo>
                <a:lnTo>
                  <a:pt x="2474880" y="128426"/>
                </a:lnTo>
                <a:lnTo>
                  <a:pt x="2468311" y="126115"/>
                </a:lnTo>
                <a:lnTo>
                  <a:pt x="2462751" y="130305"/>
                </a:lnTo>
                <a:lnTo>
                  <a:pt x="2458443" y="140919"/>
                </a:lnTo>
                <a:lnTo>
                  <a:pt x="2455619" y="157798"/>
                </a:lnTo>
                <a:lnTo>
                  <a:pt x="2454490" y="180708"/>
                </a:lnTo>
                <a:lnTo>
                  <a:pt x="2455248" y="209338"/>
                </a:lnTo>
                <a:lnTo>
                  <a:pt x="2458061" y="243312"/>
                </a:lnTo>
                <a:lnTo>
                  <a:pt x="2463071" y="282183"/>
                </a:lnTo>
                <a:lnTo>
                  <a:pt x="2470394" y="325446"/>
                </a:lnTo>
                <a:lnTo>
                  <a:pt x="2480118" y="372544"/>
                </a:lnTo>
                <a:lnTo>
                  <a:pt x="2492301" y="422870"/>
                </a:lnTo>
                <a:lnTo>
                  <a:pt x="2506970" y="475778"/>
                </a:lnTo>
                <a:lnTo>
                  <a:pt x="2524122" y="530592"/>
                </a:lnTo>
                <a:lnTo>
                  <a:pt x="2543724" y="586609"/>
                </a:lnTo>
                <a:lnTo>
                  <a:pt x="2565713" y="643116"/>
                </a:lnTo>
                <a:lnTo>
                  <a:pt x="2589996" y="699391"/>
                </a:lnTo>
                <a:lnTo>
                  <a:pt x="2616452" y="754714"/>
                </a:lnTo>
                <a:lnTo>
                  <a:pt x="2644933" y="808380"/>
                </a:lnTo>
                <a:lnTo>
                  <a:pt x="2675267" y="859700"/>
                </a:lnTo>
                <a:lnTo>
                  <a:pt x="2707259" y="908019"/>
                </a:lnTo>
                <a:lnTo>
                  <a:pt x="2740693" y="952714"/>
                </a:lnTo>
                <a:lnTo>
                  <a:pt x="2775336" y="993209"/>
                </a:lnTo>
                <a:lnTo>
                  <a:pt x="2810939" y="1028980"/>
                </a:lnTo>
                <a:lnTo>
                  <a:pt x="2847243" y="1059559"/>
                </a:lnTo>
                <a:lnTo>
                  <a:pt x="2883980" y="1084544"/>
                </a:lnTo>
                <a:lnTo>
                  <a:pt x="2920874" y="1103601"/>
                </a:lnTo>
                <a:lnTo>
                  <a:pt x="2957651" y="1116467"/>
                </a:lnTo>
                <a:lnTo>
                  <a:pt x="2994037" y="1122957"/>
                </a:lnTo>
                <a:lnTo>
                  <a:pt x="3029761" y="1122964"/>
                </a:lnTo>
                <a:lnTo>
                  <a:pt x="3064562" y="1116461"/>
                </a:lnTo>
                <a:lnTo>
                  <a:pt x="3098190" y="1103499"/>
                </a:lnTo>
                <a:lnTo>
                  <a:pt x="3130409" y="1084211"/>
                </a:lnTo>
                <a:lnTo>
                  <a:pt x="3161002" y="1058806"/>
                </a:lnTo>
                <a:lnTo>
                  <a:pt x="3189769" y="1027569"/>
                </a:lnTo>
                <a:lnTo>
                  <a:pt x="3216535" y="990855"/>
                </a:lnTo>
                <a:lnTo>
                  <a:pt x="3241148" y="949088"/>
                </a:lnTo>
                <a:lnTo>
                  <a:pt x="3263483" y="902754"/>
                </a:lnTo>
                <a:lnTo>
                  <a:pt x="3283443" y="852395"/>
                </a:lnTo>
                <a:lnTo>
                  <a:pt x="3300961" y="798600"/>
                </a:lnTo>
                <a:lnTo>
                  <a:pt x="3315999" y="742004"/>
                </a:lnTo>
                <a:lnTo>
                  <a:pt x="3328548" y="683273"/>
                </a:lnTo>
                <a:lnTo>
                  <a:pt x="3338634" y="623103"/>
                </a:lnTo>
                <a:lnTo>
                  <a:pt x="3346308" y="562204"/>
                </a:lnTo>
                <a:lnTo>
                  <a:pt x="3351654" y="501297"/>
                </a:lnTo>
                <a:lnTo>
                  <a:pt x="3354783" y="441102"/>
                </a:lnTo>
                <a:lnTo>
                  <a:pt x="3355836" y="382332"/>
                </a:lnTo>
                <a:lnTo>
                  <a:pt x="3354975" y="325680"/>
                </a:lnTo>
                <a:lnTo>
                  <a:pt x="3352389" y="271815"/>
                </a:lnTo>
                <a:lnTo>
                  <a:pt x="3348287" y="221370"/>
                </a:lnTo>
                <a:lnTo>
                  <a:pt x="3342897" y="174939"/>
                </a:lnTo>
                <a:lnTo>
                  <a:pt x="3336461" y="133064"/>
                </a:lnTo>
                <a:lnTo>
                  <a:pt x="3329238" y="96231"/>
                </a:lnTo>
                <a:lnTo>
                  <a:pt x="3321492" y="64865"/>
                </a:lnTo>
                <a:lnTo>
                  <a:pt x="3313495" y="39325"/>
                </a:lnTo>
                <a:lnTo>
                  <a:pt x="3305525" y="19896"/>
                </a:lnTo>
                <a:lnTo>
                  <a:pt x="3297855" y="6790"/>
                </a:lnTo>
                <a:lnTo>
                  <a:pt x="3290757" y="140"/>
                </a:lnTo>
                <a:lnTo>
                  <a:pt x="3284497" y="0"/>
                </a:lnTo>
                <a:lnTo>
                  <a:pt x="3279327" y="6345"/>
                </a:lnTo>
                <a:lnTo>
                  <a:pt x="3275489" y="19068"/>
                </a:lnTo>
                <a:lnTo>
                  <a:pt x="3273208" y="37987"/>
                </a:lnTo>
                <a:lnTo>
                  <a:pt x="3272645" y="55343"/>
                </a:lnTo>
              </a:path>
            </a:pathLst>
          </a:custGeom>
          <a:ln w="25400">
            <a:solidFill>
              <a:srgbClr val="0070C0"/>
            </a:solidFill>
            <a:prstDash val="dash"/>
          </a:ln>
        </p:spPr>
        <p:txBody>
          <a:bodyPr/>
          <a:lstStyle/>
          <a:p>
            <a:endParaRPr lang="en-US"/>
          </a:p>
        </p:txBody>
      </p:sp>
      <p:sp>
        <p:nvSpPr>
          <p:cNvPr id="6" name="Shape 3"/>
          <p:cNvSpPr/>
          <p:nvPr/>
        </p:nvSpPr>
        <p:spPr>
          <a:xfrm>
            <a:off x="4369561" y="2675863"/>
            <a:ext cx="729245" cy="934757"/>
          </a:xfrm>
          <a:custGeom>
            <a:avLst/>
            <a:gdLst/>
            <a:ahLst/>
            <a:cxnLst/>
            <a:rect l="l" t="t" r="r" b="b"/>
            <a:pathLst>
              <a:path w="729245" h="934757">
                <a:moveTo>
                  <a:pt x="0" y="0"/>
                </a:moveTo>
                <a:lnTo>
                  <a:pt x="1196" y="28923"/>
                </a:lnTo>
                <a:lnTo>
                  <a:pt x="4517" y="63142"/>
                </a:lnTo>
                <a:lnTo>
                  <a:pt x="10097" y="102206"/>
                </a:lnTo>
                <a:lnTo>
                  <a:pt x="18045" y="145608"/>
                </a:lnTo>
                <a:lnTo>
                  <a:pt x="28442" y="192783"/>
                </a:lnTo>
                <a:lnTo>
                  <a:pt x="41335" y="243124"/>
                </a:lnTo>
                <a:lnTo>
                  <a:pt x="56744" y="295983"/>
                </a:lnTo>
                <a:lnTo>
                  <a:pt x="74657" y="350680"/>
                </a:lnTo>
                <a:lnTo>
                  <a:pt x="95030" y="406515"/>
                </a:lnTo>
                <a:lnTo>
                  <a:pt x="117790" y="462772"/>
                </a:lnTo>
                <a:lnTo>
                  <a:pt x="142835" y="518731"/>
                </a:lnTo>
                <a:lnTo>
                  <a:pt x="170035" y="573675"/>
                </a:lnTo>
                <a:lnTo>
                  <a:pt x="199231" y="626900"/>
                </a:lnTo>
                <a:lnTo>
                  <a:pt x="230243" y="677722"/>
                </a:lnTo>
                <a:lnTo>
                  <a:pt x="262866" y="725488"/>
                </a:lnTo>
                <a:lnTo>
                  <a:pt x="296878" y="769582"/>
                </a:lnTo>
                <a:lnTo>
                  <a:pt x="332036" y="809433"/>
                </a:lnTo>
                <a:lnTo>
                  <a:pt x="368088" y="844522"/>
                </a:lnTo>
                <a:lnTo>
                  <a:pt x="404765" y="874388"/>
                </a:lnTo>
                <a:lnTo>
                  <a:pt x="441796" y="898635"/>
                </a:lnTo>
                <a:lnTo>
                  <a:pt x="478903" y="916935"/>
                </a:lnTo>
                <a:lnTo>
                  <a:pt x="515806" y="929035"/>
                </a:lnTo>
                <a:lnTo>
                  <a:pt x="552229" y="934757"/>
                </a:lnTo>
                <a:lnTo>
                  <a:pt x="587903" y="934000"/>
                </a:lnTo>
                <a:lnTo>
                  <a:pt x="622566" y="926744"/>
                </a:lnTo>
                <a:lnTo>
                  <a:pt x="655968" y="913049"/>
                </a:lnTo>
                <a:lnTo>
                  <a:pt x="687878" y="893054"/>
                </a:lnTo>
                <a:lnTo>
                  <a:pt x="718080" y="866975"/>
                </a:lnTo>
                <a:lnTo>
                  <a:pt x="729245" y="855333"/>
                </a:lnTo>
              </a:path>
            </a:pathLst>
          </a:custGeom>
          <a:ln w="34925">
            <a:solidFill>
              <a:srgbClr val="0070C0"/>
            </a:solidFill>
            <a:prstDash val="solid"/>
          </a:ln>
        </p:spPr>
        <p:txBody>
          <a:bodyPr/>
          <a:lstStyle/>
          <a:p>
            <a:endParaRPr lang="en-US"/>
          </a:p>
        </p:txBody>
      </p:sp>
      <p:sp>
        <p:nvSpPr>
          <p:cNvPr id="7" name="Shape 4"/>
          <p:cNvSpPr/>
          <p:nvPr/>
        </p:nvSpPr>
        <p:spPr>
          <a:xfrm>
            <a:off x="5162815" y="3531196"/>
            <a:ext cx="118872" cy="9144"/>
          </a:xfrm>
          <a:custGeom>
            <a:avLst/>
            <a:gdLst/>
            <a:ahLst/>
            <a:cxnLst/>
            <a:rect l="l" t="t" r="r" b="b"/>
            <a:pathLst>
              <a:path w="118872" h="9144">
                <a:moveTo>
                  <a:pt x="0" y="0"/>
                </a:moveTo>
                <a:lnTo>
                  <a:pt x="118872" y="0"/>
                </a:lnTo>
              </a:path>
            </a:pathLst>
          </a:custGeom>
          <a:ln w="19050">
            <a:solidFill>
              <a:srgbClr val="73000A"/>
            </a:solidFill>
            <a:prstDash val="solid"/>
          </a:ln>
        </p:spPr>
        <p:txBody>
          <a:bodyPr/>
          <a:lstStyle/>
          <a:p>
            <a:endParaRPr lang="en-US"/>
          </a:p>
        </p:txBody>
      </p:sp>
      <p:sp>
        <p:nvSpPr>
          <p:cNvPr id="8" name="Shape 5"/>
          <p:cNvSpPr/>
          <p:nvPr/>
        </p:nvSpPr>
        <p:spPr>
          <a:xfrm>
            <a:off x="5151635" y="3567338"/>
            <a:ext cx="98109" cy="67120"/>
          </a:xfrm>
          <a:custGeom>
            <a:avLst/>
            <a:gdLst/>
            <a:ahLst/>
            <a:cxnLst/>
            <a:rect l="l" t="t" r="r" b="b"/>
            <a:pathLst>
              <a:path w="98109" h="67120">
                <a:moveTo>
                  <a:pt x="0" y="0"/>
                </a:moveTo>
                <a:lnTo>
                  <a:pt x="98109" y="67120"/>
                </a:lnTo>
              </a:path>
            </a:pathLst>
          </a:custGeom>
          <a:ln w="19050">
            <a:solidFill>
              <a:srgbClr val="73000A"/>
            </a:solidFill>
            <a:prstDash val="solid"/>
          </a:ln>
        </p:spPr>
        <p:txBody>
          <a:bodyPr/>
          <a:lstStyle/>
          <a:p>
            <a:endParaRPr lang="en-US"/>
          </a:p>
        </p:txBody>
      </p:sp>
      <p:sp>
        <p:nvSpPr>
          <p:cNvPr id="9" name="Shape 6"/>
          <p:cNvSpPr/>
          <p:nvPr/>
        </p:nvSpPr>
        <p:spPr>
          <a:xfrm>
            <a:off x="5122000" y="3590854"/>
            <a:ext cx="43074" cy="110793"/>
          </a:xfrm>
          <a:custGeom>
            <a:avLst/>
            <a:gdLst/>
            <a:ahLst/>
            <a:cxnLst/>
            <a:rect l="l" t="t" r="r" b="b"/>
            <a:pathLst>
              <a:path w="43074" h="110793">
                <a:moveTo>
                  <a:pt x="0" y="0"/>
                </a:moveTo>
                <a:lnTo>
                  <a:pt x="43074" y="110793"/>
                </a:lnTo>
              </a:path>
            </a:pathLst>
          </a:custGeom>
          <a:ln w="19050">
            <a:solidFill>
              <a:srgbClr val="73000A"/>
            </a:solidFill>
            <a:prstDash val="solid"/>
          </a:ln>
        </p:spPr>
        <p:txBody>
          <a:bodyPr/>
          <a:lstStyle/>
          <a:p>
            <a:endParaRPr lang="en-US"/>
          </a:p>
        </p:txBody>
      </p:sp>
      <p:sp>
        <p:nvSpPr>
          <p:cNvPr id="10" name="Shape 7"/>
          <p:cNvSpPr/>
          <p:nvPr/>
        </p:nvSpPr>
        <p:spPr>
          <a:xfrm>
            <a:off x="5057256" y="3593530"/>
            <a:ext cx="27008" cy="115763"/>
          </a:xfrm>
          <a:custGeom>
            <a:avLst/>
            <a:gdLst/>
            <a:ahLst/>
            <a:cxnLst/>
            <a:rect l="l" t="t" r="r" b="b"/>
            <a:pathLst>
              <a:path w="27008" h="115763">
                <a:moveTo>
                  <a:pt x="27008" y="0"/>
                </a:moveTo>
                <a:lnTo>
                  <a:pt x="0" y="115763"/>
                </a:lnTo>
              </a:path>
            </a:pathLst>
          </a:custGeom>
          <a:ln w="19050">
            <a:solidFill>
              <a:srgbClr val="73000A"/>
            </a:solidFill>
            <a:prstDash val="solid"/>
          </a:ln>
        </p:spPr>
        <p:txBody>
          <a:bodyPr/>
          <a:lstStyle/>
          <a:p>
            <a:endParaRPr lang="en-US"/>
          </a:p>
        </p:txBody>
      </p:sp>
      <p:sp>
        <p:nvSpPr>
          <p:cNvPr id="11" name="Shape 8"/>
          <p:cNvSpPr/>
          <p:nvPr/>
        </p:nvSpPr>
        <p:spPr>
          <a:xfrm>
            <a:off x="4963952" y="3574431"/>
            <a:ext cx="87655" cy="80294"/>
          </a:xfrm>
          <a:custGeom>
            <a:avLst/>
            <a:gdLst/>
            <a:ahLst/>
            <a:cxnLst/>
            <a:rect l="l" t="t" r="r" b="b"/>
            <a:pathLst>
              <a:path w="87655" h="80294">
                <a:moveTo>
                  <a:pt x="87655" y="0"/>
                </a:moveTo>
                <a:lnTo>
                  <a:pt x="0" y="80294"/>
                </a:lnTo>
              </a:path>
            </a:pathLst>
          </a:custGeom>
          <a:ln w="19050">
            <a:solidFill>
              <a:srgbClr val="73000A"/>
            </a:solidFill>
            <a:prstDash val="solid"/>
          </a:ln>
        </p:spPr>
        <p:txBody>
          <a:bodyPr/>
          <a:lstStyle/>
          <a:p>
            <a:endParaRPr lang="en-US"/>
          </a:p>
        </p:txBody>
      </p:sp>
      <p:sp>
        <p:nvSpPr>
          <p:cNvPr id="12" name="Shape 9"/>
          <p:cNvSpPr/>
          <p:nvPr/>
        </p:nvSpPr>
        <p:spPr>
          <a:xfrm>
            <a:off x="4917757" y="3540229"/>
            <a:ext cx="117682" cy="16775"/>
          </a:xfrm>
          <a:custGeom>
            <a:avLst/>
            <a:gdLst/>
            <a:ahLst/>
            <a:cxnLst/>
            <a:rect l="l" t="t" r="r" b="b"/>
            <a:pathLst>
              <a:path w="117682" h="16775">
                <a:moveTo>
                  <a:pt x="117682" y="0"/>
                </a:moveTo>
                <a:lnTo>
                  <a:pt x="0" y="16775"/>
                </a:lnTo>
              </a:path>
            </a:pathLst>
          </a:custGeom>
          <a:ln w="19050">
            <a:solidFill>
              <a:srgbClr val="73000A"/>
            </a:solidFill>
            <a:prstDash val="solid"/>
          </a:ln>
        </p:spPr>
        <p:txBody>
          <a:bodyPr/>
          <a:lstStyle/>
          <a:p>
            <a:endParaRPr lang="en-US"/>
          </a:p>
        </p:txBody>
      </p:sp>
      <p:sp>
        <p:nvSpPr>
          <p:cNvPr id="13" name="Shape 10"/>
          <p:cNvSpPr/>
          <p:nvPr/>
        </p:nvSpPr>
        <p:spPr>
          <a:xfrm>
            <a:off x="4934807" y="3450268"/>
            <a:ext cx="106599" cy="52603"/>
          </a:xfrm>
          <a:custGeom>
            <a:avLst/>
            <a:gdLst/>
            <a:ahLst/>
            <a:cxnLst/>
            <a:rect l="l" t="t" r="r" b="b"/>
            <a:pathLst>
              <a:path w="106599" h="52603">
                <a:moveTo>
                  <a:pt x="106599" y="52603"/>
                </a:moveTo>
                <a:lnTo>
                  <a:pt x="0" y="0"/>
                </a:lnTo>
              </a:path>
            </a:pathLst>
          </a:custGeom>
          <a:ln w="19050">
            <a:solidFill>
              <a:srgbClr val="73000A"/>
            </a:solidFill>
            <a:prstDash val="solid"/>
          </a:ln>
        </p:spPr>
        <p:txBody>
          <a:bodyPr/>
          <a:lstStyle/>
          <a:p>
            <a:endParaRPr lang="en-US"/>
          </a:p>
        </p:txBody>
      </p:sp>
      <p:sp>
        <p:nvSpPr>
          <p:cNvPr id="14" name="Shape 11"/>
          <p:cNvSpPr/>
          <p:nvPr/>
        </p:nvSpPr>
        <p:spPr>
          <a:xfrm>
            <a:off x="5009148" y="3371803"/>
            <a:ext cx="58278" cy="103606"/>
          </a:xfrm>
          <a:custGeom>
            <a:avLst/>
            <a:gdLst/>
            <a:ahLst/>
            <a:cxnLst/>
            <a:rect l="l" t="t" r="r" b="b"/>
            <a:pathLst>
              <a:path w="58278" h="103606">
                <a:moveTo>
                  <a:pt x="58278" y="103606"/>
                </a:moveTo>
                <a:lnTo>
                  <a:pt x="0" y="0"/>
                </a:lnTo>
              </a:path>
            </a:pathLst>
          </a:custGeom>
          <a:ln w="19050">
            <a:solidFill>
              <a:srgbClr val="73000A"/>
            </a:solidFill>
            <a:prstDash val="solid"/>
          </a:ln>
        </p:spPr>
        <p:txBody>
          <a:bodyPr/>
          <a:lstStyle/>
          <a:p>
            <a:endParaRPr lang="en-US"/>
          </a:p>
        </p:txBody>
      </p:sp>
      <p:sp>
        <p:nvSpPr>
          <p:cNvPr id="15" name="Shape 12"/>
          <p:cNvSpPr/>
          <p:nvPr/>
        </p:nvSpPr>
        <p:spPr>
          <a:xfrm>
            <a:off x="5104407" y="3349018"/>
            <a:ext cx="10401" cy="118416"/>
          </a:xfrm>
          <a:custGeom>
            <a:avLst/>
            <a:gdLst/>
            <a:ahLst/>
            <a:cxnLst/>
            <a:rect l="l" t="t" r="r" b="b"/>
            <a:pathLst>
              <a:path w="10401" h="118416">
                <a:moveTo>
                  <a:pt x="0" y="118416"/>
                </a:moveTo>
                <a:lnTo>
                  <a:pt x="10401" y="0"/>
                </a:lnTo>
              </a:path>
            </a:pathLst>
          </a:custGeom>
          <a:ln w="19050">
            <a:solidFill>
              <a:srgbClr val="73000A"/>
            </a:solidFill>
            <a:prstDash val="solid"/>
          </a:ln>
        </p:spPr>
        <p:txBody>
          <a:bodyPr/>
          <a:lstStyle/>
          <a:p>
            <a:endParaRPr lang="en-US"/>
          </a:p>
        </p:txBody>
      </p:sp>
      <p:sp>
        <p:nvSpPr>
          <p:cNvPr id="16" name="Shape 13"/>
          <p:cNvSpPr/>
          <p:nvPr/>
        </p:nvSpPr>
        <p:spPr>
          <a:xfrm>
            <a:off x="5139432" y="3389873"/>
            <a:ext cx="75447" cy="91860"/>
          </a:xfrm>
          <a:custGeom>
            <a:avLst/>
            <a:gdLst/>
            <a:ahLst/>
            <a:cxnLst/>
            <a:rect l="l" t="t" r="r" b="b"/>
            <a:pathLst>
              <a:path w="75447" h="91860">
                <a:moveTo>
                  <a:pt x="0" y="91860"/>
                </a:moveTo>
                <a:lnTo>
                  <a:pt x="75447" y="0"/>
                </a:lnTo>
              </a:path>
            </a:pathLst>
          </a:custGeom>
          <a:ln w="19050">
            <a:solidFill>
              <a:srgbClr val="73000A"/>
            </a:solidFill>
            <a:prstDash val="solid"/>
          </a:ln>
        </p:spPr>
        <p:txBody>
          <a:bodyPr/>
          <a:lstStyle/>
          <a:p>
            <a:endParaRPr lang="en-US"/>
          </a:p>
        </p:txBody>
      </p:sp>
      <p:sp>
        <p:nvSpPr>
          <p:cNvPr id="17" name="Shape 14"/>
          <p:cNvSpPr/>
          <p:nvPr/>
        </p:nvSpPr>
        <p:spPr>
          <a:xfrm>
            <a:off x="5043943" y="3476332"/>
            <a:ext cx="109728" cy="109728"/>
          </a:xfrm>
          <a:prstGeom prst="ellipse">
            <a:avLst/>
          </a:prstGeom>
          <a:solidFill>
            <a:srgbClr val="73000A"/>
          </a:solidFill>
          <a:ln w="12700">
            <a:solidFill>
              <a:srgbClr val="FFFFFF"/>
            </a:solidFill>
            <a:prstDash val="solid"/>
          </a:ln>
        </p:spPr>
        <p:txBody>
          <a:bodyPr/>
          <a:lstStyle/>
          <a:p>
            <a:endParaRPr lang="en-US"/>
          </a:p>
        </p:txBody>
      </p:sp>
      <p:sp>
        <p:nvSpPr>
          <p:cNvPr id="18" name="Text 15"/>
          <p:cNvSpPr txBox="1"/>
          <p:nvPr/>
        </p:nvSpPr>
        <p:spPr>
          <a:xfrm>
            <a:off x="3944841" y="2047461"/>
            <a:ext cx="411480" cy="365760"/>
          </a:xfrm>
          <a:prstGeom prst="rect">
            <a:avLst/>
          </a:prstGeom>
          <a:solidFill>
            <a:srgbClr val="FFFFFF">
              <a:alpha val="85000"/>
            </a:srgbClr>
          </a:solidFill>
          <a:ln/>
        </p:spPr>
        <p:txBody>
          <a:bodyPr wrap="square" lIns="381" tIns="381" rIns="381" bIns="381" rtlCol="0" anchor="ctr"/>
          <a:lstStyle/>
          <a:p>
            <a:pPr marL="0" indent="0" algn="l">
              <a:buNone/>
            </a:pPr>
            <a:r>
              <a:rPr lang="en-US" sz="2000" b="1" dirty="0">
                <a:solidFill>
                  <a:srgbClr val="1F3A68"/>
                </a:solidFill>
                <a:latin typeface="Calibri" pitchFamily="34" charset="0"/>
                <a:ea typeface="Calibri" pitchFamily="34" charset="-122"/>
                <a:cs typeface="Calibri" pitchFamily="34" charset="-120"/>
              </a:rPr>
              <a:t>e⁻</a:t>
            </a:r>
            <a:endParaRPr lang="en-US" sz="2000" dirty="0"/>
          </a:p>
        </p:txBody>
      </p:sp>
      <p:sp>
        <p:nvSpPr>
          <p:cNvPr id="19" name="Text 16"/>
          <p:cNvSpPr txBox="1"/>
          <p:nvPr/>
        </p:nvSpPr>
        <p:spPr>
          <a:xfrm>
            <a:off x="5698103" y="4190337"/>
            <a:ext cx="1828800" cy="320040"/>
          </a:xfrm>
          <a:prstGeom prst="rect">
            <a:avLst/>
          </a:prstGeom>
          <a:solidFill>
            <a:srgbClr val="FFFFFF">
              <a:alpha val="85000"/>
            </a:srgbClr>
          </a:solidFill>
          <a:ln/>
        </p:spPr>
        <p:txBody>
          <a:bodyPr wrap="square" lIns="381" tIns="381" rIns="381" bIns="381" rtlCol="0" anchor="ctr"/>
          <a:lstStyle/>
          <a:p>
            <a:pPr marL="0" indent="0" algn="l">
              <a:buNone/>
            </a:pPr>
            <a:r>
              <a:rPr lang="en-US" sz="1400" b="1" dirty="0">
                <a:solidFill>
                  <a:srgbClr val="73000A"/>
                </a:solidFill>
                <a:latin typeface="Calibri" pitchFamily="34" charset="0"/>
                <a:ea typeface="Calibri" pitchFamily="34" charset="-122"/>
                <a:cs typeface="Calibri" pitchFamily="34" charset="-120"/>
              </a:rPr>
              <a:t>Shower in front calo disk</a:t>
            </a:r>
            <a:endParaRPr lang="en-US" sz="1400" dirty="0"/>
          </a:p>
        </p:txBody>
      </p:sp>
      <p:sp>
        <p:nvSpPr>
          <p:cNvPr id="20" name="Text 17"/>
          <p:cNvSpPr txBox="1"/>
          <p:nvPr/>
        </p:nvSpPr>
        <p:spPr>
          <a:xfrm>
            <a:off x="1801964" y="4774758"/>
            <a:ext cx="1097280" cy="320040"/>
          </a:xfrm>
          <a:prstGeom prst="rect">
            <a:avLst/>
          </a:prstGeom>
          <a:solidFill>
            <a:srgbClr val="FFFFFF">
              <a:alpha val="85000"/>
            </a:srgbClr>
          </a:solidFill>
          <a:ln/>
        </p:spPr>
        <p:txBody>
          <a:bodyPr wrap="square" lIns="381" tIns="381" rIns="381" bIns="381"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Tracker</a:t>
            </a:r>
            <a:endParaRPr lang="en-US" sz="1400" dirty="0"/>
          </a:p>
        </p:txBody>
      </p:sp>
      <p:sp>
        <p:nvSpPr>
          <p:cNvPr id="21" name="Shape 18"/>
          <p:cNvSpPr/>
          <p:nvPr/>
        </p:nvSpPr>
        <p:spPr>
          <a:xfrm>
            <a:off x="548640" y="6080760"/>
            <a:ext cx="411480" cy="9144"/>
          </a:xfrm>
          <a:custGeom>
            <a:avLst/>
            <a:gdLst/>
            <a:ahLst/>
            <a:cxnLst/>
            <a:rect l="l" t="t" r="r" b="b"/>
            <a:pathLst>
              <a:path w="411480" h="9144">
                <a:moveTo>
                  <a:pt x="0" y="0"/>
                </a:moveTo>
                <a:lnTo>
                  <a:pt x="411480" y="0"/>
                </a:lnTo>
              </a:path>
            </a:pathLst>
          </a:custGeom>
          <a:ln w="31750">
            <a:solidFill>
              <a:srgbClr val="0070C0"/>
            </a:solidFill>
            <a:prstDash val="dash"/>
          </a:ln>
        </p:spPr>
        <p:txBody>
          <a:bodyPr/>
          <a:lstStyle/>
          <a:p>
            <a:endParaRPr lang="en-US"/>
          </a:p>
        </p:txBody>
      </p:sp>
      <p:sp>
        <p:nvSpPr>
          <p:cNvPr id="22" name="Text 19"/>
          <p:cNvSpPr txBox="1"/>
          <p:nvPr/>
        </p:nvSpPr>
        <p:spPr>
          <a:xfrm>
            <a:off x="1051560" y="5943600"/>
            <a:ext cx="1645920" cy="274320"/>
          </a:xfrm>
          <a:prstGeom prst="rect">
            <a:avLst/>
          </a:prstGeom>
          <a:noFill/>
          <a:ln/>
        </p:spPr>
        <p:txBody>
          <a:bodyPr wrap="square" lIns="381" tIns="381" rIns="381" bIns="381"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e⁻ (inside tracker)</a:t>
            </a:r>
            <a:endParaRPr lang="en-US" sz="1100" dirty="0"/>
          </a:p>
        </p:txBody>
      </p:sp>
      <p:sp>
        <p:nvSpPr>
          <p:cNvPr id="23" name="Shape 20"/>
          <p:cNvSpPr/>
          <p:nvPr/>
        </p:nvSpPr>
        <p:spPr>
          <a:xfrm>
            <a:off x="2560320" y="6080760"/>
            <a:ext cx="411480" cy="9144"/>
          </a:xfrm>
          <a:custGeom>
            <a:avLst/>
            <a:gdLst/>
            <a:ahLst/>
            <a:cxnLst/>
            <a:rect l="l" t="t" r="r" b="b"/>
            <a:pathLst>
              <a:path w="411480" h="9144">
                <a:moveTo>
                  <a:pt x="0" y="0"/>
                </a:moveTo>
                <a:lnTo>
                  <a:pt x="411480" y="0"/>
                </a:lnTo>
              </a:path>
            </a:pathLst>
          </a:custGeom>
          <a:ln w="31750">
            <a:solidFill>
              <a:srgbClr val="0070C0"/>
            </a:solidFill>
            <a:prstDash val="solid"/>
          </a:ln>
        </p:spPr>
        <p:txBody>
          <a:bodyPr/>
          <a:lstStyle/>
          <a:p>
            <a:endParaRPr lang="en-US"/>
          </a:p>
        </p:txBody>
      </p:sp>
      <p:sp>
        <p:nvSpPr>
          <p:cNvPr id="24" name="Text 21"/>
          <p:cNvSpPr txBox="1"/>
          <p:nvPr/>
        </p:nvSpPr>
        <p:spPr>
          <a:xfrm>
            <a:off x="3063240" y="5943600"/>
            <a:ext cx="1645920" cy="274320"/>
          </a:xfrm>
          <a:prstGeom prst="rect">
            <a:avLst/>
          </a:prstGeom>
          <a:noFill/>
          <a:ln/>
        </p:spPr>
        <p:txBody>
          <a:bodyPr wrap="square" lIns="381" tIns="381" rIns="381" bIns="381"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e⁻</a:t>
            </a:r>
            <a:endParaRPr lang="en-US" sz="1100" dirty="0"/>
          </a:p>
        </p:txBody>
      </p:sp>
      <p:sp>
        <p:nvSpPr>
          <p:cNvPr id="25" name="Shape 22"/>
          <p:cNvSpPr/>
          <p:nvPr/>
        </p:nvSpPr>
        <p:spPr>
          <a:xfrm>
            <a:off x="4572000" y="6080760"/>
            <a:ext cx="411480" cy="9144"/>
          </a:xfrm>
          <a:custGeom>
            <a:avLst/>
            <a:gdLst/>
            <a:ahLst/>
            <a:cxnLst/>
            <a:rect l="l" t="t" r="r" b="b"/>
            <a:pathLst>
              <a:path w="411480" h="9144">
                <a:moveTo>
                  <a:pt x="0" y="0"/>
                </a:moveTo>
                <a:lnTo>
                  <a:pt x="411480" y="0"/>
                </a:lnTo>
              </a:path>
            </a:pathLst>
          </a:custGeom>
          <a:ln w="31750">
            <a:solidFill>
              <a:srgbClr val="73000A"/>
            </a:solidFill>
            <a:prstDash val="solid"/>
          </a:ln>
        </p:spPr>
        <p:txBody>
          <a:bodyPr/>
          <a:lstStyle/>
          <a:p>
            <a:endParaRPr lang="en-US"/>
          </a:p>
        </p:txBody>
      </p:sp>
      <p:sp>
        <p:nvSpPr>
          <p:cNvPr id="26" name="Text 23"/>
          <p:cNvSpPr txBox="1"/>
          <p:nvPr/>
        </p:nvSpPr>
        <p:spPr>
          <a:xfrm>
            <a:off x="5074920" y="5943600"/>
            <a:ext cx="1645920" cy="274320"/>
          </a:xfrm>
          <a:prstGeom prst="rect">
            <a:avLst/>
          </a:prstGeom>
          <a:noFill/>
          <a:ln/>
        </p:spPr>
        <p:txBody>
          <a:bodyPr wrap="square" lIns="381" tIns="381" rIns="381" bIns="381"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Shower</a:t>
            </a:r>
            <a:endParaRPr lang="en-US" sz="1100" dirty="0"/>
          </a:p>
        </p:txBody>
      </p:sp>
      <p:sp>
        <p:nvSpPr>
          <p:cNvPr id="27" name="Shape 24"/>
          <p:cNvSpPr/>
          <p:nvPr/>
        </p:nvSpPr>
        <p:spPr>
          <a:xfrm>
            <a:off x="8732520" y="1508760"/>
            <a:ext cx="3017520" cy="4526280"/>
          </a:xfrm>
          <a:prstGeom prst="roundRect">
            <a:avLst>
              <a:gd name="adj" fmla="val 3030"/>
            </a:avLst>
          </a:prstGeom>
          <a:solidFill>
            <a:srgbClr val="F4F0F0"/>
          </a:solidFill>
          <a:ln/>
        </p:spPr>
        <p:txBody>
          <a:bodyPr/>
          <a:lstStyle/>
          <a:p>
            <a:endParaRPr lang="en-US"/>
          </a:p>
        </p:txBody>
      </p:sp>
      <p:sp>
        <p:nvSpPr>
          <p:cNvPr id="28" name="Text 25"/>
          <p:cNvSpPr txBox="1"/>
          <p:nvPr/>
        </p:nvSpPr>
        <p:spPr>
          <a:xfrm>
            <a:off x="8961120" y="1645920"/>
            <a:ext cx="2651760" cy="365760"/>
          </a:xfrm>
          <a:prstGeom prst="rect">
            <a:avLst/>
          </a:prstGeom>
          <a:noFill/>
          <a:ln/>
        </p:spPr>
        <p:txBody>
          <a:bodyPr wrap="square" lIns="381" tIns="381" rIns="381" bIns="381" rtlCol="0" anchor="ctr"/>
          <a:lstStyle/>
          <a:p>
            <a:pPr marL="0" indent="0" algn="l">
              <a:buNone/>
            </a:pPr>
            <a:r>
              <a:rPr lang="en-US" sz="1500" b="1" dirty="0">
                <a:solidFill>
                  <a:srgbClr val="73000A"/>
                </a:solidFill>
                <a:latin typeface="Calibri" pitchFamily="34" charset="0"/>
                <a:ea typeface="Calibri" pitchFamily="34" charset="-122"/>
                <a:cs typeface="Calibri" pitchFamily="34" charset="-120"/>
              </a:rPr>
              <a:t>Key points</a:t>
            </a:r>
            <a:endParaRPr lang="en-US" sz="1500" dirty="0"/>
          </a:p>
        </p:txBody>
      </p:sp>
      <p:sp>
        <p:nvSpPr>
          <p:cNvPr id="29" name="Text 26"/>
          <p:cNvSpPr txBox="1"/>
          <p:nvPr/>
        </p:nvSpPr>
        <p:spPr>
          <a:xfrm>
            <a:off x="8961120" y="2057400"/>
            <a:ext cx="2606040" cy="3794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Two annular disks of undoped CsI crystals</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SiPMs read out the scintillation light</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Measures energy, time, and position of each shower</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Seeds track finding, separates e⁻ from μ⁻, and feeds the trigger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Relevant Backgrounds and Mitigation Techniques</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Beam timing, low-mass tracking, and a cosmic veto suppress each background; the two-electron signature adds more</a:t>
            </a:r>
            <a:endParaRPr lang="en-US" sz="1600" dirty="0"/>
          </a:p>
        </p:txBody>
      </p:sp>
      <p:graphicFrame>
        <p:nvGraphicFramePr>
          <p:cNvPr id="4" name="Table 0"/>
          <p:cNvGraphicFramePr>
            <a:graphicFrameLocks noGrp="1"/>
          </p:cNvGraphicFramePr>
          <p:nvPr/>
        </p:nvGraphicFramePr>
        <p:xfrm>
          <a:off x="548640" y="1463040"/>
          <a:ext cx="11183112" cy="3749040"/>
        </p:xfrm>
        <a:graphic>
          <a:graphicData uri="http://schemas.openxmlformats.org/drawingml/2006/table">
            <a:tbl>
              <a:tblPr/>
              <a:tblGrid>
                <a:gridCol w="205740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953512">
                  <a:extLst>
                    <a:ext uri="{9D8B030D-6E8A-4147-A177-3AD203B41FA5}">
                      <a16:colId xmlns:a16="http://schemas.microsoft.com/office/drawing/2014/main" val="20003"/>
                    </a:ext>
                  </a:extLst>
                </a:gridCol>
              </a:tblGrid>
              <a:tr h="3474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Background</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4A4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Mitigation in Mu2e</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4A4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Extra handle for μ⁻e⁻ → e⁻e⁻</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1F3A68"/>
                          </a:solidFill>
                          <a:latin typeface="Calibri" pitchFamily="34" charset="0"/>
                          <a:ea typeface="Calibri" pitchFamily="34" charset="-122"/>
                          <a:cs typeface="Calibri" pitchFamily="34" charset="-120"/>
                        </a:rPr>
                        <a:t>Muon decay-in-orbit (DIO)</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EEF2F8"/>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Bound μ⁻ decays; nuclear recoil stretches the e⁻ spectrum toward 105 MeV</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Precise momentum from a low-mass straw tracker in vacuum; annular tracker ignores low-momentum tracks</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73000A"/>
                          </a:solidFill>
                          <a:latin typeface="Calibri" pitchFamily="34" charset="0"/>
                          <a:ea typeface="Calibri" pitchFamily="34" charset="-122"/>
                          <a:cs typeface="Calibri" pitchFamily="34" charset="-120"/>
                        </a:rPr>
                        <a:t>Spectrum peaks near 52.8 MeV, so reduce beam power; require two tracks, back-to-back, one vertex</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BF5F5"/>
                    </a:solidFill>
                  </a:tcPr>
                </a:tc>
                <a:extLst>
                  <a:ext uri="{0D108BD9-81ED-4DB2-BD59-A6C34878D82A}">
                    <a16:rowId xmlns:a16="http://schemas.microsoft.com/office/drawing/2014/main" val="10001"/>
                  </a:ext>
                </a:extLst>
              </a:tr>
              <a:tr h="502920">
                <a:tc>
                  <a:txBody>
                    <a:bodyPr/>
                    <a:lstStyle/>
                    <a:p>
                      <a:pPr marL="0" indent="0">
                        <a:buNone/>
                      </a:pPr>
                      <a:r>
                        <a:rPr lang="en-US" sz="1200" b="1" dirty="0">
                          <a:solidFill>
                            <a:srgbClr val="1F3A68"/>
                          </a:solidFill>
                          <a:latin typeface="Calibri" pitchFamily="34" charset="0"/>
                          <a:ea typeface="Calibri" pitchFamily="34" charset="-122"/>
                          <a:cs typeface="Calibri" pitchFamily="34" charset="-120"/>
                        </a:rPr>
                        <a:t>Radiative muon capture (RMC)</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EEF2F8"/>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μ⁻ capture emits a photon (endpoint ≈ 102 MeV in Al); γ → e⁺e⁻</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Aluminum target puts the photon endpoint below the conversion peak</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73000A"/>
                          </a:solidFill>
                          <a:latin typeface="Calibri" pitchFamily="34" charset="0"/>
                          <a:ea typeface="Calibri" pitchFamily="34" charset="-122"/>
                          <a:cs typeface="Calibri" pitchFamily="34" charset="-120"/>
                        </a:rPr>
                        <a:t>Signal is a same-sign e⁻e⁻ pair; conversions give e⁺e⁻</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BF5F5"/>
                    </a:solidFill>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73000A"/>
                          </a:solidFill>
                          <a:latin typeface="Calibri" pitchFamily="34" charset="0"/>
                          <a:ea typeface="Calibri" pitchFamily="34" charset="-122"/>
                          <a:cs typeface="Calibri" pitchFamily="34" charset="-120"/>
                        </a:rPr>
                        <a:t>Radiative pion capture (RPC)</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π⁻ capture emits prompt photons up to ≈ 140 MeV</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Pulsed beam with ≤ 10⁻¹⁰ extinction; live window opens about 700 ns after each pulse</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73000A"/>
                          </a:solidFill>
                          <a:latin typeface="Calibri" pitchFamily="34" charset="0"/>
                          <a:ea typeface="Calibri" pitchFamily="34" charset="-122"/>
                          <a:cs typeface="Calibri" pitchFamily="34" charset="-120"/>
                        </a:rPr>
                        <a:t>Same timing protection</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BF5F5"/>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73000A"/>
                          </a:solidFill>
                          <a:latin typeface="Calibri" pitchFamily="34" charset="0"/>
                          <a:ea typeface="Calibri" pitchFamily="34" charset="-122"/>
                          <a:cs typeface="Calibri" pitchFamily="34" charset="-120"/>
                        </a:rPr>
                        <a:t>Beam flash</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Prompt particles arriving with each proton pulse</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Delayed live window, absorbers, and shielding</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73000A"/>
                          </a:solidFill>
                          <a:latin typeface="Calibri" pitchFamily="34" charset="0"/>
                          <a:ea typeface="Calibri" pitchFamily="34" charset="-122"/>
                          <a:cs typeface="Calibri" pitchFamily="34" charset="-120"/>
                        </a:rPr>
                        <a:t>Same timing protection</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BF5F5"/>
                    </a:solidFill>
                  </a:tcPr>
                </a:tc>
                <a:extLst>
                  <a:ext uri="{0D108BD9-81ED-4DB2-BD59-A6C34878D82A}">
                    <a16:rowId xmlns:a16="http://schemas.microsoft.com/office/drawing/2014/main" val="10004"/>
                  </a:ext>
                </a:extLst>
              </a:tr>
              <a:tr h="502920">
                <a:tc>
                  <a:txBody>
                    <a:bodyPr/>
                    <a:lstStyle/>
                    <a:p>
                      <a:pPr marL="0" indent="0">
                        <a:buNone/>
                      </a:pPr>
                      <a:r>
                        <a:rPr lang="en-US" sz="1200" b="1" dirty="0">
                          <a:solidFill>
                            <a:srgbClr val="73000A"/>
                          </a:solidFill>
                          <a:latin typeface="Calibri" pitchFamily="34" charset="0"/>
                          <a:ea typeface="Calibri" pitchFamily="34" charset="-122"/>
                          <a:cs typeface="Calibri" pitchFamily="34" charset="-120"/>
                        </a:rPr>
                        <a:t>Electromagnetic production</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Photon conversions, Compton and delta-ray electrons in material</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Minimal material; calorimeter E/p matching and track-quality cuts</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73000A"/>
                          </a:solidFill>
                          <a:latin typeface="Calibri" pitchFamily="34" charset="0"/>
                          <a:ea typeface="Calibri" pitchFamily="34" charset="-122"/>
                          <a:cs typeface="Calibri" pitchFamily="34" charset="-120"/>
                        </a:rPr>
                        <a:t>Same-sign pair and common vertex reject e⁺e⁻ pairs</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BF5F5"/>
                    </a:solidFill>
                  </a:tcPr>
                </a:tc>
                <a:extLst>
                  <a:ext uri="{0D108BD9-81ED-4DB2-BD59-A6C34878D82A}">
                    <a16:rowId xmlns:a16="http://schemas.microsoft.com/office/drawing/2014/main" val="10005"/>
                  </a:ext>
                </a:extLst>
              </a:tr>
              <a:tr h="502920">
                <a:tc>
                  <a:txBody>
                    <a:bodyPr/>
                    <a:lstStyle/>
                    <a:p>
                      <a:pPr marL="0" indent="0">
                        <a:buNone/>
                      </a:pPr>
                      <a:r>
                        <a:rPr lang="en-US" sz="1200" b="1" dirty="0">
                          <a:solidFill>
                            <a:srgbClr val="4A4A4A"/>
                          </a:solidFill>
                          <a:latin typeface="Calibri" pitchFamily="34" charset="0"/>
                          <a:ea typeface="Calibri" pitchFamily="34" charset="-122"/>
                          <a:cs typeface="Calibri" pitchFamily="34" charset="-120"/>
                        </a:rPr>
                        <a:t>Cosmic-ray muons and byproducts</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0F0F0"/>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Cosmic μ decays or interacts in the detector hall, producing electrons</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Cosmic Ray Veto scintillator around the detector; timing coincidence</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73000A"/>
                          </a:solidFill>
                          <a:latin typeface="Calibri" pitchFamily="34" charset="0"/>
                          <a:ea typeface="Calibri" pitchFamily="34" charset="-122"/>
                          <a:cs typeface="Calibri" pitchFamily="34" charset="-120"/>
                        </a:rPr>
                        <a:t>A back-to-back pair from a target foil, not one through-going track</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BF5F5"/>
                    </a:solidFill>
                  </a:tcPr>
                </a:tc>
                <a:extLst>
                  <a:ext uri="{0D108BD9-81ED-4DB2-BD59-A6C34878D82A}">
                    <a16:rowId xmlns:a16="http://schemas.microsoft.com/office/drawing/2014/main" val="10006"/>
                  </a:ext>
                </a:extLst>
              </a:tr>
              <a:tr h="411480">
                <a:tc>
                  <a:txBody>
                    <a:bodyPr/>
                    <a:lstStyle/>
                    <a:p>
                      <a:pPr marL="0" indent="0">
                        <a:buNone/>
                      </a:pPr>
                      <a:r>
                        <a:rPr lang="en-US" sz="1200" b="1" dirty="0">
                          <a:solidFill>
                            <a:srgbClr val="4A4A4A"/>
                          </a:solidFill>
                          <a:latin typeface="Calibri" pitchFamily="34" charset="0"/>
                          <a:ea typeface="Calibri" pitchFamily="34" charset="-122"/>
                          <a:cs typeface="Calibri" pitchFamily="34" charset="-120"/>
                        </a:rPr>
                        <a:t>Reconstruction error</a:t>
                      </a:r>
                      <a:endParaRPr lang="en-US" sz="12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0F0F0"/>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Mis-fit tracks and accidental hit combinations from pileup</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KinKal fit quality and calorimeter matching</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tcPr>
                </a:tc>
                <a:tc>
                  <a:txBody>
                    <a:bodyPr/>
                    <a:lstStyle/>
                    <a:p>
                      <a:pPr marL="0" indent="0">
                        <a:buNone/>
                      </a:pPr>
                      <a:r>
                        <a:rPr lang="en-US" sz="1100" dirty="0">
                          <a:solidFill>
                            <a:srgbClr val="73000A"/>
                          </a:solidFill>
                          <a:latin typeface="Calibri" pitchFamily="34" charset="0"/>
                          <a:ea typeface="Calibri" pitchFamily="34" charset="-122"/>
                          <a:cs typeface="Calibri" pitchFamily="34" charset="-120"/>
                        </a:rPr>
                        <a:t>Common-vertex consistency (Goal 1)</a:t>
                      </a:r>
                      <a:endParaRPr lang="en-US" sz="1100" dirty="0">
                        <a:latin typeface="Calibri" charset="0"/>
                        <a:ea typeface="Calibri" charset="0"/>
                        <a:cs typeface="Calibri" charset="0"/>
                      </a:endParaRPr>
                    </a:p>
                  </a:txBody>
                  <a:tcPr marT="27432" marB="27432"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BF5F5"/>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468112"/>
            <a:ext cx="182880" cy="146304"/>
          </a:xfrm>
          <a:prstGeom prst="rect">
            <a:avLst/>
          </a:prstGeom>
          <a:solidFill>
            <a:srgbClr val="EEF2F8"/>
          </a:solidFill>
          <a:ln w="12700">
            <a:solidFill>
              <a:srgbClr val="1F3A68"/>
            </a:solidFill>
            <a:prstDash val="solid"/>
          </a:ln>
        </p:spPr>
        <p:txBody>
          <a:bodyPr/>
          <a:lstStyle/>
          <a:p>
            <a:endParaRPr lang="en-US"/>
          </a:p>
        </p:txBody>
      </p:sp>
      <p:sp>
        <p:nvSpPr>
          <p:cNvPr id="6" name="Text 3"/>
          <p:cNvSpPr txBox="1"/>
          <p:nvPr/>
        </p:nvSpPr>
        <p:spPr>
          <a:xfrm>
            <a:off x="804672" y="5413248"/>
            <a:ext cx="1280160" cy="256032"/>
          </a:xfrm>
          <a:prstGeom prst="rect">
            <a:avLst/>
          </a:prstGeom>
          <a:noFill/>
          <a:ln/>
        </p:spPr>
        <p:txBody>
          <a:bodyPr wrap="square" lIns="0" tIns="0" rIns="0" bIns="0" rtlCol="0" anchor="ctr"/>
          <a:lstStyle/>
          <a:p>
            <a:pPr marL="0" indent="0">
              <a:buNone/>
            </a:pPr>
            <a:r>
              <a:rPr lang="en-US" sz="1050" b="1" dirty="0">
                <a:solidFill>
                  <a:srgbClr val="1F3A68"/>
                </a:solidFill>
                <a:latin typeface="Calibri" pitchFamily="34" charset="0"/>
                <a:ea typeface="Calibri" pitchFamily="34" charset="-122"/>
                <a:cs typeface="Calibri" pitchFamily="34" charset="-120"/>
              </a:rPr>
              <a:t>Stopped muon</a:t>
            </a:r>
            <a:endParaRPr lang="en-US" sz="1050" dirty="0"/>
          </a:p>
        </p:txBody>
      </p:sp>
      <p:sp>
        <p:nvSpPr>
          <p:cNvPr id="7" name="Shape 4"/>
          <p:cNvSpPr/>
          <p:nvPr/>
        </p:nvSpPr>
        <p:spPr>
          <a:xfrm>
            <a:off x="2057400" y="5468112"/>
            <a:ext cx="182880" cy="146304"/>
          </a:xfrm>
          <a:prstGeom prst="rect">
            <a:avLst/>
          </a:prstGeom>
          <a:solidFill>
            <a:srgbClr val="F4E6E7"/>
          </a:solidFill>
          <a:ln w="12700">
            <a:solidFill>
              <a:srgbClr val="73000A"/>
            </a:solidFill>
            <a:prstDash val="solid"/>
          </a:ln>
        </p:spPr>
        <p:txBody>
          <a:bodyPr/>
          <a:lstStyle/>
          <a:p>
            <a:endParaRPr lang="en-US"/>
          </a:p>
        </p:txBody>
      </p:sp>
      <p:sp>
        <p:nvSpPr>
          <p:cNvPr id="8" name="Text 5"/>
          <p:cNvSpPr txBox="1"/>
          <p:nvPr/>
        </p:nvSpPr>
        <p:spPr>
          <a:xfrm>
            <a:off x="2313432" y="5413248"/>
            <a:ext cx="1280160" cy="256032"/>
          </a:xfrm>
          <a:prstGeom prst="rect">
            <a:avLst/>
          </a:prstGeom>
          <a:noFill/>
          <a:ln/>
        </p:spPr>
        <p:txBody>
          <a:bodyPr wrap="square" lIns="0" tIns="0" rIns="0" bIns="0" rtlCol="0" anchor="ctr"/>
          <a:lstStyle/>
          <a:p>
            <a:pPr marL="0" indent="0">
              <a:buNone/>
            </a:pPr>
            <a:r>
              <a:rPr lang="en-US" sz="1050" b="1" dirty="0">
                <a:solidFill>
                  <a:srgbClr val="73000A"/>
                </a:solidFill>
                <a:latin typeface="Calibri" pitchFamily="34" charset="0"/>
                <a:ea typeface="Calibri" pitchFamily="34" charset="-122"/>
                <a:cs typeface="Calibri" pitchFamily="34" charset="-120"/>
              </a:rPr>
              <a:t>Beam-related</a:t>
            </a:r>
            <a:endParaRPr lang="en-US" sz="1050" dirty="0"/>
          </a:p>
        </p:txBody>
      </p:sp>
      <p:sp>
        <p:nvSpPr>
          <p:cNvPr id="9" name="Shape 6"/>
          <p:cNvSpPr/>
          <p:nvPr/>
        </p:nvSpPr>
        <p:spPr>
          <a:xfrm>
            <a:off x="3566160" y="5468112"/>
            <a:ext cx="182880" cy="146304"/>
          </a:xfrm>
          <a:prstGeom prst="rect">
            <a:avLst/>
          </a:prstGeom>
          <a:solidFill>
            <a:srgbClr val="F0F0F0"/>
          </a:solidFill>
          <a:ln w="12700">
            <a:solidFill>
              <a:srgbClr val="4A4A4A"/>
            </a:solidFill>
            <a:prstDash val="solid"/>
          </a:ln>
        </p:spPr>
        <p:txBody>
          <a:bodyPr/>
          <a:lstStyle/>
          <a:p>
            <a:endParaRPr lang="en-US"/>
          </a:p>
        </p:txBody>
      </p:sp>
      <p:sp>
        <p:nvSpPr>
          <p:cNvPr id="10" name="Text 7"/>
          <p:cNvSpPr txBox="1"/>
          <p:nvPr/>
        </p:nvSpPr>
        <p:spPr>
          <a:xfrm>
            <a:off x="3822192" y="5413248"/>
            <a:ext cx="1280160" cy="256032"/>
          </a:xfrm>
          <a:prstGeom prst="rect">
            <a:avLst/>
          </a:prstGeom>
          <a:noFill/>
          <a:ln/>
        </p:spPr>
        <p:txBody>
          <a:bodyPr wrap="square" lIns="0" tIns="0" rIns="0" bIns="0" rtlCol="0" anchor="ctr"/>
          <a:lstStyle/>
          <a:p>
            <a:pPr marL="0" indent="0">
              <a:buNone/>
            </a:pPr>
            <a:r>
              <a:rPr lang="en-US" sz="1050" b="1" dirty="0">
                <a:solidFill>
                  <a:srgbClr val="4A4A4A"/>
                </a:solidFill>
                <a:latin typeface="Calibri" pitchFamily="34" charset="0"/>
                <a:ea typeface="Calibri" pitchFamily="34" charset="-122"/>
                <a:cs typeface="Calibri" pitchFamily="34" charset="-120"/>
              </a:rPr>
              <a:t>Other</a:t>
            </a:r>
            <a:endParaRPr lang="en-US" sz="1050" dirty="0"/>
          </a:p>
        </p:txBody>
      </p:sp>
      <p:sp>
        <p:nvSpPr>
          <p:cNvPr id="11" name="Text 8"/>
          <p:cNvSpPr txBox="1"/>
          <p:nvPr/>
        </p:nvSpPr>
        <p:spPr>
          <a:xfrm>
            <a:off x="5486400" y="5413248"/>
            <a:ext cx="6245352" cy="256032"/>
          </a:xfrm>
          <a:prstGeom prst="rect">
            <a:avLst/>
          </a:prstGeom>
          <a:noFill/>
          <a:ln/>
        </p:spPr>
        <p:txBody>
          <a:bodyPr wrap="square" lIns="0" tIns="0" rIns="0" bIns="0" rtlCol="0" anchor="ctr"/>
          <a:lstStyle/>
          <a:p>
            <a:pPr marL="0" indent="0" algn="r">
              <a:buNone/>
            </a:pPr>
            <a:r>
              <a:rPr lang="en-US" sz="950" i="1" dirty="0">
                <a:solidFill>
                  <a:srgbClr val="8A8A8A"/>
                </a:solidFill>
                <a:latin typeface="Calibri" pitchFamily="34" charset="0"/>
                <a:ea typeface="Calibri" pitchFamily="34" charset="-122"/>
                <a:cs typeface="Calibri" pitchFamily="34" charset="-120"/>
              </a:rPr>
              <a:t>Czarnecki et al. [16]; Bernstein [17]; Mu2e TDR [18]; Dukes &amp; Ehrlich [23]; Brown [26]</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5486400" cy="365760"/>
          </a:xfrm>
          <a:prstGeom prst="rect">
            <a:avLst/>
          </a:prstGeom>
          <a:noFill/>
          <a:ln/>
        </p:spPr>
        <p:txBody>
          <a:bodyPr wrap="square" lIns="0" tIns="0" rIns="0" bIns="0" rtlCol="0" anchor="ctr"/>
          <a:lstStyle/>
          <a:p>
            <a:pPr marL="0" indent="0">
              <a:buNone/>
            </a:pPr>
            <a:r>
              <a:rPr lang="en-US" sz="1600" i="1" dirty="0">
                <a:solidFill>
                  <a:srgbClr val="73000A"/>
                </a:solidFill>
                <a:latin typeface="+mn-lt" pitchFamily="34" charset="0"/>
                <a:ea typeface="+mn-lt" pitchFamily="34" charset="-122"/>
                <a:cs typeface="+mn-lt" pitchFamily="34" charset="-120"/>
              </a:rPr>
              <a:t>Section 3 of 5</a:t>
            </a:r>
            <a:endParaRPr lang="en-US" sz="1600" dirty="0">
              <a:solidFill>
                <a:srgbClr val="73000A"/>
              </a:solidFill>
            </a:endParaRPr>
          </a:p>
        </p:txBody>
      </p:sp>
      <p:sp>
        <p:nvSpPr>
          <p:cNvPr id="3" name="Section title"/>
          <p:cNvSpPr txBox="1"/>
          <p:nvPr/>
        </p:nvSpPr>
        <p:spPr>
          <a:xfrm>
            <a:off x="548640" y="685800"/>
            <a:ext cx="11064240" cy="548640"/>
          </a:xfrm>
          <a:prstGeom prst="rect">
            <a:avLst/>
          </a:prstGeom>
          <a:noFill/>
          <a:ln/>
        </p:spPr>
        <p:txBody>
          <a:bodyPr wrap="square" lIns="0" tIns="0" rIns="0" bIns="0" rtlCol="0" anchor="ctr"/>
          <a:lstStyle/>
          <a:p>
            <a:pPr marL="0" indent="0">
              <a:buNone/>
            </a:pPr>
            <a:r>
              <a:rPr lang="en-US" sz="3200" b="1" dirty="0">
                <a:solidFill>
                  <a:schemeClr val="tx1"/>
                </a:solidFill>
                <a:latin typeface="+mj-lt" pitchFamily="34" charset="0"/>
                <a:ea typeface="+mj-lt" pitchFamily="34" charset="-122"/>
                <a:cs typeface="+mj-lt" pitchFamily="34" charset="-120"/>
              </a:rPr>
              <a:t>Event Identification and Signal</a:t>
            </a:r>
            <a:endParaRPr lang="en-US" sz="3200" dirty="0"/>
          </a:p>
        </p:txBody>
      </p:sp>
      <p:sp>
        <p:nvSpPr>
          <p:cNvPr id="4" name="Shape 2"/>
          <p:cNvSpPr/>
          <p:nvPr/>
        </p:nvSpPr>
        <p:spPr>
          <a:xfrm>
            <a:off x="685800" y="1591056"/>
            <a:ext cx="603504" cy="603504"/>
          </a:xfrm>
          <a:prstGeom prst="ellipse">
            <a:avLst/>
          </a:prstGeom>
          <a:solidFill>
            <a:schemeClr val="bg2"/>
          </a:solidFill>
          <a:ln/>
        </p:spPr>
        <p:txBody>
          <a:bodyPr/>
          <a:lstStyle/>
          <a:p>
            <a:endParaRPr lang="en-US"/>
          </a:p>
        </p:txBody>
      </p:sp>
      <p:sp>
        <p:nvSpPr>
          <p:cNvPr id="5" name="Text 3"/>
          <p:cNvSpPr txBox="1"/>
          <p:nvPr/>
        </p:nvSpPr>
        <p:spPr>
          <a:xfrm>
            <a:off x="685800" y="1591056"/>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1</a:t>
            </a:r>
            <a:endParaRPr lang="en-US" sz="2200" dirty="0"/>
          </a:p>
        </p:txBody>
      </p:sp>
      <p:sp>
        <p:nvSpPr>
          <p:cNvPr id="6" name="Text 4"/>
          <p:cNvSpPr txBox="1"/>
          <p:nvPr/>
        </p:nvSpPr>
        <p:spPr>
          <a:xfrm>
            <a:off x="1600200" y="1527048"/>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Theoretical Motivation</a:t>
            </a:r>
            <a:endParaRPr lang="en-US" sz="2200" dirty="0"/>
          </a:p>
        </p:txBody>
      </p:sp>
      <p:sp>
        <p:nvSpPr>
          <p:cNvPr id="7" name="Text 5"/>
          <p:cNvSpPr txBox="1"/>
          <p:nvPr/>
        </p:nvSpPr>
        <p:spPr>
          <a:xfrm>
            <a:off x="1600200" y="1911096"/>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Why search for charged lepton flavor violation?</a:t>
            </a:r>
            <a:endParaRPr lang="en-US" sz="1500" dirty="0"/>
          </a:p>
        </p:txBody>
      </p:sp>
      <p:sp>
        <p:nvSpPr>
          <p:cNvPr id="8" name="Text 6"/>
          <p:cNvSpPr txBox="1"/>
          <p:nvPr/>
        </p:nvSpPr>
        <p:spPr>
          <a:xfrm>
            <a:off x="9875520" y="1591056"/>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3–11</a:t>
            </a:r>
            <a:endParaRPr lang="en-US" sz="1400" dirty="0"/>
          </a:p>
        </p:txBody>
      </p:sp>
      <p:sp>
        <p:nvSpPr>
          <p:cNvPr id="9" name="Shape 7"/>
          <p:cNvSpPr/>
          <p:nvPr/>
        </p:nvSpPr>
        <p:spPr>
          <a:xfrm>
            <a:off x="685800" y="2615184"/>
            <a:ext cx="603504" cy="603504"/>
          </a:xfrm>
          <a:prstGeom prst="ellipse">
            <a:avLst/>
          </a:prstGeom>
          <a:solidFill>
            <a:schemeClr val="bg2"/>
          </a:solidFill>
          <a:ln/>
        </p:spPr>
        <p:txBody>
          <a:bodyPr/>
          <a:lstStyle/>
          <a:p>
            <a:endParaRPr lang="en-US"/>
          </a:p>
        </p:txBody>
      </p:sp>
      <p:sp>
        <p:nvSpPr>
          <p:cNvPr id="10" name="Text 8"/>
          <p:cNvSpPr txBox="1"/>
          <p:nvPr/>
        </p:nvSpPr>
        <p:spPr>
          <a:xfrm>
            <a:off x="685800" y="2615184"/>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2</a:t>
            </a:r>
            <a:endParaRPr lang="en-US" sz="2200" dirty="0"/>
          </a:p>
        </p:txBody>
      </p:sp>
      <p:sp>
        <p:nvSpPr>
          <p:cNvPr id="11" name="Text 9"/>
          <p:cNvSpPr txBox="1"/>
          <p:nvPr/>
        </p:nvSpPr>
        <p:spPr>
          <a:xfrm>
            <a:off x="1600200" y="2551176"/>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The Mu2e Experiment</a:t>
            </a:r>
            <a:endParaRPr lang="en-US" sz="2200" dirty="0"/>
          </a:p>
        </p:txBody>
      </p:sp>
      <p:sp>
        <p:nvSpPr>
          <p:cNvPr id="12" name="Text 10"/>
          <p:cNvSpPr txBox="1"/>
          <p:nvPr/>
        </p:nvSpPr>
        <p:spPr>
          <a:xfrm>
            <a:off x="1600200" y="2935224"/>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How does Mu2e isolate a single conversion electron?</a:t>
            </a:r>
            <a:endParaRPr lang="en-US" sz="1500" dirty="0"/>
          </a:p>
        </p:txBody>
      </p:sp>
      <p:sp>
        <p:nvSpPr>
          <p:cNvPr id="13" name="Text 11"/>
          <p:cNvSpPr txBox="1"/>
          <p:nvPr/>
        </p:nvSpPr>
        <p:spPr>
          <a:xfrm>
            <a:off x="9875520" y="2615184"/>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12–20</a:t>
            </a:r>
            <a:endParaRPr lang="en-US" sz="1400" dirty="0"/>
          </a:p>
        </p:txBody>
      </p:sp>
      <p:sp>
        <p:nvSpPr>
          <p:cNvPr id="14" name="current"/>
          <p:cNvSpPr/>
          <p:nvPr/>
        </p:nvSpPr>
        <p:spPr>
          <a:xfrm>
            <a:off x="457200" y="3483864"/>
            <a:ext cx="11274552" cy="914400"/>
          </a:xfrm>
          <a:prstGeom prst="roundRect">
            <a:avLst>
              <a:gd name="adj" fmla="val 12000"/>
            </a:avLst>
          </a:prstGeom>
          <a:solidFill>
            <a:srgbClr val="73000A"/>
          </a:solidFill>
          <a:ln/>
        </p:spPr>
        <p:txBody>
          <a:bodyPr/>
          <a:lstStyle/>
          <a:p>
            <a:endParaRPr lang="en-US"/>
          </a:p>
        </p:txBody>
      </p:sp>
      <p:sp>
        <p:nvSpPr>
          <p:cNvPr id="15" name="Shape 13"/>
          <p:cNvSpPr/>
          <p:nvPr/>
        </p:nvSpPr>
        <p:spPr>
          <a:xfrm>
            <a:off x="685800" y="3639312"/>
            <a:ext cx="603504" cy="603504"/>
          </a:xfrm>
          <a:prstGeom prst="ellipse">
            <a:avLst/>
          </a:prstGeom>
          <a:solidFill>
            <a:schemeClr val="bg1"/>
          </a:solidFill>
          <a:ln/>
        </p:spPr>
        <p:txBody>
          <a:bodyPr/>
          <a:lstStyle/>
          <a:p>
            <a:endParaRPr lang="en-US"/>
          </a:p>
        </p:txBody>
      </p:sp>
      <p:sp>
        <p:nvSpPr>
          <p:cNvPr id="16" name="Text 14"/>
          <p:cNvSpPr txBox="1"/>
          <p:nvPr/>
        </p:nvSpPr>
        <p:spPr>
          <a:xfrm>
            <a:off x="685800" y="3639312"/>
            <a:ext cx="603504" cy="603504"/>
          </a:xfrm>
          <a:prstGeom prst="rect">
            <a:avLst/>
          </a:prstGeom>
          <a:noFill/>
          <a:ln/>
        </p:spPr>
        <p:txBody>
          <a:bodyPr wrap="square" lIns="0" tIns="0" rIns="0" bIns="0" rtlCol="0" anchor="ctr"/>
          <a:lstStyle/>
          <a:p>
            <a:pPr marL="0" indent="0" algn="ctr">
              <a:buNone/>
            </a:pPr>
            <a:r>
              <a:rPr lang="en-US" sz="2200" b="1" dirty="0">
                <a:solidFill>
                  <a:srgbClr val="73000A"/>
                </a:solidFill>
                <a:latin typeface="+mj-lt" pitchFamily="34" charset="0"/>
                <a:ea typeface="+mj-lt" pitchFamily="34" charset="-122"/>
                <a:cs typeface="+mj-lt" pitchFamily="34" charset="-120"/>
              </a:rPr>
              <a:t>3</a:t>
            </a:r>
            <a:endParaRPr lang="en-US" sz="2200" dirty="0">
              <a:solidFill>
                <a:srgbClr val="73000A"/>
              </a:solidFill>
            </a:endParaRPr>
          </a:p>
        </p:txBody>
      </p:sp>
      <p:sp>
        <p:nvSpPr>
          <p:cNvPr id="17" name="Text 15"/>
          <p:cNvSpPr txBox="1"/>
          <p:nvPr/>
        </p:nvSpPr>
        <p:spPr>
          <a:xfrm>
            <a:off x="1600200" y="3575304"/>
            <a:ext cx="7863840" cy="384048"/>
          </a:xfrm>
          <a:prstGeom prst="rect">
            <a:avLst/>
          </a:prstGeom>
          <a:noFill/>
          <a:ln/>
        </p:spPr>
        <p:txBody>
          <a:bodyPr wrap="square" lIns="0" tIns="0" rIns="0" bIns="0" rtlCol="0" anchor="ctr"/>
          <a:lstStyle/>
          <a:p>
            <a:pPr marL="0" indent="0">
              <a:buNone/>
            </a:pPr>
            <a:r>
              <a:rPr lang="en-US" sz="2200" b="1" dirty="0">
                <a:solidFill>
                  <a:schemeClr val="bg1"/>
                </a:solidFill>
                <a:latin typeface="+mj-lt" pitchFamily="34" charset="0"/>
                <a:ea typeface="+mj-lt" pitchFamily="34" charset="-122"/>
                <a:cs typeface="+mj-lt" pitchFamily="34" charset="-120"/>
              </a:rPr>
              <a:t>Event Identification and Signal</a:t>
            </a:r>
            <a:endParaRPr lang="en-US" sz="2200" dirty="0"/>
          </a:p>
        </p:txBody>
      </p:sp>
      <p:sp>
        <p:nvSpPr>
          <p:cNvPr id="18" name="Text 16"/>
          <p:cNvSpPr txBox="1"/>
          <p:nvPr/>
        </p:nvSpPr>
        <p:spPr>
          <a:xfrm>
            <a:off x="1600200" y="3959352"/>
            <a:ext cx="8138160" cy="347472"/>
          </a:xfrm>
          <a:prstGeom prst="rect">
            <a:avLst/>
          </a:prstGeom>
          <a:noFill/>
          <a:ln/>
        </p:spPr>
        <p:txBody>
          <a:bodyPr wrap="square" lIns="0" tIns="0" rIns="0" bIns="0" rtlCol="0" anchor="t"/>
          <a:lstStyle/>
          <a:p>
            <a:pPr marL="0" indent="0">
              <a:buNone/>
            </a:pPr>
            <a:r>
              <a:rPr lang="en-US" sz="1500" i="1" dirty="0">
                <a:solidFill>
                  <a:schemeClr val="bg1"/>
                </a:solidFill>
                <a:latin typeface="+mn-lt" pitchFamily="34" charset="0"/>
                <a:ea typeface="+mn-lt" pitchFamily="34" charset="-122"/>
                <a:cs typeface="+mn-lt" pitchFamily="34" charset="-120"/>
              </a:rPr>
              <a:t>What does μ⁻e⁻ → e⁻e⁻ look like in the detector?</a:t>
            </a:r>
            <a:endParaRPr lang="en-US" sz="1500" dirty="0"/>
          </a:p>
        </p:txBody>
      </p:sp>
      <p:sp>
        <p:nvSpPr>
          <p:cNvPr id="19" name="Text 17"/>
          <p:cNvSpPr txBox="1"/>
          <p:nvPr/>
        </p:nvSpPr>
        <p:spPr>
          <a:xfrm>
            <a:off x="9875520" y="3639312"/>
            <a:ext cx="1645920" cy="603504"/>
          </a:xfrm>
          <a:prstGeom prst="rect">
            <a:avLst/>
          </a:prstGeom>
          <a:noFill/>
          <a:ln/>
        </p:spPr>
        <p:txBody>
          <a:bodyPr wrap="square" lIns="0" tIns="0" rIns="0" bIns="0" rtlCol="0" anchor="ctr"/>
          <a:lstStyle/>
          <a:p>
            <a:pPr marL="0" indent="0" algn="r">
              <a:buNone/>
            </a:pPr>
            <a:r>
              <a:rPr lang="en-US" sz="1400" i="1" dirty="0">
                <a:solidFill>
                  <a:schemeClr val="bg1"/>
                </a:solidFill>
                <a:latin typeface="+mn-lt" pitchFamily="34" charset="0"/>
                <a:ea typeface="+mn-lt" pitchFamily="34" charset="-122"/>
                <a:cs typeface="+mn-lt" pitchFamily="34" charset="-120"/>
              </a:rPr>
              <a:t>Slides 21–26</a:t>
            </a:r>
            <a:endParaRPr lang="en-US" sz="1400" dirty="0"/>
          </a:p>
        </p:txBody>
      </p:sp>
      <p:sp>
        <p:nvSpPr>
          <p:cNvPr id="20" name="Shape 18"/>
          <p:cNvSpPr/>
          <p:nvPr/>
        </p:nvSpPr>
        <p:spPr>
          <a:xfrm>
            <a:off x="685800" y="4663440"/>
            <a:ext cx="603504" cy="603504"/>
          </a:xfrm>
          <a:prstGeom prst="ellipse">
            <a:avLst/>
          </a:prstGeom>
          <a:solidFill>
            <a:schemeClr val="bg2"/>
          </a:solidFill>
          <a:ln/>
        </p:spPr>
        <p:txBody>
          <a:bodyPr/>
          <a:lstStyle/>
          <a:p>
            <a:endParaRPr lang="en-US"/>
          </a:p>
        </p:txBody>
      </p:sp>
      <p:sp>
        <p:nvSpPr>
          <p:cNvPr id="21" name="Text 19"/>
          <p:cNvSpPr txBox="1"/>
          <p:nvPr/>
        </p:nvSpPr>
        <p:spPr>
          <a:xfrm>
            <a:off x="685800" y="4663440"/>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4</a:t>
            </a:r>
            <a:endParaRPr lang="en-US" sz="2200" dirty="0"/>
          </a:p>
        </p:txBody>
      </p:sp>
      <p:sp>
        <p:nvSpPr>
          <p:cNvPr id="22" name="Text 20"/>
          <p:cNvSpPr txBox="1"/>
          <p:nvPr/>
        </p:nvSpPr>
        <p:spPr>
          <a:xfrm>
            <a:off x="1600200" y="4599432"/>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Initial Investigation</a:t>
            </a:r>
            <a:endParaRPr lang="en-US" sz="2200" dirty="0"/>
          </a:p>
        </p:txBody>
      </p:sp>
      <p:sp>
        <p:nvSpPr>
          <p:cNvPr id="23" name="Text 21"/>
          <p:cNvSpPr txBox="1"/>
          <p:nvPr/>
        </p:nvSpPr>
        <p:spPr>
          <a:xfrm>
            <a:off x="1600200" y="4983480"/>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have I shown so far?</a:t>
            </a:r>
            <a:endParaRPr lang="en-US" sz="1500" dirty="0"/>
          </a:p>
        </p:txBody>
      </p:sp>
      <p:sp>
        <p:nvSpPr>
          <p:cNvPr id="24" name="Text 22"/>
          <p:cNvSpPr txBox="1"/>
          <p:nvPr/>
        </p:nvSpPr>
        <p:spPr>
          <a:xfrm>
            <a:off x="9875520" y="4663440"/>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27–35</a:t>
            </a:r>
            <a:endParaRPr lang="en-US" sz="1400" dirty="0"/>
          </a:p>
        </p:txBody>
      </p:sp>
      <p:sp>
        <p:nvSpPr>
          <p:cNvPr id="25" name="Shape 23"/>
          <p:cNvSpPr/>
          <p:nvPr/>
        </p:nvSpPr>
        <p:spPr>
          <a:xfrm>
            <a:off x="685800" y="5687568"/>
            <a:ext cx="603504" cy="603504"/>
          </a:xfrm>
          <a:prstGeom prst="ellipse">
            <a:avLst/>
          </a:prstGeom>
          <a:solidFill>
            <a:schemeClr val="bg2"/>
          </a:solidFill>
          <a:ln/>
        </p:spPr>
        <p:txBody>
          <a:bodyPr/>
          <a:lstStyle/>
          <a:p>
            <a:endParaRPr lang="en-US"/>
          </a:p>
        </p:txBody>
      </p:sp>
      <p:sp>
        <p:nvSpPr>
          <p:cNvPr id="26" name="Text 24"/>
          <p:cNvSpPr txBox="1"/>
          <p:nvPr/>
        </p:nvSpPr>
        <p:spPr>
          <a:xfrm>
            <a:off x="685800" y="5687568"/>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5</a:t>
            </a:r>
            <a:endParaRPr lang="en-US" sz="2200" dirty="0"/>
          </a:p>
        </p:txBody>
      </p:sp>
      <p:sp>
        <p:nvSpPr>
          <p:cNvPr id="27" name="Text 25"/>
          <p:cNvSpPr txBox="1"/>
          <p:nvPr/>
        </p:nvSpPr>
        <p:spPr>
          <a:xfrm>
            <a:off x="1600200" y="5623560"/>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Goals and Deliverables</a:t>
            </a:r>
            <a:endParaRPr lang="en-US" sz="2200" dirty="0"/>
          </a:p>
        </p:txBody>
      </p:sp>
      <p:sp>
        <p:nvSpPr>
          <p:cNvPr id="28" name="Text 26"/>
          <p:cNvSpPr txBox="1"/>
          <p:nvPr/>
        </p:nvSpPr>
        <p:spPr>
          <a:xfrm>
            <a:off x="1600200" y="6007608"/>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will the dissertation deliver, and by when?</a:t>
            </a:r>
            <a:endParaRPr lang="en-US" sz="1500" dirty="0"/>
          </a:p>
        </p:txBody>
      </p:sp>
      <p:sp>
        <p:nvSpPr>
          <p:cNvPr id="29" name="Text 27"/>
          <p:cNvSpPr txBox="1"/>
          <p:nvPr/>
        </p:nvSpPr>
        <p:spPr>
          <a:xfrm>
            <a:off x="9875520" y="5687568"/>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36–43</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14:m>
                  <m:oMath xmlns:m="http://schemas.openxmlformats.org/officeDocument/2006/math">
                    <m:r>
                      <a:rPr lang="en-US" sz="2800" b="1" i="1" dirty="0" smtClean="0">
                        <a:solidFill>
                          <a:srgbClr val="1A1A1A"/>
                        </a:solidFill>
                        <a:latin typeface="Cambria Math" panose="02040503050406030204" pitchFamily="18" charset="0"/>
                        <a:ea typeface="Calibri" pitchFamily="34" charset="-122"/>
                        <a:cs typeface="Calibri" pitchFamily="34" charset="-120"/>
                      </a:rPr>
                      <m:t>𝝁</m:t>
                    </m:r>
                    <m:r>
                      <a:rPr lang="en-US" sz="2800" b="1" i="1" dirty="0" smtClean="0">
                        <a:solidFill>
                          <a:srgbClr val="1A1A1A"/>
                        </a:solidFill>
                        <a:latin typeface="Cambria Math" panose="02040503050406030204" pitchFamily="18" charset="0"/>
                        <a:ea typeface="Calibri" pitchFamily="34" charset="-122"/>
                        <a:cs typeface="Calibri" pitchFamily="34" charset="-120"/>
                      </a:rPr>
                      <m:t>⁻</m:t>
                    </m:r>
                    <m:r>
                      <a:rPr lang="en-US" sz="2800" b="1" i="1" dirty="0" smtClean="0">
                        <a:solidFill>
                          <a:srgbClr val="1A1A1A"/>
                        </a:solidFill>
                        <a:latin typeface="Cambria Math" panose="02040503050406030204" pitchFamily="18" charset="0"/>
                        <a:ea typeface="Calibri" pitchFamily="34" charset="-122"/>
                        <a:cs typeface="Calibri" pitchFamily="34" charset="-120"/>
                      </a:rPr>
                      <m:t>𝒆</m:t>
                    </m:r>
                    <m:r>
                      <a:rPr lang="en-US" sz="2800" b="1" i="1" dirty="0" smtClean="0">
                        <a:solidFill>
                          <a:srgbClr val="1A1A1A"/>
                        </a:solidFill>
                        <a:latin typeface="Cambria Math" panose="02040503050406030204" pitchFamily="18" charset="0"/>
                        <a:ea typeface="Calibri" pitchFamily="34" charset="-122"/>
                        <a:cs typeface="Calibri" pitchFamily="34" charset="-120"/>
                      </a:rPr>
                      <m:t>⁻ → </m:t>
                    </m:r>
                    <m:r>
                      <a:rPr lang="en-US" sz="2800" b="1" i="1" dirty="0" smtClean="0">
                        <a:solidFill>
                          <a:srgbClr val="1A1A1A"/>
                        </a:solidFill>
                        <a:latin typeface="Cambria Math" panose="02040503050406030204" pitchFamily="18" charset="0"/>
                        <a:ea typeface="Calibri" pitchFamily="34" charset="-122"/>
                        <a:cs typeface="Calibri" pitchFamily="34" charset="-120"/>
                      </a:rPr>
                      <m:t>𝒆</m:t>
                    </m:r>
                    <m:r>
                      <a:rPr lang="en-US" sz="2800" b="1" i="1" dirty="0" smtClean="0">
                        <a:solidFill>
                          <a:srgbClr val="1A1A1A"/>
                        </a:solidFill>
                        <a:latin typeface="Cambria Math" panose="02040503050406030204" pitchFamily="18" charset="0"/>
                        <a:ea typeface="Calibri" pitchFamily="34" charset="-122"/>
                        <a:cs typeface="Calibri" pitchFamily="34" charset="-120"/>
                      </a:rPr>
                      <m:t>⁻</m:t>
                    </m:r>
                    <m:r>
                      <a:rPr lang="en-US" sz="2800" b="1" i="1" dirty="0" smtClean="0">
                        <a:solidFill>
                          <a:srgbClr val="1A1A1A"/>
                        </a:solidFill>
                        <a:latin typeface="Cambria Math" panose="02040503050406030204" pitchFamily="18" charset="0"/>
                        <a:ea typeface="Calibri" pitchFamily="34" charset="-122"/>
                        <a:cs typeface="Calibri" pitchFamily="34" charset="-120"/>
                      </a:rPr>
                      <m:t>𝒆</m:t>
                    </m:r>
                    <m:r>
                      <a:rPr lang="en-US" sz="2800" b="1" i="1" dirty="0" smtClean="0">
                        <a:solidFill>
                          <a:srgbClr val="1A1A1A"/>
                        </a:solidFill>
                        <a:latin typeface="Cambria Math" panose="02040503050406030204" pitchFamily="18" charset="0"/>
                        <a:ea typeface="Calibri" pitchFamily="34" charset="-122"/>
                        <a:cs typeface="Calibri" pitchFamily="34" charset="-120"/>
                      </a:rPr>
                      <m:t>⁻ </m:t>
                    </m:r>
                  </m:oMath>
                </a14:m>
                <a:r>
                  <a:rPr lang="en-US" sz="2800" b="1" dirty="0">
                    <a:solidFill>
                      <a:srgbClr val="1A1A1A"/>
                    </a:solidFill>
                    <a:latin typeface="Calibri" pitchFamily="34" charset="0"/>
                    <a:ea typeface="Calibri" pitchFamily="34" charset="-122"/>
                    <a:cs typeface="Calibri" pitchFamily="34" charset="-120"/>
                  </a:rPr>
                  <a:t> Signal Characteristics</a:t>
                </a:r>
                <a:endParaRPr lang="en-US" sz="2800" dirty="0"/>
              </a:p>
            </p:txBody>
          </p:sp>
        </mc:Choice>
        <mc:Fallback>
          <p:sp>
            <p:nvSpPr>
              <p:cNvPr id="2" name="Text 0"/>
              <p:cNvSpPr txBox="1">
                <a:spLocks noRot="1" noChangeAspect="1" noMove="1" noResize="1" noEditPoints="1" noAdjustHandles="1" noChangeArrowheads="1" noChangeShapeType="1" noTextEdit="1"/>
              </p:cNvSpPr>
              <p:nvPr/>
            </p:nvSpPr>
            <p:spPr>
              <a:xfrm>
                <a:off x="548640" y="320040"/>
                <a:ext cx="11064240" cy="548640"/>
              </a:xfrm>
              <a:prstGeom prst="rect">
                <a:avLst/>
              </a:prstGeom>
              <a:blipFill>
                <a:blip r:embed="rId3"/>
                <a:stretch>
                  <a:fillRect l="-1261" t="-9091" b="-27273"/>
                </a:stretch>
              </a:blipFill>
              <a:ln/>
            </p:spPr>
            <p:txBody>
              <a:bodyPr/>
              <a:lstStyle/>
              <a:p>
                <a:r>
                  <a:rPr lang="en-US">
                    <a:noFill/>
                  </a:rPr>
                  <a:t> </a:t>
                </a:r>
              </a:p>
            </p:txBody>
          </p:sp>
        </mc:Fallback>
      </mc:AlternateContent>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Four characteristics differentiate this signal from decay-in-orbit and electromagnetic backgrounds</a:t>
            </a:r>
            <a:endParaRPr lang="en-US" sz="1600" dirty="0"/>
          </a:p>
        </p:txBody>
      </p:sp>
      <p:sp>
        <p:nvSpPr>
          <p:cNvPr id="4" name="Shape 2"/>
          <p:cNvSpPr/>
          <p:nvPr/>
        </p:nvSpPr>
        <p:spPr>
          <a:xfrm>
            <a:off x="548640" y="1463040"/>
            <a:ext cx="2635758" cy="1481328"/>
          </a:xfrm>
          <a:prstGeom prst="roundRect">
            <a:avLst>
              <a:gd name="adj" fmla="val 6173"/>
            </a:avLst>
          </a:prstGeom>
          <a:solidFill>
            <a:srgbClr val="F4F0F0"/>
          </a:solidFill>
          <a:ln/>
        </p:spPr>
        <p:txBody>
          <a:bodyPr/>
          <a:lstStyle/>
          <a:p>
            <a:endParaRPr lang="en-US"/>
          </a:p>
        </p:txBody>
      </p:sp>
      <mc:AlternateContent xmlns:mc="http://schemas.openxmlformats.org/markup-compatibility/2006">
        <mc:Choice xmlns:a14="http://schemas.microsoft.com/office/drawing/2010/main" Requires="a14">
          <p:sp>
            <p:nvSpPr>
              <p:cNvPr id="5" name="Text 3"/>
              <p:cNvSpPr txBox="1"/>
              <p:nvPr/>
            </p:nvSpPr>
            <p:spPr>
              <a:xfrm>
                <a:off x="731520" y="1554480"/>
                <a:ext cx="2269998" cy="502920"/>
              </a:xfrm>
              <a:prstGeom prst="rect">
                <a:avLst/>
              </a:prstGeom>
              <a:noFill/>
              <a:ln/>
            </p:spPr>
            <p:txBody>
              <a:bodyPr wrap="square" lIns="0" tIns="0" rIns="0" bIns="0" rtlCol="0" anchor="ctr"/>
              <a:lstStyle/>
              <a:p>
                <a:pPr marL="0" indent="0">
                  <a:buNone/>
                </a:pPr>
                <a:r>
                  <a:rPr lang="en-US" sz="2800" b="1" dirty="0">
                    <a:solidFill>
                      <a:srgbClr val="73000A"/>
                    </a:solidFill>
                    <a:latin typeface="Calibri" pitchFamily="34" charset="0"/>
                    <a:ea typeface="Calibri" pitchFamily="34" charset="-122"/>
                    <a:cs typeface="Calibri" pitchFamily="34" charset="-120"/>
                  </a:rPr>
                  <a:t>2 </a:t>
                </a:r>
                <a14:m>
                  <m:oMath xmlns:m="http://schemas.openxmlformats.org/officeDocument/2006/math">
                    <m:r>
                      <a:rPr lang="en-US" sz="2800" b="1" i="1" dirty="0" smtClean="0">
                        <a:solidFill>
                          <a:srgbClr val="73000A"/>
                        </a:solidFill>
                        <a:latin typeface="Cambria Math" panose="02040503050406030204" pitchFamily="18" charset="0"/>
                        <a:ea typeface="Calibri" pitchFamily="34" charset="-122"/>
                        <a:cs typeface="Calibri" pitchFamily="34" charset="-120"/>
                      </a:rPr>
                      <m:t>𝒆</m:t>
                    </m:r>
                    <m:r>
                      <a:rPr lang="en-US" sz="2800" b="1" i="1" dirty="0" smtClean="0">
                        <a:solidFill>
                          <a:srgbClr val="73000A"/>
                        </a:solidFill>
                        <a:latin typeface="Cambria Math" panose="02040503050406030204" pitchFamily="18" charset="0"/>
                        <a:ea typeface="Calibri" pitchFamily="34" charset="-122"/>
                        <a:cs typeface="Calibri" pitchFamily="34" charset="-120"/>
                      </a:rPr>
                      <m:t>⁻</m:t>
                    </m:r>
                  </m:oMath>
                </a14:m>
                <a:endParaRPr lang="en-US" sz="2800" dirty="0"/>
              </a:p>
            </p:txBody>
          </p:sp>
        </mc:Choice>
        <mc:Fallback>
          <p:sp>
            <p:nvSpPr>
              <p:cNvPr id="5" name="Text 3"/>
              <p:cNvSpPr txBox="1">
                <a:spLocks noRot="1" noChangeAspect="1" noMove="1" noResize="1" noEditPoints="1" noAdjustHandles="1" noChangeArrowheads="1" noChangeShapeType="1" noTextEdit="1"/>
              </p:cNvSpPr>
              <p:nvPr/>
            </p:nvSpPr>
            <p:spPr>
              <a:xfrm>
                <a:off x="731520" y="1554480"/>
                <a:ext cx="2269998" cy="502920"/>
              </a:xfrm>
              <a:prstGeom prst="rect">
                <a:avLst/>
              </a:prstGeom>
              <a:blipFill>
                <a:blip r:embed="rId4"/>
                <a:stretch>
                  <a:fillRect l="-9444" t="-14634" b="-31707"/>
                </a:stretch>
              </a:blipFill>
              <a:ln/>
            </p:spPr>
            <p:txBody>
              <a:bodyPr/>
              <a:lstStyle/>
              <a:p>
                <a:r>
                  <a:rPr lang="en-US">
                    <a:noFill/>
                  </a:rPr>
                  <a:t> </a:t>
                </a:r>
              </a:p>
            </p:txBody>
          </p:sp>
        </mc:Fallback>
      </mc:AlternateContent>
      <p:sp>
        <p:nvSpPr>
          <p:cNvPr id="6" name="Text 4"/>
          <p:cNvSpPr txBox="1"/>
          <p:nvPr/>
        </p:nvSpPr>
        <p:spPr>
          <a:xfrm>
            <a:off x="731520" y="2066544"/>
            <a:ext cx="2269998"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Two electron tracks</a:t>
            </a:r>
            <a:endParaRPr lang="en-US" sz="1300" dirty="0"/>
          </a:p>
        </p:txBody>
      </p:sp>
      <p:sp>
        <p:nvSpPr>
          <p:cNvPr id="7" name="Text 5"/>
          <p:cNvSpPr txBox="1"/>
          <p:nvPr/>
        </p:nvSpPr>
        <p:spPr>
          <a:xfrm>
            <a:off x="731520" y="2359152"/>
            <a:ext cx="2269998" cy="512064"/>
          </a:xfrm>
          <a:prstGeom prst="rect">
            <a:avLst/>
          </a:prstGeom>
          <a:noFill/>
          <a:ln/>
        </p:spPr>
        <p:txBody>
          <a:bodyPr wrap="square" lIns="0" tIns="0" rIns="0" bIns="0" rtlCol="0" anchor="t"/>
          <a:lstStyle/>
          <a:p>
            <a:pPr marL="0" indent="0">
              <a:buNone/>
            </a:pPr>
            <a:r>
              <a:rPr lang="en-US" sz="1150" dirty="0">
                <a:solidFill>
                  <a:srgbClr val="4A4A4A"/>
                </a:solidFill>
                <a:latin typeface="Calibri" pitchFamily="34" charset="0"/>
                <a:ea typeface="Calibri" pitchFamily="34" charset="-122"/>
                <a:cs typeface="Calibri" pitchFamily="34" charset="-120"/>
              </a:rPr>
              <a:t>Same-sign pair; photon conversions and pair production give e⁺e⁻</a:t>
            </a:r>
            <a:endParaRPr lang="en-US" sz="1150" dirty="0"/>
          </a:p>
        </p:txBody>
      </p:sp>
      <p:sp>
        <p:nvSpPr>
          <p:cNvPr id="8" name="Shape 6"/>
          <p:cNvSpPr/>
          <p:nvPr/>
        </p:nvSpPr>
        <p:spPr>
          <a:xfrm>
            <a:off x="3367278" y="1463040"/>
            <a:ext cx="2635758" cy="1481328"/>
          </a:xfrm>
          <a:prstGeom prst="roundRect">
            <a:avLst>
              <a:gd name="adj" fmla="val 6173"/>
            </a:avLst>
          </a:prstGeom>
          <a:solidFill>
            <a:srgbClr val="F4F0F0"/>
          </a:solidFill>
          <a:ln/>
        </p:spPr>
        <p:txBody>
          <a:bodyPr/>
          <a:lstStyle/>
          <a:p>
            <a:endParaRPr lang="en-US"/>
          </a:p>
        </p:txBody>
      </p:sp>
      <p:sp>
        <p:nvSpPr>
          <p:cNvPr id="9" name="Text 7"/>
          <p:cNvSpPr txBox="1"/>
          <p:nvPr/>
        </p:nvSpPr>
        <p:spPr>
          <a:xfrm>
            <a:off x="3550158" y="1554480"/>
            <a:ext cx="2269998" cy="502920"/>
          </a:xfrm>
          <a:prstGeom prst="rect">
            <a:avLst/>
          </a:prstGeom>
          <a:noFill/>
          <a:ln/>
        </p:spPr>
        <p:txBody>
          <a:bodyPr wrap="square" lIns="0" tIns="0" rIns="0" bIns="0" rtlCol="0" anchor="ctr"/>
          <a:lstStyle/>
          <a:p>
            <a:pPr marL="0" indent="0">
              <a:buNone/>
            </a:pPr>
            <a:r>
              <a:rPr lang="en-US" sz="2800" b="1" dirty="0">
                <a:solidFill>
                  <a:srgbClr val="73000A"/>
                </a:solidFill>
                <a:latin typeface="Calibri" pitchFamily="34" charset="0"/>
                <a:ea typeface="Calibri" pitchFamily="34" charset="-122"/>
                <a:cs typeface="Calibri" pitchFamily="34" charset="-120"/>
              </a:rPr>
              <a:t>52.8 MeV</a:t>
            </a:r>
            <a:endParaRPr lang="en-US" sz="2800" dirty="0"/>
          </a:p>
        </p:txBody>
      </p:sp>
      <p:sp>
        <p:nvSpPr>
          <p:cNvPr id="10" name="Text 8"/>
          <p:cNvSpPr txBox="1"/>
          <p:nvPr/>
        </p:nvSpPr>
        <p:spPr>
          <a:xfrm>
            <a:off x="3550158" y="2066544"/>
            <a:ext cx="2269998"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Each electron carries ≈ m</a:t>
            </a:r>
            <a:r>
              <a:rPr lang="en-US" sz="1300" b="1" baseline="-40000" dirty="0">
                <a:solidFill>
                  <a:srgbClr val="1A1A1A"/>
                </a:solidFill>
                <a:latin typeface="Calibri" pitchFamily="34" charset="0"/>
                <a:ea typeface="Calibri" pitchFamily="34" charset="-122"/>
                <a:cs typeface="Calibri" pitchFamily="34" charset="-120"/>
              </a:rPr>
              <a:t>μ</a:t>
            </a:r>
            <a:r>
              <a:rPr lang="en-US" sz="1300" b="1" dirty="0">
                <a:solidFill>
                  <a:srgbClr val="1A1A1A"/>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3550158" y="2359152"/>
            <a:ext cx="2269998" cy="512064"/>
          </a:xfrm>
          <a:prstGeom prst="rect">
            <a:avLst/>
          </a:prstGeom>
          <a:noFill/>
          <a:ln/>
        </p:spPr>
        <p:txBody>
          <a:bodyPr wrap="square" lIns="0" tIns="0" rIns="0" bIns="0" rtlCol="0" anchor="t"/>
          <a:lstStyle/>
          <a:p>
            <a:pPr marL="0" indent="0">
              <a:buNone/>
            </a:pPr>
            <a:r>
              <a:rPr lang="en-US" sz="1150" dirty="0">
                <a:solidFill>
                  <a:srgbClr val="4A4A4A"/>
                </a:solidFill>
                <a:latin typeface="Calibri" pitchFamily="34" charset="0"/>
                <a:ea typeface="Calibri" pitchFamily="34" charset="-122"/>
                <a:cs typeface="Calibri" pitchFamily="34" charset="-120"/>
              </a:rPr>
              <a:t>Sits at the Michel peak, so energy alone cannot reject DIO</a:t>
            </a:r>
            <a:endParaRPr lang="en-US" sz="1150" dirty="0"/>
          </a:p>
        </p:txBody>
      </p:sp>
      <p:sp>
        <p:nvSpPr>
          <p:cNvPr id="12" name="Shape 10"/>
          <p:cNvSpPr/>
          <p:nvPr/>
        </p:nvSpPr>
        <p:spPr>
          <a:xfrm>
            <a:off x="6185916" y="1463040"/>
            <a:ext cx="2635758" cy="1481328"/>
          </a:xfrm>
          <a:prstGeom prst="roundRect">
            <a:avLst>
              <a:gd name="adj" fmla="val 6173"/>
            </a:avLst>
          </a:prstGeom>
          <a:solidFill>
            <a:srgbClr val="F4F0F0"/>
          </a:solidFill>
          <a:ln/>
        </p:spPr>
        <p:txBody>
          <a:bodyPr/>
          <a:lstStyle/>
          <a:p>
            <a:endParaRPr lang="en-US"/>
          </a:p>
        </p:txBody>
      </p:sp>
      <mc:AlternateContent xmlns:mc="http://schemas.openxmlformats.org/markup-compatibility/2006">
        <mc:Choice xmlns:a14="http://schemas.microsoft.com/office/drawing/2010/main" Requires="a14">
          <p:sp>
            <p:nvSpPr>
              <p:cNvPr id="13" name="Text 11"/>
              <p:cNvSpPr txBox="1"/>
              <p:nvPr/>
            </p:nvSpPr>
            <p:spPr>
              <a:xfrm>
                <a:off x="6368796" y="1554480"/>
                <a:ext cx="2269998" cy="502920"/>
              </a:xfrm>
              <a:prstGeom prst="rect">
                <a:avLst/>
              </a:prstGeom>
              <a:noFill/>
              <a:ln/>
            </p:spPr>
            <p:txBody>
              <a:bodyPr wrap="square" lIns="0" tIns="0" rIns="0" bIns="0" rtlCol="0" anchor="ctr"/>
              <a:lstStyle/>
              <a:p>
                <a:pPr marL="0" indent="0">
                  <a:buNone/>
                </a:pPr>
                <a14:m>
                  <m:oMathPara xmlns:m="http://schemas.openxmlformats.org/officeDocument/2006/math">
                    <m:oMathParaPr>
                      <m:jc m:val="centerGroup"/>
                    </m:oMathParaPr>
                    <m:oMath xmlns:m="http://schemas.openxmlformats.org/officeDocument/2006/math">
                      <m:r>
                        <a:rPr lang="en-US" sz="2800" b="1" i="1" dirty="0" smtClean="0">
                          <a:solidFill>
                            <a:srgbClr val="73000A"/>
                          </a:solidFill>
                          <a:latin typeface="Cambria Math" panose="02040503050406030204" pitchFamily="18" charset="0"/>
                          <a:ea typeface="Calibri" pitchFamily="34" charset="-122"/>
                          <a:cs typeface="Calibri" pitchFamily="34" charset="-120"/>
                        </a:rPr>
                        <m:t>≈ </m:t>
                      </m:r>
                      <m:r>
                        <a:rPr lang="en-US" sz="2800" b="1" i="1" dirty="0" smtClean="0">
                          <a:solidFill>
                            <a:srgbClr val="73000A"/>
                          </a:solidFill>
                          <a:latin typeface="Cambria Math" panose="02040503050406030204" pitchFamily="18" charset="0"/>
                          <a:ea typeface="Calibri" pitchFamily="34" charset="-122"/>
                          <a:cs typeface="Calibri" pitchFamily="34" charset="-120"/>
                        </a:rPr>
                        <m:t>𝟏𝟖𝟎</m:t>
                      </m:r>
                      <m:r>
                        <a:rPr lang="en-US" sz="2800" b="1" i="1" dirty="0" smtClean="0">
                          <a:solidFill>
                            <a:srgbClr val="73000A"/>
                          </a:solidFill>
                          <a:latin typeface="Cambria Math" panose="02040503050406030204" pitchFamily="18" charset="0"/>
                          <a:ea typeface="Calibri" pitchFamily="34" charset="-122"/>
                          <a:cs typeface="Calibri" pitchFamily="34" charset="-120"/>
                        </a:rPr>
                        <m:t>°</m:t>
                      </m:r>
                    </m:oMath>
                  </m:oMathPara>
                </a14:m>
              </a:p>
            </p:txBody>
          </p:sp>
        </mc:Choice>
        <mc:Fallback>
          <p:sp>
            <p:nvSpPr>
              <p:cNvPr id="13" name="Text 11"/>
              <p:cNvSpPr txBox="1">
                <a:spLocks noRot="1" noChangeAspect="1" noMove="1" noResize="1" noEditPoints="1" noAdjustHandles="1" noChangeArrowheads="1" noChangeShapeType="1" noTextEdit="1"/>
              </p:cNvSpPr>
              <p:nvPr/>
            </p:nvSpPr>
            <p:spPr>
              <a:xfrm>
                <a:off x="6368796" y="1554480"/>
                <a:ext cx="2269998" cy="502920"/>
              </a:xfrm>
              <a:prstGeom prst="rect">
                <a:avLst/>
              </a:prstGeom>
              <a:blipFill>
                <a:blip r:embed="rId5"/>
                <a:stretch>
                  <a:fillRect t="-14634" b="-31707"/>
                </a:stretch>
              </a:blipFill>
              <a:ln/>
            </p:spPr>
            <p:txBody>
              <a:bodyPr/>
              <a:lstStyle/>
              <a:p>
                <a:r>
                  <a:rPr lang="en-US">
                    <a:noFill/>
                  </a:rPr>
                  <a:t> </a:t>
                </a:r>
              </a:p>
            </p:txBody>
          </p:sp>
        </mc:Fallback>
      </mc:AlternateContent>
      <p:sp>
        <p:nvSpPr>
          <p:cNvPr id="14" name="Text 12"/>
          <p:cNvSpPr txBox="1"/>
          <p:nvPr/>
        </p:nvSpPr>
        <p:spPr>
          <a:xfrm>
            <a:off x="6368796" y="2066544"/>
            <a:ext cx="2269998"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Back-to-back emission</a:t>
            </a:r>
            <a:endParaRPr lang="en-US" sz="1300" dirty="0"/>
          </a:p>
        </p:txBody>
      </p:sp>
      <p:sp>
        <p:nvSpPr>
          <p:cNvPr id="15" name="Text 13"/>
          <p:cNvSpPr txBox="1"/>
          <p:nvPr/>
        </p:nvSpPr>
        <p:spPr>
          <a:xfrm>
            <a:off x="6368796" y="2359152"/>
            <a:ext cx="2269998" cy="512064"/>
          </a:xfrm>
          <a:prstGeom prst="rect">
            <a:avLst/>
          </a:prstGeom>
          <a:noFill/>
          <a:ln/>
        </p:spPr>
        <p:txBody>
          <a:bodyPr wrap="square" lIns="0" tIns="0" rIns="0" bIns="0" rtlCol="0" anchor="t"/>
          <a:lstStyle/>
          <a:p>
            <a:pPr marL="0" indent="0">
              <a:buNone/>
            </a:pPr>
            <a:r>
              <a:rPr lang="en-US" sz="1150" dirty="0">
                <a:solidFill>
                  <a:srgbClr val="4A4A4A"/>
                </a:solidFill>
                <a:latin typeface="Calibri" pitchFamily="34" charset="0"/>
                <a:ea typeface="Calibri" pitchFamily="34" charset="-122"/>
                <a:cs typeface="Calibri" pitchFamily="34" charset="-120"/>
              </a:rPr>
              <a:t>Opening angle near 180° in the muon rest frame</a:t>
            </a:r>
            <a:endParaRPr lang="en-US" sz="1150" dirty="0"/>
          </a:p>
        </p:txBody>
      </p:sp>
      <p:sp>
        <p:nvSpPr>
          <p:cNvPr id="16" name="Shape 14"/>
          <p:cNvSpPr/>
          <p:nvPr/>
        </p:nvSpPr>
        <p:spPr>
          <a:xfrm>
            <a:off x="9004554" y="1463040"/>
            <a:ext cx="2635758" cy="1481328"/>
          </a:xfrm>
          <a:prstGeom prst="roundRect">
            <a:avLst>
              <a:gd name="adj" fmla="val 6173"/>
            </a:avLst>
          </a:prstGeom>
          <a:solidFill>
            <a:srgbClr val="F4F0F0"/>
          </a:solidFill>
          <a:ln/>
        </p:spPr>
        <p:txBody>
          <a:bodyPr/>
          <a:lstStyle/>
          <a:p>
            <a:endParaRPr lang="en-US"/>
          </a:p>
        </p:txBody>
      </p:sp>
      <mc:AlternateContent xmlns:mc="http://schemas.openxmlformats.org/markup-compatibility/2006">
        <mc:Choice xmlns:a14="http://schemas.microsoft.com/office/drawing/2010/main" Requires="a14">
          <p:sp>
            <p:nvSpPr>
              <p:cNvPr id="17" name="Text 15"/>
              <p:cNvSpPr txBox="1"/>
              <p:nvPr/>
            </p:nvSpPr>
            <p:spPr>
              <a:xfrm>
                <a:off x="9187434" y="1554480"/>
                <a:ext cx="2269998" cy="502920"/>
              </a:xfrm>
              <a:prstGeom prst="rect">
                <a:avLst/>
              </a:prstGeom>
              <a:noFill/>
              <a:ln/>
            </p:spPr>
            <p:txBody>
              <a:bodyPr wrap="square" lIns="0" tIns="0" rIns="0" bIns="0" rtlCol="0" anchor="ctr"/>
              <a:lstStyle/>
              <a:p>
                <a:pPr marL="0" indent="0">
                  <a:buNone/>
                </a:pPr>
                <a14:m>
                  <m:oMathPara xmlns:m="http://schemas.openxmlformats.org/officeDocument/2006/math">
                    <m:oMathParaPr>
                      <m:jc m:val="centerGroup"/>
                    </m:oMathParaPr>
                    <m:oMath xmlns:m="http://schemas.openxmlformats.org/officeDocument/2006/math">
                      <m:r>
                        <a:rPr lang="en-US" sz="2800" b="1" i="0" dirty="0" smtClean="0">
                          <a:solidFill>
                            <a:srgbClr val="73000A"/>
                          </a:solidFill>
                          <a:latin typeface="Cambria Math" panose="02040503050406030204" pitchFamily="18" charset="0"/>
                          <a:ea typeface="Calibri" pitchFamily="34" charset="-122"/>
                          <a:cs typeface="Calibri" pitchFamily="34" charset="-120"/>
                        </a:rPr>
                        <m:t>𝚫</m:t>
                      </m:r>
                      <m:r>
                        <a:rPr lang="en-US" sz="2800" b="1" i="1" dirty="0">
                          <a:solidFill>
                            <a:srgbClr val="73000A"/>
                          </a:solidFill>
                          <a:latin typeface="Cambria Math" panose="02040503050406030204" pitchFamily="18" charset="0"/>
                          <a:ea typeface="Calibri" pitchFamily="34" charset="-122"/>
                          <a:cs typeface="Calibri" pitchFamily="34" charset="-120"/>
                        </a:rPr>
                        <m:t>𝒓</m:t>
                      </m:r>
                      <m:r>
                        <a:rPr lang="en-US" sz="2800" b="1" i="1" dirty="0">
                          <a:solidFill>
                            <a:srgbClr val="73000A"/>
                          </a:solidFill>
                          <a:latin typeface="Cambria Math" panose="02040503050406030204" pitchFamily="18" charset="0"/>
                          <a:ea typeface="Calibri" pitchFamily="34" charset="-122"/>
                          <a:cs typeface="Calibri" pitchFamily="34" charset="-120"/>
                        </a:rPr>
                        <m:t>, </m:t>
                      </m:r>
                      <m:r>
                        <a:rPr lang="en-US" sz="2800" b="1" i="0" dirty="0">
                          <a:solidFill>
                            <a:srgbClr val="73000A"/>
                          </a:solidFill>
                          <a:latin typeface="Cambria Math" panose="02040503050406030204" pitchFamily="18" charset="0"/>
                          <a:ea typeface="Calibri" pitchFamily="34" charset="-122"/>
                          <a:cs typeface="Calibri" pitchFamily="34" charset="-120"/>
                        </a:rPr>
                        <m:t>𝚫</m:t>
                      </m:r>
                      <m:r>
                        <a:rPr lang="en-US" sz="2800" b="1" i="1" dirty="0">
                          <a:solidFill>
                            <a:srgbClr val="73000A"/>
                          </a:solidFill>
                          <a:latin typeface="Cambria Math" panose="02040503050406030204" pitchFamily="18" charset="0"/>
                          <a:ea typeface="Calibri" pitchFamily="34" charset="-122"/>
                          <a:cs typeface="Calibri" pitchFamily="34" charset="-120"/>
                        </a:rPr>
                        <m:t>𝒕</m:t>
                      </m:r>
                      <m:r>
                        <a:rPr lang="en-US" sz="2800" b="1" i="1" dirty="0">
                          <a:solidFill>
                            <a:srgbClr val="73000A"/>
                          </a:solidFill>
                          <a:latin typeface="Cambria Math" panose="02040503050406030204" pitchFamily="18" charset="0"/>
                          <a:ea typeface="Calibri" pitchFamily="34" charset="-122"/>
                          <a:cs typeface="Calibri" pitchFamily="34" charset="-120"/>
                        </a:rPr>
                        <m:t> ≈ </m:t>
                      </m:r>
                      <m:r>
                        <a:rPr lang="en-US" sz="2800" b="1" i="1" dirty="0">
                          <a:solidFill>
                            <a:srgbClr val="73000A"/>
                          </a:solidFill>
                          <a:latin typeface="Cambria Math" panose="02040503050406030204" pitchFamily="18" charset="0"/>
                          <a:ea typeface="Calibri" pitchFamily="34" charset="-122"/>
                          <a:cs typeface="Calibri" pitchFamily="34" charset="-120"/>
                        </a:rPr>
                        <m:t>𝟎</m:t>
                      </m:r>
                    </m:oMath>
                  </m:oMathPara>
                </a14:m>
              </a:p>
            </p:txBody>
          </p:sp>
        </mc:Choice>
        <mc:Fallback>
          <p:sp>
            <p:nvSpPr>
              <p:cNvPr id="17" name="Text 15"/>
              <p:cNvSpPr txBox="1">
                <a:spLocks noRot="1" noChangeAspect="1" noMove="1" noResize="1" noEditPoints="1" noAdjustHandles="1" noChangeArrowheads="1" noChangeShapeType="1" noTextEdit="1"/>
              </p:cNvSpPr>
              <p:nvPr/>
            </p:nvSpPr>
            <p:spPr>
              <a:xfrm>
                <a:off x="9187434" y="1554480"/>
                <a:ext cx="2269998" cy="502920"/>
              </a:xfrm>
              <a:prstGeom prst="rect">
                <a:avLst/>
              </a:prstGeom>
              <a:blipFill>
                <a:blip r:embed="rId6"/>
                <a:stretch>
                  <a:fillRect t="-14634" r="-1667" b="-31707"/>
                </a:stretch>
              </a:blipFill>
              <a:ln/>
            </p:spPr>
            <p:txBody>
              <a:bodyPr/>
              <a:lstStyle/>
              <a:p>
                <a:r>
                  <a:rPr lang="en-US">
                    <a:noFill/>
                  </a:rPr>
                  <a:t> </a:t>
                </a:r>
              </a:p>
            </p:txBody>
          </p:sp>
        </mc:Fallback>
      </mc:AlternateContent>
      <p:sp>
        <p:nvSpPr>
          <p:cNvPr id="18" name="Text 16"/>
          <p:cNvSpPr txBox="1"/>
          <p:nvPr/>
        </p:nvSpPr>
        <p:spPr>
          <a:xfrm>
            <a:off x="9187434" y="2066544"/>
            <a:ext cx="2269998"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Common origin</a:t>
            </a:r>
            <a:endParaRPr lang="en-US" sz="1300" dirty="0"/>
          </a:p>
        </p:txBody>
      </p:sp>
      <p:sp>
        <p:nvSpPr>
          <p:cNvPr id="19" name="Text 17"/>
          <p:cNvSpPr txBox="1"/>
          <p:nvPr/>
        </p:nvSpPr>
        <p:spPr>
          <a:xfrm>
            <a:off x="9187434" y="2359152"/>
            <a:ext cx="2269998" cy="512064"/>
          </a:xfrm>
          <a:prstGeom prst="rect">
            <a:avLst/>
          </a:prstGeom>
          <a:noFill/>
          <a:ln/>
        </p:spPr>
        <p:txBody>
          <a:bodyPr wrap="square" lIns="0" tIns="0" rIns="0" bIns="0" rtlCol="0" anchor="t"/>
          <a:lstStyle/>
          <a:p>
            <a:pPr marL="0" indent="0">
              <a:buNone/>
            </a:pPr>
            <a:r>
              <a:rPr lang="en-US" sz="1150" dirty="0">
                <a:solidFill>
                  <a:srgbClr val="4A4A4A"/>
                </a:solidFill>
                <a:latin typeface="Calibri" pitchFamily="34" charset="0"/>
                <a:ea typeface="Calibri" pitchFamily="34" charset="-122"/>
                <a:cs typeface="Calibri" pitchFamily="34" charset="-120"/>
              </a:rPr>
              <a:t>Both tracks start at one point and one time on a foil</a:t>
            </a:r>
            <a:endParaRPr lang="en-US" sz="1150" dirty="0"/>
          </a:p>
        </p:txBody>
      </p:sp>
      <p:pic>
        <p:nvPicPr>
          <p:cNvPr id="20" name="Image 0" descr="Event display of a two-electron signal event"/>
          <p:cNvPicPr>
            <a:picLocks noChangeAspect="1"/>
          </p:cNvPicPr>
          <p:nvPr/>
        </p:nvPicPr>
        <p:blipFill>
          <a:blip r:embed="rId7"/>
          <a:stretch>
            <a:fillRect/>
          </a:stretch>
        </p:blipFill>
        <p:spPr>
          <a:xfrm>
            <a:off x="882396" y="3108960"/>
            <a:ext cx="10424160" cy="3097465"/>
          </a:xfrm>
          <a:prstGeom prst="rect">
            <a:avLst/>
          </a:prstGeom>
        </p:spPr>
      </p:pic>
      <p:sp>
        <p:nvSpPr>
          <p:cNvPr id="21" name="Text 18"/>
          <p:cNvSpPr txBox="1"/>
          <p:nvPr/>
        </p:nvSpPr>
        <p:spPr>
          <a:xfrm>
            <a:off x="548640" y="6279577"/>
            <a:ext cx="11091672" cy="411480"/>
          </a:xfrm>
          <a:prstGeom prst="rect">
            <a:avLst/>
          </a:prstGeom>
          <a:noFill/>
          <a:ln/>
        </p:spPr>
        <p:txBody>
          <a:bodyPr wrap="square" lIns="0" tIns="0" rIns="0" bIns="0" rtlCol="0" anchor="ctr"/>
          <a:lstStyle/>
          <a:p>
            <a:pPr marL="0" indent="0" algn="ctr">
              <a:buNone/>
            </a:pPr>
            <a:r>
              <a:rPr lang="en-US" sz="1200" i="1" dirty="0">
                <a:solidFill>
                  <a:srgbClr val="4A4A4A"/>
                </a:solidFill>
                <a:latin typeface="Calibri" pitchFamily="34" charset="0"/>
                <a:ea typeface="Calibri" pitchFamily="34" charset="-122"/>
                <a:cs typeface="Calibri" pitchFamily="34" charset="-120"/>
              </a:rPr>
              <a:t>Event display (MC truth): both electrons leave one stopping-target foil. The upstream electron reflects off the field gradient and turns toward the tracker and calorimeter.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Experimental Configuration Requirements</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Seeing both 52.8 MeV electrons takes three changes to the standard Mu2e run</a:t>
            </a:r>
            <a:endParaRPr lang="en-US" sz="1600" dirty="0"/>
          </a:p>
        </p:txBody>
      </p:sp>
      <p:sp>
        <p:nvSpPr>
          <p:cNvPr id="4" name="Shape 2"/>
          <p:cNvSpPr/>
          <p:nvPr/>
        </p:nvSpPr>
        <p:spPr>
          <a:xfrm>
            <a:off x="548640" y="1463040"/>
            <a:ext cx="3544824" cy="3429000"/>
          </a:xfrm>
          <a:prstGeom prst="roundRect">
            <a:avLst>
              <a:gd name="adj" fmla="val 2667"/>
            </a:avLst>
          </a:prstGeom>
          <a:solidFill>
            <a:srgbClr val="F4F0F0"/>
          </a:solidFill>
          <a:ln/>
        </p:spPr>
        <p:txBody>
          <a:bodyPr/>
          <a:lstStyle/>
          <a:p>
            <a:endParaRPr lang="en-US"/>
          </a:p>
        </p:txBody>
      </p:sp>
      <p:sp>
        <p:nvSpPr>
          <p:cNvPr id="5" name="Shape 3"/>
          <p:cNvSpPr/>
          <p:nvPr/>
        </p:nvSpPr>
        <p:spPr>
          <a:xfrm>
            <a:off x="777240" y="1664208"/>
            <a:ext cx="457200" cy="457200"/>
          </a:xfrm>
          <a:prstGeom prst="ellipse">
            <a:avLst/>
          </a:prstGeom>
          <a:solidFill>
            <a:srgbClr val="73000A"/>
          </a:solidFill>
          <a:ln/>
        </p:spPr>
        <p:txBody>
          <a:bodyPr/>
          <a:lstStyle/>
          <a:p>
            <a:endParaRPr lang="en-US"/>
          </a:p>
        </p:txBody>
      </p:sp>
      <p:sp>
        <p:nvSpPr>
          <p:cNvPr id="6" name="Text 4"/>
          <p:cNvSpPr txBox="1"/>
          <p:nvPr/>
        </p:nvSpPr>
        <p:spPr>
          <a:xfrm>
            <a:off x="777240" y="166420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371600" y="1600200"/>
            <a:ext cx="2538984" cy="59436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Half-strength detector solenoid</a:t>
            </a:r>
            <a:endParaRPr lang="en-US" sz="1600" dirty="0"/>
          </a:p>
        </p:txBody>
      </p:sp>
      <p:sp>
        <p:nvSpPr>
          <p:cNvPr id="8" name="Shape 6"/>
          <p:cNvSpPr/>
          <p:nvPr/>
        </p:nvSpPr>
        <p:spPr>
          <a:xfrm>
            <a:off x="777240" y="2377440"/>
            <a:ext cx="1383792" cy="914400"/>
          </a:xfrm>
          <a:prstGeom prst="roundRect">
            <a:avLst>
              <a:gd name="adj" fmla="val 8000"/>
            </a:avLst>
          </a:prstGeom>
          <a:solidFill>
            <a:srgbClr val="FFFFFF"/>
          </a:solidFill>
          <a:ln w="12700">
            <a:solidFill>
              <a:srgbClr val="D0D0D0"/>
            </a:solidFill>
            <a:prstDash val="solid"/>
          </a:ln>
        </p:spPr>
        <p:txBody>
          <a:bodyPr/>
          <a:lstStyle/>
          <a:p>
            <a:endParaRPr lang="en-US"/>
          </a:p>
        </p:txBody>
      </p:sp>
      <p:sp>
        <p:nvSpPr>
          <p:cNvPr id="9" name="Text 7"/>
          <p:cNvSpPr txBox="1"/>
          <p:nvPr/>
        </p:nvSpPr>
        <p:spPr>
          <a:xfrm>
            <a:off x="777240" y="2450592"/>
            <a:ext cx="1383792" cy="228600"/>
          </a:xfrm>
          <a:prstGeom prst="rect">
            <a:avLst/>
          </a:prstGeom>
          <a:noFill/>
          <a:ln/>
        </p:spPr>
        <p:txBody>
          <a:bodyPr wrap="square" lIns="0" tIns="0" rIns="0" bIns="0" rtlCol="0" anchor="ctr"/>
          <a:lstStyle/>
          <a:p>
            <a:pPr marL="0" indent="0" algn="ctr">
              <a:buNone/>
            </a:pPr>
            <a:r>
              <a:rPr lang="en-US" sz="950" b="1" kern="0" spc="100" dirty="0">
                <a:solidFill>
                  <a:srgbClr val="6A6A6A"/>
                </a:solidFill>
                <a:latin typeface="Calibri" pitchFamily="34" charset="0"/>
                <a:ea typeface="Calibri" pitchFamily="34" charset="-122"/>
                <a:cs typeface="Calibri" pitchFamily="34" charset="-120"/>
              </a:rPr>
              <a:t>STANDARD MU2E</a:t>
            </a:r>
            <a:endParaRPr lang="en-US" sz="950" dirty="0"/>
          </a:p>
        </p:txBody>
      </p:sp>
      <p:sp>
        <p:nvSpPr>
          <p:cNvPr id="10" name="Text 8"/>
          <p:cNvSpPr txBox="1"/>
          <p:nvPr/>
        </p:nvSpPr>
        <p:spPr>
          <a:xfrm>
            <a:off x="822960" y="2697480"/>
            <a:ext cx="1292352" cy="502920"/>
          </a:xfrm>
          <a:prstGeom prst="rect">
            <a:avLst/>
          </a:prstGeom>
          <a:noFill/>
          <a:ln/>
        </p:spPr>
        <p:txBody>
          <a:bodyPr wrap="square" lIns="0" tIns="0" rIns="0" bIns="0" rtlCol="0" anchor="ctr"/>
          <a:lstStyle/>
          <a:p>
            <a:pPr marL="0" indent="0" algn="ctr">
              <a:buNone/>
            </a:pPr>
            <a:r>
              <a:rPr lang="en-US" sz="1350" b="1" dirty="0">
                <a:solidFill>
                  <a:srgbClr val="6A6A6A"/>
                </a:solidFill>
                <a:latin typeface="Calibri" pitchFamily="34" charset="0"/>
                <a:ea typeface="Calibri" pitchFamily="34" charset="-122"/>
                <a:cs typeface="Calibri" pitchFamily="34" charset="-120"/>
              </a:rPr>
              <a:t>1.0 T at Peak</a:t>
            </a:r>
            <a:endParaRPr lang="en-US" sz="1350" dirty="0"/>
          </a:p>
        </p:txBody>
      </p:sp>
      <p:sp>
        <p:nvSpPr>
          <p:cNvPr id="11" name="Shape 9"/>
          <p:cNvSpPr/>
          <p:nvPr/>
        </p:nvSpPr>
        <p:spPr>
          <a:xfrm>
            <a:off x="2206752" y="2724912"/>
            <a:ext cx="228600" cy="219456"/>
          </a:xfrm>
          <a:prstGeom prst="rightArrow">
            <a:avLst/>
          </a:prstGeom>
          <a:solidFill>
            <a:srgbClr val="73000A"/>
          </a:solidFill>
          <a:ln/>
        </p:spPr>
        <p:txBody>
          <a:bodyPr/>
          <a:lstStyle/>
          <a:p>
            <a:endParaRPr lang="en-US"/>
          </a:p>
        </p:txBody>
      </p:sp>
      <p:sp>
        <p:nvSpPr>
          <p:cNvPr id="12" name="Shape 10"/>
          <p:cNvSpPr/>
          <p:nvPr/>
        </p:nvSpPr>
        <p:spPr>
          <a:xfrm>
            <a:off x="2481072" y="2377440"/>
            <a:ext cx="1383792" cy="914400"/>
          </a:xfrm>
          <a:prstGeom prst="roundRect">
            <a:avLst>
              <a:gd name="adj" fmla="val 8000"/>
            </a:avLst>
          </a:prstGeom>
          <a:solidFill>
            <a:srgbClr val="F4E6E7"/>
          </a:solidFill>
          <a:ln w="15875">
            <a:solidFill>
              <a:srgbClr val="73000A"/>
            </a:solidFill>
            <a:prstDash val="solid"/>
          </a:ln>
        </p:spPr>
        <p:txBody>
          <a:bodyPr/>
          <a:lstStyle/>
          <a:p>
            <a:endParaRPr lang="en-US"/>
          </a:p>
        </p:txBody>
      </p:sp>
      <p:sp>
        <p:nvSpPr>
          <p:cNvPr id="13" name="Text 11"/>
          <p:cNvSpPr txBox="1"/>
          <p:nvPr/>
        </p:nvSpPr>
        <p:spPr>
          <a:xfrm>
            <a:off x="2481072" y="2450592"/>
            <a:ext cx="1383792" cy="228600"/>
          </a:xfrm>
          <a:prstGeom prst="rect">
            <a:avLst/>
          </a:prstGeom>
          <a:noFill/>
          <a:ln/>
        </p:spPr>
        <p:txBody>
          <a:bodyPr wrap="square" lIns="0" tIns="0" rIns="0" bIns="0" rtlCol="0" anchor="ctr"/>
          <a:lstStyle/>
          <a:p>
            <a:pPr marL="0" indent="0" algn="ctr">
              <a:buNone/>
            </a:pPr>
            <a:r>
              <a:rPr lang="en-US" sz="950" b="1" kern="0" spc="100" dirty="0">
                <a:solidFill>
                  <a:srgbClr val="73000A"/>
                </a:solidFill>
                <a:latin typeface="Calibri" pitchFamily="34" charset="0"/>
                <a:ea typeface="Calibri" pitchFamily="34" charset="-122"/>
                <a:cs typeface="Calibri" pitchFamily="34" charset="-120"/>
              </a:rPr>
              <a:t>THIS CHANNEL</a:t>
            </a:r>
            <a:endParaRPr lang="en-US" sz="950" dirty="0"/>
          </a:p>
        </p:txBody>
      </p:sp>
      <p:sp>
        <p:nvSpPr>
          <p:cNvPr id="14" name="Text 12"/>
          <p:cNvSpPr txBox="1"/>
          <p:nvPr/>
        </p:nvSpPr>
        <p:spPr>
          <a:xfrm>
            <a:off x="2526792" y="2697480"/>
            <a:ext cx="1292352" cy="502920"/>
          </a:xfrm>
          <a:prstGeom prst="rect">
            <a:avLst/>
          </a:prstGeom>
          <a:noFill/>
          <a:ln/>
        </p:spPr>
        <p:txBody>
          <a:bodyPr wrap="square" lIns="0" tIns="0" rIns="0" bIns="0" rtlCol="0" anchor="ctr"/>
          <a:lstStyle/>
          <a:p>
            <a:pPr marL="0" indent="0" algn="ctr">
              <a:buNone/>
            </a:pPr>
            <a:r>
              <a:rPr lang="en-US" sz="1350" b="1" dirty="0">
                <a:solidFill>
                  <a:srgbClr val="73000A"/>
                </a:solidFill>
                <a:latin typeface="Calibri" pitchFamily="34" charset="0"/>
                <a:ea typeface="Calibri" pitchFamily="34" charset="-122"/>
                <a:cs typeface="Calibri" pitchFamily="34" charset="-120"/>
              </a:rPr>
              <a:t>0.5 T at Peak</a:t>
            </a:r>
            <a:endParaRPr lang="en-US" sz="1350" dirty="0"/>
          </a:p>
        </p:txBody>
      </p:sp>
      <p:sp>
        <p:nvSpPr>
          <p:cNvPr id="15" name="Text 13"/>
          <p:cNvSpPr txBox="1"/>
          <p:nvPr/>
        </p:nvSpPr>
        <p:spPr>
          <a:xfrm>
            <a:off x="777240" y="3520440"/>
            <a:ext cx="3087624" cy="274320"/>
          </a:xfrm>
          <a:prstGeom prst="rect">
            <a:avLst/>
          </a:prstGeom>
          <a:noFill/>
          <a:ln/>
        </p:spPr>
        <p:txBody>
          <a:bodyPr wrap="square" lIns="0" tIns="0" rIns="0" bIns="0" rtlCol="0" anchor="ctr"/>
          <a:lstStyle/>
          <a:p>
            <a:pPr marL="0" indent="0">
              <a:buNone/>
            </a:pPr>
            <a:r>
              <a:rPr lang="en-US" sz="1200" b="1" dirty="0">
                <a:solidFill>
                  <a:srgbClr val="73000A"/>
                </a:solidFill>
                <a:latin typeface="Calibri" pitchFamily="34" charset="0"/>
                <a:ea typeface="Calibri" pitchFamily="34" charset="-122"/>
                <a:cs typeface="Calibri" pitchFamily="34" charset="-120"/>
              </a:rPr>
              <a:t>Why</a:t>
            </a:r>
            <a:endParaRPr lang="en-US" sz="1200" dirty="0"/>
          </a:p>
        </p:txBody>
      </p:sp>
      <p:sp>
        <p:nvSpPr>
          <p:cNvPr id="16" name="Text 14"/>
          <p:cNvSpPr txBox="1"/>
          <p:nvPr/>
        </p:nvSpPr>
        <p:spPr>
          <a:xfrm>
            <a:off x="777240" y="3794760"/>
            <a:ext cx="3087624" cy="1920240"/>
          </a:xfrm>
          <a:prstGeom prst="rect">
            <a:avLst/>
          </a:prstGeom>
          <a:noFill/>
          <a:ln/>
        </p:spPr>
        <p:txBody>
          <a:bodyPr wrap="square" lIns="0" tIns="0" rIns="0" bIns="0" rtlCol="0" anchor="t"/>
          <a:lstStyle/>
          <a:p>
            <a:pPr marL="0" indent="0">
              <a:buNone/>
            </a:pPr>
            <a:r>
              <a:rPr lang="en-US" sz="1300" dirty="0">
                <a:solidFill>
                  <a:srgbClr val="333333"/>
                </a:solidFill>
                <a:latin typeface="Calibri" pitchFamily="34" charset="0"/>
                <a:ea typeface="Calibri" pitchFamily="34" charset="-122"/>
                <a:cs typeface="Calibri" pitchFamily="34" charset="-120"/>
              </a:rPr>
              <a:t>At full field, 52.8 MeV the helical path curves inside the tracker annulus. Half field doubles the helix radius so they reach the straws, and the field gradient still mirrors upstream electrons.</a:t>
            </a:r>
            <a:endParaRPr lang="en-US" sz="1300" dirty="0"/>
          </a:p>
        </p:txBody>
      </p:sp>
      <p:sp>
        <p:nvSpPr>
          <p:cNvPr id="17" name="Shape 15"/>
          <p:cNvSpPr/>
          <p:nvPr/>
        </p:nvSpPr>
        <p:spPr>
          <a:xfrm>
            <a:off x="4322064" y="1463040"/>
            <a:ext cx="3544824" cy="3429000"/>
          </a:xfrm>
          <a:prstGeom prst="roundRect">
            <a:avLst>
              <a:gd name="adj" fmla="val 2667"/>
            </a:avLst>
          </a:prstGeom>
          <a:solidFill>
            <a:srgbClr val="F4F0F0"/>
          </a:solidFill>
          <a:ln/>
        </p:spPr>
        <p:txBody>
          <a:bodyPr/>
          <a:lstStyle/>
          <a:p>
            <a:endParaRPr lang="en-US"/>
          </a:p>
        </p:txBody>
      </p:sp>
      <p:sp>
        <p:nvSpPr>
          <p:cNvPr id="18" name="Shape 16"/>
          <p:cNvSpPr/>
          <p:nvPr/>
        </p:nvSpPr>
        <p:spPr>
          <a:xfrm>
            <a:off x="4550664" y="1664208"/>
            <a:ext cx="457200" cy="457200"/>
          </a:xfrm>
          <a:prstGeom prst="ellipse">
            <a:avLst/>
          </a:prstGeom>
          <a:solidFill>
            <a:srgbClr val="73000A"/>
          </a:solidFill>
          <a:ln/>
        </p:spPr>
        <p:txBody>
          <a:bodyPr/>
          <a:lstStyle/>
          <a:p>
            <a:endParaRPr lang="en-US"/>
          </a:p>
        </p:txBody>
      </p:sp>
      <p:sp>
        <p:nvSpPr>
          <p:cNvPr id="19" name="Text 17"/>
          <p:cNvSpPr txBox="1"/>
          <p:nvPr/>
        </p:nvSpPr>
        <p:spPr>
          <a:xfrm>
            <a:off x="4550664" y="166420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20" name="Text 18"/>
          <p:cNvSpPr txBox="1"/>
          <p:nvPr/>
        </p:nvSpPr>
        <p:spPr>
          <a:xfrm>
            <a:off x="5145024" y="1600200"/>
            <a:ext cx="2538984" cy="59436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Reduced proton beam power</a:t>
            </a:r>
            <a:endParaRPr lang="en-US" sz="1600" dirty="0"/>
          </a:p>
        </p:txBody>
      </p:sp>
      <p:sp>
        <p:nvSpPr>
          <p:cNvPr id="21" name="Shape 19"/>
          <p:cNvSpPr/>
          <p:nvPr/>
        </p:nvSpPr>
        <p:spPr>
          <a:xfrm>
            <a:off x="4550664" y="2377440"/>
            <a:ext cx="1383792" cy="914400"/>
          </a:xfrm>
          <a:prstGeom prst="roundRect">
            <a:avLst>
              <a:gd name="adj" fmla="val 8000"/>
            </a:avLst>
          </a:prstGeom>
          <a:solidFill>
            <a:srgbClr val="FFFFFF"/>
          </a:solidFill>
          <a:ln w="12700">
            <a:solidFill>
              <a:srgbClr val="D0D0D0"/>
            </a:solidFill>
            <a:prstDash val="solid"/>
          </a:ln>
        </p:spPr>
        <p:txBody>
          <a:bodyPr/>
          <a:lstStyle/>
          <a:p>
            <a:endParaRPr lang="en-US"/>
          </a:p>
        </p:txBody>
      </p:sp>
      <p:sp>
        <p:nvSpPr>
          <p:cNvPr id="22" name="Text 20"/>
          <p:cNvSpPr txBox="1"/>
          <p:nvPr/>
        </p:nvSpPr>
        <p:spPr>
          <a:xfrm>
            <a:off x="4550664" y="2450592"/>
            <a:ext cx="1383792" cy="228600"/>
          </a:xfrm>
          <a:prstGeom prst="rect">
            <a:avLst/>
          </a:prstGeom>
          <a:noFill/>
          <a:ln/>
        </p:spPr>
        <p:txBody>
          <a:bodyPr wrap="square" lIns="0" tIns="0" rIns="0" bIns="0" rtlCol="0" anchor="ctr"/>
          <a:lstStyle/>
          <a:p>
            <a:pPr marL="0" indent="0" algn="ctr">
              <a:buNone/>
            </a:pPr>
            <a:r>
              <a:rPr lang="en-US" sz="950" b="1" kern="0" spc="100" dirty="0">
                <a:solidFill>
                  <a:srgbClr val="6A6A6A"/>
                </a:solidFill>
                <a:latin typeface="Calibri" pitchFamily="34" charset="0"/>
                <a:ea typeface="Calibri" pitchFamily="34" charset="-122"/>
                <a:cs typeface="Calibri" pitchFamily="34" charset="-120"/>
              </a:rPr>
              <a:t>STANDARD MU2E</a:t>
            </a:r>
            <a:endParaRPr lang="en-US" sz="950" dirty="0"/>
          </a:p>
        </p:txBody>
      </p:sp>
      <p:sp>
        <p:nvSpPr>
          <p:cNvPr id="23" name="Text 21"/>
          <p:cNvSpPr txBox="1"/>
          <p:nvPr/>
        </p:nvSpPr>
        <p:spPr>
          <a:xfrm>
            <a:off x="4596384" y="2697480"/>
            <a:ext cx="1292352" cy="502920"/>
          </a:xfrm>
          <a:prstGeom prst="rect">
            <a:avLst/>
          </a:prstGeom>
          <a:noFill/>
          <a:ln/>
        </p:spPr>
        <p:txBody>
          <a:bodyPr wrap="square" lIns="0" tIns="0" rIns="0" bIns="0" rtlCol="0" anchor="ctr"/>
          <a:lstStyle/>
          <a:p>
            <a:pPr marL="0" indent="0" algn="ctr">
              <a:buNone/>
            </a:pPr>
            <a:r>
              <a:rPr lang="en-US" sz="1350" b="1" dirty="0">
                <a:solidFill>
                  <a:srgbClr val="6A6A6A"/>
                </a:solidFill>
                <a:latin typeface="Calibri" pitchFamily="34" charset="0"/>
                <a:ea typeface="Calibri" pitchFamily="34" charset="-122"/>
                <a:cs typeface="Calibri" pitchFamily="34" charset="-120"/>
              </a:rPr>
              <a:t>Full intensity</a:t>
            </a:r>
            <a:endParaRPr lang="en-US" sz="1350" dirty="0"/>
          </a:p>
        </p:txBody>
      </p:sp>
      <p:sp>
        <p:nvSpPr>
          <p:cNvPr id="24" name="Shape 22"/>
          <p:cNvSpPr/>
          <p:nvPr/>
        </p:nvSpPr>
        <p:spPr>
          <a:xfrm>
            <a:off x="5980176" y="2724912"/>
            <a:ext cx="228600" cy="219456"/>
          </a:xfrm>
          <a:prstGeom prst="rightArrow">
            <a:avLst/>
          </a:prstGeom>
          <a:solidFill>
            <a:srgbClr val="73000A"/>
          </a:solidFill>
          <a:ln/>
        </p:spPr>
        <p:txBody>
          <a:bodyPr/>
          <a:lstStyle/>
          <a:p>
            <a:endParaRPr lang="en-US"/>
          </a:p>
        </p:txBody>
      </p:sp>
      <p:sp>
        <p:nvSpPr>
          <p:cNvPr id="25" name="Shape 23"/>
          <p:cNvSpPr/>
          <p:nvPr/>
        </p:nvSpPr>
        <p:spPr>
          <a:xfrm>
            <a:off x="6254496" y="2377440"/>
            <a:ext cx="1383792" cy="914400"/>
          </a:xfrm>
          <a:prstGeom prst="roundRect">
            <a:avLst>
              <a:gd name="adj" fmla="val 8000"/>
            </a:avLst>
          </a:prstGeom>
          <a:solidFill>
            <a:srgbClr val="F4E6E7"/>
          </a:solidFill>
          <a:ln w="15875">
            <a:solidFill>
              <a:srgbClr val="73000A"/>
            </a:solidFill>
            <a:prstDash val="solid"/>
          </a:ln>
        </p:spPr>
        <p:txBody>
          <a:bodyPr/>
          <a:lstStyle/>
          <a:p>
            <a:endParaRPr lang="en-US"/>
          </a:p>
        </p:txBody>
      </p:sp>
      <p:sp>
        <p:nvSpPr>
          <p:cNvPr id="26" name="Text 24"/>
          <p:cNvSpPr txBox="1"/>
          <p:nvPr/>
        </p:nvSpPr>
        <p:spPr>
          <a:xfrm>
            <a:off x="6254496" y="2450592"/>
            <a:ext cx="1383792" cy="228600"/>
          </a:xfrm>
          <a:prstGeom prst="rect">
            <a:avLst/>
          </a:prstGeom>
          <a:noFill/>
          <a:ln/>
        </p:spPr>
        <p:txBody>
          <a:bodyPr wrap="square" lIns="0" tIns="0" rIns="0" bIns="0" rtlCol="0" anchor="ctr"/>
          <a:lstStyle/>
          <a:p>
            <a:pPr marL="0" indent="0" algn="ctr">
              <a:buNone/>
            </a:pPr>
            <a:r>
              <a:rPr lang="en-US" sz="950" b="1" kern="0" spc="100" dirty="0">
                <a:solidFill>
                  <a:srgbClr val="73000A"/>
                </a:solidFill>
                <a:latin typeface="Calibri" pitchFamily="34" charset="0"/>
                <a:ea typeface="Calibri" pitchFamily="34" charset="-122"/>
                <a:cs typeface="Calibri" pitchFamily="34" charset="-120"/>
              </a:rPr>
              <a:t>THIS CHANNEL</a:t>
            </a:r>
            <a:endParaRPr lang="en-US" sz="950" dirty="0"/>
          </a:p>
        </p:txBody>
      </p:sp>
      <p:sp>
        <p:nvSpPr>
          <p:cNvPr id="27" name="Text 25"/>
          <p:cNvSpPr txBox="1"/>
          <p:nvPr/>
        </p:nvSpPr>
        <p:spPr>
          <a:xfrm>
            <a:off x="6300216" y="2697480"/>
            <a:ext cx="1292352" cy="502920"/>
          </a:xfrm>
          <a:prstGeom prst="rect">
            <a:avLst/>
          </a:prstGeom>
          <a:noFill/>
          <a:ln/>
        </p:spPr>
        <p:txBody>
          <a:bodyPr wrap="square" lIns="0" tIns="0" rIns="0" bIns="0" rtlCol="0" anchor="ctr"/>
          <a:lstStyle/>
          <a:p>
            <a:pPr marL="0" indent="0" algn="ctr">
              <a:buNone/>
            </a:pPr>
            <a:r>
              <a:rPr lang="en-US" sz="1350" b="1" dirty="0">
                <a:solidFill>
                  <a:srgbClr val="73000A"/>
                </a:solidFill>
                <a:latin typeface="Calibri" pitchFamily="34" charset="0"/>
                <a:ea typeface="Calibri" pitchFamily="34" charset="-122"/>
                <a:cs typeface="Calibri" pitchFamily="34" charset="-120"/>
              </a:rPr>
              <a:t>Reduced</a:t>
            </a:r>
            <a:endParaRPr lang="en-US" sz="1350" dirty="0"/>
          </a:p>
        </p:txBody>
      </p:sp>
      <p:sp>
        <p:nvSpPr>
          <p:cNvPr id="28" name="Text 26"/>
          <p:cNvSpPr txBox="1"/>
          <p:nvPr/>
        </p:nvSpPr>
        <p:spPr>
          <a:xfrm>
            <a:off x="4550664" y="3520440"/>
            <a:ext cx="3087624" cy="274320"/>
          </a:xfrm>
          <a:prstGeom prst="rect">
            <a:avLst/>
          </a:prstGeom>
          <a:noFill/>
          <a:ln/>
        </p:spPr>
        <p:txBody>
          <a:bodyPr wrap="square" lIns="0" tIns="0" rIns="0" bIns="0" rtlCol="0" anchor="ctr"/>
          <a:lstStyle/>
          <a:p>
            <a:pPr marL="0" indent="0">
              <a:buNone/>
            </a:pPr>
            <a:r>
              <a:rPr lang="en-US" sz="1200" b="1" dirty="0">
                <a:solidFill>
                  <a:srgbClr val="73000A"/>
                </a:solidFill>
                <a:latin typeface="Calibri" pitchFamily="34" charset="0"/>
                <a:ea typeface="Calibri" pitchFamily="34" charset="-122"/>
                <a:cs typeface="Calibri" pitchFamily="34" charset="-120"/>
              </a:rPr>
              <a:t>Why</a:t>
            </a:r>
            <a:endParaRPr lang="en-US" sz="1200" dirty="0"/>
          </a:p>
        </p:txBody>
      </p:sp>
      <p:sp>
        <p:nvSpPr>
          <p:cNvPr id="29" name="Text 27"/>
          <p:cNvSpPr txBox="1"/>
          <p:nvPr/>
        </p:nvSpPr>
        <p:spPr>
          <a:xfrm>
            <a:off x="4550664" y="3794760"/>
            <a:ext cx="3087624" cy="928494"/>
          </a:xfrm>
          <a:prstGeom prst="rect">
            <a:avLst/>
          </a:prstGeom>
          <a:noFill/>
          <a:ln/>
        </p:spPr>
        <p:txBody>
          <a:bodyPr wrap="square" lIns="0" tIns="0" rIns="0" bIns="0" rtlCol="0" anchor="t"/>
          <a:lstStyle/>
          <a:p>
            <a:pPr marL="0" indent="0">
              <a:buNone/>
            </a:pPr>
            <a:r>
              <a:rPr lang="en-US" sz="1300" dirty="0">
                <a:solidFill>
                  <a:srgbClr val="333333"/>
                </a:solidFill>
                <a:latin typeface="Calibri" pitchFamily="34" charset="0"/>
                <a:ea typeface="Calibri" pitchFamily="34" charset="-122"/>
                <a:cs typeface="Calibri" pitchFamily="34" charset="-120"/>
              </a:rPr>
              <a:t>Half field also puts the DIO peak on the straws. Lower beam power limits pileup in reconstruction, and electronics dead time. Goal 2 simulations set the exact reduction.</a:t>
            </a:r>
            <a:endParaRPr lang="en-US" sz="1300" dirty="0"/>
          </a:p>
        </p:txBody>
      </p:sp>
      <p:sp>
        <p:nvSpPr>
          <p:cNvPr id="30" name="Shape 28"/>
          <p:cNvSpPr/>
          <p:nvPr/>
        </p:nvSpPr>
        <p:spPr>
          <a:xfrm>
            <a:off x="8095488" y="1463040"/>
            <a:ext cx="3544824" cy="3429000"/>
          </a:xfrm>
          <a:prstGeom prst="roundRect">
            <a:avLst>
              <a:gd name="adj" fmla="val 2667"/>
            </a:avLst>
          </a:prstGeom>
          <a:solidFill>
            <a:srgbClr val="F4F0F0"/>
          </a:solidFill>
          <a:ln/>
        </p:spPr>
        <p:txBody>
          <a:bodyPr/>
          <a:lstStyle/>
          <a:p>
            <a:endParaRPr lang="en-US"/>
          </a:p>
        </p:txBody>
      </p:sp>
      <p:sp>
        <p:nvSpPr>
          <p:cNvPr id="31" name="Shape 29"/>
          <p:cNvSpPr/>
          <p:nvPr/>
        </p:nvSpPr>
        <p:spPr>
          <a:xfrm>
            <a:off x="8324088" y="1664208"/>
            <a:ext cx="457200" cy="457200"/>
          </a:xfrm>
          <a:prstGeom prst="ellipse">
            <a:avLst/>
          </a:prstGeom>
          <a:solidFill>
            <a:srgbClr val="73000A"/>
          </a:solidFill>
          <a:ln/>
        </p:spPr>
        <p:txBody>
          <a:bodyPr/>
          <a:lstStyle/>
          <a:p>
            <a:endParaRPr lang="en-US"/>
          </a:p>
        </p:txBody>
      </p:sp>
      <p:sp>
        <p:nvSpPr>
          <p:cNvPr id="32" name="Text 30"/>
          <p:cNvSpPr txBox="1"/>
          <p:nvPr/>
        </p:nvSpPr>
        <p:spPr>
          <a:xfrm>
            <a:off x="8324088" y="166420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33" name="Text 31"/>
          <p:cNvSpPr txBox="1"/>
          <p:nvPr/>
        </p:nvSpPr>
        <p:spPr>
          <a:xfrm>
            <a:off x="8918448" y="1600200"/>
            <a:ext cx="2538984" cy="59436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Multi-track trigger</a:t>
            </a:r>
            <a:endParaRPr lang="en-US" sz="1600" dirty="0"/>
          </a:p>
        </p:txBody>
      </p:sp>
      <p:sp>
        <p:nvSpPr>
          <p:cNvPr id="34" name="Shape 32"/>
          <p:cNvSpPr/>
          <p:nvPr/>
        </p:nvSpPr>
        <p:spPr>
          <a:xfrm>
            <a:off x="8141208" y="2377440"/>
            <a:ext cx="1566672" cy="914400"/>
          </a:xfrm>
          <a:prstGeom prst="roundRect">
            <a:avLst>
              <a:gd name="adj" fmla="val 8000"/>
            </a:avLst>
          </a:prstGeom>
          <a:solidFill>
            <a:srgbClr val="FFFFFF"/>
          </a:solidFill>
          <a:ln w="12700">
            <a:solidFill>
              <a:srgbClr val="D0D0D0"/>
            </a:solidFill>
            <a:prstDash val="solid"/>
          </a:ln>
        </p:spPr>
        <p:txBody>
          <a:bodyPr/>
          <a:lstStyle/>
          <a:p>
            <a:endParaRPr lang="en-US"/>
          </a:p>
        </p:txBody>
      </p:sp>
      <p:sp>
        <p:nvSpPr>
          <p:cNvPr id="35" name="Text 33"/>
          <p:cNvSpPr txBox="1"/>
          <p:nvPr/>
        </p:nvSpPr>
        <p:spPr>
          <a:xfrm>
            <a:off x="8226552" y="2450592"/>
            <a:ext cx="1383792" cy="228600"/>
          </a:xfrm>
          <a:prstGeom prst="rect">
            <a:avLst/>
          </a:prstGeom>
          <a:noFill/>
          <a:ln/>
        </p:spPr>
        <p:txBody>
          <a:bodyPr wrap="square" lIns="0" tIns="0" rIns="0" bIns="0" rtlCol="0" anchor="ctr"/>
          <a:lstStyle/>
          <a:p>
            <a:pPr marL="0" indent="0" algn="ctr">
              <a:buNone/>
            </a:pPr>
            <a:r>
              <a:rPr lang="en-US" sz="950" b="1" kern="0" spc="100" dirty="0">
                <a:solidFill>
                  <a:srgbClr val="6A6A6A"/>
                </a:solidFill>
                <a:latin typeface="Calibri" pitchFamily="34" charset="0"/>
                <a:ea typeface="Calibri" pitchFamily="34" charset="-122"/>
                <a:cs typeface="Calibri" pitchFamily="34" charset="-120"/>
              </a:rPr>
              <a:t>STANDARD MU2E</a:t>
            </a:r>
            <a:endParaRPr lang="en-US" sz="950" dirty="0"/>
          </a:p>
        </p:txBody>
      </p:sp>
      <p:sp>
        <p:nvSpPr>
          <p:cNvPr id="36" name="Text 34"/>
          <p:cNvSpPr txBox="1"/>
          <p:nvPr/>
        </p:nvSpPr>
        <p:spPr>
          <a:xfrm>
            <a:off x="8186928" y="2697480"/>
            <a:ext cx="1475232" cy="502920"/>
          </a:xfrm>
          <a:prstGeom prst="rect">
            <a:avLst/>
          </a:prstGeom>
          <a:noFill/>
          <a:ln/>
        </p:spPr>
        <p:txBody>
          <a:bodyPr wrap="square" lIns="0" tIns="0" rIns="0" bIns="0" rtlCol="0" anchor="ctr"/>
          <a:lstStyle/>
          <a:p>
            <a:pPr marL="0" indent="0" algn="ctr">
              <a:buNone/>
            </a:pPr>
            <a:r>
              <a:rPr lang="en-US" sz="1350" b="1" dirty="0">
                <a:solidFill>
                  <a:srgbClr val="6A6A6A"/>
                </a:solidFill>
                <a:latin typeface="Calibri" pitchFamily="34" charset="0"/>
                <a:ea typeface="Calibri" pitchFamily="34" charset="-122"/>
                <a:cs typeface="Calibri" pitchFamily="34" charset="-120"/>
              </a:rPr>
              <a:t>One 104.973 MeV e⁻</a:t>
            </a:r>
            <a:endParaRPr lang="en-US" sz="1350" dirty="0"/>
          </a:p>
        </p:txBody>
      </p:sp>
      <p:sp>
        <p:nvSpPr>
          <p:cNvPr id="37" name="Shape 35"/>
          <p:cNvSpPr/>
          <p:nvPr/>
        </p:nvSpPr>
        <p:spPr>
          <a:xfrm>
            <a:off x="9753600" y="2724912"/>
            <a:ext cx="228600" cy="219456"/>
          </a:xfrm>
          <a:prstGeom prst="rightArrow">
            <a:avLst/>
          </a:prstGeom>
          <a:solidFill>
            <a:srgbClr val="73000A"/>
          </a:solidFill>
          <a:ln/>
        </p:spPr>
        <p:txBody>
          <a:bodyPr/>
          <a:lstStyle/>
          <a:p>
            <a:endParaRPr lang="en-US"/>
          </a:p>
        </p:txBody>
      </p:sp>
      <p:sp>
        <p:nvSpPr>
          <p:cNvPr id="38" name="Shape 36"/>
          <p:cNvSpPr/>
          <p:nvPr/>
        </p:nvSpPr>
        <p:spPr>
          <a:xfrm>
            <a:off x="10027919" y="2377440"/>
            <a:ext cx="1566671" cy="914400"/>
          </a:xfrm>
          <a:prstGeom prst="roundRect">
            <a:avLst>
              <a:gd name="adj" fmla="val 8000"/>
            </a:avLst>
          </a:prstGeom>
          <a:solidFill>
            <a:srgbClr val="F4E6E7"/>
          </a:solidFill>
          <a:ln w="15875">
            <a:solidFill>
              <a:srgbClr val="73000A"/>
            </a:solidFill>
            <a:prstDash val="solid"/>
          </a:ln>
        </p:spPr>
        <p:txBody>
          <a:bodyPr/>
          <a:lstStyle/>
          <a:p>
            <a:endParaRPr lang="en-US"/>
          </a:p>
        </p:txBody>
      </p:sp>
      <p:sp>
        <p:nvSpPr>
          <p:cNvPr id="39" name="Text 37"/>
          <p:cNvSpPr txBox="1"/>
          <p:nvPr/>
        </p:nvSpPr>
        <p:spPr>
          <a:xfrm>
            <a:off x="10291960" y="2451280"/>
            <a:ext cx="1033158" cy="228600"/>
          </a:xfrm>
          <a:prstGeom prst="rect">
            <a:avLst/>
          </a:prstGeom>
          <a:noFill/>
          <a:ln/>
        </p:spPr>
        <p:txBody>
          <a:bodyPr wrap="square" lIns="0" tIns="0" rIns="0" bIns="0" rtlCol="0" anchor="ctr"/>
          <a:lstStyle/>
          <a:p>
            <a:pPr marL="0" indent="0" algn="ctr">
              <a:buNone/>
            </a:pPr>
            <a:r>
              <a:rPr lang="en-US" sz="950" b="1" kern="0" spc="100" dirty="0">
                <a:solidFill>
                  <a:srgbClr val="73000A"/>
                </a:solidFill>
                <a:latin typeface="Calibri" pitchFamily="34" charset="0"/>
                <a:ea typeface="Calibri" pitchFamily="34" charset="-122"/>
                <a:cs typeface="Calibri" pitchFamily="34" charset="-120"/>
              </a:rPr>
              <a:t>THIS CHANNEL</a:t>
            </a:r>
            <a:endParaRPr lang="en-US" sz="950" dirty="0"/>
          </a:p>
        </p:txBody>
      </p:sp>
      <mc:AlternateContent xmlns:mc="http://schemas.openxmlformats.org/markup-compatibility/2006">
        <mc:Choice xmlns:a14="http://schemas.microsoft.com/office/drawing/2010/main" Requires="a14">
          <p:sp>
            <p:nvSpPr>
              <p:cNvPr id="40" name="Text 38"/>
              <p:cNvSpPr txBox="1"/>
              <p:nvPr/>
            </p:nvSpPr>
            <p:spPr>
              <a:xfrm>
                <a:off x="10073639" y="2697480"/>
                <a:ext cx="1469801" cy="502920"/>
              </a:xfrm>
              <a:prstGeom prst="rect">
                <a:avLst/>
              </a:prstGeom>
              <a:noFill/>
              <a:ln/>
            </p:spPr>
            <p:txBody>
              <a:bodyPr wrap="square" lIns="0" tIns="0" rIns="0" bIns="0" rtlCol="0" anchor="ctr"/>
              <a:lstStyle/>
              <a:p>
                <a:pPr marL="0" indent="0" algn="ctr">
                  <a:buNone/>
                </a:pPr>
                <a:r>
                  <a:rPr lang="en-US" sz="1350" b="1" dirty="0">
                    <a:solidFill>
                      <a:srgbClr val="73000A"/>
                    </a:solidFill>
                    <a:latin typeface="Calibri" pitchFamily="34" charset="0"/>
                    <a:ea typeface="Calibri" pitchFamily="34" charset="-122"/>
                    <a:cs typeface="Calibri" pitchFamily="34" charset="-120"/>
                  </a:rPr>
                  <a:t>Two </a:t>
                </a:r>
                <a14:m>
                  <m:oMath xmlns:m="http://schemas.openxmlformats.org/officeDocument/2006/math">
                    <m:r>
                      <a:rPr lang="en-US" sz="1350" b="1" i="1" smtClean="0">
                        <a:solidFill>
                          <a:srgbClr val="73000A"/>
                        </a:solidFill>
                        <a:latin typeface="Cambria Math" panose="02040503050406030204" pitchFamily="18" charset="0"/>
                        <a:ea typeface="Cambria Math" panose="02040503050406030204" pitchFamily="18" charset="0"/>
                        <a:cs typeface="Calibri" pitchFamily="34" charset="-120"/>
                      </a:rPr>
                      <m:t>≈</m:t>
                    </m:r>
                  </m:oMath>
                </a14:m>
                <a:r>
                  <a:rPr lang="en-US" sz="1350" b="1" dirty="0">
                    <a:solidFill>
                      <a:srgbClr val="73000A"/>
                    </a:solidFill>
                    <a:latin typeface="Calibri" pitchFamily="34" charset="0"/>
                    <a:ea typeface="Calibri" pitchFamily="34" charset="-122"/>
                    <a:cs typeface="Calibri" pitchFamily="34" charset="-120"/>
                  </a:rPr>
                  <a:t>52.8 MeV e⁻</a:t>
                </a:r>
                <a:endParaRPr lang="en-US" sz="1350" dirty="0"/>
              </a:p>
            </p:txBody>
          </p:sp>
        </mc:Choice>
        <mc:Fallback>
          <p:sp>
            <p:nvSpPr>
              <p:cNvPr id="40" name="Text 38"/>
              <p:cNvSpPr txBox="1">
                <a:spLocks noRot="1" noChangeAspect="1" noMove="1" noResize="1" noEditPoints="1" noAdjustHandles="1" noChangeArrowheads="1" noChangeShapeType="1" noTextEdit="1"/>
              </p:cNvSpPr>
              <p:nvPr/>
            </p:nvSpPr>
            <p:spPr>
              <a:xfrm>
                <a:off x="10073639" y="2697480"/>
                <a:ext cx="1469801" cy="502920"/>
              </a:xfrm>
              <a:prstGeom prst="rect">
                <a:avLst/>
              </a:prstGeom>
              <a:blipFill>
                <a:blip r:embed="rId3"/>
                <a:stretch>
                  <a:fillRect l="-1695" r="-1695"/>
                </a:stretch>
              </a:blipFill>
              <a:ln/>
            </p:spPr>
            <p:txBody>
              <a:bodyPr/>
              <a:lstStyle/>
              <a:p>
                <a:r>
                  <a:rPr lang="en-US">
                    <a:noFill/>
                  </a:rPr>
                  <a:t> </a:t>
                </a:r>
              </a:p>
            </p:txBody>
          </p:sp>
        </mc:Fallback>
      </mc:AlternateContent>
      <p:sp>
        <p:nvSpPr>
          <p:cNvPr id="41" name="Text 39"/>
          <p:cNvSpPr txBox="1"/>
          <p:nvPr/>
        </p:nvSpPr>
        <p:spPr>
          <a:xfrm>
            <a:off x="8324088" y="3520440"/>
            <a:ext cx="3087624" cy="274320"/>
          </a:xfrm>
          <a:prstGeom prst="rect">
            <a:avLst/>
          </a:prstGeom>
          <a:noFill/>
          <a:ln/>
        </p:spPr>
        <p:txBody>
          <a:bodyPr wrap="square" lIns="0" tIns="0" rIns="0" bIns="0" rtlCol="0" anchor="ctr"/>
          <a:lstStyle/>
          <a:p>
            <a:pPr marL="0" indent="0">
              <a:buNone/>
            </a:pPr>
            <a:r>
              <a:rPr lang="en-US" sz="1200" b="1" dirty="0">
                <a:solidFill>
                  <a:srgbClr val="73000A"/>
                </a:solidFill>
                <a:latin typeface="Calibri" pitchFamily="34" charset="0"/>
                <a:ea typeface="Calibri" pitchFamily="34" charset="-122"/>
                <a:cs typeface="Calibri" pitchFamily="34" charset="-120"/>
              </a:rPr>
              <a:t>Why</a:t>
            </a:r>
            <a:endParaRPr lang="en-US" sz="1200" dirty="0"/>
          </a:p>
        </p:txBody>
      </p:sp>
      <p:sp>
        <p:nvSpPr>
          <p:cNvPr id="42" name="Text 40"/>
          <p:cNvSpPr txBox="1"/>
          <p:nvPr/>
        </p:nvSpPr>
        <p:spPr>
          <a:xfrm>
            <a:off x="8324088" y="3794760"/>
            <a:ext cx="3087624" cy="1920240"/>
          </a:xfrm>
          <a:prstGeom prst="rect">
            <a:avLst/>
          </a:prstGeom>
          <a:noFill/>
          <a:ln/>
        </p:spPr>
        <p:txBody>
          <a:bodyPr wrap="square" lIns="0" tIns="0" rIns="0" bIns="0" rtlCol="0" anchor="t"/>
          <a:lstStyle/>
          <a:p>
            <a:pPr marL="0" indent="0">
              <a:buNone/>
            </a:pPr>
            <a:r>
              <a:rPr lang="en-US" sz="1300" dirty="0">
                <a:solidFill>
                  <a:srgbClr val="333333"/>
                </a:solidFill>
                <a:latin typeface="Calibri" pitchFamily="34" charset="0"/>
                <a:ea typeface="Calibri" pitchFamily="34" charset="-122"/>
                <a:cs typeface="Calibri" pitchFamily="34" charset="-120"/>
              </a:rPr>
              <a:t>The standard trigger selects a single conversion electron. A dedicated trigger, built with the Mu2e trigger group, keeps two-electron events.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5486400" cy="365760"/>
          </a:xfrm>
          <a:prstGeom prst="rect">
            <a:avLst/>
          </a:prstGeom>
          <a:noFill/>
          <a:ln/>
        </p:spPr>
        <p:txBody>
          <a:bodyPr wrap="square" lIns="0" tIns="0" rIns="0" bIns="0" rtlCol="0" anchor="ctr"/>
          <a:lstStyle/>
          <a:p>
            <a:pPr marL="0" indent="0">
              <a:buNone/>
            </a:pPr>
            <a:r>
              <a:rPr lang="en-US" sz="1600" i="1" dirty="0">
                <a:solidFill>
                  <a:srgbClr val="73000A"/>
                </a:solidFill>
                <a:latin typeface="+mn-lt" pitchFamily="34" charset="0"/>
                <a:ea typeface="+mn-lt" pitchFamily="34" charset="-122"/>
                <a:cs typeface="+mn-lt" pitchFamily="34" charset="-120"/>
              </a:rPr>
              <a:t>Section 4 of 5</a:t>
            </a:r>
            <a:endParaRPr lang="en-US" sz="1600" dirty="0">
              <a:solidFill>
                <a:srgbClr val="73000A"/>
              </a:solidFill>
            </a:endParaRPr>
          </a:p>
        </p:txBody>
      </p:sp>
      <p:sp>
        <p:nvSpPr>
          <p:cNvPr id="3" name="Section title"/>
          <p:cNvSpPr txBox="1"/>
          <p:nvPr/>
        </p:nvSpPr>
        <p:spPr>
          <a:xfrm>
            <a:off x="548640" y="685800"/>
            <a:ext cx="11064240" cy="548640"/>
          </a:xfrm>
          <a:prstGeom prst="rect">
            <a:avLst/>
          </a:prstGeom>
          <a:noFill/>
          <a:ln/>
        </p:spPr>
        <p:txBody>
          <a:bodyPr wrap="square" lIns="0" tIns="0" rIns="0" bIns="0" rtlCol="0" anchor="ctr"/>
          <a:lstStyle/>
          <a:p>
            <a:pPr marL="0" indent="0">
              <a:buNone/>
            </a:pPr>
            <a:r>
              <a:rPr lang="en-US" sz="3200" b="1" dirty="0">
                <a:solidFill>
                  <a:schemeClr val="tx1"/>
                </a:solidFill>
                <a:latin typeface="+mj-lt" pitchFamily="34" charset="0"/>
                <a:ea typeface="+mj-lt" pitchFamily="34" charset="-122"/>
                <a:cs typeface="+mj-lt" pitchFamily="34" charset="-120"/>
              </a:rPr>
              <a:t>Initial Investigation</a:t>
            </a:r>
            <a:endParaRPr lang="en-US" sz="3200" dirty="0"/>
          </a:p>
        </p:txBody>
      </p:sp>
      <p:sp>
        <p:nvSpPr>
          <p:cNvPr id="4" name="Shape 2"/>
          <p:cNvSpPr/>
          <p:nvPr/>
        </p:nvSpPr>
        <p:spPr>
          <a:xfrm>
            <a:off x="685800" y="1591056"/>
            <a:ext cx="603504" cy="603504"/>
          </a:xfrm>
          <a:prstGeom prst="ellipse">
            <a:avLst/>
          </a:prstGeom>
          <a:solidFill>
            <a:schemeClr val="bg2"/>
          </a:solidFill>
          <a:ln/>
        </p:spPr>
        <p:txBody>
          <a:bodyPr/>
          <a:lstStyle/>
          <a:p>
            <a:endParaRPr lang="en-US"/>
          </a:p>
        </p:txBody>
      </p:sp>
      <p:sp>
        <p:nvSpPr>
          <p:cNvPr id="5" name="Text 3"/>
          <p:cNvSpPr txBox="1"/>
          <p:nvPr/>
        </p:nvSpPr>
        <p:spPr>
          <a:xfrm>
            <a:off x="685800" y="1591056"/>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1</a:t>
            </a:r>
            <a:endParaRPr lang="en-US" sz="2200" dirty="0"/>
          </a:p>
        </p:txBody>
      </p:sp>
      <p:sp>
        <p:nvSpPr>
          <p:cNvPr id="6" name="Text 4"/>
          <p:cNvSpPr txBox="1"/>
          <p:nvPr/>
        </p:nvSpPr>
        <p:spPr>
          <a:xfrm>
            <a:off x="1600200" y="1527048"/>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Theoretical Motivation</a:t>
            </a:r>
            <a:endParaRPr lang="en-US" sz="2200" dirty="0"/>
          </a:p>
        </p:txBody>
      </p:sp>
      <p:sp>
        <p:nvSpPr>
          <p:cNvPr id="7" name="Text 5"/>
          <p:cNvSpPr txBox="1"/>
          <p:nvPr/>
        </p:nvSpPr>
        <p:spPr>
          <a:xfrm>
            <a:off x="1600200" y="1911096"/>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Why search for charged lepton flavor violation?</a:t>
            </a:r>
            <a:endParaRPr lang="en-US" sz="1500" dirty="0"/>
          </a:p>
        </p:txBody>
      </p:sp>
      <p:sp>
        <p:nvSpPr>
          <p:cNvPr id="8" name="Text 6"/>
          <p:cNvSpPr txBox="1"/>
          <p:nvPr/>
        </p:nvSpPr>
        <p:spPr>
          <a:xfrm>
            <a:off x="9875520" y="1591056"/>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3–11</a:t>
            </a:r>
            <a:endParaRPr lang="en-US" sz="1400" dirty="0"/>
          </a:p>
        </p:txBody>
      </p:sp>
      <p:sp>
        <p:nvSpPr>
          <p:cNvPr id="9" name="Shape 7"/>
          <p:cNvSpPr/>
          <p:nvPr/>
        </p:nvSpPr>
        <p:spPr>
          <a:xfrm>
            <a:off x="685800" y="2615184"/>
            <a:ext cx="603504" cy="603504"/>
          </a:xfrm>
          <a:prstGeom prst="ellipse">
            <a:avLst/>
          </a:prstGeom>
          <a:solidFill>
            <a:schemeClr val="bg2"/>
          </a:solidFill>
          <a:ln/>
        </p:spPr>
        <p:txBody>
          <a:bodyPr/>
          <a:lstStyle/>
          <a:p>
            <a:endParaRPr lang="en-US"/>
          </a:p>
        </p:txBody>
      </p:sp>
      <p:sp>
        <p:nvSpPr>
          <p:cNvPr id="10" name="Text 8"/>
          <p:cNvSpPr txBox="1"/>
          <p:nvPr/>
        </p:nvSpPr>
        <p:spPr>
          <a:xfrm>
            <a:off x="685800" y="2615184"/>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2</a:t>
            </a:r>
            <a:endParaRPr lang="en-US" sz="2200" dirty="0"/>
          </a:p>
        </p:txBody>
      </p:sp>
      <p:sp>
        <p:nvSpPr>
          <p:cNvPr id="11" name="Text 9"/>
          <p:cNvSpPr txBox="1"/>
          <p:nvPr/>
        </p:nvSpPr>
        <p:spPr>
          <a:xfrm>
            <a:off x="1600200" y="2551176"/>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The Mu2e Experiment</a:t>
            </a:r>
            <a:endParaRPr lang="en-US" sz="2200" dirty="0"/>
          </a:p>
        </p:txBody>
      </p:sp>
      <p:sp>
        <p:nvSpPr>
          <p:cNvPr id="12" name="Text 10"/>
          <p:cNvSpPr txBox="1"/>
          <p:nvPr/>
        </p:nvSpPr>
        <p:spPr>
          <a:xfrm>
            <a:off x="1600200" y="2935224"/>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How does Mu2e isolate a single conversion electron?</a:t>
            </a:r>
            <a:endParaRPr lang="en-US" sz="1500" dirty="0"/>
          </a:p>
        </p:txBody>
      </p:sp>
      <p:sp>
        <p:nvSpPr>
          <p:cNvPr id="13" name="Text 11"/>
          <p:cNvSpPr txBox="1"/>
          <p:nvPr/>
        </p:nvSpPr>
        <p:spPr>
          <a:xfrm>
            <a:off x="9875520" y="2615184"/>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12–20</a:t>
            </a:r>
            <a:endParaRPr lang="en-US" sz="1400" dirty="0"/>
          </a:p>
        </p:txBody>
      </p:sp>
      <p:sp>
        <p:nvSpPr>
          <p:cNvPr id="14" name="Shape 12"/>
          <p:cNvSpPr/>
          <p:nvPr/>
        </p:nvSpPr>
        <p:spPr>
          <a:xfrm>
            <a:off x="685800" y="3639312"/>
            <a:ext cx="603504" cy="603504"/>
          </a:xfrm>
          <a:prstGeom prst="ellipse">
            <a:avLst/>
          </a:prstGeom>
          <a:solidFill>
            <a:schemeClr val="bg2"/>
          </a:solidFill>
          <a:ln/>
        </p:spPr>
        <p:txBody>
          <a:bodyPr/>
          <a:lstStyle/>
          <a:p>
            <a:endParaRPr lang="en-US"/>
          </a:p>
        </p:txBody>
      </p:sp>
      <p:sp>
        <p:nvSpPr>
          <p:cNvPr id="15" name="Text 13"/>
          <p:cNvSpPr txBox="1"/>
          <p:nvPr/>
        </p:nvSpPr>
        <p:spPr>
          <a:xfrm>
            <a:off x="685800" y="3639312"/>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3</a:t>
            </a:r>
            <a:endParaRPr lang="en-US" sz="2200" dirty="0"/>
          </a:p>
        </p:txBody>
      </p:sp>
      <p:sp>
        <p:nvSpPr>
          <p:cNvPr id="16" name="Text 14"/>
          <p:cNvSpPr txBox="1"/>
          <p:nvPr/>
        </p:nvSpPr>
        <p:spPr>
          <a:xfrm>
            <a:off x="1600200" y="3575304"/>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Event Identification and Signal</a:t>
            </a:r>
            <a:endParaRPr lang="en-US" sz="2200" dirty="0"/>
          </a:p>
        </p:txBody>
      </p:sp>
      <p:sp>
        <p:nvSpPr>
          <p:cNvPr id="17" name="Text 15"/>
          <p:cNvSpPr txBox="1"/>
          <p:nvPr/>
        </p:nvSpPr>
        <p:spPr>
          <a:xfrm>
            <a:off x="1600200" y="3959352"/>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does μ⁻e⁻ → e⁻e⁻ look like in the detector?</a:t>
            </a:r>
            <a:endParaRPr lang="en-US" sz="1500" dirty="0"/>
          </a:p>
        </p:txBody>
      </p:sp>
      <p:sp>
        <p:nvSpPr>
          <p:cNvPr id="18" name="Text 16"/>
          <p:cNvSpPr txBox="1"/>
          <p:nvPr/>
        </p:nvSpPr>
        <p:spPr>
          <a:xfrm>
            <a:off x="9875520" y="3639312"/>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21–26</a:t>
            </a:r>
            <a:endParaRPr lang="en-US" sz="1400" dirty="0"/>
          </a:p>
        </p:txBody>
      </p:sp>
      <p:sp>
        <p:nvSpPr>
          <p:cNvPr id="19" name="current"/>
          <p:cNvSpPr/>
          <p:nvPr/>
        </p:nvSpPr>
        <p:spPr>
          <a:xfrm>
            <a:off x="457200" y="4507992"/>
            <a:ext cx="11274552" cy="914400"/>
          </a:xfrm>
          <a:prstGeom prst="roundRect">
            <a:avLst>
              <a:gd name="adj" fmla="val 12000"/>
            </a:avLst>
          </a:prstGeom>
          <a:solidFill>
            <a:srgbClr val="73000A"/>
          </a:solidFill>
          <a:ln/>
        </p:spPr>
        <p:txBody>
          <a:bodyPr/>
          <a:lstStyle/>
          <a:p>
            <a:endParaRPr lang="en-US"/>
          </a:p>
        </p:txBody>
      </p:sp>
      <p:sp>
        <p:nvSpPr>
          <p:cNvPr id="20" name="Shape 18"/>
          <p:cNvSpPr/>
          <p:nvPr/>
        </p:nvSpPr>
        <p:spPr>
          <a:xfrm>
            <a:off x="685800" y="4663440"/>
            <a:ext cx="603504" cy="603504"/>
          </a:xfrm>
          <a:prstGeom prst="ellipse">
            <a:avLst/>
          </a:prstGeom>
          <a:solidFill>
            <a:schemeClr val="bg1"/>
          </a:solidFill>
          <a:ln/>
        </p:spPr>
        <p:txBody>
          <a:bodyPr/>
          <a:lstStyle/>
          <a:p>
            <a:endParaRPr lang="en-US"/>
          </a:p>
        </p:txBody>
      </p:sp>
      <p:sp>
        <p:nvSpPr>
          <p:cNvPr id="21" name="Text 19"/>
          <p:cNvSpPr txBox="1"/>
          <p:nvPr/>
        </p:nvSpPr>
        <p:spPr>
          <a:xfrm>
            <a:off x="685800" y="4663440"/>
            <a:ext cx="603504" cy="603504"/>
          </a:xfrm>
          <a:prstGeom prst="rect">
            <a:avLst/>
          </a:prstGeom>
          <a:noFill/>
          <a:ln/>
        </p:spPr>
        <p:txBody>
          <a:bodyPr wrap="square" lIns="0" tIns="0" rIns="0" bIns="0" rtlCol="0" anchor="ctr"/>
          <a:lstStyle/>
          <a:p>
            <a:pPr marL="0" indent="0" algn="ctr">
              <a:buNone/>
            </a:pPr>
            <a:r>
              <a:rPr lang="en-US" sz="2200" b="1" dirty="0">
                <a:solidFill>
                  <a:srgbClr val="73000A"/>
                </a:solidFill>
                <a:latin typeface="+mj-lt" pitchFamily="34" charset="0"/>
                <a:ea typeface="+mj-lt" pitchFamily="34" charset="-122"/>
                <a:cs typeface="+mj-lt" pitchFamily="34" charset="-120"/>
              </a:rPr>
              <a:t>4</a:t>
            </a:r>
            <a:endParaRPr lang="en-US" sz="2200" dirty="0">
              <a:solidFill>
                <a:srgbClr val="73000A"/>
              </a:solidFill>
            </a:endParaRPr>
          </a:p>
        </p:txBody>
      </p:sp>
      <p:sp>
        <p:nvSpPr>
          <p:cNvPr id="22" name="Text 20"/>
          <p:cNvSpPr txBox="1"/>
          <p:nvPr/>
        </p:nvSpPr>
        <p:spPr>
          <a:xfrm>
            <a:off x="1600200" y="4599432"/>
            <a:ext cx="7863840" cy="384048"/>
          </a:xfrm>
          <a:prstGeom prst="rect">
            <a:avLst/>
          </a:prstGeom>
          <a:noFill/>
          <a:ln/>
        </p:spPr>
        <p:txBody>
          <a:bodyPr wrap="square" lIns="0" tIns="0" rIns="0" bIns="0" rtlCol="0" anchor="ctr"/>
          <a:lstStyle/>
          <a:p>
            <a:pPr marL="0" indent="0">
              <a:buNone/>
            </a:pPr>
            <a:r>
              <a:rPr lang="en-US" sz="2200" b="1" dirty="0">
                <a:solidFill>
                  <a:schemeClr val="bg1"/>
                </a:solidFill>
                <a:latin typeface="+mj-lt" pitchFamily="34" charset="0"/>
                <a:ea typeface="+mj-lt" pitchFamily="34" charset="-122"/>
                <a:cs typeface="+mj-lt" pitchFamily="34" charset="-120"/>
              </a:rPr>
              <a:t>Initial Investigation</a:t>
            </a:r>
            <a:endParaRPr lang="en-US" sz="2200" dirty="0"/>
          </a:p>
        </p:txBody>
      </p:sp>
      <p:sp>
        <p:nvSpPr>
          <p:cNvPr id="23" name="Text 21"/>
          <p:cNvSpPr txBox="1"/>
          <p:nvPr/>
        </p:nvSpPr>
        <p:spPr>
          <a:xfrm>
            <a:off x="1600200" y="4983480"/>
            <a:ext cx="8138160" cy="347472"/>
          </a:xfrm>
          <a:prstGeom prst="rect">
            <a:avLst/>
          </a:prstGeom>
          <a:noFill/>
          <a:ln/>
        </p:spPr>
        <p:txBody>
          <a:bodyPr wrap="square" lIns="0" tIns="0" rIns="0" bIns="0" rtlCol="0" anchor="t"/>
          <a:lstStyle/>
          <a:p>
            <a:pPr marL="0" indent="0">
              <a:buNone/>
            </a:pPr>
            <a:r>
              <a:rPr lang="en-US" sz="1500" i="1" dirty="0">
                <a:solidFill>
                  <a:schemeClr val="bg1"/>
                </a:solidFill>
                <a:latin typeface="+mn-lt" pitchFamily="34" charset="0"/>
                <a:ea typeface="+mn-lt" pitchFamily="34" charset="-122"/>
                <a:cs typeface="+mn-lt" pitchFamily="34" charset="-120"/>
              </a:rPr>
              <a:t>What have I shown so far?</a:t>
            </a:r>
            <a:endParaRPr lang="en-US" sz="1500" dirty="0"/>
          </a:p>
        </p:txBody>
      </p:sp>
      <p:sp>
        <p:nvSpPr>
          <p:cNvPr id="24" name="Text 22"/>
          <p:cNvSpPr txBox="1"/>
          <p:nvPr/>
        </p:nvSpPr>
        <p:spPr>
          <a:xfrm>
            <a:off x="9875520" y="4663440"/>
            <a:ext cx="1645920" cy="603504"/>
          </a:xfrm>
          <a:prstGeom prst="rect">
            <a:avLst/>
          </a:prstGeom>
          <a:noFill/>
          <a:ln/>
        </p:spPr>
        <p:txBody>
          <a:bodyPr wrap="square" lIns="0" tIns="0" rIns="0" bIns="0" rtlCol="0" anchor="ctr"/>
          <a:lstStyle/>
          <a:p>
            <a:pPr marL="0" indent="0" algn="r">
              <a:buNone/>
            </a:pPr>
            <a:r>
              <a:rPr lang="en-US" sz="1400" i="1" dirty="0">
                <a:solidFill>
                  <a:schemeClr val="bg1"/>
                </a:solidFill>
                <a:latin typeface="+mn-lt" pitchFamily="34" charset="0"/>
                <a:ea typeface="+mn-lt" pitchFamily="34" charset="-122"/>
                <a:cs typeface="+mn-lt" pitchFamily="34" charset="-120"/>
              </a:rPr>
              <a:t>Slides 27–35</a:t>
            </a:r>
            <a:endParaRPr lang="en-US" sz="1400" dirty="0"/>
          </a:p>
        </p:txBody>
      </p:sp>
      <p:sp>
        <p:nvSpPr>
          <p:cNvPr id="25" name="Shape 23"/>
          <p:cNvSpPr/>
          <p:nvPr/>
        </p:nvSpPr>
        <p:spPr>
          <a:xfrm>
            <a:off x="685800" y="5687568"/>
            <a:ext cx="603504" cy="603504"/>
          </a:xfrm>
          <a:prstGeom prst="ellipse">
            <a:avLst/>
          </a:prstGeom>
          <a:solidFill>
            <a:schemeClr val="bg2"/>
          </a:solidFill>
          <a:ln/>
        </p:spPr>
        <p:txBody>
          <a:bodyPr/>
          <a:lstStyle/>
          <a:p>
            <a:endParaRPr lang="en-US"/>
          </a:p>
        </p:txBody>
      </p:sp>
      <p:sp>
        <p:nvSpPr>
          <p:cNvPr id="26" name="Text 24"/>
          <p:cNvSpPr txBox="1"/>
          <p:nvPr/>
        </p:nvSpPr>
        <p:spPr>
          <a:xfrm>
            <a:off x="685800" y="5687568"/>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5</a:t>
            </a:r>
            <a:endParaRPr lang="en-US" sz="2200" dirty="0"/>
          </a:p>
        </p:txBody>
      </p:sp>
      <p:sp>
        <p:nvSpPr>
          <p:cNvPr id="27" name="Text 25"/>
          <p:cNvSpPr txBox="1"/>
          <p:nvPr/>
        </p:nvSpPr>
        <p:spPr>
          <a:xfrm>
            <a:off x="1600200" y="5623560"/>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Goals and Deliverables</a:t>
            </a:r>
            <a:endParaRPr lang="en-US" sz="2200" dirty="0"/>
          </a:p>
        </p:txBody>
      </p:sp>
      <p:sp>
        <p:nvSpPr>
          <p:cNvPr id="28" name="Text 26"/>
          <p:cNvSpPr txBox="1"/>
          <p:nvPr/>
        </p:nvSpPr>
        <p:spPr>
          <a:xfrm>
            <a:off x="1600200" y="6007608"/>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will the dissertation deliver, and by when?</a:t>
            </a:r>
            <a:endParaRPr lang="en-US" sz="1500" dirty="0"/>
          </a:p>
        </p:txBody>
      </p:sp>
      <p:sp>
        <p:nvSpPr>
          <p:cNvPr id="29" name="Text 27"/>
          <p:cNvSpPr txBox="1"/>
          <p:nvPr/>
        </p:nvSpPr>
        <p:spPr>
          <a:xfrm>
            <a:off x="9875520" y="5687568"/>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36–43</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3200" b="1" dirty="0">
                <a:solidFill>
                  <a:srgbClr val="1A1A1A"/>
                </a:solidFill>
                <a:latin typeface="Calibri" pitchFamily="34" charset="0"/>
                <a:ea typeface="Calibri" pitchFamily="34" charset="-122"/>
                <a:cs typeface="Calibri" pitchFamily="34" charset="-120"/>
              </a:rPr>
              <a:t>Toy-Generator Creation and Validation</a:t>
            </a:r>
            <a:endParaRPr lang="en-US" sz="32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B2BCeEndpoint throws two back-to-back 52.8 MeV electrons from each stopped muon</a:t>
            </a:r>
            <a:endParaRPr lang="en-US" sz="1600" dirty="0"/>
          </a:p>
        </p:txBody>
      </p:sp>
      <p:sp>
        <p:nvSpPr>
          <p:cNvPr id="4" name="Shape 2"/>
          <p:cNvSpPr/>
          <p:nvPr/>
        </p:nvSpPr>
        <p:spPr>
          <a:xfrm>
            <a:off x="868680" y="1993392"/>
            <a:ext cx="0" cy="265176"/>
          </a:xfrm>
          <a:prstGeom prst="line">
            <a:avLst/>
          </a:prstGeom>
          <a:noFill/>
          <a:ln w="25400">
            <a:solidFill>
              <a:srgbClr val="73000A"/>
            </a:solidFill>
            <a:prstDash val="solid"/>
            <a:tailEnd type="triangle"/>
          </a:ln>
        </p:spPr>
        <p:txBody>
          <a:bodyPr/>
          <a:lstStyle/>
          <a:p>
            <a:endParaRPr lang="en-US"/>
          </a:p>
        </p:txBody>
      </p:sp>
      <p:sp>
        <p:nvSpPr>
          <p:cNvPr id="5" name="step 1"/>
          <p:cNvSpPr/>
          <p:nvPr/>
        </p:nvSpPr>
        <p:spPr>
          <a:xfrm>
            <a:off x="640080" y="1536192"/>
            <a:ext cx="457200" cy="457200"/>
          </a:xfrm>
          <a:prstGeom prst="ellipse">
            <a:avLst/>
          </a:prstGeom>
          <a:solidFill>
            <a:srgbClr val="73000A"/>
          </a:solidFill>
          <a:ln/>
        </p:spPr>
        <p:txBody>
          <a:bodyPr/>
          <a:lstStyle/>
          <a:p>
            <a:endParaRPr lang="en-US"/>
          </a:p>
        </p:txBody>
      </p:sp>
      <p:sp>
        <p:nvSpPr>
          <p:cNvPr id="6" name="Text 4"/>
          <p:cNvSpPr txBox="1"/>
          <p:nvPr/>
        </p:nvSpPr>
        <p:spPr>
          <a:xfrm>
            <a:off x="640080" y="153619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Shape 5"/>
          <p:cNvSpPr/>
          <p:nvPr/>
        </p:nvSpPr>
        <p:spPr>
          <a:xfrm>
            <a:off x="1325880" y="1463040"/>
            <a:ext cx="5120640" cy="603504"/>
          </a:xfrm>
          <a:prstGeom prst="roundRect">
            <a:avLst>
              <a:gd name="adj" fmla="val 12121"/>
            </a:avLst>
          </a:prstGeom>
          <a:solidFill>
            <a:srgbClr val="F4F0F0"/>
          </a:solidFill>
          <a:ln/>
        </p:spPr>
        <p:txBody>
          <a:bodyPr/>
          <a:lstStyle/>
          <a:p>
            <a:endParaRPr lang="en-US"/>
          </a:p>
        </p:txBody>
      </p:sp>
      <p:sp>
        <p:nvSpPr>
          <p:cNvPr id="8" name="Text 6"/>
          <p:cNvSpPr txBox="1"/>
          <p:nvPr/>
        </p:nvSpPr>
        <p:spPr>
          <a:xfrm>
            <a:off x="1508760" y="1517904"/>
            <a:ext cx="48463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Initialize the generator</a:t>
            </a:r>
            <a:endParaRPr lang="en-US" sz="1500" dirty="0"/>
          </a:p>
        </p:txBody>
      </p:sp>
      <p:sp>
        <p:nvSpPr>
          <p:cNvPr id="9" name="Text 7"/>
          <p:cNvSpPr txBox="1"/>
          <p:nvPr/>
        </p:nvSpPr>
        <p:spPr>
          <a:xfrm>
            <a:off x="1508760" y="1783080"/>
            <a:ext cx="4846320" cy="237744"/>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Custom art::EDProducer module, configured through FHiCL</a:t>
            </a:r>
            <a:endParaRPr lang="en-US" sz="1200" dirty="0"/>
          </a:p>
        </p:txBody>
      </p:sp>
      <p:sp>
        <p:nvSpPr>
          <p:cNvPr id="10" name="Shape 8"/>
          <p:cNvSpPr/>
          <p:nvPr/>
        </p:nvSpPr>
        <p:spPr>
          <a:xfrm>
            <a:off x="6446520" y="1764792"/>
            <a:ext cx="228600" cy="0"/>
          </a:xfrm>
          <a:prstGeom prst="line">
            <a:avLst/>
          </a:prstGeom>
          <a:noFill/>
          <a:ln w="15875">
            <a:solidFill>
              <a:srgbClr val="C9A5A8"/>
            </a:solidFill>
            <a:prstDash val="solid"/>
          </a:ln>
        </p:spPr>
        <p:txBody>
          <a:bodyPr/>
          <a:lstStyle/>
          <a:p>
            <a:endParaRPr lang="en-US"/>
          </a:p>
        </p:txBody>
      </p:sp>
      <p:sp>
        <p:nvSpPr>
          <p:cNvPr id="11" name="Shape 9"/>
          <p:cNvSpPr/>
          <p:nvPr/>
        </p:nvSpPr>
        <p:spPr>
          <a:xfrm>
            <a:off x="6675120" y="1463040"/>
            <a:ext cx="5074920" cy="603504"/>
          </a:xfrm>
          <a:prstGeom prst="roundRect">
            <a:avLst>
              <a:gd name="adj" fmla="val 12121"/>
            </a:avLst>
          </a:prstGeom>
          <a:solidFill>
            <a:srgbClr val="FFFFFF"/>
          </a:solidFill>
          <a:ln w="12700">
            <a:solidFill>
              <a:srgbClr val="D9C4C6"/>
            </a:solidFill>
            <a:prstDash val="solid"/>
          </a:ln>
        </p:spPr>
        <p:txBody>
          <a:bodyPr/>
          <a:lstStyle/>
          <a:p>
            <a:endParaRPr lang="en-US"/>
          </a:p>
        </p:txBody>
      </p:sp>
      <p:sp>
        <p:nvSpPr>
          <p:cNvPr id="12" name="Text 10"/>
          <p:cNvSpPr txBox="1"/>
          <p:nvPr/>
        </p:nvSpPr>
        <p:spPr>
          <a:xfrm>
            <a:off x="6858000" y="1463040"/>
            <a:ext cx="4709160" cy="603504"/>
          </a:xfrm>
          <a:prstGeom prst="rect">
            <a:avLst/>
          </a:prstGeom>
          <a:noFill/>
          <a:ln/>
        </p:spPr>
        <p:txBody>
          <a:bodyPr wrap="square" lIns="0" tIns="0" rIns="0" bIns="0" rtlCol="0" anchor="ctr"/>
          <a:lstStyle/>
          <a:p>
            <a:pPr marL="0" indent="0">
              <a:buNone/>
            </a:pPr>
            <a:r>
              <a:rPr lang="en-US" sz="1200" i="1" dirty="0">
                <a:solidFill>
                  <a:srgbClr val="4A4A4A"/>
                </a:solidFill>
                <a:latin typeface="Calibri" pitchFamily="34" charset="0"/>
                <a:ea typeface="Calibri" pitchFamily="34" charset="-122"/>
                <a:cs typeface="Calibri" pitchFamily="34" charset="-120"/>
              </a:rPr>
              <a:t>FHiCL inputs: stopping target material, particle PDG code, verbosity</a:t>
            </a:r>
            <a:endParaRPr lang="en-US" sz="1200" dirty="0"/>
          </a:p>
        </p:txBody>
      </p:sp>
      <p:sp>
        <p:nvSpPr>
          <p:cNvPr id="13" name="Shape 11"/>
          <p:cNvSpPr/>
          <p:nvPr/>
        </p:nvSpPr>
        <p:spPr>
          <a:xfrm>
            <a:off x="868680" y="2715768"/>
            <a:ext cx="0" cy="265176"/>
          </a:xfrm>
          <a:prstGeom prst="line">
            <a:avLst/>
          </a:prstGeom>
          <a:noFill/>
          <a:ln w="25400">
            <a:solidFill>
              <a:srgbClr val="73000A"/>
            </a:solidFill>
            <a:prstDash val="solid"/>
            <a:tailEnd type="triangle"/>
          </a:ln>
        </p:spPr>
        <p:txBody>
          <a:bodyPr/>
          <a:lstStyle/>
          <a:p>
            <a:endParaRPr lang="en-US"/>
          </a:p>
        </p:txBody>
      </p:sp>
      <p:sp>
        <p:nvSpPr>
          <p:cNvPr id="14" name="step 2"/>
          <p:cNvSpPr/>
          <p:nvPr/>
        </p:nvSpPr>
        <p:spPr>
          <a:xfrm>
            <a:off x="640080" y="2258568"/>
            <a:ext cx="457200" cy="457200"/>
          </a:xfrm>
          <a:prstGeom prst="ellipse">
            <a:avLst/>
          </a:prstGeom>
          <a:solidFill>
            <a:srgbClr val="73000A"/>
          </a:solidFill>
          <a:ln/>
        </p:spPr>
        <p:txBody>
          <a:bodyPr/>
          <a:lstStyle/>
          <a:p>
            <a:endParaRPr lang="en-US"/>
          </a:p>
        </p:txBody>
      </p:sp>
      <p:sp>
        <p:nvSpPr>
          <p:cNvPr id="15" name="Text 13"/>
          <p:cNvSpPr txBox="1"/>
          <p:nvPr/>
        </p:nvSpPr>
        <p:spPr>
          <a:xfrm>
            <a:off x="640080" y="22585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hape 14"/>
          <p:cNvSpPr/>
          <p:nvPr/>
        </p:nvSpPr>
        <p:spPr>
          <a:xfrm>
            <a:off x="1325880" y="2185416"/>
            <a:ext cx="5120640" cy="603504"/>
          </a:xfrm>
          <a:prstGeom prst="roundRect">
            <a:avLst>
              <a:gd name="adj" fmla="val 12121"/>
            </a:avLst>
          </a:prstGeom>
          <a:solidFill>
            <a:srgbClr val="F4F0F0"/>
          </a:solidFill>
          <a:ln/>
        </p:spPr>
        <p:txBody>
          <a:bodyPr/>
          <a:lstStyle/>
          <a:p>
            <a:endParaRPr lang="en-US"/>
          </a:p>
        </p:txBody>
      </p:sp>
      <p:sp>
        <p:nvSpPr>
          <p:cNvPr id="17" name="Text 15"/>
          <p:cNvSpPr txBox="1"/>
          <p:nvPr/>
        </p:nvSpPr>
        <p:spPr>
          <a:xfrm>
            <a:off x="1508760" y="2240280"/>
            <a:ext cx="48463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Select a parent muon</a:t>
            </a:r>
            <a:endParaRPr lang="en-US" sz="1500" dirty="0"/>
          </a:p>
        </p:txBody>
      </p:sp>
      <p:sp>
        <p:nvSpPr>
          <p:cNvPr id="18" name="Text 16"/>
          <p:cNvSpPr txBox="1"/>
          <p:nvPr/>
        </p:nvSpPr>
        <p:spPr>
          <a:xfrm>
            <a:off x="1508760" y="2505456"/>
            <a:ext cx="4846320" cy="237744"/>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Draw one μ⁻ stopped in the Al target</a:t>
            </a:r>
            <a:endParaRPr lang="en-US" sz="1200" dirty="0"/>
          </a:p>
        </p:txBody>
      </p:sp>
      <p:sp>
        <p:nvSpPr>
          <p:cNvPr id="19" name="Shape 17"/>
          <p:cNvSpPr/>
          <p:nvPr/>
        </p:nvSpPr>
        <p:spPr>
          <a:xfrm>
            <a:off x="6446520" y="2487168"/>
            <a:ext cx="228600" cy="0"/>
          </a:xfrm>
          <a:prstGeom prst="line">
            <a:avLst/>
          </a:prstGeom>
          <a:noFill/>
          <a:ln w="15875">
            <a:solidFill>
              <a:srgbClr val="C9A5A8"/>
            </a:solidFill>
            <a:prstDash val="solid"/>
          </a:ln>
        </p:spPr>
        <p:txBody>
          <a:bodyPr/>
          <a:lstStyle/>
          <a:p>
            <a:endParaRPr lang="en-US"/>
          </a:p>
        </p:txBody>
      </p:sp>
      <p:sp>
        <p:nvSpPr>
          <p:cNvPr id="20" name="Shape 18"/>
          <p:cNvSpPr/>
          <p:nvPr/>
        </p:nvSpPr>
        <p:spPr>
          <a:xfrm>
            <a:off x="6675120" y="2185416"/>
            <a:ext cx="5074920" cy="603504"/>
          </a:xfrm>
          <a:prstGeom prst="roundRect">
            <a:avLst>
              <a:gd name="adj" fmla="val 12121"/>
            </a:avLst>
          </a:prstGeom>
          <a:solidFill>
            <a:srgbClr val="FFFFFF"/>
          </a:solidFill>
          <a:ln w="12700">
            <a:solidFill>
              <a:srgbClr val="D9C4C6"/>
            </a:solidFill>
            <a:prstDash val="solid"/>
          </a:ln>
        </p:spPr>
        <p:txBody>
          <a:bodyPr/>
          <a:lstStyle/>
          <a:p>
            <a:endParaRPr lang="en-US"/>
          </a:p>
        </p:txBody>
      </p:sp>
      <p:sp>
        <p:nvSpPr>
          <p:cNvPr id="21" name="Text 19"/>
          <p:cNvSpPr txBox="1"/>
          <p:nvPr/>
        </p:nvSpPr>
        <p:spPr>
          <a:xfrm>
            <a:off x="6858000" y="2185416"/>
            <a:ext cx="4709160" cy="603504"/>
          </a:xfrm>
          <a:prstGeom prst="rect">
            <a:avLst/>
          </a:prstGeom>
          <a:noFill/>
          <a:ln/>
        </p:spPr>
        <p:txBody>
          <a:bodyPr wrap="square" lIns="0" tIns="0" rIns="0" bIns="0" rtlCol="0" anchor="ctr"/>
          <a:lstStyle/>
          <a:p>
            <a:pPr marL="0" indent="0">
              <a:buNone/>
            </a:pPr>
            <a:r>
              <a:rPr lang="en-US" sz="1200" i="1" dirty="0">
                <a:solidFill>
                  <a:srgbClr val="4A4A4A"/>
                </a:solidFill>
                <a:latin typeface="Calibri" pitchFamily="34" charset="0"/>
                <a:ea typeface="Calibri" pitchFamily="34" charset="-122"/>
                <a:cs typeface="Calibri" pitchFamily="34" charset="-120"/>
              </a:rPr>
              <a:t>Input: SimParticleCollection of stopped μ⁻</a:t>
            </a:r>
            <a:endParaRPr lang="en-US" sz="1200" dirty="0"/>
          </a:p>
        </p:txBody>
      </p:sp>
      <p:sp>
        <p:nvSpPr>
          <p:cNvPr id="22" name="Shape 20"/>
          <p:cNvSpPr/>
          <p:nvPr/>
        </p:nvSpPr>
        <p:spPr>
          <a:xfrm>
            <a:off x="868680" y="3438144"/>
            <a:ext cx="0" cy="265176"/>
          </a:xfrm>
          <a:prstGeom prst="line">
            <a:avLst/>
          </a:prstGeom>
          <a:noFill/>
          <a:ln w="25400">
            <a:solidFill>
              <a:srgbClr val="73000A"/>
            </a:solidFill>
            <a:prstDash val="solid"/>
            <a:tailEnd type="triangle"/>
          </a:ln>
        </p:spPr>
        <p:txBody>
          <a:bodyPr/>
          <a:lstStyle/>
          <a:p>
            <a:endParaRPr lang="en-US"/>
          </a:p>
        </p:txBody>
      </p:sp>
      <p:sp>
        <p:nvSpPr>
          <p:cNvPr id="23" name="step 3"/>
          <p:cNvSpPr/>
          <p:nvPr/>
        </p:nvSpPr>
        <p:spPr>
          <a:xfrm>
            <a:off x="640080" y="2980944"/>
            <a:ext cx="457200" cy="457200"/>
          </a:xfrm>
          <a:prstGeom prst="ellipse">
            <a:avLst/>
          </a:prstGeom>
          <a:solidFill>
            <a:srgbClr val="73000A"/>
          </a:solidFill>
          <a:ln/>
        </p:spPr>
        <p:txBody>
          <a:bodyPr/>
          <a:lstStyle/>
          <a:p>
            <a:endParaRPr lang="en-US"/>
          </a:p>
        </p:txBody>
      </p:sp>
      <p:sp>
        <p:nvSpPr>
          <p:cNvPr id="24" name="Text 22"/>
          <p:cNvSpPr txBox="1"/>
          <p:nvPr/>
        </p:nvSpPr>
        <p:spPr>
          <a:xfrm>
            <a:off x="640080" y="298094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hape 23"/>
          <p:cNvSpPr/>
          <p:nvPr/>
        </p:nvSpPr>
        <p:spPr>
          <a:xfrm>
            <a:off x="1325880" y="2907792"/>
            <a:ext cx="5120640" cy="603504"/>
          </a:xfrm>
          <a:prstGeom prst="roundRect">
            <a:avLst>
              <a:gd name="adj" fmla="val 12121"/>
            </a:avLst>
          </a:prstGeom>
          <a:solidFill>
            <a:srgbClr val="F4F0F0"/>
          </a:solidFill>
          <a:ln/>
        </p:spPr>
        <p:txBody>
          <a:bodyPr/>
          <a:lstStyle/>
          <a:p>
            <a:endParaRPr lang="en-US"/>
          </a:p>
        </p:txBody>
      </p:sp>
      <p:sp>
        <p:nvSpPr>
          <p:cNvPr id="26" name="Text 24"/>
          <p:cNvSpPr txBox="1"/>
          <p:nvPr/>
        </p:nvSpPr>
        <p:spPr>
          <a:xfrm>
            <a:off x="1508760" y="2962656"/>
            <a:ext cx="48463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Sample the decay time</a:t>
            </a:r>
            <a:endParaRPr lang="en-US" sz="1500" dirty="0"/>
          </a:p>
        </p:txBody>
      </p:sp>
      <p:sp>
        <p:nvSpPr>
          <p:cNvPr id="27" name="Text 25"/>
          <p:cNvSpPr txBox="1"/>
          <p:nvPr/>
        </p:nvSpPr>
        <p:spPr>
          <a:xfrm>
            <a:off x="1508760" y="3227832"/>
            <a:ext cx="4846320" cy="237744"/>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Exponential in the material-dependent lifetime τ</a:t>
            </a:r>
            <a:r>
              <a:rPr lang="en-US" sz="1200" baseline="-40000" dirty="0">
                <a:solidFill>
                  <a:srgbClr val="4A4A4A"/>
                </a:solidFill>
                <a:latin typeface="Calibri" pitchFamily="34" charset="0"/>
                <a:ea typeface="Calibri" pitchFamily="34" charset="-122"/>
                <a:cs typeface="Calibri" pitchFamily="34" charset="-120"/>
              </a:rPr>
              <a:t>μ</a:t>
            </a:r>
            <a:endParaRPr lang="en-US" sz="1200" dirty="0"/>
          </a:p>
        </p:txBody>
      </p:sp>
      <p:sp>
        <p:nvSpPr>
          <p:cNvPr id="28" name="Shape 26"/>
          <p:cNvSpPr/>
          <p:nvPr/>
        </p:nvSpPr>
        <p:spPr>
          <a:xfrm>
            <a:off x="6446520" y="3209544"/>
            <a:ext cx="228600" cy="0"/>
          </a:xfrm>
          <a:prstGeom prst="line">
            <a:avLst/>
          </a:prstGeom>
          <a:noFill/>
          <a:ln w="15875">
            <a:solidFill>
              <a:srgbClr val="C9A5A8"/>
            </a:solidFill>
            <a:prstDash val="solid"/>
          </a:ln>
        </p:spPr>
        <p:txBody>
          <a:bodyPr/>
          <a:lstStyle/>
          <a:p>
            <a:endParaRPr lang="en-US"/>
          </a:p>
        </p:txBody>
      </p:sp>
      <p:sp>
        <p:nvSpPr>
          <p:cNvPr id="29" name="Shape 27"/>
          <p:cNvSpPr/>
          <p:nvPr/>
        </p:nvSpPr>
        <p:spPr>
          <a:xfrm>
            <a:off x="6675120" y="2907792"/>
            <a:ext cx="5074920" cy="603504"/>
          </a:xfrm>
          <a:prstGeom prst="roundRect">
            <a:avLst>
              <a:gd name="adj" fmla="val 12121"/>
            </a:avLst>
          </a:prstGeom>
          <a:solidFill>
            <a:srgbClr val="FFFFFF"/>
          </a:solidFill>
          <a:ln w="19050">
            <a:solidFill>
              <a:srgbClr val="73000A"/>
            </a:solidFill>
            <a:prstDash val="solid"/>
          </a:ln>
        </p:spPr>
        <p:txBody>
          <a:bodyPr/>
          <a:lstStyle/>
          <a:p>
            <a:endParaRPr lang="en-US"/>
          </a:p>
        </p:txBody>
      </p:sp>
      <p:pic>
        <p:nvPicPr>
          <p:cNvPr id="30" name="Image 0" descr="equation"/>
          <p:cNvPicPr>
            <a:picLocks noChangeAspect="1"/>
          </p:cNvPicPr>
          <p:nvPr/>
        </p:nvPicPr>
        <p:blipFill>
          <a:blip r:embed="rId3"/>
          <a:stretch>
            <a:fillRect/>
          </a:stretch>
        </p:blipFill>
        <p:spPr>
          <a:xfrm>
            <a:off x="8396732" y="2953512"/>
            <a:ext cx="1631696" cy="512064"/>
          </a:xfrm>
          <a:prstGeom prst="rect">
            <a:avLst/>
          </a:prstGeom>
        </p:spPr>
      </p:pic>
      <p:sp>
        <p:nvSpPr>
          <p:cNvPr id="31" name="Shape 28"/>
          <p:cNvSpPr/>
          <p:nvPr/>
        </p:nvSpPr>
        <p:spPr>
          <a:xfrm>
            <a:off x="868680" y="4160520"/>
            <a:ext cx="0" cy="265176"/>
          </a:xfrm>
          <a:prstGeom prst="line">
            <a:avLst/>
          </a:prstGeom>
          <a:noFill/>
          <a:ln w="25400">
            <a:solidFill>
              <a:srgbClr val="73000A"/>
            </a:solidFill>
            <a:prstDash val="solid"/>
            <a:tailEnd type="triangle"/>
          </a:ln>
        </p:spPr>
        <p:txBody>
          <a:bodyPr/>
          <a:lstStyle/>
          <a:p>
            <a:endParaRPr lang="en-US"/>
          </a:p>
        </p:txBody>
      </p:sp>
      <p:sp>
        <p:nvSpPr>
          <p:cNvPr id="32" name="step 4"/>
          <p:cNvSpPr/>
          <p:nvPr/>
        </p:nvSpPr>
        <p:spPr>
          <a:xfrm>
            <a:off x="640080" y="3703320"/>
            <a:ext cx="457200" cy="457200"/>
          </a:xfrm>
          <a:prstGeom prst="ellipse">
            <a:avLst/>
          </a:prstGeom>
          <a:solidFill>
            <a:srgbClr val="73000A"/>
          </a:solidFill>
          <a:ln/>
        </p:spPr>
        <p:txBody>
          <a:bodyPr/>
          <a:lstStyle/>
          <a:p>
            <a:endParaRPr lang="en-US"/>
          </a:p>
        </p:txBody>
      </p:sp>
      <p:sp>
        <p:nvSpPr>
          <p:cNvPr id="33" name="Text 30"/>
          <p:cNvSpPr txBox="1"/>
          <p:nvPr/>
        </p:nvSpPr>
        <p:spPr>
          <a:xfrm>
            <a:off x="640080" y="37033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4" name="Shape 31"/>
          <p:cNvSpPr/>
          <p:nvPr/>
        </p:nvSpPr>
        <p:spPr>
          <a:xfrm>
            <a:off x="1325880" y="3630168"/>
            <a:ext cx="5120640" cy="603504"/>
          </a:xfrm>
          <a:prstGeom prst="roundRect">
            <a:avLst>
              <a:gd name="adj" fmla="val 12121"/>
            </a:avLst>
          </a:prstGeom>
          <a:solidFill>
            <a:srgbClr val="F4F0F0"/>
          </a:solidFill>
          <a:ln/>
        </p:spPr>
        <p:txBody>
          <a:bodyPr/>
          <a:lstStyle/>
          <a:p>
            <a:endParaRPr lang="en-US"/>
          </a:p>
        </p:txBody>
      </p:sp>
      <p:sp>
        <p:nvSpPr>
          <p:cNvPr id="35" name="Text 32"/>
          <p:cNvSpPr txBox="1"/>
          <p:nvPr/>
        </p:nvSpPr>
        <p:spPr>
          <a:xfrm>
            <a:off x="1508760" y="3685032"/>
            <a:ext cx="48463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Assign the electron energies</a:t>
            </a:r>
            <a:endParaRPr lang="en-US" sz="1500" dirty="0"/>
          </a:p>
        </p:txBody>
      </p:sp>
      <p:sp>
        <p:nvSpPr>
          <p:cNvPr id="36" name="Text 33"/>
          <p:cNvSpPr txBox="1"/>
          <p:nvPr/>
        </p:nvSpPr>
        <p:spPr>
          <a:xfrm>
            <a:off x="1508760" y="3950208"/>
            <a:ext cx="4846320" cy="237744"/>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Two daughter electrons share the muon rest energy</a:t>
            </a:r>
            <a:endParaRPr lang="en-US" sz="1200" dirty="0"/>
          </a:p>
        </p:txBody>
      </p:sp>
      <p:sp>
        <p:nvSpPr>
          <p:cNvPr id="37" name="Shape 34"/>
          <p:cNvSpPr/>
          <p:nvPr/>
        </p:nvSpPr>
        <p:spPr>
          <a:xfrm>
            <a:off x="6446520" y="3931920"/>
            <a:ext cx="228600" cy="0"/>
          </a:xfrm>
          <a:prstGeom prst="line">
            <a:avLst/>
          </a:prstGeom>
          <a:noFill/>
          <a:ln w="15875">
            <a:solidFill>
              <a:srgbClr val="C9A5A8"/>
            </a:solidFill>
            <a:prstDash val="solid"/>
          </a:ln>
        </p:spPr>
        <p:txBody>
          <a:bodyPr/>
          <a:lstStyle/>
          <a:p>
            <a:endParaRPr lang="en-US"/>
          </a:p>
        </p:txBody>
      </p:sp>
      <p:sp>
        <p:nvSpPr>
          <p:cNvPr id="38" name="Shape 35"/>
          <p:cNvSpPr/>
          <p:nvPr/>
        </p:nvSpPr>
        <p:spPr>
          <a:xfrm>
            <a:off x="6675120" y="3630168"/>
            <a:ext cx="5074920" cy="603504"/>
          </a:xfrm>
          <a:prstGeom prst="roundRect">
            <a:avLst>
              <a:gd name="adj" fmla="val 12121"/>
            </a:avLst>
          </a:prstGeom>
          <a:solidFill>
            <a:srgbClr val="FFFFFF"/>
          </a:solidFill>
          <a:ln w="19050">
            <a:solidFill>
              <a:srgbClr val="73000A"/>
            </a:solidFill>
            <a:prstDash val="solid"/>
          </a:ln>
        </p:spPr>
        <p:txBody>
          <a:bodyPr/>
          <a:lstStyle/>
          <a:p>
            <a:endParaRPr lang="en-US"/>
          </a:p>
        </p:txBody>
      </p:sp>
      <p:pic>
        <p:nvPicPr>
          <p:cNvPr id="39" name="Image 1" descr="equation"/>
          <p:cNvPicPr>
            <a:picLocks noChangeAspect="1"/>
          </p:cNvPicPr>
          <p:nvPr/>
        </p:nvPicPr>
        <p:blipFill>
          <a:blip r:embed="rId4"/>
          <a:stretch>
            <a:fillRect/>
          </a:stretch>
        </p:blipFill>
        <p:spPr>
          <a:xfrm>
            <a:off x="7863419" y="3691122"/>
            <a:ext cx="2698321" cy="481596"/>
          </a:xfrm>
          <a:prstGeom prst="rect">
            <a:avLst/>
          </a:prstGeom>
        </p:spPr>
      </p:pic>
      <p:sp>
        <p:nvSpPr>
          <p:cNvPr id="40" name="Shape 36"/>
          <p:cNvSpPr/>
          <p:nvPr/>
        </p:nvSpPr>
        <p:spPr>
          <a:xfrm>
            <a:off x="868680" y="4882896"/>
            <a:ext cx="0" cy="265176"/>
          </a:xfrm>
          <a:prstGeom prst="line">
            <a:avLst/>
          </a:prstGeom>
          <a:noFill/>
          <a:ln w="25400">
            <a:solidFill>
              <a:srgbClr val="73000A"/>
            </a:solidFill>
            <a:prstDash val="solid"/>
            <a:tailEnd type="triangle"/>
          </a:ln>
        </p:spPr>
        <p:txBody>
          <a:bodyPr/>
          <a:lstStyle/>
          <a:p>
            <a:endParaRPr lang="en-US"/>
          </a:p>
        </p:txBody>
      </p:sp>
      <p:sp>
        <p:nvSpPr>
          <p:cNvPr id="41" name="step 5"/>
          <p:cNvSpPr/>
          <p:nvPr/>
        </p:nvSpPr>
        <p:spPr>
          <a:xfrm>
            <a:off x="640080" y="4425696"/>
            <a:ext cx="457200" cy="457200"/>
          </a:xfrm>
          <a:prstGeom prst="ellipse">
            <a:avLst/>
          </a:prstGeom>
          <a:solidFill>
            <a:srgbClr val="73000A"/>
          </a:solidFill>
          <a:ln/>
        </p:spPr>
        <p:txBody>
          <a:bodyPr/>
          <a:lstStyle/>
          <a:p>
            <a:endParaRPr lang="en-US"/>
          </a:p>
        </p:txBody>
      </p:sp>
      <p:sp>
        <p:nvSpPr>
          <p:cNvPr id="42" name="Text 38"/>
          <p:cNvSpPr txBox="1"/>
          <p:nvPr/>
        </p:nvSpPr>
        <p:spPr>
          <a:xfrm>
            <a:off x="640080" y="442569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3" name="Shape 39"/>
          <p:cNvSpPr/>
          <p:nvPr/>
        </p:nvSpPr>
        <p:spPr>
          <a:xfrm>
            <a:off x="1325880" y="4352544"/>
            <a:ext cx="5120640" cy="603504"/>
          </a:xfrm>
          <a:prstGeom prst="roundRect">
            <a:avLst>
              <a:gd name="adj" fmla="val 12121"/>
            </a:avLst>
          </a:prstGeom>
          <a:solidFill>
            <a:srgbClr val="F4F0F0"/>
          </a:solidFill>
          <a:ln/>
        </p:spPr>
        <p:txBody>
          <a:bodyPr/>
          <a:lstStyle/>
          <a:p>
            <a:endParaRPr lang="en-US"/>
          </a:p>
        </p:txBody>
      </p:sp>
      <p:sp>
        <p:nvSpPr>
          <p:cNvPr id="44" name="Text 40"/>
          <p:cNvSpPr txBox="1"/>
          <p:nvPr/>
        </p:nvSpPr>
        <p:spPr>
          <a:xfrm>
            <a:off x="1508760" y="4407408"/>
            <a:ext cx="48463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Throw the momenta</a:t>
            </a:r>
            <a:endParaRPr lang="en-US" sz="1500" dirty="0"/>
          </a:p>
        </p:txBody>
      </p:sp>
      <p:sp>
        <p:nvSpPr>
          <p:cNvPr id="45" name="Text 41"/>
          <p:cNvSpPr txBox="1"/>
          <p:nvPr/>
        </p:nvSpPr>
        <p:spPr>
          <a:xfrm>
            <a:off x="1508760" y="4672584"/>
            <a:ext cx="4846320" cy="237744"/>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Direction n̂ drawn uniformly from the unit sphere</a:t>
            </a:r>
            <a:endParaRPr lang="en-US" sz="1200" dirty="0"/>
          </a:p>
        </p:txBody>
      </p:sp>
      <p:sp>
        <p:nvSpPr>
          <p:cNvPr id="46" name="Shape 42"/>
          <p:cNvSpPr/>
          <p:nvPr/>
        </p:nvSpPr>
        <p:spPr>
          <a:xfrm>
            <a:off x="6446520" y="4654296"/>
            <a:ext cx="228600" cy="0"/>
          </a:xfrm>
          <a:prstGeom prst="line">
            <a:avLst/>
          </a:prstGeom>
          <a:noFill/>
          <a:ln w="15875">
            <a:solidFill>
              <a:srgbClr val="C9A5A8"/>
            </a:solidFill>
            <a:prstDash val="solid"/>
          </a:ln>
        </p:spPr>
        <p:txBody>
          <a:bodyPr/>
          <a:lstStyle/>
          <a:p>
            <a:endParaRPr lang="en-US"/>
          </a:p>
        </p:txBody>
      </p:sp>
      <p:sp>
        <p:nvSpPr>
          <p:cNvPr id="47" name="Shape 43"/>
          <p:cNvSpPr/>
          <p:nvPr/>
        </p:nvSpPr>
        <p:spPr>
          <a:xfrm>
            <a:off x="6675120" y="4352544"/>
            <a:ext cx="5074920" cy="603504"/>
          </a:xfrm>
          <a:prstGeom prst="roundRect">
            <a:avLst>
              <a:gd name="adj" fmla="val 12121"/>
            </a:avLst>
          </a:prstGeom>
          <a:solidFill>
            <a:srgbClr val="FFFFFF"/>
          </a:solidFill>
          <a:ln w="19050">
            <a:solidFill>
              <a:srgbClr val="73000A"/>
            </a:solidFill>
            <a:prstDash val="solid"/>
          </a:ln>
        </p:spPr>
        <p:txBody>
          <a:bodyPr/>
          <a:lstStyle/>
          <a:p>
            <a:endParaRPr lang="en-US"/>
          </a:p>
        </p:txBody>
      </p:sp>
      <p:pic>
        <p:nvPicPr>
          <p:cNvPr id="48" name="Image 2" descr="equation"/>
          <p:cNvPicPr>
            <a:picLocks noChangeAspect="1"/>
          </p:cNvPicPr>
          <p:nvPr/>
        </p:nvPicPr>
        <p:blipFill>
          <a:blip r:embed="rId5"/>
          <a:stretch>
            <a:fillRect/>
          </a:stretch>
        </p:blipFill>
        <p:spPr>
          <a:xfrm>
            <a:off x="6963595" y="4452671"/>
            <a:ext cx="4497970" cy="403250"/>
          </a:xfrm>
          <a:prstGeom prst="rect">
            <a:avLst/>
          </a:prstGeom>
        </p:spPr>
      </p:pic>
      <p:sp>
        <p:nvSpPr>
          <p:cNvPr id="49" name="step 6"/>
          <p:cNvSpPr/>
          <p:nvPr/>
        </p:nvSpPr>
        <p:spPr>
          <a:xfrm>
            <a:off x="640080" y="5148072"/>
            <a:ext cx="457200" cy="457200"/>
          </a:xfrm>
          <a:prstGeom prst="ellipse">
            <a:avLst/>
          </a:prstGeom>
          <a:solidFill>
            <a:srgbClr val="73000A"/>
          </a:solidFill>
          <a:ln/>
        </p:spPr>
        <p:txBody>
          <a:bodyPr/>
          <a:lstStyle/>
          <a:p>
            <a:endParaRPr lang="en-US"/>
          </a:p>
        </p:txBody>
      </p:sp>
      <p:sp>
        <p:nvSpPr>
          <p:cNvPr id="50" name="Text 45"/>
          <p:cNvSpPr txBox="1"/>
          <p:nvPr/>
        </p:nvSpPr>
        <p:spPr>
          <a:xfrm>
            <a:off x="640080" y="51480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51" name="Shape 46"/>
          <p:cNvSpPr/>
          <p:nvPr/>
        </p:nvSpPr>
        <p:spPr>
          <a:xfrm>
            <a:off x="1325880" y="5074920"/>
            <a:ext cx="5120640" cy="603504"/>
          </a:xfrm>
          <a:prstGeom prst="roundRect">
            <a:avLst>
              <a:gd name="adj" fmla="val 12121"/>
            </a:avLst>
          </a:prstGeom>
          <a:solidFill>
            <a:srgbClr val="F4F0F0"/>
          </a:solidFill>
          <a:ln/>
        </p:spPr>
        <p:txBody>
          <a:bodyPr/>
          <a:lstStyle/>
          <a:p>
            <a:endParaRPr lang="en-US"/>
          </a:p>
        </p:txBody>
      </p:sp>
      <p:sp>
        <p:nvSpPr>
          <p:cNvPr id="52" name="Text 47"/>
          <p:cNvSpPr txBox="1"/>
          <p:nvPr/>
        </p:nvSpPr>
        <p:spPr>
          <a:xfrm>
            <a:off x="1508760" y="5129784"/>
            <a:ext cx="48463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Build four-vectors and store</a:t>
            </a:r>
            <a:endParaRPr lang="en-US" sz="1500" dirty="0"/>
          </a:p>
        </p:txBody>
      </p:sp>
      <p:sp>
        <p:nvSpPr>
          <p:cNvPr id="53" name="Text 48"/>
          <p:cNvSpPr txBox="1"/>
          <p:nvPr/>
        </p:nvSpPr>
        <p:spPr>
          <a:xfrm>
            <a:off x="1508760" y="5394960"/>
            <a:ext cx="4846320" cy="237744"/>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Saved with PDG, process code, parent muon, origin time</a:t>
            </a:r>
            <a:endParaRPr lang="en-US" sz="1200" dirty="0"/>
          </a:p>
        </p:txBody>
      </p:sp>
      <p:sp>
        <p:nvSpPr>
          <p:cNvPr id="54" name="Shape 49"/>
          <p:cNvSpPr/>
          <p:nvPr/>
        </p:nvSpPr>
        <p:spPr>
          <a:xfrm>
            <a:off x="6446520" y="5376672"/>
            <a:ext cx="228600" cy="0"/>
          </a:xfrm>
          <a:prstGeom prst="line">
            <a:avLst/>
          </a:prstGeom>
          <a:noFill/>
          <a:ln w="15875">
            <a:solidFill>
              <a:srgbClr val="C9A5A8"/>
            </a:solidFill>
            <a:prstDash val="solid"/>
          </a:ln>
        </p:spPr>
        <p:txBody>
          <a:bodyPr/>
          <a:lstStyle/>
          <a:p>
            <a:endParaRPr lang="en-US"/>
          </a:p>
        </p:txBody>
      </p:sp>
      <p:sp>
        <p:nvSpPr>
          <p:cNvPr id="55" name="Shape 50"/>
          <p:cNvSpPr/>
          <p:nvPr/>
        </p:nvSpPr>
        <p:spPr>
          <a:xfrm>
            <a:off x="6675120" y="5074920"/>
            <a:ext cx="5074920" cy="603504"/>
          </a:xfrm>
          <a:prstGeom prst="roundRect">
            <a:avLst>
              <a:gd name="adj" fmla="val 12121"/>
            </a:avLst>
          </a:prstGeom>
          <a:solidFill>
            <a:srgbClr val="FFFFFF"/>
          </a:solidFill>
          <a:ln w="19050">
            <a:solidFill>
              <a:srgbClr val="73000A"/>
            </a:solidFill>
            <a:prstDash val="solid"/>
          </a:ln>
        </p:spPr>
        <p:txBody>
          <a:bodyPr/>
          <a:lstStyle/>
          <a:p>
            <a:endParaRPr lang="en-US"/>
          </a:p>
        </p:txBody>
      </p:sp>
      <p:pic>
        <p:nvPicPr>
          <p:cNvPr id="56" name="Image 3" descr="equation"/>
          <p:cNvPicPr>
            <a:picLocks noChangeAspect="1"/>
          </p:cNvPicPr>
          <p:nvPr/>
        </p:nvPicPr>
        <p:blipFill>
          <a:blip r:embed="rId6"/>
          <a:stretch>
            <a:fillRect/>
          </a:stretch>
        </p:blipFill>
        <p:spPr>
          <a:xfrm>
            <a:off x="7050006" y="5201546"/>
            <a:ext cx="4325149" cy="350252"/>
          </a:xfrm>
          <a:prstGeom prst="rect">
            <a:avLst/>
          </a:prstGeom>
        </p:spPr>
      </p:pic>
      <p:sp>
        <p:nvSpPr>
          <p:cNvPr id="57" name="Shape 51"/>
          <p:cNvSpPr/>
          <p:nvPr/>
        </p:nvSpPr>
        <p:spPr>
          <a:xfrm>
            <a:off x="1325880" y="5779008"/>
            <a:ext cx="10424160" cy="329184"/>
          </a:xfrm>
          <a:prstGeom prst="roundRect">
            <a:avLst>
              <a:gd name="adj" fmla="val 50000"/>
            </a:avLst>
          </a:prstGeom>
          <a:solidFill>
            <a:srgbClr val="73000A"/>
          </a:solidFill>
          <a:ln/>
        </p:spPr>
        <p:txBody>
          <a:bodyPr/>
          <a:lstStyle/>
          <a:p>
            <a:endParaRPr lang="en-US"/>
          </a:p>
        </p:txBody>
      </p:sp>
      <p:sp>
        <p:nvSpPr>
          <p:cNvPr id="58" name="Text 52"/>
          <p:cNvSpPr txBox="1"/>
          <p:nvPr/>
        </p:nvSpPr>
        <p:spPr>
          <a:xfrm>
            <a:off x="1325880" y="5779008"/>
            <a:ext cx="1042416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Hand-off:   Geant4 Monte Carlo steps  →  Digitization  →  Reconstruction  →  Ntuple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3200" b="1" dirty="0">
                <a:solidFill>
                  <a:srgbClr val="1A1A1A"/>
                </a:solidFill>
                <a:latin typeface="Calibri" pitchFamily="34" charset="0"/>
                <a:ea typeface="Calibri" pitchFamily="34" charset="-122"/>
                <a:cs typeface="Calibri" pitchFamily="34" charset="-120"/>
              </a:rPr>
              <a:t>Toy-Generator Creation and Validation</a:t>
            </a:r>
            <a:endParaRPr lang="en-US" sz="32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Truth-level checks confirm each generator step behaves as intended</a:t>
            </a:r>
            <a:endParaRPr lang="en-US" sz="1600" dirty="0"/>
          </a:p>
        </p:txBody>
      </p:sp>
      <p:sp>
        <p:nvSpPr>
          <p:cNvPr id="4" name="Momentum check"/>
          <p:cNvSpPr/>
          <p:nvPr/>
        </p:nvSpPr>
        <p:spPr>
          <a:xfrm>
            <a:off x="548640" y="1463040"/>
            <a:ext cx="3566160" cy="4572000"/>
          </a:xfrm>
          <a:prstGeom prst="roundRect">
            <a:avLst>
              <a:gd name="adj" fmla="val 2564"/>
            </a:avLst>
          </a:prstGeom>
          <a:solidFill>
            <a:srgbClr val="F4F0F0"/>
          </a:solidFill>
          <a:ln/>
        </p:spPr>
        <p:txBody>
          <a:bodyPr/>
          <a:lstStyle/>
          <a:p>
            <a:endParaRPr lang="en-US"/>
          </a:p>
        </p:txBody>
      </p:sp>
      <p:sp>
        <p:nvSpPr>
          <p:cNvPr id="5" name="Text 3"/>
          <p:cNvSpPr txBox="1"/>
          <p:nvPr/>
        </p:nvSpPr>
        <p:spPr>
          <a:xfrm>
            <a:off x="731520" y="1572768"/>
            <a:ext cx="2103120" cy="36576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Momentum check</a:t>
            </a:r>
            <a:endParaRPr lang="en-US" sz="1700" dirty="0"/>
          </a:p>
        </p:txBody>
      </p:sp>
      <p:sp>
        <p:nvSpPr>
          <p:cNvPr id="11" name="Shape 9"/>
          <p:cNvSpPr/>
          <p:nvPr/>
        </p:nvSpPr>
        <p:spPr>
          <a:xfrm>
            <a:off x="731520" y="2029968"/>
            <a:ext cx="3200400" cy="2468880"/>
          </a:xfrm>
          <a:prstGeom prst="rect">
            <a:avLst/>
          </a:prstGeom>
          <a:solidFill>
            <a:srgbClr val="FFFFFF"/>
          </a:solidFill>
          <a:ln/>
        </p:spPr>
        <p:txBody>
          <a:bodyPr/>
          <a:lstStyle/>
          <a:p>
            <a:endParaRPr lang="en-US"/>
          </a:p>
        </p:txBody>
      </p:sp>
      <p:pic>
        <p:nvPicPr>
          <p:cNvPr id="12" name="Image 0" descr="Momentum check histogram"/>
          <p:cNvPicPr>
            <a:picLocks noChangeAspect="1"/>
          </p:cNvPicPr>
          <p:nvPr/>
        </p:nvPicPr>
        <p:blipFill>
          <a:blip r:embed="rId3"/>
          <a:stretch>
            <a:fillRect/>
          </a:stretch>
        </p:blipFill>
        <p:spPr>
          <a:xfrm>
            <a:off x="1056589" y="2075688"/>
            <a:ext cx="2550262" cy="2383422"/>
          </a:xfrm>
          <a:prstGeom prst="rect">
            <a:avLst/>
          </a:prstGeom>
        </p:spPr>
      </p:pic>
      <p:sp>
        <p:nvSpPr>
          <p:cNvPr id="13" name="Text 10"/>
          <p:cNvSpPr txBox="1"/>
          <p:nvPr/>
        </p:nvSpPr>
        <p:spPr>
          <a:xfrm>
            <a:off x="731520" y="4636008"/>
            <a:ext cx="3200400" cy="228600"/>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Expected</a:t>
            </a:r>
            <a:endParaRPr lang="en-US" sz="1100" dirty="0"/>
          </a:p>
        </p:txBody>
      </p:sp>
      <mc:AlternateContent xmlns:mc="http://schemas.openxmlformats.org/markup-compatibility/2006">
        <mc:Choice xmlns:a14="http://schemas.microsoft.com/office/drawing/2010/main" Requires="a14">
          <p:sp>
            <p:nvSpPr>
              <p:cNvPr id="14" name="Text 11"/>
              <p:cNvSpPr txBox="1"/>
              <p:nvPr/>
            </p:nvSpPr>
            <p:spPr>
              <a:xfrm>
                <a:off x="731520" y="4873752"/>
                <a:ext cx="3200400" cy="411480"/>
              </a:xfrm>
              <a:prstGeom prst="rect">
                <a:avLst/>
              </a:prstGeom>
              <a:noFill/>
              <a:ln/>
            </p:spPr>
            <p:txBody>
              <a:bodyPr wrap="square" lIns="0" tIns="0" rIns="0" bIns="0" rtlCol="0" anchor="t"/>
              <a:lstStyle/>
              <a:p>
                <a:pPr marL="0" indent="0">
                  <a:buNone/>
                </a:pPr>
                <a14:m>
                  <m:oMath xmlns:m="http://schemas.openxmlformats.org/officeDocument/2006/math">
                    <m:r>
                      <a:rPr lang="en-US" sz="1200" i="1" dirty="0" smtClean="0">
                        <a:solidFill>
                          <a:srgbClr val="333333"/>
                        </a:solidFill>
                        <a:latin typeface="Cambria Math" panose="02040503050406030204" pitchFamily="18" charset="0"/>
                        <a:ea typeface="Calibri" pitchFamily="34" charset="-122"/>
                        <a:cs typeface="Calibri" pitchFamily="34" charset="-120"/>
                      </a:rPr>
                      <m:t>|</m:t>
                    </m:r>
                    <m:r>
                      <a:rPr lang="en-US" sz="1200" i="1" dirty="0" smtClean="0">
                        <a:solidFill>
                          <a:srgbClr val="333333"/>
                        </a:solidFill>
                        <a:latin typeface="Cambria Math" panose="02040503050406030204" pitchFamily="18" charset="0"/>
                        <a:ea typeface="Calibri" pitchFamily="34" charset="-122"/>
                        <a:cs typeface="Calibri" pitchFamily="34" charset="-120"/>
                      </a:rPr>
                      <m:t>𝑝</m:t>
                    </m:r>
                    <m:r>
                      <a:rPr lang="en-US" sz="1200" i="1" dirty="0" smtClean="0">
                        <a:solidFill>
                          <a:srgbClr val="333333"/>
                        </a:solidFill>
                        <a:latin typeface="Cambria Math" panose="02040503050406030204" pitchFamily="18" charset="0"/>
                        <a:ea typeface="Calibri" pitchFamily="34" charset="-122"/>
                        <a:cs typeface="Calibri" pitchFamily="34" charset="-120"/>
                      </a:rPr>
                      <m:t>|≈52.8</m:t>
                    </m:r>
                  </m:oMath>
                </a14:m>
                <a:r>
                  <a:rPr lang="en-US" sz="1200" dirty="0">
                    <a:solidFill>
                      <a:srgbClr val="333333"/>
                    </a:solidFill>
                    <a:latin typeface="Calibri" pitchFamily="34" charset="0"/>
                    <a:ea typeface="Calibri" pitchFamily="34" charset="-122"/>
                    <a:cs typeface="Calibri" pitchFamily="34" charset="-120"/>
                  </a:rPr>
                  <a:t> MeV/c for every electron</a:t>
                </a:r>
                <a:endParaRPr lang="en-US" sz="1200" dirty="0"/>
              </a:p>
            </p:txBody>
          </p:sp>
        </mc:Choice>
        <mc:Fallback>
          <p:sp>
            <p:nvSpPr>
              <p:cNvPr id="14" name="Text 11"/>
              <p:cNvSpPr txBox="1">
                <a:spLocks noRot="1" noChangeAspect="1" noMove="1" noResize="1" noEditPoints="1" noAdjustHandles="1" noChangeArrowheads="1" noChangeShapeType="1" noTextEdit="1"/>
              </p:cNvSpPr>
              <p:nvPr/>
            </p:nvSpPr>
            <p:spPr>
              <a:xfrm>
                <a:off x="731520" y="4873752"/>
                <a:ext cx="3200400" cy="411480"/>
              </a:xfrm>
              <a:prstGeom prst="rect">
                <a:avLst/>
              </a:prstGeom>
              <a:blipFill>
                <a:blip r:embed="rId4"/>
                <a:stretch>
                  <a:fillRect l="-2372" t="-12121"/>
                </a:stretch>
              </a:blipFill>
              <a:ln/>
            </p:spPr>
            <p:txBody>
              <a:bodyPr/>
              <a:lstStyle/>
              <a:p>
                <a:r>
                  <a:rPr lang="en-US">
                    <a:noFill/>
                  </a:rPr>
                  <a:t> </a:t>
                </a:r>
              </a:p>
            </p:txBody>
          </p:sp>
        </mc:Fallback>
      </mc:AlternateContent>
      <p:sp>
        <p:nvSpPr>
          <p:cNvPr id="15" name="Text 12"/>
          <p:cNvSpPr txBox="1"/>
          <p:nvPr/>
        </p:nvSpPr>
        <p:spPr>
          <a:xfrm>
            <a:off x="731520" y="5294376"/>
            <a:ext cx="3200400" cy="228600"/>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Result</a:t>
            </a:r>
            <a:endParaRPr lang="en-US" sz="1100" dirty="0"/>
          </a:p>
        </p:txBody>
      </p:sp>
      <p:sp>
        <p:nvSpPr>
          <p:cNvPr id="16" name="Text 13"/>
          <p:cNvSpPr txBox="1"/>
          <p:nvPr/>
        </p:nvSpPr>
        <p:spPr>
          <a:xfrm>
            <a:off x="731520" y="5522976"/>
            <a:ext cx="3200400" cy="411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One sharp peak at 52.8 MeV/c: 200,000 tracks from 100,000 events</a:t>
            </a:r>
            <a:endParaRPr lang="en-US" sz="1200" dirty="0"/>
          </a:p>
        </p:txBody>
      </p:sp>
      <p:sp>
        <p:nvSpPr>
          <p:cNvPr id="17" name="Isotropy check"/>
          <p:cNvSpPr/>
          <p:nvPr/>
        </p:nvSpPr>
        <p:spPr>
          <a:xfrm>
            <a:off x="4407408" y="1463040"/>
            <a:ext cx="3566160" cy="4572000"/>
          </a:xfrm>
          <a:prstGeom prst="roundRect">
            <a:avLst>
              <a:gd name="adj" fmla="val 2564"/>
            </a:avLst>
          </a:prstGeom>
          <a:solidFill>
            <a:srgbClr val="F4F0F0"/>
          </a:solidFill>
          <a:ln/>
        </p:spPr>
        <p:txBody>
          <a:bodyPr/>
          <a:lstStyle/>
          <a:p>
            <a:endParaRPr lang="en-US"/>
          </a:p>
        </p:txBody>
      </p:sp>
      <p:sp>
        <p:nvSpPr>
          <p:cNvPr id="18" name="Text 15"/>
          <p:cNvSpPr txBox="1"/>
          <p:nvPr/>
        </p:nvSpPr>
        <p:spPr>
          <a:xfrm>
            <a:off x="4590288" y="1572768"/>
            <a:ext cx="2103120" cy="36576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Isotropy check</a:t>
            </a:r>
            <a:endParaRPr lang="en-US" sz="1700" dirty="0"/>
          </a:p>
        </p:txBody>
      </p:sp>
      <p:sp>
        <p:nvSpPr>
          <p:cNvPr id="22" name="Shape 19"/>
          <p:cNvSpPr/>
          <p:nvPr/>
        </p:nvSpPr>
        <p:spPr>
          <a:xfrm>
            <a:off x="4590288" y="2029968"/>
            <a:ext cx="3200400" cy="2468880"/>
          </a:xfrm>
          <a:prstGeom prst="rect">
            <a:avLst/>
          </a:prstGeom>
          <a:solidFill>
            <a:srgbClr val="FFFFFF"/>
          </a:solidFill>
          <a:ln/>
        </p:spPr>
        <p:txBody>
          <a:bodyPr/>
          <a:lstStyle/>
          <a:p>
            <a:endParaRPr lang="en-US"/>
          </a:p>
        </p:txBody>
      </p:sp>
      <p:pic>
        <p:nvPicPr>
          <p:cNvPr id="23" name="Image 1" descr="Isotropy check histogram"/>
          <p:cNvPicPr>
            <a:picLocks noChangeAspect="1"/>
          </p:cNvPicPr>
          <p:nvPr/>
        </p:nvPicPr>
        <p:blipFill>
          <a:blip r:embed="rId5"/>
          <a:stretch>
            <a:fillRect/>
          </a:stretch>
        </p:blipFill>
        <p:spPr>
          <a:xfrm>
            <a:off x="4962748" y="2075688"/>
            <a:ext cx="2455479" cy="2380242"/>
          </a:xfrm>
          <a:prstGeom prst="rect">
            <a:avLst/>
          </a:prstGeom>
        </p:spPr>
      </p:pic>
      <p:sp>
        <p:nvSpPr>
          <p:cNvPr id="24" name="Text 20"/>
          <p:cNvSpPr txBox="1"/>
          <p:nvPr/>
        </p:nvSpPr>
        <p:spPr>
          <a:xfrm>
            <a:off x="4590288" y="4636008"/>
            <a:ext cx="3200400" cy="228600"/>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Expected</a:t>
            </a:r>
            <a:endParaRPr lang="en-US" sz="1100" dirty="0"/>
          </a:p>
        </p:txBody>
      </p:sp>
      <mc:AlternateContent xmlns:mc="http://schemas.openxmlformats.org/markup-compatibility/2006">
        <mc:Choice xmlns:a14="http://schemas.microsoft.com/office/drawing/2010/main" Requires="a14">
          <p:sp>
            <p:nvSpPr>
              <p:cNvPr id="25" name="Text 21"/>
              <p:cNvSpPr txBox="1"/>
              <p:nvPr/>
            </p:nvSpPr>
            <p:spPr>
              <a:xfrm>
                <a:off x="4590288" y="4864608"/>
                <a:ext cx="3200400" cy="411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Flat in </a:t>
                </a:r>
                <a14:m>
                  <m:oMath xmlns:m="http://schemas.openxmlformats.org/officeDocument/2006/math">
                    <m:func>
                      <m:funcPr>
                        <m:ctrlPr>
                          <a:rPr lang="en-US" sz="1200" i="1" smtClean="0">
                            <a:solidFill>
                              <a:srgbClr val="333333"/>
                            </a:solidFill>
                            <a:latin typeface="Cambria Math" panose="02040503050406030204" pitchFamily="18" charset="0"/>
                            <a:ea typeface="Calibri" pitchFamily="34" charset="-122"/>
                            <a:cs typeface="Calibri" pitchFamily="34" charset="-120"/>
                          </a:rPr>
                        </m:ctrlPr>
                      </m:funcPr>
                      <m:fName>
                        <m:r>
                          <m:rPr>
                            <m:sty m:val="p"/>
                          </m:rPr>
                          <a:rPr lang="en-US" sz="1200" i="0" smtClean="0">
                            <a:solidFill>
                              <a:srgbClr val="333333"/>
                            </a:solidFill>
                            <a:latin typeface="Cambria Math" panose="02040503050406030204" pitchFamily="18" charset="0"/>
                            <a:ea typeface="Calibri" pitchFamily="34" charset="-122"/>
                            <a:cs typeface="Calibri" pitchFamily="34" charset="-120"/>
                          </a:rPr>
                          <m:t>cos</m:t>
                        </m:r>
                      </m:fName>
                      <m:e>
                        <m:r>
                          <a:rPr lang="en-US" sz="1200" i="1" smtClean="0">
                            <a:solidFill>
                              <a:srgbClr val="333333"/>
                            </a:solidFill>
                            <a:latin typeface="Cambria Math" panose="02040503050406030204" pitchFamily="18" charset="0"/>
                            <a:ea typeface="Cambria Math" panose="02040503050406030204" pitchFamily="18" charset="0"/>
                            <a:cs typeface="Calibri" pitchFamily="34" charset="-120"/>
                          </a:rPr>
                          <m:t>𝜃</m:t>
                        </m:r>
                      </m:e>
                    </m:func>
                    <m:r>
                      <a:rPr lang="en-US" sz="1200" b="0" i="1" smtClean="0">
                        <a:solidFill>
                          <a:srgbClr val="333333"/>
                        </a:solidFill>
                        <a:latin typeface="Cambria Math" panose="02040503050406030204" pitchFamily="18" charset="0"/>
                        <a:ea typeface="Calibri" pitchFamily="34" charset="-122"/>
                        <a:cs typeface="Calibri" pitchFamily="34" charset="-120"/>
                      </a:rPr>
                      <m:t> </m:t>
                    </m:r>
                  </m:oMath>
                </a14:m>
                <a:r>
                  <a:rPr lang="en-US" sz="1200" dirty="0">
                    <a:solidFill>
                      <a:srgbClr val="333333"/>
                    </a:solidFill>
                    <a:latin typeface="Calibri" pitchFamily="34" charset="0"/>
                    <a:ea typeface="Calibri" pitchFamily="34" charset="-122"/>
                    <a:cs typeface="Calibri" pitchFamily="34" charset="-120"/>
                  </a:rPr>
                  <a:t>and </a:t>
                </a:r>
                <a14:m>
                  <m:oMath xmlns:m="http://schemas.openxmlformats.org/officeDocument/2006/math">
                    <m:r>
                      <a:rPr lang="en-US" sz="1200" i="1" smtClean="0">
                        <a:solidFill>
                          <a:srgbClr val="333333"/>
                        </a:solidFill>
                        <a:latin typeface="Cambria Math" panose="02040503050406030204" pitchFamily="18" charset="0"/>
                        <a:ea typeface="Cambria Math" panose="02040503050406030204" pitchFamily="18" charset="0"/>
                        <a:cs typeface="Calibri" pitchFamily="34" charset="-120"/>
                      </a:rPr>
                      <m:t>𝜙</m:t>
                    </m:r>
                  </m:oMath>
                </a14:m>
                <a:r>
                  <a:rPr lang="en-US" sz="1200" dirty="0">
                    <a:solidFill>
                      <a:srgbClr val="333333"/>
                    </a:solidFill>
                    <a:latin typeface="Calibri" pitchFamily="34" charset="0"/>
                    <a:ea typeface="Calibri" pitchFamily="34" charset="-122"/>
                    <a:cs typeface="Calibri" pitchFamily="34" charset="-120"/>
                  </a:rPr>
                  <a:t>, since </a:t>
                </a:r>
                <a14:m>
                  <m:oMath xmlns:m="http://schemas.openxmlformats.org/officeDocument/2006/math">
                    <m:acc>
                      <m:accPr>
                        <m:chr m:val="̂"/>
                        <m:ctrlPr>
                          <a:rPr lang="en-US" sz="1200" i="1" smtClean="0">
                            <a:solidFill>
                              <a:srgbClr val="333333"/>
                            </a:solidFill>
                            <a:latin typeface="Cambria Math" panose="02040503050406030204" pitchFamily="18" charset="0"/>
                            <a:cs typeface="Calibri" pitchFamily="34" charset="-120"/>
                          </a:rPr>
                        </m:ctrlPr>
                      </m:accPr>
                      <m:e>
                        <m:r>
                          <a:rPr lang="en-US" sz="1200" b="0" i="1" smtClean="0">
                            <a:solidFill>
                              <a:srgbClr val="333333"/>
                            </a:solidFill>
                            <a:latin typeface="Cambria Math" panose="02040503050406030204" pitchFamily="18" charset="0"/>
                            <a:cs typeface="Calibri" pitchFamily="34" charset="-120"/>
                          </a:rPr>
                          <m:t>𝑛</m:t>
                        </m:r>
                      </m:e>
                    </m:acc>
                  </m:oMath>
                </a14:m>
                <a:r>
                  <a:rPr lang="en-US" sz="1200" dirty="0">
                    <a:solidFill>
                      <a:srgbClr val="333333"/>
                    </a:solidFill>
                    <a:latin typeface="Calibri" pitchFamily="34" charset="0"/>
                    <a:ea typeface="Calibri" pitchFamily="34" charset="-122"/>
                    <a:cs typeface="Calibri" pitchFamily="34" charset="-120"/>
                  </a:rPr>
                  <a:t> is uniform on the unit sphere</a:t>
                </a:r>
                <a:endParaRPr lang="en-US" sz="1200" dirty="0"/>
              </a:p>
            </p:txBody>
          </p:sp>
        </mc:Choice>
        <mc:Fallback>
          <p:sp>
            <p:nvSpPr>
              <p:cNvPr id="25" name="Text 21"/>
              <p:cNvSpPr txBox="1">
                <a:spLocks noRot="1" noChangeAspect="1" noMove="1" noResize="1" noEditPoints="1" noAdjustHandles="1" noChangeArrowheads="1" noChangeShapeType="1" noTextEdit="1"/>
              </p:cNvSpPr>
              <p:nvPr/>
            </p:nvSpPr>
            <p:spPr>
              <a:xfrm>
                <a:off x="4590288" y="4864608"/>
                <a:ext cx="3200400" cy="411480"/>
              </a:xfrm>
              <a:prstGeom prst="rect">
                <a:avLst/>
              </a:prstGeom>
              <a:blipFill>
                <a:blip r:embed="rId6"/>
                <a:stretch>
                  <a:fillRect l="-2767" t="-12121" b="-12121"/>
                </a:stretch>
              </a:blipFill>
              <a:ln/>
            </p:spPr>
            <p:txBody>
              <a:bodyPr/>
              <a:lstStyle/>
              <a:p>
                <a:r>
                  <a:rPr lang="en-US">
                    <a:noFill/>
                  </a:rPr>
                  <a:t> </a:t>
                </a:r>
              </a:p>
            </p:txBody>
          </p:sp>
        </mc:Fallback>
      </mc:AlternateContent>
      <p:sp>
        <p:nvSpPr>
          <p:cNvPr id="26" name="Text 22"/>
          <p:cNvSpPr txBox="1"/>
          <p:nvPr/>
        </p:nvSpPr>
        <p:spPr>
          <a:xfrm>
            <a:off x="4590288" y="5294376"/>
            <a:ext cx="3200400" cy="228600"/>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Result</a:t>
            </a:r>
            <a:endParaRPr lang="en-US" sz="1100" dirty="0"/>
          </a:p>
        </p:txBody>
      </p:sp>
      <p:sp>
        <p:nvSpPr>
          <p:cNvPr id="27" name="Text 23"/>
          <p:cNvSpPr txBox="1"/>
          <p:nvPr/>
        </p:nvSpPr>
        <p:spPr>
          <a:xfrm>
            <a:off x="4590288" y="5522976"/>
            <a:ext cx="3200400" cy="411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Uniform population across the full solid angle</a:t>
            </a:r>
            <a:endParaRPr lang="en-US" sz="1200" dirty="0"/>
          </a:p>
        </p:txBody>
      </p:sp>
      <p:sp>
        <p:nvSpPr>
          <p:cNvPr id="28" name="Back-to-back check"/>
          <p:cNvSpPr/>
          <p:nvPr/>
        </p:nvSpPr>
        <p:spPr>
          <a:xfrm>
            <a:off x="8266176" y="1463040"/>
            <a:ext cx="3566160" cy="4572000"/>
          </a:xfrm>
          <a:prstGeom prst="roundRect">
            <a:avLst>
              <a:gd name="adj" fmla="val 2564"/>
            </a:avLst>
          </a:prstGeom>
          <a:solidFill>
            <a:srgbClr val="F4F0F0"/>
          </a:solidFill>
          <a:ln/>
        </p:spPr>
        <p:txBody>
          <a:bodyPr/>
          <a:lstStyle/>
          <a:p>
            <a:endParaRPr lang="en-US"/>
          </a:p>
        </p:txBody>
      </p:sp>
      <p:sp>
        <p:nvSpPr>
          <p:cNvPr id="29" name="Text 25"/>
          <p:cNvSpPr txBox="1"/>
          <p:nvPr/>
        </p:nvSpPr>
        <p:spPr>
          <a:xfrm>
            <a:off x="8449056" y="1572768"/>
            <a:ext cx="2103120" cy="36576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Back-to-back check</a:t>
            </a:r>
            <a:endParaRPr lang="en-US" sz="1700" dirty="0"/>
          </a:p>
        </p:txBody>
      </p:sp>
      <p:sp>
        <p:nvSpPr>
          <p:cNvPr id="33" name="Shape 29"/>
          <p:cNvSpPr/>
          <p:nvPr/>
        </p:nvSpPr>
        <p:spPr>
          <a:xfrm>
            <a:off x="8449056" y="2029968"/>
            <a:ext cx="3200400" cy="2468880"/>
          </a:xfrm>
          <a:prstGeom prst="rect">
            <a:avLst/>
          </a:prstGeom>
          <a:solidFill>
            <a:srgbClr val="FFFFFF"/>
          </a:solidFill>
          <a:ln/>
        </p:spPr>
        <p:txBody>
          <a:bodyPr/>
          <a:lstStyle/>
          <a:p>
            <a:endParaRPr lang="en-US"/>
          </a:p>
        </p:txBody>
      </p:sp>
      <p:pic>
        <p:nvPicPr>
          <p:cNvPr id="34" name="Image 2" descr="Back-to-back check histogram"/>
          <p:cNvPicPr>
            <a:picLocks noChangeAspect="1"/>
          </p:cNvPicPr>
          <p:nvPr/>
        </p:nvPicPr>
        <p:blipFill>
          <a:blip r:embed="rId7"/>
          <a:stretch>
            <a:fillRect/>
          </a:stretch>
        </p:blipFill>
        <p:spPr>
          <a:xfrm>
            <a:off x="8704651" y="2075688"/>
            <a:ext cx="2689210" cy="2387692"/>
          </a:xfrm>
          <a:prstGeom prst="rect">
            <a:avLst/>
          </a:prstGeom>
        </p:spPr>
      </p:pic>
      <p:sp>
        <p:nvSpPr>
          <p:cNvPr id="35" name="Text 30"/>
          <p:cNvSpPr txBox="1"/>
          <p:nvPr/>
        </p:nvSpPr>
        <p:spPr>
          <a:xfrm>
            <a:off x="8449056" y="4636008"/>
            <a:ext cx="3200400" cy="228600"/>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Expected</a:t>
            </a:r>
            <a:endParaRPr lang="en-US" sz="1100" dirty="0"/>
          </a:p>
        </p:txBody>
      </p:sp>
      <mc:AlternateContent xmlns:mc="http://schemas.openxmlformats.org/markup-compatibility/2006">
        <mc:Choice xmlns:a14="http://schemas.microsoft.com/office/drawing/2010/main" Requires="a14">
          <p:sp>
            <p:nvSpPr>
              <p:cNvPr id="36" name="Text 31"/>
              <p:cNvSpPr txBox="1"/>
              <p:nvPr/>
            </p:nvSpPr>
            <p:spPr>
              <a:xfrm>
                <a:off x="8449056" y="4864608"/>
                <a:ext cx="3200400" cy="411480"/>
              </a:xfrm>
              <a:prstGeom prst="rect">
                <a:avLst/>
              </a:prstGeom>
              <a:noFill/>
              <a:ln/>
            </p:spPr>
            <p:txBody>
              <a:bodyPr wrap="square" lIns="0" tIns="0" rIns="0" bIns="0" rtlCol="0" anchor="t"/>
              <a:lstStyle/>
              <a:p>
                <a:pPr marL="0" indent="0">
                  <a:buNone/>
                </a:pPr>
                <a14:m>
                  <m:oMath xmlns:m="http://schemas.openxmlformats.org/officeDocument/2006/math">
                    <m:sSub>
                      <m:sSubPr>
                        <m:ctrlPr>
                          <a:rPr lang="en-US" sz="1200" b="0" i="1" dirty="0" smtClean="0">
                            <a:solidFill>
                              <a:srgbClr val="333333"/>
                            </a:solidFill>
                            <a:latin typeface="Cambria Math" panose="02040503050406030204" pitchFamily="18" charset="0"/>
                            <a:cs typeface="Calibri" pitchFamily="34" charset="-120"/>
                          </a:rPr>
                        </m:ctrlPr>
                      </m:sSubPr>
                      <m:e>
                        <m:r>
                          <a:rPr lang="en-US" sz="1200" b="0" i="1" dirty="0" smtClean="0">
                            <a:solidFill>
                              <a:srgbClr val="333333"/>
                            </a:solidFill>
                            <a:latin typeface="Cambria Math" panose="02040503050406030204" pitchFamily="18" charset="0"/>
                            <a:ea typeface="Cambria Math" panose="02040503050406030204" pitchFamily="18" charset="0"/>
                            <a:cs typeface="Calibri" pitchFamily="34" charset="-120"/>
                          </a:rPr>
                          <m:t>𝜃</m:t>
                        </m:r>
                      </m:e>
                      <m:sub>
                        <m:r>
                          <a:rPr lang="en-US" sz="1200" b="0" i="1" dirty="0" smtClean="0">
                            <a:solidFill>
                              <a:srgbClr val="333333"/>
                            </a:solidFill>
                            <a:latin typeface="Cambria Math" panose="02040503050406030204" pitchFamily="18" charset="0"/>
                            <a:cs typeface="Calibri" pitchFamily="34" charset="-120"/>
                          </a:rPr>
                          <m:t>2</m:t>
                        </m:r>
                      </m:sub>
                    </m:sSub>
                    <m:r>
                      <a:rPr lang="en-US" sz="1200" b="0" i="1" dirty="0" smtClean="0">
                        <a:solidFill>
                          <a:srgbClr val="333333"/>
                        </a:solidFill>
                        <a:latin typeface="Cambria Math" panose="02040503050406030204" pitchFamily="18" charset="0"/>
                        <a:ea typeface="Calibri" pitchFamily="34" charset="-122"/>
                        <a:cs typeface="Calibri" pitchFamily="34" charset="-120"/>
                      </a:rPr>
                      <m:t>=</m:t>
                    </m:r>
                    <m:r>
                      <a:rPr lang="en-US" sz="1200" i="1" dirty="0">
                        <a:solidFill>
                          <a:srgbClr val="333333"/>
                        </a:solidFill>
                        <a:latin typeface="Cambria Math" panose="02040503050406030204" pitchFamily="18" charset="0"/>
                        <a:ea typeface="Calibri" pitchFamily="34" charset="-122"/>
                        <a:cs typeface="Calibri" pitchFamily="34" charset="-120"/>
                      </a:rPr>
                      <m:t>𝜋</m:t>
                    </m:r>
                    <m:r>
                      <a:rPr lang="en-US" sz="1200" i="1" dirty="0">
                        <a:solidFill>
                          <a:srgbClr val="333333"/>
                        </a:solidFill>
                        <a:latin typeface="Cambria Math" panose="02040503050406030204" pitchFamily="18" charset="0"/>
                        <a:ea typeface="Calibri" pitchFamily="34" charset="-122"/>
                        <a:cs typeface="Calibri" pitchFamily="34" charset="-120"/>
                      </a:rPr>
                      <m:t>−</m:t>
                    </m:r>
                    <m:r>
                      <a:rPr lang="en-US" sz="1200" i="1" dirty="0">
                        <a:solidFill>
                          <a:srgbClr val="333333"/>
                        </a:solidFill>
                        <a:latin typeface="Cambria Math" panose="02040503050406030204" pitchFamily="18" charset="0"/>
                        <a:ea typeface="Calibri" pitchFamily="34" charset="-122"/>
                        <a:cs typeface="Calibri" pitchFamily="34" charset="-120"/>
                      </a:rPr>
                      <m:t>𝜃</m:t>
                    </m:r>
                    <m:r>
                      <a:rPr lang="en-US" sz="1200" i="1" baseline="-40000" dirty="0">
                        <a:solidFill>
                          <a:srgbClr val="333333"/>
                        </a:solidFill>
                        <a:latin typeface="Cambria Math" panose="02040503050406030204" pitchFamily="18" charset="0"/>
                        <a:ea typeface="Calibri" pitchFamily="34" charset="-122"/>
                        <a:cs typeface="Calibri" pitchFamily="34" charset="-120"/>
                      </a:rPr>
                      <m:t>1</m:t>
                    </m:r>
                  </m:oMath>
                </a14:m>
                <a:r>
                  <a:rPr lang="en-US" sz="1200" dirty="0">
                    <a:solidFill>
                      <a:srgbClr val="333333"/>
                    </a:solidFill>
                    <a:latin typeface="Calibri" pitchFamily="34" charset="0"/>
                    <a:ea typeface="Calibri" pitchFamily="34" charset="-122"/>
                    <a:cs typeface="Calibri" pitchFamily="34" charset="-120"/>
                  </a:rPr>
                  <a:t>, since </a:t>
                </a:r>
                <a14:m>
                  <m:oMath xmlns:m="http://schemas.openxmlformats.org/officeDocument/2006/math">
                    <m:r>
                      <a:rPr lang="en-US" sz="1200" i="1" dirty="0" smtClean="0">
                        <a:solidFill>
                          <a:srgbClr val="333333"/>
                        </a:solidFill>
                        <a:latin typeface="Cambria Math" panose="02040503050406030204" pitchFamily="18" charset="0"/>
                        <a:ea typeface="Calibri" pitchFamily="34" charset="-122"/>
                        <a:cs typeface="Calibri" pitchFamily="34" charset="-120"/>
                      </a:rPr>
                      <m:t>𝑝</m:t>
                    </m:r>
                    <m:r>
                      <a:rPr lang="en-US" sz="1200" i="1" baseline="-40000" dirty="0">
                        <a:solidFill>
                          <a:srgbClr val="333333"/>
                        </a:solidFill>
                        <a:latin typeface="Cambria Math" panose="02040503050406030204" pitchFamily="18" charset="0"/>
                        <a:ea typeface="Calibri" pitchFamily="34" charset="-122"/>
                        <a:cs typeface="Calibri" pitchFamily="34" charset="-120"/>
                      </a:rPr>
                      <m:t>1</m:t>
                    </m:r>
                    <m:r>
                      <a:rPr lang="en-US" sz="1200" i="1" dirty="0">
                        <a:solidFill>
                          <a:srgbClr val="333333"/>
                        </a:solidFill>
                        <a:latin typeface="Cambria Math" panose="02040503050406030204" pitchFamily="18" charset="0"/>
                        <a:ea typeface="Calibri" pitchFamily="34" charset="-122"/>
                        <a:cs typeface="Calibri" pitchFamily="34" charset="-120"/>
                      </a:rPr>
                      <m:t>=−</m:t>
                    </m:r>
                    <m:r>
                      <a:rPr lang="en-US" sz="1200" i="1" dirty="0">
                        <a:solidFill>
                          <a:srgbClr val="333333"/>
                        </a:solidFill>
                        <a:latin typeface="Cambria Math" panose="02040503050406030204" pitchFamily="18" charset="0"/>
                        <a:ea typeface="Calibri" pitchFamily="34" charset="-122"/>
                        <a:cs typeface="Calibri" pitchFamily="34" charset="-120"/>
                      </a:rPr>
                      <m:t>𝑝</m:t>
                    </m:r>
                    <m:r>
                      <a:rPr lang="en-US" sz="1200" i="1" baseline="-40000" dirty="0">
                        <a:solidFill>
                          <a:srgbClr val="333333"/>
                        </a:solidFill>
                        <a:latin typeface="Cambria Math" panose="02040503050406030204" pitchFamily="18" charset="0"/>
                        <a:ea typeface="Calibri" pitchFamily="34" charset="-122"/>
                        <a:cs typeface="Calibri" pitchFamily="34" charset="-120"/>
                      </a:rPr>
                      <m:t>2</m:t>
                    </m:r>
                  </m:oMath>
                </a14:m>
                <a:endParaRPr lang="en-US" sz="1200" dirty="0"/>
              </a:p>
            </p:txBody>
          </p:sp>
        </mc:Choice>
        <mc:Fallback>
          <p:sp>
            <p:nvSpPr>
              <p:cNvPr id="36" name="Text 31"/>
              <p:cNvSpPr txBox="1">
                <a:spLocks noRot="1" noChangeAspect="1" noMove="1" noResize="1" noEditPoints="1" noAdjustHandles="1" noChangeArrowheads="1" noChangeShapeType="1" noTextEdit="1"/>
              </p:cNvSpPr>
              <p:nvPr/>
            </p:nvSpPr>
            <p:spPr>
              <a:xfrm>
                <a:off x="8449056" y="4864608"/>
                <a:ext cx="3200400" cy="411480"/>
              </a:xfrm>
              <a:prstGeom prst="rect">
                <a:avLst/>
              </a:prstGeom>
              <a:blipFill>
                <a:blip r:embed="rId8"/>
                <a:stretch>
                  <a:fillRect l="-1976" t="-12121"/>
                </a:stretch>
              </a:blipFill>
              <a:ln/>
            </p:spPr>
            <p:txBody>
              <a:bodyPr/>
              <a:lstStyle/>
              <a:p>
                <a:r>
                  <a:rPr lang="en-US">
                    <a:noFill/>
                  </a:rPr>
                  <a:t> </a:t>
                </a:r>
              </a:p>
            </p:txBody>
          </p:sp>
        </mc:Fallback>
      </mc:AlternateContent>
      <p:sp>
        <p:nvSpPr>
          <p:cNvPr id="37" name="Text 32"/>
          <p:cNvSpPr txBox="1"/>
          <p:nvPr/>
        </p:nvSpPr>
        <p:spPr>
          <a:xfrm>
            <a:off x="8449056" y="5294376"/>
            <a:ext cx="3200400" cy="228600"/>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Result</a:t>
            </a:r>
            <a:endParaRPr lang="en-US" sz="1100" dirty="0"/>
          </a:p>
        </p:txBody>
      </p:sp>
      <p:sp>
        <p:nvSpPr>
          <p:cNvPr id="38" name="Text 33"/>
          <p:cNvSpPr txBox="1"/>
          <p:nvPr/>
        </p:nvSpPr>
        <p:spPr>
          <a:xfrm>
            <a:off x="8449056" y="5522976"/>
            <a:ext cx="3200400" cy="411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Every entry lies on one line of slope −1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3200" b="1" dirty="0">
                <a:solidFill>
                  <a:srgbClr val="1A1A1A"/>
                </a:solidFill>
                <a:latin typeface="Calibri" pitchFamily="34" charset="0"/>
                <a:ea typeface="Calibri" pitchFamily="34" charset="-122"/>
                <a:cs typeface="Calibri" pitchFamily="34" charset="-120"/>
              </a:rPr>
              <a:t>Analysis Products Produced from Muon Stops</a:t>
            </a:r>
            <a:endParaRPr lang="en-US" sz="32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The standard Mu2e workflow carries 100,000 generated events (from stops) to analyzable ntuples</a:t>
            </a:r>
            <a:endParaRPr lang="en-US" sz="1600" dirty="0"/>
          </a:p>
        </p:txBody>
      </p:sp>
      <p:sp>
        <p:nvSpPr>
          <p:cNvPr id="4" name="Muon stops"/>
          <p:cNvSpPr/>
          <p:nvPr/>
        </p:nvSpPr>
        <p:spPr>
          <a:xfrm>
            <a:off x="548640" y="1463040"/>
            <a:ext cx="2328062" cy="731520"/>
          </a:xfrm>
          <a:prstGeom prst="homePlate">
            <a:avLst/>
          </a:prstGeom>
          <a:solidFill>
            <a:srgbClr val="4A4A4A"/>
          </a:solidFill>
          <a:ln w="25400">
            <a:solidFill>
              <a:srgbClr val="FFFFFF"/>
            </a:solidFill>
            <a:prstDash val="solid"/>
          </a:ln>
        </p:spPr>
        <p:txBody>
          <a:bodyPr/>
          <a:lstStyle/>
          <a:p>
            <a:endParaRPr lang="en-US"/>
          </a:p>
        </p:txBody>
      </p:sp>
      <p:sp>
        <p:nvSpPr>
          <p:cNvPr id="5" name="Text 3"/>
          <p:cNvSpPr txBox="1"/>
          <p:nvPr/>
        </p:nvSpPr>
        <p:spPr>
          <a:xfrm>
            <a:off x="685800" y="1463040"/>
            <a:ext cx="1944014"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Muon stops</a:t>
            </a:r>
            <a:endParaRPr lang="en-US" sz="1500" dirty="0"/>
          </a:p>
        </p:txBody>
      </p:sp>
      <p:sp>
        <p:nvSpPr>
          <p:cNvPr id="6" name="Text 4"/>
          <p:cNvSpPr txBox="1"/>
          <p:nvPr/>
        </p:nvSpPr>
        <p:spPr>
          <a:xfrm>
            <a:off x="621792" y="2377440"/>
            <a:ext cx="2072030" cy="7315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Stopped μ⁻ in the aluminum target, read from the standard stops file</a:t>
            </a:r>
            <a:endParaRPr lang="en-US" sz="1200" dirty="0"/>
          </a:p>
        </p:txBody>
      </p:sp>
      <p:sp>
        <p:nvSpPr>
          <p:cNvPr id="7" name="Shape 5"/>
          <p:cNvSpPr/>
          <p:nvPr/>
        </p:nvSpPr>
        <p:spPr>
          <a:xfrm>
            <a:off x="621792" y="3200400"/>
            <a:ext cx="2072030" cy="608320"/>
          </a:xfrm>
          <a:prstGeom prst="roundRect">
            <a:avLst>
              <a:gd name="adj" fmla="val 14545"/>
            </a:avLst>
          </a:prstGeom>
          <a:solidFill>
            <a:srgbClr val="F4F0F0"/>
          </a:solidFill>
          <a:ln/>
        </p:spPr>
        <p:txBody>
          <a:bodyPr/>
          <a:lstStyle/>
          <a:p>
            <a:endParaRPr lang="en-US"/>
          </a:p>
        </p:txBody>
      </p:sp>
      <p:sp>
        <p:nvSpPr>
          <p:cNvPr id="8" name="Text 6"/>
          <p:cNvSpPr txBox="1"/>
          <p:nvPr/>
        </p:nvSpPr>
        <p:spPr>
          <a:xfrm>
            <a:off x="713232" y="3218688"/>
            <a:ext cx="1889150" cy="475488"/>
          </a:xfrm>
          <a:prstGeom prst="rect">
            <a:avLst/>
          </a:prstGeom>
          <a:noFill/>
          <a:ln/>
        </p:spPr>
        <p:txBody>
          <a:bodyPr wrap="square" lIns="0" tIns="0" rIns="0" bIns="0" rtlCol="0" anchor="ctr"/>
          <a:lstStyle/>
          <a:p>
            <a:pPr marL="0" indent="0">
              <a:buNone/>
            </a:pPr>
            <a:r>
              <a:rPr lang="en-US" sz="1000" b="1" dirty="0">
                <a:solidFill>
                  <a:srgbClr val="73000A"/>
                </a:solidFill>
                <a:latin typeface="Calibri" pitchFamily="34" charset="0"/>
                <a:ea typeface="Calibri" pitchFamily="34" charset="-122"/>
                <a:cs typeface="Calibri" pitchFamily="34" charset="-120"/>
              </a:rPr>
              <a:t>Output</a:t>
            </a:r>
            <a:endParaRPr lang="en-US" sz="1200" dirty="0"/>
          </a:p>
          <a:p>
            <a:pPr marL="0" indent="0">
              <a:buNone/>
            </a:pPr>
            <a:r>
              <a:rPr lang="en-US" sz="1100" dirty="0">
                <a:solidFill>
                  <a:srgbClr val="333333"/>
                </a:solidFill>
                <a:latin typeface="Calibri" pitchFamily="34" charset="0"/>
                <a:ea typeface="Calibri" pitchFamily="34" charset="-122"/>
                <a:cs typeface="Calibri" pitchFamily="34" charset="-120"/>
              </a:rPr>
              <a:t>Stopped μ⁻ </a:t>
            </a:r>
            <a:r>
              <a:rPr lang="en-US" sz="1100" dirty="0" err="1">
                <a:solidFill>
                  <a:srgbClr val="333333"/>
                </a:solidFill>
                <a:latin typeface="Calibri" pitchFamily="34" charset="0"/>
                <a:ea typeface="Calibri" pitchFamily="34" charset="-122"/>
                <a:cs typeface="Calibri" pitchFamily="34" charset="-120"/>
              </a:rPr>
              <a:t>SimParticleCollection</a:t>
            </a:r>
            <a:endParaRPr lang="en-US" sz="1200" dirty="0"/>
          </a:p>
        </p:txBody>
      </p:sp>
      <p:sp>
        <p:nvSpPr>
          <p:cNvPr id="9" name="Primary generation"/>
          <p:cNvSpPr/>
          <p:nvPr/>
        </p:nvSpPr>
        <p:spPr>
          <a:xfrm>
            <a:off x="2766974" y="1463040"/>
            <a:ext cx="2328062" cy="731520"/>
          </a:xfrm>
          <a:prstGeom prst="chevron">
            <a:avLst/>
          </a:prstGeom>
          <a:solidFill>
            <a:srgbClr val="73000A"/>
          </a:solidFill>
          <a:ln w="25400">
            <a:solidFill>
              <a:srgbClr val="FFFFFF"/>
            </a:solidFill>
            <a:prstDash val="solid"/>
          </a:ln>
        </p:spPr>
        <p:txBody>
          <a:bodyPr/>
          <a:lstStyle/>
          <a:p>
            <a:endParaRPr lang="en-US"/>
          </a:p>
        </p:txBody>
      </p:sp>
      <p:sp>
        <p:nvSpPr>
          <p:cNvPr id="10" name="Text 8"/>
          <p:cNvSpPr txBox="1"/>
          <p:nvPr/>
        </p:nvSpPr>
        <p:spPr>
          <a:xfrm>
            <a:off x="3087014" y="1463040"/>
            <a:ext cx="1806854"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Primary generation</a:t>
            </a:r>
            <a:endParaRPr lang="en-US" sz="1500" dirty="0"/>
          </a:p>
        </p:txBody>
      </p:sp>
      <p:sp>
        <p:nvSpPr>
          <p:cNvPr id="11" name="Text 9"/>
          <p:cNvSpPr txBox="1"/>
          <p:nvPr/>
        </p:nvSpPr>
        <p:spPr>
          <a:xfrm>
            <a:off x="2840126" y="2377440"/>
            <a:ext cx="2072030" cy="7315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Generator throws the electrons. Geant4 steps them through fields and material.</a:t>
            </a:r>
            <a:endParaRPr lang="en-US" sz="1200" dirty="0"/>
          </a:p>
        </p:txBody>
      </p:sp>
      <p:sp>
        <p:nvSpPr>
          <p:cNvPr id="12" name="Shape 10"/>
          <p:cNvSpPr/>
          <p:nvPr/>
        </p:nvSpPr>
        <p:spPr>
          <a:xfrm>
            <a:off x="2840126" y="3200399"/>
            <a:ext cx="2072030" cy="608321"/>
          </a:xfrm>
          <a:prstGeom prst="roundRect">
            <a:avLst>
              <a:gd name="adj" fmla="val 14545"/>
            </a:avLst>
          </a:prstGeom>
          <a:solidFill>
            <a:srgbClr val="F4F0F0"/>
          </a:solidFill>
          <a:ln/>
        </p:spPr>
        <p:txBody>
          <a:bodyPr/>
          <a:lstStyle/>
          <a:p>
            <a:endParaRPr lang="en-US"/>
          </a:p>
        </p:txBody>
      </p:sp>
      <p:sp>
        <p:nvSpPr>
          <p:cNvPr id="13" name="Text 11"/>
          <p:cNvSpPr txBox="1"/>
          <p:nvPr/>
        </p:nvSpPr>
        <p:spPr>
          <a:xfrm>
            <a:off x="2931566" y="3218688"/>
            <a:ext cx="1889150" cy="475488"/>
          </a:xfrm>
          <a:prstGeom prst="rect">
            <a:avLst/>
          </a:prstGeom>
          <a:noFill/>
          <a:ln/>
        </p:spPr>
        <p:txBody>
          <a:bodyPr wrap="square" lIns="0" tIns="0" rIns="0" bIns="0" rtlCol="0" anchor="ctr"/>
          <a:lstStyle/>
          <a:p>
            <a:pPr marL="0" indent="0">
              <a:buNone/>
            </a:pPr>
            <a:r>
              <a:rPr lang="en-US" sz="1000" b="1" dirty="0">
                <a:solidFill>
                  <a:srgbClr val="73000A"/>
                </a:solidFill>
                <a:latin typeface="Calibri" pitchFamily="34" charset="0"/>
                <a:ea typeface="Calibri" pitchFamily="34" charset="-122"/>
                <a:cs typeface="Calibri" pitchFamily="34" charset="-120"/>
              </a:rPr>
              <a:t>Output</a:t>
            </a:r>
            <a:endParaRPr lang="en-US" sz="1200" dirty="0"/>
          </a:p>
          <a:p>
            <a:pPr marL="0" indent="0">
              <a:buNone/>
            </a:pPr>
            <a:r>
              <a:rPr lang="en-US" sz="1100" dirty="0">
                <a:solidFill>
                  <a:srgbClr val="333333"/>
                </a:solidFill>
                <a:latin typeface="Calibri" pitchFamily="34" charset="0"/>
                <a:ea typeface="Calibri" pitchFamily="34" charset="-122"/>
                <a:cs typeface="Calibri" pitchFamily="34" charset="-120"/>
              </a:rPr>
              <a:t>SimParticles and step points </a:t>
            </a:r>
          </a:p>
          <a:p>
            <a:pPr marL="0" indent="0" algn="ctr">
              <a:buNone/>
            </a:pPr>
            <a:r>
              <a:rPr lang="en-US" sz="1100" dirty="0">
                <a:solidFill>
                  <a:srgbClr val="333333"/>
                </a:solidFill>
                <a:latin typeface="Calibri" pitchFamily="34" charset="0"/>
                <a:ea typeface="Calibri" pitchFamily="34" charset="-122"/>
                <a:cs typeface="Calibri" pitchFamily="34" charset="-120"/>
              </a:rPr>
              <a:t>(</a:t>
            </a:r>
            <a:r>
              <a:rPr lang="en-US" sz="1100" dirty="0" err="1">
                <a:solidFill>
                  <a:srgbClr val="333333"/>
                </a:solidFill>
                <a:latin typeface="Calibri" pitchFamily="34" charset="0"/>
                <a:ea typeface="Calibri" pitchFamily="34" charset="-122"/>
                <a:cs typeface="Calibri" pitchFamily="34" charset="-120"/>
              </a:rPr>
              <a:t>dts</a:t>
            </a:r>
            <a:r>
              <a:rPr lang="en-US" sz="1100" dirty="0">
                <a:solidFill>
                  <a:srgbClr val="333333"/>
                </a:solidFill>
                <a:latin typeface="Calibri" pitchFamily="34" charset="0"/>
                <a:ea typeface="Calibri" pitchFamily="34" charset="-122"/>
                <a:cs typeface="Calibri" pitchFamily="34" charset="-120"/>
              </a:rPr>
              <a:t>.__.art file)</a:t>
            </a:r>
            <a:endParaRPr lang="en-US" sz="1200" dirty="0"/>
          </a:p>
        </p:txBody>
      </p:sp>
      <p:sp>
        <p:nvSpPr>
          <p:cNvPr id="14" name="Digitization"/>
          <p:cNvSpPr/>
          <p:nvPr/>
        </p:nvSpPr>
        <p:spPr>
          <a:xfrm>
            <a:off x="4985309" y="1463040"/>
            <a:ext cx="2328062" cy="731520"/>
          </a:xfrm>
          <a:prstGeom prst="chevron">
            <a:avLst/>
          </a:prstGeom>
          <a:solidFill>
            <a:srgbClr val="73000A"/>
          </a:solidFill>
          <a:ln w="25400">
            <a:solidFill>
              <a:srgbClr val="FFFFFF"/>
            </a:solidFill>
            <a:prstDash val="solid"/>
          </a:ln>
        </p:spPr>
        <p:txBody>
          <a:bodyPr/>
          <a:lstStyle/>
          <a:p>
            <a:endParaRPr lang="en-US"/>
          </a:p>
        </p:txBody>
      </p:sp>
      <p:sp>
        <p:nvSpPr>
          <p:cNvPr id="15" name="Text 13"/>
          <p:cNvSpPr txBox="1"/>
          <p:nvPr/>
        </p:nvSpPr>
        <p:spPr>
          <a:xfrm>
            <a:off x="5305349" y="1463040"/>
            <a:ext cx="1806854"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Digitization</a:t>
            </a:r>
            <a:endParaRPr lang="en-US" sz="1500" dirty="0"/>
          </a:p>
        </p:txBody>
      </p:sp>
      <p:sp>
        <p:nvSpPr>
          <p:cNvPr id="16" name="Text 14"/>
          <p:cNvSpPr txBox="1"/>
          <p:nvPr/>
        </p:nvSpPr>
        <p:spPr>
          <a:xfrm>
            <a:off x="5058461" y="2377440"/>
            <a:ext cx="2072030" cy="7315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Digital twin converts straw and crystal hits into expected electronic signals</a:t>
            </a:r>
            <a:endParaRPr lang="en-US" sz="1200" dirty="0"/>
          </a:p>
        </p:txBody>
      </p:sp>
      <p:sp>
        <p:nvSpPr>
          <p:cNvPr id="17" name="Shape 15"/>
          <p:cNvSpPr/>
          <p:nvPr/>
        </p:nvSpPr>
        <p:spPr>
          <a:xfrm>
            <a:off x="5058461" y="3200400"/>
            <a:ext cx="2072030" cy="608320"/>
          </a:xfrm>
          <a:prstGeom prst="roundRect">
            <a:avLst>
              <a:gd name="adj" fmla="val 14545"/>
            </a:avLst>
          </a:prstGeom>
          <a:solidFill>
            <a:srgbClr val="F4F0F0"/>
          </a:solidFill>
          <a:ln/>
        </p:spPr>
        <p:txBody>
          <a:bodyPr/>
          <a:lstStyle/>
          <a:p>
            <a:endParaRPr lang="en-US"/>
          </a:p>
        </p:txBody>
      </p:sp>
      <p:sp>
        <p:nvSpPr>
          <p:cNvPr id="18" name="Text 16"/>
          <p:cNvSpPr txBox="1"/>
          <p:nvPr/>
        </p:nvSpPr>
        <p:spPr>
          <a:xfrm>
            <a:off x="5149901" y="3218688"/>
            <a:ext cx="1889150" cy="475488"/>
          </a:xfrm>
          <a:prstGeom prst="rect">
            <a:avLst/>
          </a:prstGeom>
          <a:noFill/>
          <a:ln/>
        </p:spPr>
        <p:txBody>
          <a:bodyPr wrap="square" lIns="0" tIns="0" rIns="0" bIns="0" rtlCol="0" anchor="ctr"/>
          <a:lstStyle/>
          <a:p>
            <a:pPr marL="0" indent="0">
              <a:buNone/>
            </a:pPr>
            <a:r>
              <a:rPr lang="en-US" sz="1000" b="1" dirty="0">
                <a:solidFill>
                  <a:srgbClr val="73000A"/>
                </a:solidFill>
                <a:latin typeface="Calibri" pitchFamily="34" charset="0"/>
                <a:ea typeface="Calibri" pitchFamily="34" charset="-122"/>
                <a:cs typeface="Calibri" pitchFamily="34" charset="-120"/>
              </a:rPr>
              <a:t>Output</a:t>
            </a:r>
            <a:endParaRPr lang="en-US" sz="1200" dirty="0"/>
          </a:p>
          <a:p>
            <a:pPr marL="0" indent="0">
              <a:buNone/>
            </a:pPr>
            <a:r>
              <a:rPr lang="en-US" sz="1100" dirty="0">
                <a:solidFill>
                  <a:srgbClr val="333333"/>
                </a:solidFill>
                <a:latin typeface="Calibri" pitchFamily="34" charset="0"/>
                <a:ea typeface="Calibri" pitchFamily="34" charset="-122"/>
                <a:cs typeface="Calibri" pitchFamily="34" charset="-120"/>
              </a:rPr>
              <a:t>Straw and calorimeter </a:t>
            </a:r>
            <a:r>
              <a:rPr lang="en-US" sz="1100" dirty="0" err="1">
                <a:solidFill>
                  <a:srgbClr val="333333"/>
                </a:solidFill>
                <a:latin typeface="Calibri" pitchFamily="34" charset="0"/>
                <a:ea typeface="Calibri" pitchFamily="34" charset="-122"/>
                <a:cs typeface="Calibri" pitchFamily="34" charset="-120"/>
              </a:rPr>
              <a:t>digis</a:t>
            </a:r>
            <a:r>
              <a:rPr lang="en-US" sz="1100" dirty="0">
                <a:solidFill>
                  <a:srgbClr val="333333"/>
                </a:solidFill>
                <a:latin typeface="Calibri" pitchFamily="34" charset="0"/>
                <a:ea typeface="Calibri" pitchFamily="34" charset="-122"/>
                <a:cs typeface="Calibri" pitchFamily="34" charset="-120"/>
              </a:rPr>
              <a:t> </a:t>
            </a:r>
          </a:p>
          <a:p>
            <a:pPr marL="0" indent="0" algn="ctr">
              <a:buNone/>
            </a:pPr>
            <a:r>
              <a:rPr lang="en-US" sz="1100" dirty="0">
                <a:solidFill>
                  <a:srgbClr val="333333"/>
                </a:solidFill>
                <a:latin typeface="Calibri" pitchFamily="34" charset="0"/>
                <a:ea typeface="Calibri" pitchFamily="34" charset="-122"/>
                <a:cs typeface="Calibri" pitchFamily="34" charset="-120"/>
              </a:rPr>
              <a:t>(</a:t>
            </a:r>
            <a:r>
              <a:rPr lang="en-US" sz="1100" dirty="0" err="1">
                <a:solidFill>
                  <a:srgbClr val="333333"/>
                </a:solidFill>
                <a:latin typeface="Calibri" pitchFamily="34" charset="0"/>
                <a:ea typeface="Calibri" pitchFamily="34" charset="-122"/>
                <a:cs typeface="Calibri" pitchFamily="34" charset="-120"/>
              </a:rPr>
              <a:t>digi</a:t>
            </a:r>
            <a:r>
              <a:rPr lang="en-US" sz="1100" dirty="0">
                <a:solidFill>
                  <a:srgbClr val="333333"/>
                </a:solidFill>
                <a:latin typeface="Calibri" pitchFamily="34" charset="0"/>
                <a:ea typeface="Calibri" pitchFamily="34" charset="-122"/>
                <a:cs typeface="Calibri" pitchFamily="34" charset="-120"/>
              </a:rPr>
              <a:t>.__.art file)</a:t>
            </a:r>
            <a:endParaRPr lang="en-US" sz="1200" dirty="0"/>
          </a:p>
        </p:txBody>
      </p:sp>
      <p:sp>
        <p:nvSpPr>
          <p:cNvPr id="19" name="Reconstruction"/>
          <p:cNvSpPr/>
          <p:nvPr/>
        </p:nvSpPr>
        <p:spPr>
          <a:xfrm>
            <a:off x="7203643" y="1463040"/>
            <a:ext cx="2328062" cy="731520"/>
          </a:xfrm>
          <a:prstGeom prst="chevron">
            <a:avLst/>
          </a:prstGeom>
          <a:solidFill>
            <a:srgbClr val="73000A"/>
          </a:solidFill>
          <a:ln w="25400">
            <a:solidFill>
              <a:srgbClr val="FFFFFF"/>
            </a:solidFill>
            <a:prstDash val="solid"/>
          </a:ln>
        </p:spPr>
        <p:txBody>
          <a:bodyPr/>
          <a:lstStyle/>
          <a:p>
            <a:endParaRPr lang="en-US"/>
          </a:p>
        </p:txBody>
      </p:sp>
      <p:sp>
        <p:nvSpPr>
          <p:cNvPr id="20" name="Text 18"/>
          <p:cNvSpPr txBox="1"/>
          <p:nvPr/>
        </p:nvSpPr>
        <p:spPr>
          <a:xfrm>
            <a:off x="7523683" y="1463040"/>
            <a:ext cx="1806854"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Reconstruction</a:t>
            </a:r>
            <a:endParaRPr lang="en-US" sz="1500" dirty="0"/>
          </a:p>
        </p:txBody>
      </p:sp>
      <p:sp>
        <p:nvSpPr>
          <p:cNvPr id="21" name="Text 19"/>
          <p:cNvSpPr txBox="1"/>
          <p:nvPr/>
        </p:nvSpPr>
        <p:spPr>
          <a:xfrm>
            <a:off x="7276795" y="2377440"/>
            <a:ext cx="2072030" cy="7315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Kinematic Kalman (</a:t>
            </a:r>
            <a:r>
              <a:rPr lang="en-US" sz="1200" dirty="0" err="1">
                <a:solidFill>
                  <a:srgbClr val="333333"/>
                </a:solidFill>
                <a:latin typeface="Calibri" pitchFamily="34" charset="0"/>
                <a:ea typeface="Calibri" pitchFamily="34" charset="-122"/>
                <a:cs typeface="Calibri" pitchFamily="34" charset="-120"/>
              </a:rPr>
              <a:t>KinKal</a:t>
            </a:r>
            <a:r>
              <a:rPr lang="en-US" sz="1200" dirty="0">
                <a:solidFill>
                  <a:srgbClr val="333333"/>
                </a:solidFill>
                <a:latin typeface="Calibri" pitchFamily="34" charset="0"/>
                <a:ea typeface="Calibri" pitchFamily="34" charset="-122"/>
                <a:cs typeface="Calibri" pitchFamily="34" charset="-120"/>
              </a:rPr>
              <a:t>) fit turns digis into helical track parameters</a:t>
            </a:r>
            <a:endParaRPr lang="en-US" sz="1200" dirty="0"/>
          </a:p>
        </p:txBody>
      </p:sp>
      <p:sp>
        <p:nvSpPr>
          <p:cNvPr id="22" name="Shape 20"/>
          <p:cNvSpPr/>
          <p:nvPr/>
        </p:nvSpPr>
        <p:spPr>
          <a:xfrm>
            <a:off x="7276795" y="3200399"/>
            <a:ext cx="2072030" cy="608305"/>
          </a:xfrm>
          <a:prstGeom prst="roundRect">
            <a:avLst>
              <a:gd name="adj" fmla="val 14545"/>
            </a:avLst>
          </a:prstGeom>
          <a:solidFill>
            <a:srgbClr val="F4F0F0"/>
          </a:solidFill>
          <a:ln/>
        </p:spPr>
        <p:txBody>
          <a:bodyPr/>
          <a:lstStyle/>
          <a:p>
            <a:endParaRPr lang="en-US"/>
          </a:p>
        </p:txBody>
      </p:sp>
      <p:sp>
        <p:nvSpPr>
          <p:cNvPr id="23" name="Text 21"/>
          <p:cNvSpPr txBox="1"/>
          <p:nvPr/>
        </p:nvSpPr>
        <p:spPr>
          <a:xfrm>
            <a:off x="7368235" y="3218688"/>
            <a:ext cx="1889150" cy="475488"/>
          </a:xfrm>
          <a:prstGeom prst="rect">
            <a:avLst/>
          </a:prstGeom>
          <a:noFill/>
          <a:ln/>
        </p:spPr>
        <p:txBody>
          <a:bodyPr wrap="square" lIns="0" tIns="0" rIns="0" bIns="0" rtlCol="0" anchor="ctr"/>
          <a:lstStyle/>
          <a:p>
            <a:pPr marL="0" indent="0">
              <a:buNone/>
            </a:pPr>
            <a:r>
              <a:rPr lang="en-US" sz="1000" b="1" dirty="0">
                <a:solidFill>
                  <a:srgbClr val="73000A"/>
                </a:solidFill>
                <a:latin typeface="Calibri" pitchFamily="34" charset="0"/>
                <a:ea typeface="Calibri" pitchFamily="34" charset="-122"/>
                <a:cs typeface="Calibri" pitchFamily="34" charset="-120"/>
              </a:rPr>
              <a:t>Output</a:t>
            </a:r>
            <a:endParaRPr lang="en-US" sz="1200" dirty="0"/>
          </a:p>
          <a:p>
            <a:pPr marL="0" indent="0">
              <a:buNone/>
            </a:pPr>
            <a:r>
              <a:rPr lang="en-US" sz="1100" dirty="0">
                <a:solidFill>
                  <a:srgbClr val="333333"/>
                </a:solidFill>
                <a:latin typeface="Calibri" pitchFamily="34" charset="0"/>
                <a:ea typeface="Calibri" pitchFamily="34" charset="-122"/>
                <a:cs typeface="Calibri" pitchFamily="34" charset="-120"/>
              </a:rPr>
              <a:t>Fitted tracks and relevant </a:t>
            </a:r>
            <a:r>
              <a:rPr lang="en-US" sz="1100" dirty="0" err="1">
                <a:solidFill>
                  <a:srgbClr val="333333"/>
                </a:solidFill>
                <a:latin typeface="Calibri" pitchFamily="34" charset="0"/>
                <a:ea typeface="Calibri" pitchFamily="34" charset="-122"/>
                <a:cs typeface="Calibri" pitchFamily="34" charset="-120"/>
              </a:rPr>
              <a:t>digis</a:t>
            </a:r>
            <a:endParaRPr lang="en-US" sz="1100" dirty="0">
              <a:solidFill>
                <a:srgbClr val="333333"/>
              </a:solidFill>
              <a:latin typeface="Calibri" pitchFamily="34" charset="0"/>
              <a:ea typeface="Calibri" pitchFamily="34" charset="-122"/>
              <a:cs typeface="Calibri" pitchFamily="34" charset="-120"/>
            </a:endParaRPr>
          </a:p>
          <a:p>
            <a:pPr marL="0" indent="0" algn="ctr">
              <a:buNone/>
            </a:pPr>
            <a:r>
              <a:rPr lang="en-US" sz="1100" dirty="0">
                <a:solidFill>
                  <a:srgbClr val="333333"/>
                </a:solidFill>
                <a:latin typeface="Calibri" pitchFamily="34" charset="0"/>
                <a:ea typeface="Calibri" pitchFamily="34" charset="-122"/>
                <a:cs typeface="Calibri" pitchFamily="34" charset="-120"/>
              </a:rPr>
              <a:t> (</a:t>
            </a:r>
            <a:r>
              <a:rPr lang="en-US" sz="1100" dirty="0" err="1">
                <a:solidFill>
                  <a:srgbClr val="333333"/>
                </a:solidFill>
                <a:latin typeface="Calibri" pitchFamily="34" charset="0"/>
                <a:ea typeface="Calibri" pitchFamily="34" charset="-122"/>
                <a:cs typeface="Calibri" pitchFamily="34" charset="-120"/>
              </a:rPr>
              <a:t>mcs</a:t>
            </a:r>
            <a:r>
              <a:rPr lang="en-US" sz="1100" dirty="0">
                <a:solidFill>
                  <a:srgbClr val="333333"/>
                </a:solidFill>
                <a:latin typeface="Calibri" pitchFamily="34" charset="0"/>
                <a:ea typeface="Calibri" pitchFamily="34" charset="-122"/>
                <a:cs typeface="Calibri" pitchFamily="34" charset="-120"/>
              </a:rPr>
              <a:t>.__.art)</a:t>
            </a:r>
            <a:endParaRPr lang="en-US" sz="1200" dirty="0"/>
          </a:p>
        </p:txBody>
      </p:sp>
      <p:sp>
        <p:nvSpPr>
          <p:cNvPr id="24" name="Ntuple"/>
          <p:cNvSpPr/>
          <p:nvPr/>
        </p:nvSpPr>
        <p:spPr>
          <a:xfrm>
            <a:off x="9421978" y="1463040"/>
            <a:ext cx="2328062" cy="731520"/>
          </a:xfrm>
          <a:prstGeom prst="chevron">
            <a:avLst/>
          </a:prstGeom>
          <a:solidFill>
            <a:srgbClr val="73000A"/>
          </a:solidFill>
          <a:ln w="25400">
            <a:solidFill>
              <a:srgbClr val="FFFFFF"/>
            </a:solidFill>
            <a:prstDash val="solid"/>
          </a:ln>
        </p:spPr>
        <p:txBody>
          <a:bodyPr/>
          <a:lstStyle/>
          <a:p>
            <a:endParaRPr lang="en-US"/>
          </a:p>
        </p:txBody>
      </p:sp>
      <p:sp>
        <p:nvSpPr>
          <p:cNvPr id="25" name="Text 23"/>
          <p:cNvSpPr txBox="1"/>
          <p:nvPr/>
        </p:nvSpPr>
        <p:spPr>
          <a:xfrm>
            <a:off x="9742018" y="1463040"/>
            <a:ext cx="1806854"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Ntuple</a:t>
            </a:r>
            <a:endParaRPr lang="en-US" sz="1500" dirty="0"/>
          </a:p>
        </p:txBody>
      </p:sp>
      <p:sp>
        <p:nvSpPr>
          <p:cNvPr id="26" name="Text 24"/>
          <p:cNvSpPr txBox="1"/>
          <p:nvPr/>
        </p:nvSpPr>
        <p:spPr>
          <a:xfrm>
            <a:off x="9495130" y="2377440"/>
            <a:ext cx="2072030" cy="7315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Packages analysis-relevant information from reconstruction with Monte Carlo truth for ROOT analysis</a:t>
            </a:r>
            <a:endParaRPr lang="en-US" sz="1200" dirty="0"/>
          </a:p>
        </p:txBody>
      </p:sp>
      <p:sp>
        <p:nvSpPr>
          <p:cNvPr id="27" name="Shape 25"/>
          <p:cNvSpPr/>
          <p:nvPr/>
        </p:nvSpPr>
        <p:spPr>
          <a:xfrm>
            <a:off x="9495130" y="3200399"/>
            <a:ext cx="2072030" cy="608293"/>
          </a:xfrm>
          <a:prstGeom prst="roundRect">
            <a:avLst>
              <a:gd name="adj" fmla="val 14545"/>
            </a:avLst>
          </a:prstGeom>
          <a:solidFill>
            <a:srgbClr val="F4F0F0"/>
          </a:solidFill>
          <a:ln/>
        </p:spPr>
        <p:txBody>
          <a:bodyPr/>
          <a:lstStyle/>
          <a:p>
            <a:endParaRPr lang="en-US"/>
          </a:p>
        </p:txBody>
      </p:sp>
      <p:sp>
        <p:nvSpPr>
          <p:cNvPr id="28" name="Text 26"/>
          <p:cNvSpPr txBox="1"/>
          <p:nvPr/>
        </p:nvSpPr>
        <p:spPr>
          <a:xfrm>
            <a:off x="9586570" y="3218688"/>
            <a:ext cx="1889150" cy="475488"/>
          </a:xfrm>
          <a:prstGeom prst="rect">
            <a:avLst/>
          </a:prstGeom>
          <a:noFill/>
          <a:ln/>
        </p:spPr>
        <p:txBody>
          <a:bodyPr wrap="square" lIns="0" tIns="0" rIns="0" bIns="0" rtlCol="0" anchor="ctr"/>
          <a:lstStyle/>
          <a:p>
            <a:pPr marL="0" indent="0">
              <a:buNone/>
            </a:pPr>
            <a:r>
              <a:rPr lang="en-US" sz="1000" b="1" dirty="0">
                <a:solidFill>
                  <a:srgbClr val="73000A"/>
                </a:solidFill>
                <a:latin typeface="Calibri" pitchFamily="34" charset="0"/>
                <a:ea typeface="Calibri" pitchFamily="34" charset="-122"/>
                <a:cs typeface="Calibri" pitchFamily="34" charset="-120"/>
              </a:rPr>
              <a:t>Output</a:t>
            </a:r>
            <a:endParaRPr lang="en-US" sz="1200" dirty="0"/>
          </a:p>
          <a:p>
            <a:pPr marL="0" indent="0">
              <a:buNone/>
            </a:pPr>
            <a:r>
              <a:rPr lang="en-US" sz="1100" dirty="0">
                <a:solidFill>
                  <a:srgbClr val="333333"/>
                </a:solidFill>
                <a:latin typeface="Calibri" pitchFamily="34" charset="0"/>
                <a:ea typeface="Calibri" pitchFamily="34" charset="-122"/>
                <a:cs typeface="Calibri" pitchFamily="34" charset="-120"/>
              </a:rPr>
              <a:t>ROOT </a:t>
            </a:r>
            <a:r>
              <a:rPr lang="en-US" sz="1100" dirty="0" err="1">
                <a:solidFill>
                  <a:srgbClr val="333333"/>
                </a:solidFill>
                <a:latin typeface="Calibri" pitchFamily="34" charset="0"/>
                <a:ea typeface="Calibri" pitchFamily="34" charset="-122"/>
                <a:cs typeface="Calibri" pitchFamily="34" charset="-120"/>
              </a:rPr>
              <a:t>ntuple</a:t>
            </a:r>
            <a:r>
              <a:rPr lang="en-US" sz="1100" dirty="0">
                <a:solidFill>
                  <a:srgbClr val="333333"/>
                </a:solidFill>
                <a:latin typeface="Calibri" pitchFamily="34" charset="0"/>
                <a:ea typeface="Calibri" pitchFamily="34" charset="-122"/>
                <a:cs typeface="Calibri" pitchFamily="34" charset="-120"/>
              </a:rPr>
              <a:t> with necessary info</a:t>
            </a:r>
          </a:p>
          <a:p>
            <a:pPr marL="0" indent="0" algn="ctr">
              <a:buNone/>
            </a:pPr>
            <a:r>
              <a:rPr lang="en-US" sz="1100" dirty="0">
                <a:solidFill>
                  <a:srgbClr val="333333"/>
                </a:solidFill>
                <a:latin typeface="Calibri" pitchFamily="34" charset="0"/>
                <a:ea typeface="Calibri" pitchFamily="34" charset="-122"/>
                <a:cs typeface="Calibri" pitchFamily="34" charset="-120"/>
              </a:rPr>
              <a:t>(</a:t>
            </a:r>
            <a:r>
              <a:rPr lang="en-US" sz="1100" dirty="0" err="1">
                <a:solidFill>
                  <a:srgbClr val="333333"/>
                </a:solidFill>
                <a:latin typeface="Calibri" pitchFamily="34" charset="0"/>
                <a:ea typeface="Calibri" pitchFamily="34" charset="-122"/>
                <a:cs typeface="Calibri" pitchFamily="34" charset="-120"/>
              </a:rPr>
              <a:t>nts</a:t>
            </a:r>
            <a:r>
              <a:rPr lang="en-US" sz="1100" dirty="0">
                <a:solidFill>
                  <a:srgbClr val="333333"/>
                </a:solidFill>
                <a:latin typeface="Calibri" pitchFamily="34" charset="0"/>
                <a:ea typeface="Calibri" pitchFamily="34" charset="-122"/>
                <a:cs typeface="Calibri" pitchFamily="34" charset="-120"/>
              </a:rPr>
              <a:t>.__.root)</a:t>
            </a:r>
            <a:endParaRPr lang="en-US" sz="1200" dirty="0"/>
          </a:p>
        </p:txBody>
      </p:sp>
      <p:sp>
        <p:nvSpPr>
          <p:cNvPr id="29" name="Text 27"/>
          <p:cNvSpPr txBox="1"/>
          <p:nvPr/>
        </p:nvSpPr>
        <p:spPr>
          <a:xfrm>
            <a:off x="548640" y="4069080"/>
            <a:ext cx="731520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Events surviving each stage (pure-signal sample)</a:t>
            </a:r>
            <a:endParaRPr lang="en-US" sz="1300" dirty="0"/>
          </a:p>
        </p:txBody>
      </p:sp>
      <p:sp>
        <p:nvSpPr>
          <p:cNvPr id="30" name="Shape 28"/>
          <p:cNvSpPr/>
          <p:nvPr/>
        </p:nvSpPr>
        <p:spPr>
          <a:xfrm>
            <a:off x="685800" y="5532120"/>
            <a:ext cx="1944014" cy="0"/>
          </a:xfrm>
          <a:prstGeom prst="line">
            <a:avLst/>
          </a:prstGeom>
          <a:noFill/>
          <a:ln w="12700">
            <a:solidFill>
              <a:srgbClr val="BFBFBF"/>
            </a:solidFill>
            <a:prstDash val="solid"/>
          </a:ln>
        </p:spPr>
        <p:txBody>
          <a:bodyPr/>
          <a:lstStyle/>
          <a:p>
            <a:endParaRPr lang="en-US"/>
          </a:p>
        </p:txBody>
      </p:sp>
      <p:sp>
        <p:nvSpPr>
          <p:cNvPr id="31" name="Shape 29"/>
          <p:cNvSpPr/>
          <p:nvPr/>
        </p:nvSpPr>
        <p:spPr>
          <a:xfrm>
            <a:off x="1246327" y="4480560"/>
            <a:ext cx="822960" cy="1051560"/>
          </a:xfrm>
          <a:prstGeom prst="rect">
            <a:avLst/>
          </a:prstGeom>
          <a:solidFill>
            <a:srgbClr val="8C8C8C"/>
          </a:solidFill>
          <a:ln/>
        </p:spPr>
        <p:txBody>
          <a:bodyPr/>
          <a:lstStyle/>
          <a:p>
            <a:endParaRPr lang="en-US"/>
          </a:p>
        </p:txBody>
      </p:sp>
      <p:sp>
        <p:nvSpPr>
          <p:cNvPr id="32" name="Text 30"/>
          <p:cNvSpPr txBox="1"/>
          <p:nvPr/>
        </p:nvSpPr>
        <p:spPr>
          <a:xfrm>
            <a:off x="548640" y="5577840"/>
            <a:ext cx="2218334" cy="256032"/>
          </a:xfrm>
          <a:prstGeom prst="rect">
            <a:avLst/>
          </a:prstGeom>
          <a:noFill/>
          <a:ln/>
        </p:spPr>
        <p:txBody>
          <a:bodyPr wrap="square" lIns="0" tIns="0" rIns="0" bIns="0" rtlCol="0" anchor="ctr"/>
          <a:lstStyle/>
          <a:p>
            <a:pPr marL="0" indent="0" algn="ctr">
              <a:buNone/>
            </a:pPr>
            <a:r>
              <a:rPr lang="en-US" sz="1500" b="1" dirty="0">
                <a:solidFill>
                  <a:srgbClr val="4A4A4A"/>
                </a:solidFill>
                <a:latin typeface="Calibri" pitchFamily="34" charset="0"/>
                <a:ea typeface="Calibri" pitchFamily="34" charset="-122"/>
                <a:cs typeface="Calibri" pitchFamily="34" charset="-120"/>
              </a:rPr>
              <a:t>100,000</a:t>
            </a:r>
            <a:endParaRPr lang="en-US" sz="1500" dirty="0"/>
          </a:p>
        </p:txBody>
      </p:sp>
      <p:sp>
        <p:nvSpPr>
          <p:cNvPr id="33" name="Text 31"/>
          <p:cNvSpPr txBox="1"/>
          <p:nvPr/>
        </p:nvSpPr>
        <p:spPr>
          <a:xfrm>
            <a:off x="548640" y="5815584"/>
            <a:ext cx="2218334" cy="201168"/>
          </a:xfrm>
          <a:prstGeom prst="rect">
            <a:avLst/>
          </a:prstGeom>
          <a:noFill/>
          <a:ln/>
        </p:spPr>
        <p:txBody>
          <a:bodyPr wrap="square" lIns="0" tIns="0" rIns="0" bIns="0" rtlCol="0" anchor="ctr"/>
          <a:lstStyle/>
          <a:p>
            <a:pPr marL="0" indent="0" algn="ctr">
              <a:buNone/>
            </a:pPr>
            <a:r>
              <a:rPr lang="en-US" sz="1100" dirty="0">
                <a:solidFill>
                  <a:srgbClr val="6A6A6A"/>
                </a:solidFill>
                <a:latin typeface="Calibri" pitchFamily="34" charset="0"/>
                <a:ea typeface="Calibri" pitchFamily="34" charset="-122"/>
                <a:cs typeface="Calibri" pitchFamily="34" charset="-120"/>
              </a:rPr>
              <a:t>100.0%</a:t>
            </a:r>
            <a:endParaRPr lang="en-US" sz="1100" dirty="0"/>
          </a:p>
        </p:txBody>
      </p:sp>
      <p:sp>
        <p:nvSpPr>
          <p:cNvPr id="34" name="Shape 32"/>
          <p:cNvSpPr/>
          <p:nvPr/>
        </p:nvSpPr>
        <p:spPr>
          <a:xfrm>
            <a:off x="2904134" y="5532120"/>
            <a:ext cx="1944014" cy="0"/>
          </a:xfrm>
          <a:prstGeom prst="line">
            <a:avLst/>
          </a:prstGeom>
          <a:noFill/>
          <a:ln w="12700">
            <a:solidFill>
              <a:srgbClr val="BFBFBF"/>
            </a:solidFill>
            <a:prstDash val="solid"/>
          </a:ln>
        </p:spPr>
        <p:txBody>
          <a:bodyPr/>
          <a:lstStyle/>
          <a:p>
            <a:endParaRPr lang="en-US"/>
          </a:p>
        </p:txBody>
      </p:sp>
      <p:sp>
        <p:nvSpPr>
          <p:cNvPr id="35" name="Shape 33"/>
          <p:cNvSpPr/>
          <p:nvPr/>
        </p:nvSpPr>
        <p:spPr>
          <a:xfrm>
            <a:off x="3464662" y="4832359"/>
            <a:ext cx="822960" cy="699761"/>
          </a:xfrm>
          <a:prstGeom prst="rect">
            <a:avLst/>
          </a:prstGeom>
          <a:solidFill>
            <a:srgbClr val="73000A">
              <a:alpha val="90000"/>
            </a:srgbClr>
          </a:solidFill>
          <a:ln/>
        </p:spPr>
        <p:txBody>
          <a:bodyPr/>
          <a:lstStyle/>
          <a:p>
            <a:endParaRPr lang="en-US"/>
          </a:p>
        </p:txBody>
      </p:sp>
      <p:sp>
        <p:nvSpPr>
          <p:cNvPr id="36" name="Text 34"/>
          <p:cNvSpPr txBox="1"/>
          <p:nvPr/>
        </p:nvSpPr>
        <p:spPr>
          <a:xfrm>
            <a:off x="2766974" y="5577840"/>
            <a:ext cx="2218334" cy="256032"/>
          </a:xfrm>
          <a:prstGeom prst="rect">
            <a:avLst/>
          </a:prstGeom>
          <a:noFill/>
          <a:ln/>
        </p:spPr>
        <p:txBody>
          <a:bodyPr wrap="square" lIns="0" tIns="0" rIns="0" bIns="0" rtlCol="0" anchor="ctr"/>
          <a:lstStyle/>
          <a:p>
            <a:pPr marL="0" indent="0" algn="ctr">
              <a:buNone/>
            </a:pPr>
            <a:r>
              <a:rPr lang="en-US" sz="1500" b="1" dirty="0">
                <a:solidFill>
                  <a:srgbClr val="73000A"/>
                </a:solidFill>
                <a:latin typeface="Calibri" pitchFamily="34" charset="0"/>
                <a:ea typeface="Calibri" pitchFamily="34" charset="-122"/>
                <a:cs typeface="Calibri" pitchFamily="34" charset="-120"/>
              </a:rPr>
              <a:t>66,545</a:t>
            </a:r>
            <a:endParaRPr lang="en-US" sz="1500" dirty="0"/>
          </a:p>
        </p:txBody>
      </p:sp>
      <p:sp>
        <p:nvSpPr>
          <p:cNvPr id="37" name="Text 35"/>
          <p:cNvSpPr txBox="1"/>
          <p:nvPr/>
        </p:nvSpPr>
        <p:spPr>
          <a:xfrm>
            <a:off x="2766974" y="5815584"/>
            <a:ext cx="2218334" cy="201168"/>
          </a:xfrm>
          <a:prstGeom prst="rect">
            <a:avLst/>
          </a:prstGeom>
          <a:noFill/>
          <a:ln/>
        </p:spPr>
        <p:txBody>
          <a:bodyPr wrap="square" lIns="0" tIns="0" rIns="0" bIns="0" rtlCol="0" anchor="ctr"/>
          <a:lstStyle/>
          <a:p>
            <a:pPr marL="0" indent="0" algn="ctr">
              <a:buNone/>
            </a:pPr>
            <a:r>
              <a:rPr lang="en-US" sz="1100" dirty="0">
                <a:solidFill>
                  <a:srgbClr val="6A6A6A"/>
                </a:solidFill>
                <a:latin typeface="Calibri" pitchFamily="34" charset="0"/>
                <a:ea typeface="Calibri" pitchFamily="34" charset="-122"/>
                <a:cs typeface="Calibri" pitchFamily="34" charset="-120"/>
              </a:rPr>
              <a:t>66.5%</a:t>
            </a:r>
            <a:endParaRPr lang="en-US" sz="1100" dirty="0"/>
          </a:p>
        </p:txBody>
      </p:sp>
      <p:sp>
        <p:nvSpPr>
          <p:cNvPr id="38" name="Shape 36"/>
          <p:cNvSpPr/>
          <p:nvPr/>
        </p:nvSpPr>
        <p:spPr>
          <a:xfrm>
            <a:off x="5122469" y="5532120"/>
            <a:ext cx="1944014" cy="0"/>
          </a:xfrm>
          <a:prstGeom prst="line">
            <a:avLst/>
          </a:prstGeom>
          <a:noFill/>
          <a:ln w="12700">
            <a:solidFill>
              <a:srgbClr val="BFBFBF"/>
            </a:solidFill>
            <a:prstDash val="solid"/>
          </a:ln>
        </p:spPr>
        <p:txBody>
          <a:bodyPr/>
          <a:lstStyle/>
          <a:p>
            <a:endParaRPr lang="en-US"/>
          </a:p>
        </p:txBody>
      </p:sp>
      <p:sp>
        <p:nvSpPr>
          <p:cNvPr id="39" name="Shape 37"/>
          <p:cNvSpPr/>
          <p:nvPr/>
        </p:nvSpPr>
        <p:spPr>
          <a:xfrm>
            <a:off x="5682996" y="4998012"/>
            <a:ext cx="822960" cy="534108"/>
          </a:xfrm>
          <a:prstGeom prst="rect">
            <a:avLst/>
          </a:prstGeom>
          <a:solidFill>
            <a:srgbClr val="73000A">
              <a:alpha val="90000"/>
            </a:srgbClr>
          </a:solidFill>
          <a:ln/>
        </p:spPr>
        <p:txBody>
          <a:bodyPr/>
          <a:lstStyle/>
          <a:p>
            <a:endParaRPr lang="en-US"/>
          </a:p>
        </p:txBody>
      </p:sp>
      <p:sp>
        <p:nvSpPr>
          <p:cNvPr id="40" name="Text 38"/>
          <p:cNvSpPr txBox="1"/>
          <p:nvPr/>
        </p:nvSpPr>
        <p:spPr>
          <a:xfrm>
            <a:off x="4985309" y="5577840"/>
            <a:ext cx="2218334" cy="256032"/>
          </a:xfrm>
          <a:prstGeom prst="rect">
            <a:avLst/>
          </a:prstGeom>
          <a:noFill/>
          <a:ln/>
        </p:spPr>
        <p:txBody>
          <a:bodyPr wrap="square" lIns="0" tIns="0" rIns="0" bIns="0" rtlCol="0" anchor="ctr"/>
          <a:lstStyle/>
          <a:p>
            <a:pPr marL="0" indent="0" algn="ctr">
              <a:buNone/>
            </a:pPr>
            <a:r>
              <a:rPr lang="en-US" sz="1500" b="1" dirty="0">
                <a:solidFill>
                  <a:srgbClr val="73000A"/>
                </a:solidFill>
                <a:latin typeface="Calibri" pitchFamily="34" charset="0"/>
                <a:ea typeface="Calibri" pitchFamily="34" charset="-122"/>
                <a:cs typeface="Calibri" pitchFamily="34" charset="-120"/>
              </a:rPr>
              <a:t>50,792</a:t>
            </a:r>
            <a:endParaRPr lang="en-US" sz="1500" dirty="0"/>
          </a:p>
        </p:txBody>
      </p:sp>
      <p:sp>
        <p:nvSpPr>
          <p:cNvPr id="41" name="Text 39"/>
          <p:cNvSpPr txBox="1"/>
          <p:nvPr/>
        </p:nvSpPr>
        <p:spPr>
          <a:xfrm>
            <a:off x="4985309" y="5815584"/>
            <a:ext cx="2218334" cy="201168"/>
          </a:xfrm>
          <a:prstGeom prst="rect">
            <a:avLst/>
          </a:prstGeom>
          <a:noFill/>
          <a:ln/>
        </p:spPr>
        <p:txBody>
          <a:bodyPr wrap="square" lIns="0" tIns="0" rIns="0" bIns="0" rtlCol="0" anchor="ctr"/>
          <a:lstStyle/>
          <a:p>
            <a:pPr marL="0" indent="0" algn="ctr">
              <a:buNone/>
            </a:pPr>
            <a:r>
              <a:rPr lang="en-US" sz="1100" dirty="0">
                <a:solidFill>
                  <a:srgbClr val="6A6A6A"/>
                </a:solidFill>
                <a:latin typeface="Calibri" pitchFamily="34" charset="0"/>
                <a:ea typeface="Calibri" pitchFamily="34" charset="-122"/>
                <a:cs typeface="Calibri" pitchFamily="34" charset="-120"/>
              </a:rPr>
              <a:t>50.8%</a:t>
            </a:r>
            <a:endParaRPr lang="en-US" sz="1100" dirty="0"/>
          </a:p>
        </p:txBody>
      </p:sp>
      <p:sp>
        <p:nvSpPr>
          <p:cNvPr id="42" name="Shape 40"/>
          <p:cNvSpPr/>
          <p:nvPr/>
        </p:nvSpPr>
        <p:spPr>
          <a:xfrm>
            <a:off x="7340803" y="5532120"/>
            <a:ext cx="1944014" cy="0"/>
          </a:xfrm>
          <a:prstGeom prst="line">
            <a:avLst/>
          </a:prstGeom>
          <a:noFill/>
          <a:ln w="12700">
            <a:solidFill>
              <a:srgbClr val="BFBFBF"/>
            </a:solidFill>
            <a:prstDash val="solid"/>
          </a:ln>
        </p:spPr>
        <p:txBody>
          <a:bodyPr/>
          <a:lstStyle/>
          <a:p>
            <a:endParaRPr lang="en-US"/>
          </a:p>
        </p:txBody>
      </p:sp>
      <p:sp>
        <p:nvSpPr>
          <p:cNvPr id="43" name="Shape 41"/>
          <p:cNvSpPr/>
          <p:nvPr/>
        </p:nvSpPr>
        <p:spPr>
          <a:xfrm>
            <a:off x="7901330" y="4998012"/>
            <a:ext cx="822960" cy="534108"/>
          </a:xfrm>
          <a:prstGeom prst="rect">
            <a:avLst/>
          </a:prstGeom>
          <a:solidFill>
            <a:srgbClr val="73000A">
              <a:alpha val="90000"/>
            </a:srgbClr>
          </a:solidFill>
          <a:ln/>
        </p:spPr>
        <p:txBody>
          <a:bodyPr/>
          <a:lstStyle/>
          <a:p>
            <a:endParaRPr lang="en-US"/>
          </a:p>
        </p:txBody>
      </p:sp>
      <p:sp>
        <p:nvSpPr>
          <p:cNvPr id="44" name="Text 42"/>
          <p:cNvSpPr txBox="1"/>
          <p:nvPr/>
        </p:nvSpPr>
        <p:spPr>
          <a:xfrm>
            <a:off x="7203643" y="5577840"/>
            <a:ext cx="2218334" cy="256032"/>
          </a:xfrm>
          <a:prstGeom prst="rect">
            <a:avLst/>
          </a:prstGeom>
          <a:noFill/>
          <a:ln/>
        </p:spPr>
        <p:txBody>
          <a:bodyPr wrap="square" lIns="0" tIns="0" rIns="0" bIns="0" rtlCol="0" anchor="ctr"/>
          <a:lstStyle/>
          <a:p>
            <a:pPr marL="0" indent="0" algn="ctr">
              <a:buNone/>
            </a:pPr>
            <a:r>
              <a:rPr lang="en-US" sz="1500" b="1" dirty="0">
                <a:solidFill>
                  <a:srgbClr val="73000A"/>
                </a:solidFill>
                <a:latin typeface="Calibri" pitchFamily="34" charset="0"/>
                <a:ea typeface="Calibri" pitchFamily="34" charset="-122"/>
                <a:cs typeface="Calibri" pitchFamily="34" charset="-120"/>
              </a:rPr>
              <a:t>50,792</a:t>
            </a:r>
            <a:endParaRPr lang="en-US" sz="1500" dirty="0"/>
          </a:p>
        </p:txBody>
      </p:sp>
      <p:sp>
        <p:nvSpPr>
          <p:cNvPr id="45" name="Text 43"/>
          <p:cNvSpPr txBox="1"/>
          <p:nvPr/>
        </p:nvSpPr>
        <p:spPr>
          <a:xfrm>
            <a:off x="7203643" y="5815584"/>
            <a:ext cx="2218334" cy="201168"/>
          </a:xfrm>
          <a:prstGeom prst="rect">
            <a:avLst/>
          </a:prstGeom>
          <a:noFill/>
          <a:ln/>
        </p:spPr>
        <p:txBody>
          <a:bodyPr wrap="square" lIns="0" tIns="0" rIns="0" bIns="0" rtlCol="0" anchor="ctr"/>
          <a:lstStyle/>
          <a:p>
            <a:pPr marL="0" indent="0" algn="ctr">
              <a:buNone/>
            </a:pPr>
            <a:r>
              <a:rPr lang="en-US" sz="1100" dirty="0">
                <a:solidFill>
                  <a:srgbClr val="6A6A6A"/>
                </a:solidFill>
                <a:latin typeface="Calibri" pitchFamily="34" charset="0"/>
                <a:ea typeface="Calibri" pitchFamily="34" charset="-122"/>
                <a:cs typeface="Calibri" pitchFamily="34" charset="-120"/>
              </a:rPr>
              <a:t>50.8%</a:t>
            </a:r>
            <a:endParaRPr lang="en-US" sz="1100" dirty="0"/>
          </a:p>
        </p:txBody>
      </p:sp>
      <p:sp>
        <p:nvSpPr>
          <p:cNvPr id="46" name="Shape 44"/>
          <p:cNvSpPr/>
          <p:nvPr/>
        </p:nvSpPr>
        <p:spPr>
          <a:xfrm>
            <a:off x="9559138" y="5532120"/>
            <a:ext cx="1944014" cy="0"/>
          </a:xfrm>
          <a:prstGeom prst="line">
            <a:avLst/>
          </a:prstGeom>
          <a:noFill/>
          <a:ln w="12700">
            <a:solidFill>
              <a:srgbClr val="BFBFBF"/>
            </a:solidFill>
            <a:prstDash val="solid"/>
          </a:ln>
        </p:spPr>
        <p:txBody>
          <a:bodyPr/>
          <a:lstStyle/>
          <a:p>
            <a:endParaRPr lang="en-US"/>
          </a:p>
        </p:txBody>
      </p:sp>
      <p:sp>
        <p:nvSpPr>
          <p:cNvPr id="47" name="Text 45"/>
          <p:cNvSpPr txBox="1"/>
          <p:nvPr/>
        </p:nvSpPr>
        <p:spPr>
          <a:xfrm>
            <a:off x="9559138" y="4754880"/>
            <a:ext cx="1944014" cy="548640"/>
          </a:xfrm>
          <a:prstGeom prst="rect">
            <a:avLst/>
          </a:prstGeom>
          <a:noFill/>
          <a:ln/>
        </p:spPr>
        <p:txBody>
          <a:bodyPr wrap="square" lIns="0" tIns="0" rIns="0" bIns="0" rtlCol="0" anchor="ctr"/>
          <a:lstStyle/>
          <a:p>
            <a:pPr marL="0" indent="0" algn="ctr">
              <a:buNone/>
            </a:pPr>
            <a:r>
              <a:rPr lang="en-US" sz="1200" i="1" dirty="0">
                <a:solidFill>
                  <a:srgbClr val="6A6A6A"/>
                </a:solidFill>
                <a:latin typeface="Calibri" pitchFamily="34" charset="0"/>
                <a:ea typeface="Calibri" pitchFamily="34" charset="-122"/>
                <a:cs typeface="Calibri" pitchFamily="34" charset="-120"/>
              </a:rPr>
              <a:t>Feeds the selection cuts on slide 32</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se-up of a graph&#10;&#10;AI-generated content may be incorrect.">
            <a:extLst>
              <a:ext uri="{FF2B5EF4-FFF2-40B4-BE49-F238E27FC236}">
                <a16:creationId xmlns:a16="http://schemas.microsoft.com/office/drawing/2014/main" id="{61A7F016-3F70-3FE5-FE63-C663193059FC}"/>
              </a:ext>
            </a:extLst>
          </p:cNvPr>
          <p:cNvPicPr>
            <a:picLocks noGrp="1" noChangeAspect="1"/>
          </p:cNvPicPr>
          <p:nvPr>
            <p:ph idx="1"/>
          </p:nvPr>
        </p:nvPicPr>
        <p:blipFill>
          <a:blip r:embed="rId2"/>
          <a:stretch>
            <a:fillRect/>
          </a:stretch>
        </p:blipFill>
        <p:spPr>
          <a:xfrm>
            <a:off x="689043" y="136524"/>
            <a:ext cx="10515600" cy="3124635"/>
          </a:xfrm>
        </p:spPr>
      </p:pic>
      <p:pic>
        <p:nvPicPr>
          <p:cNvPr id="9" name="Picture 8" descr="A graph of a graph of a graph&#10;&#10;AI-generated content may be incorrect.">
            <a:extLst>
              <a:ext uri="{FF2B5EF4-FFF2-40B4-BE49-F238E27FC236}">
                <a16:creationId xmlns:a16="http://schemas.microsoft.com/office/drawing/2014/main" id="{59D6E779-69D6-DC69-0148-29BF06C62821}"/>
              </a:ext>
            </a:extLst>
          </p:cNvPr>
          <p:cNvPicPr>
            <a:picLocks noChangeAspect="1"/>
          </p:cNvPicPr>
          <p:nvPr/>
        </p:nvPicPr>
        <p:blipFill>
          <a:blip r:embed="rId3"/>
          <a:stretch>
            <a:fillRect/>
          </a:stretch>
        </p:blipFill>
        <p:spPr>
          <a:xfrm>
            <a:off x="150343" y="3660096"/>
            <a:ext cx="3431057" cy="2696254"/>
          </a:xfrm>
          <a:prstGeom prst="rect">
            <a:avLst/>
          </a:prstGeom>
        </p:spPr>
      </p:pic>
      <p:sp>
        <p:nvSpPr>
          <p:cNvPr id="10" name="TextBox 9">
            <a:extLst>
              <a:ext uri="{FF2B5EF4-FFF2-40B4-BE49-F238E27FC236}">
                <a16:creationId xmlns:a16="http://schemas.microsoft.com/office/drawing/2014/main" id="{45BFB39F-421B-BBDB-7431-151D517B3E31}"/>
              </a:ext>
            </a:extLst>
          </p:cNvPr>
          <p:cNvSpPr txBox="1"/>
          <p:nvPr/>
        </p:nvSpPr>
        <p:spPr>
          <a:xfrm>
            <a:off x="4829783" y="5285167"/>
            <a:ext cx="5421549" cy="954107"/>
          </a:xfrm>
          <a:prstGeom prst="rect">
            <a:avLst/>
          </a:prstGeom>
          <a:noFill/>
          <a:ln w="19050">
            <a:solidFill>
              <a:srgbClr val="C00000"/>
            </a:solidFill>
          </a:ln>
        </p:spPr>
        <p:txBody>
          <a:bodyPr wrap="square" rtlCol="0">
            <a:spAutoFit/>
          </a:bodyPr>
          <a:lstStyle/>
          <a:p>
            <a:r>
              <a:rPr lang="en-US" sz="1400" dirty="0">
                <a:sym typeface="Wingdings" pitchFamily="2" charset="2"/>
              </a:rPr>
              <a:t>Surviving Monte Carlo truth generated particle momenta post full sim-workflow. This shows that only a selection of the generated electrons will be able to be seen in the detector given the geometric acceptance and reconstruction capabilities. </a:t>
            </a:r>
            <a:endParaRPr lang="en-US" sz="1400" dirty="0"/>
          </a:p>
        </p:txBody>
      </p:sp>
      <p:sp>
        <p:nvSpPr>
          <p:cNvPr id="11" name="TextBox 10">
            <a:extLst>
              <a:ext uri="{FF2B5EF4-FFF2-40B4-BE49-F238E27FC236}">
                <a16:creationId xmlns:a16="http://schemas.microsoft.com/office/drawing/2014/main" id="{71D41100-F050-4563-D99D-018E56BAD5DC}"/>
              </a:ext>
            </a:extLst>
          </p:cNvPr>
          <p:cNvSpPr txBox="1"/>
          <p:nvPr/>
        </p:nvSpPr>
        <p:spPr>
          <a:xfrm>
            <a:off x="6509860" y="3429000"/>
            <a:ext cx="5038493" cy="1323439"/>
          </a:xfrm>
          <a:prstGeom prst="rect">
            <a:avLst/>
          </a:prstGeom>
          <a:noFill/>
          <a:ln w="19050">
            <a:solidFill>
              <a:srgbClr val="C00000"/>
            </a:solidFill>
          </a:ln>
        </p:spPr>
        <p:txBody>
          <a:bodyPr wrap="square" rtlCol="0">
            <a:spAutoFit/>
          </a:bodyPr>
          <a:lstStyle/>
          <a:p>
            <a:r>
              <a:rPr lang="en-US" sz="1600" dirty="0"/>
              <a:t>Event display depicting two electron track (MC truth) </a:t>
            </a:r>
            <a:r>
              <a:rPr lang="en-US" sz="1600" dirty="0" err="1"/>
              <a:t>helicies</a:t>
            </a:r>
            <a:r>
              <a:rPr lang="en-US" sz="1600" dirty="0"/>
              <a:t> moving from stopping target foil through the detector system. Notable feature being the magnetic mirror effect demonstrated from the backwards moving electron</a:t>
            </a:r>
          </a:p>
        </p:txBody>
      </p:sp>
      <p:cxnSp>
        <p:nvCxnSpPr>
          <p:cNvPr id="13" name="Elbow Connector 12">
            <a:extLst>
              <a:ext uri="{FF2B5EF4-FFF2-40B4-BE49-F238E27FC236}">
                <a16:creationId xmlns:a16="http://schemas.microsoft.com/office/drawing/2014/main" id="{3B4775D9-6733-A327-ECA0-44393A86CC05}"/>
              </a:ext>
            </a:extLst>
          </p:cNvPr>
          <p:cNvCxnSpPr>
            <a:cxnSpLocks/>
            <a:stCxn id="11" idx="1"/>
            <a:endCxn id="7" idx="2"/>
          </p:cNvCxnSpPr>
          <p:nvPr/>
        </p:nvCxnSpPr>
        <p:spPr>
          <a:xfrm rot="10800000">
            <a:off x="5946844" y="3261160"/>
            <a:ext cx="563017" cy="829561"/>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Elbow Connector 15">
            <a:extLst>
              <a:ext uri="{FF2B5EF4-FFF2-40B4-BE49-F238E27FC236}">
                <a16:creationId xmlns:a16="http://schemas.microsoft.com/office/drawing/2014/main" id="{B1EF8A20-B913-8650-C9E9-C0F2717D5386}"/>
              </a:ext>
            </a:extLst>
          </p:cNvPr>
          <p:cNvCxnSpPr>
            <a:stCxn id="10" idx="1"/>
            <a:endCxn id="9" idx="3"/>
          </p:cNvCxnSpPr>
          <p:nvPr/>
        </p:nvCxnSpPr>
        <p:spPr>
          <a:xfrm rot="10800000">
            <a:off x="3581401" y="5008223"/>
            <a:ext cx="1248383" cy="753998"/>
          </a:xfrm>
          <a:prstGeom prst="bentConnector3">
            <a:avLst/>
          </a:prstGeom>
          <a:ln>
            <a:solidFill>
              <a:schemeClr val="tx1">
                <a:alpha val="99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7394969-F99A-A27D-88A8-43773E1065D6}"/>
              </a:ext>
            </a:extLst>
          </p:cNvPr>
          <p:cNvSpPr>
            <a:spLocks noGrp="1"/>
          </p:cNvSpPr>
          <p:nvPr>
            <p:ph type="sldNum" sz="quarter" idx="12"/>
          </p:nvPr>
        </p:nvSpPr>
        <p:spPr/>
        <p:txBody>
          <a:bodyPr/>
          <a:lstStyle/>
          <a:p>
            <a:fld id="{C0E0CB54-3DBF-E947-906E-85E307CF7971}" type="slidenum">
              <a:rPr lang="en-US" smtClean="0"/>
              <a:t>26</a:t>
            </a:fld>
            <a:endParaRPr lang="en-US"/>
          </a:p>
        </p:txBody>
      </p:sp>
    </p:spTree>
    <p:extLst>
      <p:ext uri="{BB962C8B-B14F-4D97-AF65-F5344CB8AC3E}">
        <p14:creationId xmlns:p14="http://schemas.microsoft.com/office/powerpoint/2010/main" val="3512922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Candidacy Cuts for Vertexing Procedure</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Three cuts keep 16,771 clean two-electron candidates from 100,000 muon stops</a:t>
            </a:r>
            <a:endParaRPr lang="en-US" sz="1600" dirty="0"/>
          </a:p>
        </p:txBody>
      </p:sp>
      <p:sp>
        <p:nvSpPr>
          <p:cNvPr id="4" name="Shape 2"/>
          <p:cNvSpPr/>
          <p:nvPr/>
        </p:nvSpPr>
        <p:spPr>
          <a:xfrm>
            <a:off x="548640" y="1508760"/>
            <a:ext cx="4206240" cy="1234440"/>
          </a:xfrm>
          <a:prstGeom prst="roundRect">
            <a:avLst>
              <a:gd name="adj" fmla="val 7407"/>
            </a:avLst>
          </a:prstGeom>
          <a:solidFill>
            <a:srgbClr val="F4F0F0"/>
          </a:solidFill>
          <a:ln/>
        </p:spPr>
        <p:txBody>
          <a:bodyPr/>
          <a:lstStyle/>
          <a:p>
            <a:endParaRPr lang="en-US"/>
          </a:p>
        </p:txBody>
      </p:sp>
      <p:sp>
        <p:nvSpPr>
          <p:cNvPr id="5" name="Shape 3"/>
          <p:cNvSpPr/>
          <p:nvPr/>
        </p:nvSpPr>
        <p:spPr>
          <a:xfrm>
            <a:off x="731520" y="1691640"/>
            <a:ext cx="420624" cy="420624"/>
          </a:xfrm>
          <a:prstGeom prst="ellipse">
            <a:avLst/>
          </a:prstGeom>
          <a:solidFill>
            <a:srgbClr val="73000A"/>
          </a:solidFill>
          <a:ln/>
        </p:spPr>
        <p:txBody>
          <a:bodyPr/>
          <a:lstStyle/>
          <a:p>
            <a:endParaRPr lang="en-US"/>
          </a:p>
        </p:txBody>
      </p:sp>
      <p:sp>
        <p:nvSpPr>
          <p:cNvPr id="6" name="Text 4"/>
          <p:cNvSpPr txBox="1"/>
          <p:nvPr/>
        </p:nvSpPr>
        <p:spPr>
          <a:xfrm>
            <a:off x="731520" y="16916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280160" y="1636776"/>
            <a:ext cx="2743200" cy="237744"/>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Cut 1</a:t>
            </a:r>
            <a:endParaRPr lang="en-US" sz="1100" dirty="0"/>
          </a:p>
        </p:txBody>
      </p:sp>
      <p:sp>
        <p:nvSpPr>
          <p:cNvPr id="8" name="Text 6"/>
          <p:cNvSpPr txBox="1"/>
          <p:nvPr/>
        </p:nvSpPr>
        <p:spPr>
          <a:xfrm>
            <a:off x="1280160" y="1856232"/>
            <a:ext cx="3337560" cy="310896"/>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Exactly two electron tracks</a:t>
            </a:r>
            <a:endParaRPr lang="en-US" sz="1500" dirty="0"/>
          </a:p>
        </p:txBody>
      </p:sp>
      <p:sp>
        <p:nvSpPr>
          <p:cNvPr id="9" name="Text 7"/>
          <p:cNvSpPr txBox="1"/>
          <p:nvPr/>
        </p:nvSpPr>
        <p:spPr>
          <a:xfrm>
            <a:off x="1280160" y="2185416"/>
            <a:ext cx="3337560" cy="457200"/>
          </a:xfrm>
          <a:prstGeom prst="rect">
            <a:avLst/>
          </a:prstGeom>
          <a:noFill/>
          <a:ln/>
        </p:spPr>
        <p:txBody>
          <a:bodyPr wrap="square" lIns="0" tIns="0" rIns="0" bIns="0" rtlCol="0" anchor="t"/>
          <a:lstStyle/>
          <a:p>
            <a:pPr marL="0" indent="0">
              <a:buNone/>
            </a:pPr>
            <a:r>
              <a:rPr lang="en-US" sz="1200" dirty="0">
                <a:solidFill>
                  <a:srgbClr val="4A4A4A"/>
                </a:solidFill>
                <a:latin typeface="Calibri" pitchFamily="34" charset="0"/>
                <a:ea typeface="Calibri" pitchFamily="34" charset="-122"/>
                <a:cs typeface="Calibri" pitchFamily="34" charset="-120"/>
              </a:rPr>
              <a:t>Fewer than two tracks look like decay-in-orbit; more are rare in a pure sample</a:t>
            </a:r>
            <a:endParaRPr lang="en-US" sz="1200" dirty="0"/>
          </a:p>
        </p:txBody>
      </p:sp>
      <p:sp>
        <p:nvSpPr>
          <p:cNvPr id="10" name="Shape 8"/>
          <p:cNvSpPr/>
          <p:nvPr/>
        </p:nvSpPr>
        <p:spPr>
          <a:xfrm>
            <a:off x="548640" y="2944368"/>
            <a:ext cx="4206240" cy="1234440"/>
          </a:xfrm>
          <a:prstGeom prst="roundRect">
            <a:avLst>
              <a:gd name="adj" fmla="val 7407"/>
            </a:avLst>
          </a:prstGeom>
          <a:solidFill>
            <a:srgbClr val="F4F0F0"/>
          </a:solidFill>
          <a:ln/>
        </p:spPr>
        <p:txBody>
          <a:bodyPr/>
          <a:lstStyle/>
          <a:p>
            <a:endParaRPr lang="en-US"/>
          </a:p>
        </p:txBody>
      </p:sp>
      <p:sp>
        <p:nvSpPr>
          <p:cNvPr id="11" name="Shape 9"/>
          <p:cNvSpPr/>
          <p:nvPr/>
        </p:nvSpPr>
        <p:spPr>
          <a:xfrm>
            <a:off x="731520" y="3127248"/>
            <a:ext cx="420624" cy="420624"/>
          </a:xfrm>
          <a:prstGeom prst="ellipse">
            <a:avLst/>
          </a:prstGeom>
          <a:solidFill>
            <a:srgbClr val="73000A"/>
          </a:solidFill>
          <a:ln/>
        </p:spPr>
        <p:txBody>
          <a:bodyPr/>
          <a:lstStyle/>
          <a:p>
            <a:endParaRPr lang="en-US"/>
          </a:p>
        </p:txBody>
      </p:sp>
      <p:sp>
        <p:nvSpPr>
          <p:cNvPr id="12" name="Text 10"/>
          <p:cNvSpPr txBox="1"/>
          <p:nvPr/>
        </p:nvSpPr>
        <p:spPr>
          <a:xfrm>
            <a:off x="731520" y="31272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280160" y="3072384"/>
            <a:ext cx="2743200" cy="237744"/>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Cut 2</a:t>
            </a:r>
            <a:endParaRPr lang="en-US" sz="1100" dirty="0"/>
          </a:p>
        </p:txBody>
      </p:sp>
      <p:sp>
        <p:nvSpPr>
          <p:cNvPr id="14" name="Text 12"/>
          <p:cNvSpPr txBox="1"/>
          <p:nvPr/>
        </p:nvSpPr>
        <p:spPr>
          <a:xfrm>
            <a:off x="1280160" y="3291840"/>
            <a:ext cx="3337560" cy="310896"/>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Good calorimeter hit on both tracks</a:t>
            </a:r>
            <a:endParaRPr lang="en-US" sz="1500" dirty="0"/>
          </a:p>
        </p:txBody>
      </p:sp>
      <p:sp>
        <p:nvSpPr>
          <p:cNvPr id="15" name="Text 13"/>
          <p:cNvSpPr txBox="1"/>
          <p:nvPr/>
        </p:nvSpPr>
        <p:spPr>
          <a:xfrm>
            <a:off x="1280160" y="3621024"/>
            <a:ext cx="3337560" cy="457200"/>
          </a:xfrm>
          <a:prstGeom prst="rect">
            <a:avLst/>
          </a:prstGeom>
          <a:noFill/>
          <a:ln/>
        </p:spPr>
        <p:txBody>
          <a:bodyPr wrap="square" lIns="0" tIns="0" rIns="0" bIns="0" rtlCol="0" anchor="t"/>
          <a:lstStyle/>
          <a:p>
            <a:pPr marL="0" indent="0">
              <a:buNone/>
            </a:pPr>
            <a:r>
              <a:rPr lang="en-US" sz="1200" dirty="0">
                <a:solidFill>
                  <a:srgbClr val="4A4A4A"/>
                </a:solidFill>
                <a:latin typeface="Calibri" pitchFamily="34" charset="0"/>
                <a:ea typeface="Calibri" pitchFamily="34" charset="-122"/>
                <a:cs typeface="Calibri" pitchFamily="34" charset="-120"/>
              </a:rPr>
              <a:t>Confirms each track and seeds the fit; a candidate cut to relax for acceptance</a:t>
            </a:r>
            <a:endParaRPr lang="en-US" sz="1200" dirty="0"/>
          </a:p>
        </p:txBody>
      </p:sp>
      <p:sp>
        <p:nvSpPr>
          <p:cNvPr id="16" name="Shape 14"/>
          <p:cNvSpPr/>
          <p:nvPr/>
        </p:nvSpPr>
        <p:spPr>
          <a:xfrm>
            <a:off x="548640" y="4379976"/>
            <a:ext cx="4206240" cy="1234440"/>
          </a:xfrm>
          <a:prstGeom prst="roundRect">
            <a:avLst>
              <a:gd name="adj" fmla="val 7407"/>
            </a:avLst>
          </a:prstGeom>
          <a:solidFill>
            <a:srgbClr val="F4F0F0"/>
          </a:solidFill>
          <a:ln/>
        </p:spPr>
        <p:txBody>
          <a:bodyPr/>
          <a:lstStyle/>
          <a:p>
            <a:endParaRPr lang="en-US"/>
          </a:p>
        </p:txBody>
      </p:sp>
      <p:sp>
        <p:nvSpPr>
          <p:cNvPr id="17" name="Shape 15"/>
          <p:cNvSpPr/>
          <p:nvPr/>
        </p:nvSpPr>
        <p:spPr>
          <a:xfrm>
            <a:off x="731520" y="4562856"/>
            <a:ext cx="420624" cy="420624"/>
          </a:xfrm>
          <a:prstGeom prst="ellipse">
            <a:avLst/>
          </a:prstGeom>
          <a:solidFill>
            <a:srgbClr val="73000A"/>
          </a:solidFill>
          <a:ln/>
        </p:spPr>
        <p:txBody>
          <a:bodyPr/>
          <a:lstStyle/>
          <a:p>
            <a:endParaRPr lang="en-US"/>
          </a:p>
        </p:txBody>
      </p:sp>
      <p:sp>
        <p:nvSpPr>
          <p:cNvPr id="18" name="Text 16"/>
          <p:cNvSpPr txBox="1"/>
          <p:nvPr/>
        </p:nvSpPr>
        <p:spPr>
          <a:xfrm>
            <a:off x="731520" y="4562856"/>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1280160" y="4507992"/>
            <a:ext cx="2743200" cy="237744"/>
          </a:xfrm>
          <a:prstGeom prst="rect">
            <a:avLst/>
          </a:prstGeom>
          <a:noFill/>
          <a:ln/>
        </p:spPr>
        <p:txBody>
          <a:bodyPr wrap="square" lIns="0" tIns="0" rIns="0" bIns="0" rtlCol="0" anchor="ctr"/>
          <a:lstStyle/>
          <a:p>
            <a:pPr marL="0" indent="0">
              <a:buNone/>
            </a:pPr>
            <a:r>
              <a:rPr lang="en-US" sz="1100" b="1" dirty="0">
                <a:solidFill>
                  <a:srgbClr val="73000A"/>
                </a:solidFill>
                <a:latin typeface="Calibri" pitchFamily="34" charset="0"/>
                <a:ea typeface="Calibri" pitchFamily="34" charset="-122"/>
                <a:cs typeface="Calibri" pitchFamily="34" charset="-120"/>
              </a:rPr>
              <a:t>Cut 3</a:t>
            </a:r>
            <a:endParaRPr lang="en-US" sz="1100" dirty="0"/>
          </a:p>
        </p:txBody>
      </p:sp>
      <p:sp>
        <p:nvSpPr>
          <p:cNvPr id="20" name="Text 18"/>
          <p:cNvSpPr txBox="1"/>
          <p:nvPr/>
        </p:nvSpPr>
        <p:spPr>
          <a:xfrm>
            <a:off x="1280160" y="4727448"/>
            <a:ext cx="3337560" cy="310896"/>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Momentum window: 50 ≤ |p| ≤ 53 MeV/c</a:t>
            </a:r>
            <a:endParaRPr lang="en-US" sz="1500" dirty="0"/>
          </a:p>
        </p:txBody>
      </p:sp>
      <p:sp>
        <p:nvSpPr>
          <p:cNvPr id="21" name="Text 19"/>
          <p:cNvSpPr txBox="1"/>
          <p:nvPr/>
        </p:nvSpPr>
        <p:spPr>
          <a:xfrm>
            <a:off x="1280160" y="5056632"/>
            <a:ext cx="3337560" cy="457200"/>
          </a:xfrm>
          <a:prstGeom prst="rect">
            <a:avLst/>
          </a:prstGeom>
          <a:noFill/>
          <a:ln/>
        </p:spPr>
        <p:txBody>
          <a:bodyPr wrap="square" lIns="0" tIns="0" rIns="0" bIns="0" rtlCol="0" anchor="t"/>
          <a:lstStyle/>
          <a:p>
            <a:pPr marL="0" indent="0">
              <a:buNone/>
            </a:pPr>
            <a:r>
              <a:rPr lang="en-US" sz="1200" dirty="0">
                <a:solidFill>
                  <a:srgbClr val="4A4A4A"/>
                </a:solidFill>
                <a:latin typeface="Calibri" pitchFamily="34" charset="0"/>
                <a:ea typeface="Calibri" pitchFamily="34" charset="-122"/>
                <a:cs typeface="Calibri" pitchFamily="34" charset="-120"/>
              </a:rPr>
              <a:t>Brackets 52.8 MeV/c while allowing energy loss in material</a:t>
            </a:r>
            <a:endParaRPr lang="en-US" sz="1200" dirty="0"/>
          </a:p>
        </p:txBody>
      </p:sp>
      <p:graphicFrame>
        <p:nvGraphicFramePr>
          <p:cNvPr id="22" name="Table 0"/>
          <p:cNvGraphicFramePr>
            <a:graphicFrameLocks noGrp="1"/>
          </p:cNvGraphicFramePr>
          <p:nvPr/>
        </p:nvGraphicFramePr>
        <p:xfrm>
          <a:off x="5074920" y="1508760"/>
          <a:ext cx="6629400" cy="3867912"/>
        </p:xfrm>
        <a:graphic>
          <a:graphicData uri="http://schemas.openxmlformats.org/drawingml/2006/table">
            <a:tbl>
              <a:tblPr/>
              <a:tblGrid>
                <a:gridCol w="2606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42976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Events</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 of stops</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Kept from previous</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extLst>
                  <a:ext uri="{0D108BD9-81ED-4DB2-BD59-A6C34878D82A}">
                    <a16:rowId xmlns:a16="http://schemas.microsoft.com/office/drawing/2014/main" val="10000"/>
                  </a:ext>
                </a:extLst>
              </a:tr>
              <a:tr h="429768">
                <a:tc>
                  <a:txBody>
                    <a:bodyPr/>
                    <a:lstStyle/>
                    <a:p>
                      <a:pPr marL="0" indent="0" algn="l">
                        <a:buNone/>
                      </a:pPr>
                      <a:r>
                        <a:rPr lang="en-US" sz="1300" dirty="0">
                          <a:solidFill>
                            <a:srgbClr val="6A6A6A"/>
                          </a:solidFill>
                          <a:latin typeface="Calibri" pitchFamily="34" charset="0"/>
                          <a:ea typeface="Calibri" pitchFamily="34" charset="-122"/>
                          <a:cs typeface="Calibri" pitchFamily="34" charset="-120"/>
                        </a:rPr>
                        <a:t>Muon stops</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300" dirty="0">
                          <a:solidFill>
                            <a:srgbClr val="6A6A6A"/>
                          </a:solidFill>
                          <a:latin typeface="Calibri" pitchFamily="34" charset="0"/>
                          <a:ea typeface="Calibri" pitchFamily="34" charset="-122"/>
                          <a:cs typeface="Calibri" pitchFamily="34" charset="-120"/>
                        </a:rPr>
                        <a:t>Surviving primaries</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66,545</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66.5%</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66.5%</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1300" dirty="0">
                          <a:solidFill>
                            <a:srgbClr val="6A6A6A"/>
                          </a:solidFill>
                          <a:latin typeface="Calibri" pitchFamily="34" charset="0"/>
                          <a:ea typeface="Calibri" pitchFamily="34" charset="-122"/>
                          <a:cs typeface="Calibri" pitchFamily="34" charset="-120"/>
                        </a:rPr>
                        <a:t>Digitization</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50,792</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50.8%</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76.3%</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300" dirty="0">
                          <a:solidFill>
                            <a:srgbClr val="6A6A6A"/>
                          </a:solidFill>
                          <a:latin typeface="Calibri" pitchFamily="34" charset="0"/>
                          <a:ea typeface="Calibri" pitchFamily="34" charset="-122"/>
                          <a:cs typeface="Calibri" pitchFamily="34" charset="-120"/>
                        </a:rPr>
                        <a:t>Reconstruction</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50,792</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50.8%</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6A6A6A"/>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l">
                        <a:buNone/>
                      </a:pPr>
                      <a:r>
                        <a:rPr lang="en-US" sz="1300" b="1" dirty="0">
                          <a:solidFill>
                            <a:srgbClr val="1A1A1A"/>
                          </a:solidFill>
                          <a:latin typeface="Calibri" pitchFamily="34" charset="0"/>
                          <a:ea typeface="Calibri" pitchFamily="34" charset="-122"/>
                          <a:cs typeface="Calibri" pitchFamily="34" charset="-120"/>
                        </a:rPr>
                        <a:t>Cut 1: Exactly two tracks</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31,221</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31.2%</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61.5%</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extLst>
                  <a:ext uri="{0D108BD9-81ED-4DB2-BD59-A6C34878D82A}">
                    <a16:rowId xmlns:a16="http://schemas.microsoft.com/office/drawing/2014/main" val="10005"/>
                  </a:ext>
                </a:extLst>
              </a:tr>
              <a:tr h="429768">
                <a:tc>
                  <a:txBody>
                    <a:bodyPr/>
                    <a:lstStyle/>
                    <a:p>
                      <a:pPr marL="0" indent="0" algn="l">
                        <a:buNone/>
                      </a:pPr>
                      <a:r>
                        <a:rPr lang="en-US" sz="1300" b="1" dirty="0">
                          <a:solidFill>
                            <a:srgbClr val="1A1A1A"/>
                          </a:solidFill>
                          <a:latin typeface="Calibri" pitchFamily="34" charset="0"/>
                          <a:ea typeface="Calibri" pitchFamily="34" charset="-122"/>
                          <a:cs typeface="Calibri" pitchFamily="34" charset="-120"/>
                        </a:rPr>
                        <a:t>Cut 2: Good calo hit (both)</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23,253</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23.3%</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74.5%</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extLst>
                  <a:ext uri="{0D108BD9-81ED-4DB2-BD59-A6C34878D82A}">
                    <a16:rowId xmlns:a16="http://schemas.microsoft.com/office/drawing/2014/main" val="10006"/>
                  </a:ext>
                </a:extLst>
              </a:tr>
              <a:tr h="429768">
                <a:tc>
                  <a:txBody>
                    <a:bodyPr/>
                    <a:lstStyle/>
                    <a:p>
                      <a:pPr marL="0" indent="0" algn="l">
                        <a:buNone/>
                      </a:pPr>
                      <a:r>
                        <a:rPr lang="en-US" sz="1300" b="1" dirty="0">
                          <a:solidFill>
                            <a:srgbClr val="1A1A1A"/>
                          </a:solidFill>
                          <a:latin typeface="Calibri" pitchFamily="34" charset="0"/>
                          <a:ea typeface="Calibri" pitchFamily="34" charset="-122"/>
                          <a:cs typeface="Calibri" pitchFamily="34" charset="-120"/>
                        </a:rPr>
                        <a:t>Cut 3: Momentum window</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16,771</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16.8%</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72.1%</a:t>
                      </a:r>
                      <a:endParaRPr lang="en-US" sz="13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F4E6E7"/>
                    </a:solidFill>
                  </a:tcPr>
                </a:tc>
                <a:extLst>
                  <a:ext uri="{0D108BD9-81ED-4DB2-BD59-A6C34878D82A}">
                    <a16:rowId xmlns:a16="http://schemas.microsoft.com/office/drawing/2014/main" val="10007"/>
                  </a:ext>
                </a:extLst>
              </a:tr>
              <a:tr h="42976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Final candidates</a:t>
                      </a:r>
                      <a:endParaRPr lang="en-US" sz="14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16,771</a:t>
                      </a:r>
                      <a:endParaRPr lang="en-US" sz="14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16.8%</a:t>
                      </a:r>
                      <a:endParaRPr lang="en-US" sz="14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tc>
                  <a:txBody>
                    <a:bodyPr/>
                    <a:lstStyle/>
                    <a:p>
                      <a:pPr marL="0" indent="0" algn="ctr">
                        <a:buNone/>
                      </a:pPr>
                      <a:endParaRPr lang="en-US" sz="1400" dirty="0">
                        <a:latin typeface="Calibri" charset="0"/>
                        <a:ea typeface="Calibri" charset="0"/>
                        <a:cs typeface="Calibri" charset="0"/>
                      </a:endParaRPr>
                    </a:p>
                  </a:txBody>
                  <a:tcPr marL="109728" marR="109728" marT="0" marB="0" anchor="ctr">
                    <a:lnL w="9525" cap="flat" cmpd="sng" algn="ctr">
                      <a:solidFill>
                        <a:srgbClr val="E3D3D4"/>
                      </a:solidFill>
                      <a:prstDash val="solid"/>
                      <a:round/>
                      <a:headEnd type="none" w="med" len="med"/>
                      <a:tailEnd type="none" w="med" len="med"/>
                    </a:lnL>
                    <a:lnR w="9525" cap="flat" cmpd="sng" algn="ctr">
                      <a:solidFill>
                        <a:srgbClr val="E3D3D4"/>
                      </a:solidFill>
                      <a:prstDash val="solid"/>
                      <a:round/>
                      <a:headEnd type="none" w="med" len="med"/>
                      <a:tailEnd type="none" w="med" len="med"/>
                    </a:lnR>
                    <a:lnT w="9525" cap="flat" cmpd="sng" algn="ctr">
                      <a:solidFill>
                        <a:srgbClr val="E3D3D4"/>
                      </a:solidFill>
                      <a:prstDash val="solid"/>
                      <a:round/>
                      <a:headEnd type="none" w="med" len="med"/>
                      <a:tailEnd type="none" w="med" len="med"/>
                    </a:lnT>
                    <a:lnB w="9525" cap="flat" cmpd="sng" algn="ctr">
                      <a:solidFill>
                        <a:srgbClr val="E3D3D4"/>
                      </a:solidFill>
                      <a:prstDash val="solid"/>
                      <a:round/>
                      <a:headEnd type="none" w="med" len="med"/>
                      <a:tailEnd type="none" w="med" len="med"/>
                    </a:lnB>
                    <a:solidFill>
                      <a:srgbClr val="73000A"/>
                    </a:solidFill>
                  </a:tcPr>
                </a:tc>
                <a:extLst>
                  <a:ext uri="{0D108BD9-81ED-4DB2-BD59-A6C34878D82A}">
                    <a16:rowId xmlns:a16="http://schemas.microsoft.com/office/drawing/2014/main" val="10008"/>
                  </a:ext>
                </a:extLst>
              </a:tr>
            </a:tbl>
          </a:graphicData>
        </a:graphic>
      </p:graphicFrame>
      <p:sp>
        <p:nvSpPr>
          <p:cNvPr id="23" name="Text 20"/>
          <p:cNvSpPr txBox="1"/>
          <p:nvPr/>
        </p:nvSpPr>
        <p:spPr>
          <a:xfrm>
            <a:off x="5074920" y="5486400"/>
            <a:ext cx="6629400" cy="274320"/>
          </a:xfrm>
          <a:prstGeom prst="rect">
            <a:avLst/>
          </a:prstGeom>
          <a:noFill/>
          <a:ln/>
        </p:spPr>
        <p:txBody>
          <a:bodyPr wrap="square" lIns="0" tIns="0" rIns="0" bIns="0" rtlCol="0" anchor="ctr"/>
          <a:lstStyle/>
          <a:p>
            <a:pPr marL="0" indent="0">
              <a:buNone/>
            </a:pPr>
            <a:r>
              <a:rPr lang="en-US" sz="1100" i="1" dirty="0">
                <a:solidFill>
                  <a:srgbClr val="6A6A6A"/>
                </a:solidFill>
                <a:latin typeface="Calibri" pitchFamily="34" charset="0"/>
                <a:ea typeface="Calibri" pitchFamily="34" charset="-122"/>
                <a:cs typeface="Calibri" pitchFamily="34" charset="-120"/>
              </a:rPr>
              <a:t>Pure-signal sample: 100,000 μ⁻e⁻ → e⁻e⁻ events thrown from muon stops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Reconstructed Momentum Cut Progression</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The momentum window keeps the reconstructed peak and drops the energy-loss tail</a:t>
            </a:r>
            <a:endParaRPr lang="en-US" sz="1600" dirty="0"/>
          </a:p>
        </p:txBody>
      </p:sp>
      <p:pic>
        <p:nvPicPr>
          <p:cNvPr id="4" name="Image 0" descr="Reconstructed momentum histogram with successive cuts"/>
          <p:cNvPicPr>
            <a:picLocks noChangeAspect="1"/>
          </p:cNvPicPr>
          <p:nvPr/>
        </p:nvPicPr>
        <p:blipFill>
          <a:blip r:embed="rId3"/>
          <a:stretch>
            <a:fillRect/>
          </a:stretch>
        </p:blipFill>
        <p:spPr>
          <a:xfrm>
            <a:off x="457200" y="1463040"/>
            <a:ext cx="7216682" cy="4572000"/>
          </a:xfrm>
          <a:prstGeom prst="rect">
            <a:avLst/>
          </a:prstGeom>
        </p:spPr>
      </p:pic>
      <p:sp>
        <p:nvSpPr>
          <p:cNvPr id="5" name="Momentum window band"/>
          <p:cNvSpPr/>
          <p:nvPr/>
        </p:nvSpPr>
        <p:spPr>
          <a:xfrm>
            <a:off x="5366361" y="1506082"/>
            <a:ext cx="621237" cy="4041151"/>
          </a:xfrm>
          <a:prstGeom prst="rect">
            <a:avLst/>
          </a:prstGeom>
          <a:solidFill>
            <a:srgbClr val="73000A">
              <a:alpha val="12000"/>
            </a:srgbClr>
          </a:solidFill>
          <a:ln/>
        </p:spPr>
        <p:txBody>
          <a:bodyPr/>
          <a:lstStyle/>
          <a:p>
            <a:endParaRPr lang="en-US"/>
          </a:p>
        </p:txBody>
      </p:sp>
      <p:sp>
        <p:nvSpPr>
          <p:cNvPr id="6" name="Text 3"/>
          <p:cNvSpPr txBox="1"/>
          <p:nvPr/>
        </p:nvSpPr>
        <p:spPr>
          <a:xfrm>
            <a:off x="5183481" y="1551802"/>
            <a:ext cx="986997" cy="256032"/>
          </a:xfrm>
          <a:prstGeom prst="rect">
            <a:avLst/>
          </a:prstGeom>
          <a:noFill/>
          <a:ln/>
        </p:spPr>
        <p:txBody>
          <a:bodyPr wrap="square" lIns="0" tIns="0" rIns="0" bIns="0" rtlCol="0" anchor="ctr"/>
          <a:lstStyle/>
          <a:p>
            <a:pPr marL="0" indent="0" algn="ctr">
              <a:buNone/>
            </a:pPr>
            <a:r>
              <a:rPr lang="en-US" sz="1100" b="1" dirty="0">
                <a:solidFill>
                  <a:srgbClr val="73000A"/>
                </a:solidFill>
                <a:latin typeface="Calibri" pitchFamily="34" charset="0"/>
                <a:ea typeface="Calibri" pitchFamily="34" charset="-122"/>
                <a:cs typeface="Calibri" pitchFamily="34" charset="-120"/>
              </a:rPr>
              <a:t>Cut 3 window</a:t>
            </a:r>
            <a:endParaRPr lang="en-US" sz="1100" dirty="0"/>
          </a:p>
        </p:txBody>
      </p:sp>
      <p:sp>
        <p:nvSpPr>
          <p:cNvPr id="7" name="Shape 4"/>
          <p:cNvSpPr/>
          <p:nvPr/>
        </p:nvSpPr>
        <p:spPr>
          <a:xfrm>
            <a:off x="7948202" y="1463040"/>
            <a:ext cx="3783550" cy="4572000"/>
          </a:xfrm>
          <a:prstGeom prst="roundRect">
            <a:avLst>
              <a:gd name="adj" fmla="val 2417"/>
            </a:avLst>
          </a:prstGeom>
          <a:solidFill>
            <a:srgbClr val="F4F0F0"/>
          </a:solidFill>
          <a:ln/>
        </p:spPr>
        <p:txBody>
          <a:bodyPr/>
          <a:lstStyle/>
          <a:p>
            <a:endParaRPr lang="en-US"/>
          </a:p>
        </p:txBody>
      </p:sp>
      <p:sp>
        <p:nvSpPr>
          <p:cNvPr id="8" name="Text 5"/>
          <p:cNvSpPr txBox="1"/>
          <p:nvPr/>
        </p:nvSpPr>
        <p:spPr>
          <a:xfrm>
            <a:off x="8176802" y="1572768"/>
            <a:ext cx="3417790" cy="329184"/>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How to read it</a:t>
            </a:r>
            <a:endParaRPr lang="en-US" sz="1500" dirty="0"/>
          </a:p>
        </p:txBody>
      </p:sp>
      <p:sp>
        <p:nvSpPr>
          <p:cNvPr id="9" name="Shape 6"/>
          <p:cNvSpPr/>
          <p:nvPr/>
        </p:nvSpPr>
        <p:spPr>
          <a:xfrm>
            <a:off x="8204234" y="2139696"/>
            <a:ext cx="365760" cy="0"/>
          </a:xfrm>
          <a:prstGeom prst="line">
            <a:avLst/>
          </a:prstGeom>
          <a:noFill/>
          <a:ln w="31750">
            <a:solidFill>
              <a:srgbClr val="000000"/>
            </a:solidFill>
            <a:prstDash val="solid"/>
          </a:ln>
        </p:spPr>
        <p:txBody>
          <a:bodyPr/>
          <a:lstStyle/>
          <a:p>
            <a:endParaRPr lang="en-US"/>
          </a:p>
        </p:txBody>
      </p:sp>
      <p:sp>
        <p:nvSpPr>
          <p:cNvPr id="10" name="Text 7"/>
          <p:cNvSpPr txBox="1"/>
          <p:nvPr/>
        </p:nvSpPr>
        <p:spPr>
          <a:xfrm>
            <a:off x="8679722" y="2011680"/>
            <a:ext cx="2869150" cy="256032"/>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MC truth, generated e⁻</a:t>
            </a:r>
            <a:endParaRPr lang="en-US" sz="1200" dirty="0"/>
          </a:p>
        </p:txBody>
      </p:sp>
      <p:sp>
        <p:nvSpPr>
          <p:cNvPr id="11" name="Shape 8"/>
          <p:cNvSpPr/>
          <p:nvPr/>
        </p:nvSpPr>
        <p:spPr>
          <a:xfrm>
            <a:off x="8204234" y="2450592"/>
            <a:ext cx="365760" cy="0"/>
          </a:xfrm>
          <a:prstGeom prst="line">
            <a:avLst/>
          </a:prstGeom>
          <a:noFill/>
          <a:ln w="31750">
            <a:solidFill>
              <a:srgbClr val="3FA3A3"/>
            </a:solidFill>
            <a:prstDash val="solid"/>
          </a:ln>
        </p:spPr>
        <p:txBody>
          <a:bodyPr/>
          <a:lstStyle/>
          <a:p>
            <a:endParaRPr lang="en-US"/>
          </a:p>
        </p:txBody>
      </p:sp>
      <p:sp>
        <p:nvSpPr>
          <p:cNvPr id="12" name="Text 9"/>
          <p:cNvSpPr txBox="1"/>
          <p:nvPr/>
        </p:nvSpPr>
        <p:spPr>
          <a:xfrm>
            <a:off x="8679722" y="2322576"/>
            <a:ext cx="2869150" cy="256032"/>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All reconstructed e⁻</a:t>
            </a:r>
            <a:endParaRPr lang="en-US" sz="1200" dirty="0"/>
          </a:p>
        </p:txBody>
      </p:sp>
      <p:sp>
        <p:nvSpPr>
          <p:cNvPr id="13" name="Shape 10"/>
          <p:cNvSpPr/>
          <p:nvPr/>
        </p:nvSpPr>
        <p:spPr>
          <a:xfrm>
            <a:off x="8204234" y="2761488"/>
            <a:ext cx="365760" cy="0"/>
          </a:xfrm>
          <a:prstGeom prst="line">
            <a:avLst/>
          </a:prstGeom>
          <a:noFill/>
          <a:ln w="31750">
            <a:solidFill>
              <a:srgbClr val="1F3FD1"/>
            </a:solidFill>
            <a:prstDash val="solid"/>
          </a:ln>
        </p:spPr>
        <p:txBody>
          <a:bodyPr/>
          <a:lstStyle/>
          <a:p>
            <a:endParaRPr lang="en-US"/>
          </a:p>
        </p:txBody>
      </p:sp>
      <p:sp>
        <p:nvSpPr>
          <p:cNvPr id="14" name="Text 11"/>
          <p:cNvSpPr txBox="1"/>
          <p:nvPr/>
        </p:nvSpPr>
        <p:spPr>
          <a:xfrm>
            <a:off x="8679722" y="2633472"/>
            <a:ext cx="2869150" cy="256032"/>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Cut 1: exactly two tracks</a:t>
            </a:r>
            <a:endParaRPr lang="en-US" sz="1200" dirty="0"/>
          </a:p>
        </p:txBody>
      </p:sp>
      <p:sp>
        <p:nvSpPr>
          <p:cNvPr id="15" name="Shape 12"/>
          <p:cNvSpPr/>
          <p:nvPr/>
        </p:nvSpPr>
        <p:spPr>
          <a:xfrm>
            <a:off x="8204234" y="3072384"/>
            <a:ext cx="365760" cy="0"/>
          </a:xfrm>
          <a:prstGeom prst="line">
            <a:avLst/>
          </a:prstGeom>
          <a:noFill/>
          <a:ln w="31750">
            <a:solidFill>
              <a:srgbClr val="F0802A"/>
            </a:solidFill>
            <a:prstDash val="solid"/>
          </a:ln>
        </p:spPr>
        <p:txBody>
          <a:bodyPr/>
          <a:lstStyle/>
          <a:p>
            <a:endParaRPr lang="en-US"/>
          </a:p>
        </p:txBody>
      </p:sp>
      <p:sp>
        <p:nvSpPr>
          <p:cNvPr id="16" name="Text 13"/>
          <p:cNvSpPr txBox="1"/>
          <p:nvPr/>
        </p:nvSpPr>
        <p:spPr>
          <a:xfrm>
            <a:off x="8679722" y="2944368"/>
            <a:ext cx="2869150" cy="256032"/>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Cut 2: + good calo hit</a:t>
            </a:r>
            <a:endParaRPr lang="en-US" sz="1200" dirty="0"/>
          </a:p>
        </p:txBody>
      </p:sp>
      <p:sp>
        <p:nvSpPr>
          <p:cNvPr id="17" name="Shape 14"/>
          <p:cNvSpPr/>
          <p:nvPr/>
        </p:nvSpPr>
        <p:spPr>
          <a:xfrm>
            <a:off x="8204234" y="3383280"/>
            <a:ext cx="365760" cy="0"/>
          </a:xfrm>
          <a:prstGeom prst="line">
            <a:avLst/>
          </a:prstGeom>
          <a:noFill/>
          <a:ln w="31750">
            <a:solidFill>
              <a:srgbClr val="C0281E"/>
            </a:solidFill>
            <a:prstDash val="solid"/>
          </a:ln>
        </p:spPr>
        <p:txBody>
          <a:bodyPr/>
          <a:lstStyle/>
          <a:p>
            <a:endParaRPr lang="en-US"/>
          </a:p>
        </p:txBody>
      </p:sp>
      <p:sp>
        <p:nvSpPr>
          <p:cNvPr id="18" name="Text 15"/>
          <p:cNvSpPr txBox="1"/>
          <p:nvPr/>
        </p:nvSpPr>
        <p:spPr>
          <a:xfrm>
            <a:off x="8679722" y="3255264"/>
            <a:ext cx="2869150" cy="256032"/>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Cut 3: + 50 ≤ p ≤ 53 MeV/c</a:t>
            </a:r>
            <a:endParaRPr lang="en-US" sz="1200" dirty="0"/>
          </a:p>
        </p:txBody>
      </p:sp>
      <p:sp>
        <p:nvSpPr>
          <p:cNvPr id="19" name="Text 16"/>
          <p:cNvSpPr txBox="1"/>
          <p:nvPr/>
        </p:nvSpPr>
        <p:spPr>
          <a:xfrm>
            <a:off x="8176802" y="3657600"/>
            <a:ext cx="3417790" cy="329184"/>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Takeaways</a:t>
            </a:r>
            <a:endParaRPr lang="en-US" sz="1500" dirty="0"/>
          </a:p>
        </p:txBody>
      </p:sp>
      <p:sp>
        <p:nvSpPr>
          <p:cNvPr id="20" name="Text 17"/>
          <p:cNvSpPr txBox="1"/>
          <p:nvPr/>
        </p:nvSpPr>
        <p:spPr>
          <a:xfrm>
            <a:off x="8176802" y="4041648"/>
            <a:ext cx="3372070" cy="19202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Truth sits in a single bin at 52.8 MeV/c</a:t>
            </a:r>
            <a:endParaRPr lang="en-US" sz="1200" dirty="0"/>
          </a:p>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Reconstructed tracks peak just below it, shifted by energy loss in material</a:t>
            </a:r>
            <a:endParaRPr lang="en-US" sz="1200" dirty="0"/>
          </a:p>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Cuts 1 and 2 lower the spectrum without shifting the peak</a:t>
            </a:r>
            <a:endParaRPr lang="en-US" sz="1200" dirty="0"/>
          </a:p>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Cut 3 removes the low-momentum tail</a:t>
            </a:r>
            <a:endParaRPr lang="en-US" sz="1200" dirty="0"/>
          </a:p>
        </p:txBody>
      </p:sp>
      <p:sp>
        <p:nvSpPr>
          <p:cNvPr id="21" name="Text 18"/>
          <p:cNvSpPr txBox="1"/>
          <p:nvPr/>
        </p:nvSpPr>
        <p:spPr>
          <a:xfrm>
            <a:off x="457200" y="6080760"/>
            <a:ext cx="7216682" cy="228600"/>
          </a:xfrm>
          <a:prstGeom prst="rect">
            <a:avLst/>
          </a:prstGeom>
          <a:noFill/>
          <a:ln/>
        </p:spPr>
        <p:txBody>
          <a:bodyPr wrap="square" lIns="0" tIns="0" rIns="0" bIns="0" rtlCol="0" anchor="ctr"/>
          <a:lstStyle/>
          <a:p>
            <a:pPr marL="0" indent="0">
              <a:buNone/>
            </a:pPr>
            <a:r>
              <a:rPr lang="en-US" sz="1100" i="1" dirty="0">
                <a:solidFill>
                  <a:srgbClr val="6A6A6A"/>
                </a:solidFill>
                <a:latin typeface="Calibri" pitchFamily="34" charset="0"/>
                <a:ea typeface="Calibri" pitchFamily="34" charset="-122"/>
                <a:cs typeface="Calibri" pitchFamily="34" charset="-120"/>
              </a:rPr>
              <a:t>Log scale: tracks per bin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Initial Vertexing Procedure for Finding a Common Origin Position (Part 1)</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Each track becomes a straight line through its stopping-foil intersection</a:t>
            </a:r>
            <a:endParaRPr lang="en-US" sz="1600" dirty="0"/>
          </a:p>
        </p:txBody>
      </p:sp>
      <p:sp>
        <p:nvSpPr>
          <p:cNvPr id="4" name="Shape 2"/>
          <p:cNvSpPr/>
          <p:nvPr/>
        </p:nvSpPr>
        <p:spPr>
          <a:xfrm>
            <a:off x="548640" y="1463040"/>
            <a:ext cx="3566160" cy="3429000"/>
          </a:xfrm>
          <a:prstGeom prst="roundRect">
            <a:avLst>
              <a:gd name="adj" fmla="val 2667"/>
            </a:avLst>
          </a:prstGeom>
          <a:solidFill>
            <a:srgbClr val="F4F0F0"/>
          </a:solidFill>
          <a:ln/>
        </p:spPr>
        <p:txBody>
          <a:bodyPr/>
          <a:lstStyle/>
          <a:p>
            <a:endParaRPr lang="en-US"/>
          </a:p>
        </p:txBody>
      </p:sp>
      <p:sp>
        <p:nvSpPr>
          <p:cNvPr id="5" name="Text 3"/>
          <p:cNvSpPr txBox="1"/>
          <p:nvPr/>
        </p:nvSpPr>
        <p:spPr>
          <a:xfrm>
            <a:off x="777240" y="1600200"/>
            <a:ext cx="3200400" cy="365760"/>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Inputs from the ntuple</a:t>
            </a:r>
            <a:endParaRPr lang="en-US" sz="1600" dirty="0"/>
          </a:p>
        </p:txBody>
      </p:sp>
      <mc:AlternateContent xmlns:mc="http://schemas.openxmlformats.org/markup-compatibility/2006">
        <mc:Choice xmlns:a14="http://schemas.microsoft.com/office/drawing/2010/main" Requires="a14">
          <p:sp>
            <p:nvSpPr>
              <p:cNvPr id="6" name="Text 4"/>
              <p:cNvSpPr txBox="1"/>
              <p:nvPr/>
            </p:nvSpPr>
            <p:spPr>
              <a:xfrm>
                <a:off x="777240" y="2057400"/>
                <a:ext cx="3154680" cy="37490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Track segments store an intersection position </a:t>
                </a:r>
                <a14:m>
                  <m:oMath xmlns:m="http://schemas.openxmlformats.org/officeDocument/2006/math">
                    <m:acc>
                      <m:accPr>
                        <m:chr m:val="⃑"/>
                        <m:ctrlPr>
                          <a:rPr lang="en-US" sz="1400" i="1" smtClean="0">
                            <a:solidFill>
                              <a:srgbClr val="333333"/>
                            </a:solidFill>
                            <a:latin typeface="Cambria Math" panose="02040503050406030204" pitchFamily="18" charset="0"/>
                            <a:cs typeface="Calibri" pitchFamily="34" charset="-120"/>
                          </a:rPr>
                        </m:ctrlPr>
                      </m:accPr>
                      <m:e>
                        <m:sSub>
                          <m:sSubPr>
                            <m:ctrlPr>
                              <a:rPr lang="en-US" sz="1400" i="1" smtClean="0">
                                <a:solidFill>
                                  <a:srgbClr val="333333"/>
                                </a:solidFill>
                                <a:latin typeface="Cambria Math" panose="02040503050406030204" pitchFamily="18" charset="0"/>
                                <a:cs typeface="Calibri" pitchFamily="34" charset="-120"/>
                              </a:rPr>
                            </m:ctrlPr>
                          </m:sSubPr>
                          <m:e>
                            <m:r>
                              <a:rPr lang="en-US" sz="1400" b="0" i="1" smtClean="0">
                                <a:solidFill>
                                  <a:srgbClr val="333333"/>
                                </a:solidFill>
                                <a:latin typeface="Cambria Math" panose="02040503050406030204" pitchFamily="18" charset="0"/>
                                <a:cs typeface="Calibri" pitchFamily="34" charset="-120"/>
                              </a:rPr>
                              <m:t>𝑟</m:t>
                            </m:r>
                          </m:e>
                          <m:sub>
                            <m:r>
                              <a:rPr lang="en-US" sz="1400" b="0" i="1" smtClean="0">
                                <a:solidFill>
                                  <a:srgbClr val="333333"/>
                                </a:solidFill>
                                <a:latin typeface="Cambria Math" panose="02040503050406030204" pitchFamily="18" charset="0"/>
                                <a:cs typeface="Calibri" pitchFamily="34" charset="-120"/>
                              </a:rPr>
                              <m:t>0</m:t>
                            </m:r>
                          </m:sub>
                        </m:sSub>
                      </m:e>
                    </m:acc>
                  </m:oMath>
                </a14:m>
                <a:r>
                  <a:rPr lang="en-US" sz="1400" dirty="0">
                    <a:solidFill>
                      <a:srgbClr val="333333"/>
                    </a:solidFill>
                    <a:latin typeface="Calibri" pitchFamily="34" charset="0"/>
                    <a:ea typeface="Calibri" pitchFamily="34" charset="-122"/>
                    <a:cs typeface="Calibri" pitchFamily="34" charset="-120"/>
                  </a:rPr>
                  <a:t> and momentum </a:t>
                </a:r>
                <a14:m>
                  <m:oMath xmlns:m="http://schemas.openxmlformats.org/officeDocument/2006/math">
                    <m:acc>
                      <m:accPr>
                        <m:chr m:val="⃑"/>
                        <m:ctrlPr>
                          <a:rPr lang="en-US" sz="1400" i="1" smtClean="0">
                            <a:solidFill>
                              <a:srgbClr val="333333"/>
                            </a:solidFill>
                            <a:latin typeface="Cambria Math" panose="02040503050406030204" pitchFamily="18" charset="0"/>
                            <a:cs typeface="Calibri" pitchFamily="34" charset="-120"/>
                          </a:rPr>
                        </m:ctrlPr>
                      </m:accPr>
                      <m:e>
                        <m:r>
                          <a:rPr lang="en-US" sz="1400" b="0" i="1" smtClean="0">
                            <a:solidFill>
                              <a:srgbClr val="333333"/>
                            </a:solidFill>
                            <a:latin typeface="Cambria Math" panose="02040503050406030204" pitchFamily="18" charset="0"/>
                            <a:cs typeface="Calibri" pitchFamily="34" charset="-120"/>
                          </a:rPr>
                          <m:t>𝑝</m:t>
                        </m:r>
                      </m:e>
                    </m:acc>
                  </m:oMath>
                </a14:m>
                <a:r>
                  <a:rPr lang="en-US" sz="1400" dirty="0">
                    <a:solidFill>
                      <a:srgbClr val="333333"/>
                    </a:solidFill>
                    <a:latin typeface="Calibri" pitchFamily="34" charset="0"/>
                    <a:ea typeface="Calibri" pitchFamily="34" charset="-122"/>
                    <a:cs typeface="Calibri" pitchFamily="34" charset="-120"/>
                  </a:rPr>
                  <a:t> at each surface through which the reconstruction parameterization passes</a:t>
                </a:r>
                <a:endParaRPr lang="en-US" sz="1400" dirty="0"/>
              </a:p>
              <a:p>
                <a:pPr marL="342900" indent="-342900">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Keep the stopping foil both tracks intersect</a:t>
                </a:r>
                <a:endParaRPr lang="en-US" sz="1400" dirty="0"/>
              </a:p>
              <a:p>
                <a:pPr marL="342900" indent="-342900">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Several shared foils: take the smallest time separation</a:t>
                </a:r>
                <a:endParaRPr lang="en-US" sz="1400" dirty="0"/>
              </a:p>
              <a:p>
                <a:pPr marL="342900" indent="-342900">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Unit direction: </a:t>
                </a:r>
                <a14:m>
                  <m:oMath xmlns:m="http://schemas.openxmlformats.org/officeDocument/2006/math">
                    <m:acc>
                      <m:accPr>
                        <m:chr m:val="̂"/>
                        <m:ctrlPr>
                          <a:rPr lang="en-US" sz="1400" i="1" smtClean="0">
                            <a:solidFill>
                              <a:srgbClr val="333333"/>
                            </a:solidFill>
                            <a:latin typeface="Cambria Math" panose="02040503050406030204" pitchFamily="18" charset="0"/>
                            <a:cs typeface="Calibri" pitchFamily="34" charset="-120"/>
                          </a:rPr>
                        </m:ctrlPr>
                      </m:accPr>
                      <m:e>
                        <m:sSub>
                          <m:sSubPr>
                            <m:ctrlPr>
                              <a:rPr lang="en-US" sz="1400" i="1" smtClean="0">
                                <a:solidFill>
                                  <a:srgbClr val="333333"/>
                                </a:solidFill>
                                <a:latin typeface="Cambria Math" panose="02040503050406030204" pitchFamily="18" charset="0"/>
                                <a:cs typeface="Calibri" pitchFamily="34" charset="-120"/>
                              </a:rPr>
                            </m:ctrlPr>
                          </m:sSubPr>
                          <m:e>
                            <m:r>
                              <a:rPr lang="en-US" sz="1400" b="0" i="1" smtClean="0">
                                <a:solidFill>
                                  <a:srgbClr val="333333"/>
                                </a:solidFill>
                                <a:latin typeface="Cambria Math" panose="02040503050406030204" pitchFamily="18" charset="0"/>
                                <a:cs typeface="Calibri" pitchFamily="34" charset="-120"/>
                              </a:rPr>
                              <m:t>𝑝</m:t>
                            </m:r>
                          </m:e>
                          <m:sub>
                            <m:r>
                              <a:rPr lang="en-US" sz="1400" b="0" i="1" smtClean="0">
                                <a:solidFill>
                                  <a:srgbClr val="333333"/>
                                </a:solidFill>
                                <a:latin typeface="Cambria Math" panose="02040503050406030204" pitchFamily="18" charset="0"/>
                                <a:cs typeface="Calibri" pitchFamily="34" charset="-120"/>
                              </a:rPr>
                              <m:t>𝑖</m:t>
                            </m:r>
                          </m:sub>
                        </m:sSub>
                      </m:e>
                    </m:acc>
                    <m:r>
                      <a:rPr lang="en-US" sz="1400" b="0" i="1" smtClean="0">
                        <a:solidFill>
                          <a:srgbClr val="333333"/>
                        </a:solidFill>
                        <a:latin typeface="Cambria Math" panose="02040503050406030204" pitchFamily="18" charset="0"/>
                        <a:cs typeface="Calibri" pitchFamily="34" charset="-120"/>
                      </a:rPr>
                      <m:t>=</m:t>
                    </m:r>
                    <m:f>
                      <m:fPr>
                        <m:ctrlPr>
                          <a:rPr lang="en-US" sz="1400" b="0" i="1" smtClean="0">
                            <a:solidFill>
                              <a:srgbClr val="333333"/>
                            </a:solidFill>
                            <a:latin typeface="Cambria Math" panose="02040503050406030204" pitchFamily="18" charset="0"/>
                            <a:cs typeface="Calibri" pitchFamily="34" charset="-120"/>
                          </a:rPr>
                        </m:ctrlPr>
                      </m:fPr>
                      <m:num>
                        <m:acc>
                          <m:accPr>
                            <m:chr m:val="⃑"/>
                            <m:ctrlPr>
                              <a:rPr lang="en-US" sz="1400" b="0" i="1" smtClean="0">
                                <a:solidFill>
                                  <a:srgbClr val="333333"/>
                                </a:solidFill>
                                <a:latin typeface="Cambria Math" panose="02040503050406030204" pitchFamily="18" charset="0"/>
                                <a:cs typeface="Calibri" pitchFamily="34" charset="-120"/>
                              </a:rPr>
                            </m:ctrlPr>
                          </m:accPr>
                          <m:e>
                            <m:sSub>
                              <m:sSubPr>
                                <m:ctrlPr>
                                  <a:rPr lang="en-US" sz="1400" b="0" i="1" smtClean="0">
                                    <a:solidFill>
                                      <a:srgbClr val="333333"/>
                                    </a:solidFill>
                                    <a:latin typeface="Cambria Math" panose="02040503050406030204" pitchFamily="18" charset="0"/>
                                    <a:cs typeface="Calibri" pitchFamily="34" charset="-120"/>
                                  </a:rPr>
                                </m:ctrlPr>
                              </m:sSubPr>
                              <m:e>
                                <m:r>
                                  <a:rPr lang="en-US" sz="1400" b="0" i="1" smtClean="0">
                                    <a:solidFill>
                                      <a:srgbClr val="333333"/>
                                    </a:solidFill>
                                    <a:latin typeface="Cambria Math" panose="02040503050406030204" pitchFamily="18" charset="0"/>
                                    <a:cs typeface="Calibri" pitchFamily="34" charset="-120"/>
                                  </a:rPr>
                                  <m:t>𝑝</m:t>
                                </m:r>
                              </m:e>
                              <m:sub>
                                <m:r>
                                  <a:rPr lang="en-US" sz="1400" b="0" i="1" smtClean="0">
                                    <a:solidFill>
                                      <a:srgbClr val="333333"/>
                                    </a:solidFill>
                                    <a:latin typeface="Cambria Math" panose="02040503050406030204" pitchFamily="18" charset="0"/>
                                    <a:cs typeface="Calibri" pitchFamily="34" charset="-120"/>
                                  </a:rPr>
                                  <m:t>𝑖</m:t>
                                </m:r>
                              </m:sub>
                            </m:sSub>
                          </m:e>
                        </m:acc>
                      </m:num>
                      <m:den>
                        <m:d>
                          <m:dPr>
                            <m:begChr m:val="|"/>
                            <m:endChr m:val="|"/>
                            <m:ctrlPr>
                              <a:rPr lang="en-US" sz="1400" b="0" i="1" smtClean="0">
                                <a:solidFill>
                                  <a:srgbClr val="333333"/>
                                </a:solidFill>
                                <a:latin typeface="Cambria Math" panose="02040503050406030204" pitchFamily="18" charset="0"/>
                                <a:cs typeface="Calibri" pitchFamily="34" charset="-120"/>
                              </a:rPr>
                            </m:ctrlPr>
                          </m:dPr>
                          <m:e>
                            <m:acc>
                              <m:accPr>
                                <m:chr m:val="⃑"/>
                                <m:ctrlPr>
                                  <a:rPr lang="en-US" sz="1400" b="0" i="1" smtClean="0">
                                    <a:solidFill>
                                      <a:srgbClr val="333333"/>
                                    </a:solidFill>
                                    <a:latin typeface="Cambria Math" panose="02040503050406030204" pitchFamily="18" charset="0"/>
                                    <a:cs typeface="Calibri" pitchFamily="34" charset="-120"/>
                                  </a:rPr>
                                </m:ctrlPr>
                              </m:accPr>
                              <m:e>
                                <m:sSub>
                                  <m:sSubPr>
                                    <m:ctrlPr>
                                      <a:rPr lang="en-US" sz="1400" b="0" i="1" smtClean="0">
                                        <a:solidFill>
                                          <a:srgbClr val="333333"/>
                                        </a:solidFill>
                                        <a:latin typeface="Cambria Math" panose="02040503050406030204" pitchFamily="18" charset="0"/>
                                        <a:cs typeface="Calibri" pitchFamily="34" charset="-120"/>
                                      </a:rPr>
                                    </m:ctrlPr>
                                  </m:sSubPr>
                                  <m:e>
                                    <m:r>
                                      <a:rPr lang="en-US" sz="1400" b="0" i="1" smtClean="0">
                                        <a:solidFill>
                                          <a:srgbClr val="333333"/>
                                        </a:solidFill>
                                        <a:latin typeface="Cambria Math" panose="02040503050406030204" pitchFamily="18" charset="0"/>
                                        <a:cs typeface="Calibri" pitchFamily="34" charset="-120"/>
                                      </a:rPr>
                                      <m:t>𝑝</m:t>
                                    </m:r>
                                  </m:e>
                                  <m:sub>
                                    <m:r>
                                      <a:rPr lang="en-US" sz="1400" b="0" i="1" smtClean="0">
                                        <a:solidFill>
                                          <a:srgbClr val="333333"/>
                                        </a:solidFill>
                                        <a:latin typeface="Cambria Math" panose="02040503050406030204" pitchFamily="18" charset="0"/>
                                        <a:cs typeface="Calibri" pitchFamily="34" charset="-120"/>
                                      </a:rPr>
                                      <m:t>𝑖</m:t>
                                    </m:r>
                                  </m:sub>
                                </m:sSub>
                              </m:e>
                            </m:acc>
                          </m:e>
                        </m:d>
                      </m:den>
                    </m:f>
                  </m:oMath>
                </a14:m>
                <a:endParaRPr lang="en-US" sz="1400" dirty="0">
                  <a:solidFill>
                    <a:srgbClr val="333333"/>
                  </a:solidFill>
                  <a:latin typeface="Calibri" pitchFamily="34" charset="0"/>
                  <a:ea typeface="Calibri" pitchFamily="34" charset="-122"/>
                  <a:cs typeface="Calibri" pitchFamily="34" charset="-120"/>
                </a:endParaRPr>
              </a:p>
              <a:p>
                <a:pPr marL="342900" indent="-342900">
                  <a:spcAft>
                    <a:spcPts val="1000"/>
                  </a:spcAft>
                  <a:buSzPct val="100000"/>
                  <a:buChar char="•"/>
                </a:pPr>
                <a14:m>
                  <m:oMath xmlns:m="http://schemas.openxmlformats.org/officeDocument/2006/math">
                    <m:r>
                      <a:rPr lang="en-US" sz="1400" i="1" dirty="0" smtClean="0">
                        <a:solidFill>
                          <a:srgbClr val="333333"/>
                        </a:solidFill>
                        <a:latin typeface="Cambria Math" panose="02040503050406030204" pitchFamily="18" charset="0"/>
                        <a:ea typeface="Calibri" pitchFamily="34" charset="-122"/>
                        <a:cs typeface="Calibri" pitchFamily="34" charset="-120"/>
                      </a:rPr>
                      <m:t>𝑠</m:t>
                    </m:r>
                  </m:oMath>
                </a14:m>
                <a:r>
                  <a:rPr lang="en-US" sz="1400" dirty="0">
                    <a:solidFill>
                      <a:srgbClr val="333333"/>
                    </a:solidFill>
                    <a:latin typeface="Calibri" pitchFamily="34" charset="0"/>
                    <a:ea typeface="Calibri" pitchFamily="34" charset="-122"/>
                    <a:cs typeface="Calibri" pitchFamily="34" charset="-120"/>
                  </a:rPr>
                  <a:t> and </a:t>
                </a:r>
                <a14:m>
                  <m:oMath xmlns:m="http://schemas.openxmlformats.org/officeDocument/2006/math">
                    <m:r>
                      <a:rPr lang="en-US" sz="1400" i="1" dirty="0" smtClean="0">
                        <a:solidFill>
                          <a:srgbClr val="333333"/>
                        </a:solidFill>
                        <a:latin typeface="Cambria Math" panose="02040503050406030204" pitchFamily="18" charset="0"/>
                        <a:ea typeface="Calibri" pitchFamily="34" charset="-122"/>
                        <a:cs typeface="Calibri" pitchFamily="34" charset="-120"/>
                      </a:rPr>
                      <m:t>𝑡</m:t>
                    </m:r>
                  </m:oMath>
                </a14:m>
                <a:r>
                  <a:rPr lang="en-US" sz="1400" dirty="0">
                    <a:solidFill>
                      <a:srgbClr val="333333"/>
                    </a:solidFill>
                    <a:latin typeface="Calibri" pitchFamily="34" charset="0"/>
                    <a:ea typeface="Calibri" pitchFamily="34" charset="-122"/>
                    <a:cs typeface="Calibri" pitchFamily="34" charset="-120"/>
                  </a:rPr>
                  <a:t> carry units of length (mm), since </a:t>
                </a:r>
                <a14:m>
                  <m:oMath xmlns:m="http://schemas.openxmlformats.org/officeDocument/2006/math">
                    <m:acc>
                      <m:accPr>
                        <m:chr m:val="̂"/>
                        <m:ctrlPr>
                          <a:rPr lang="en-US" sz="1400" i="1" smtClean="0">
                            <a:solidFill>
                              <a:srgbClr val="333333"/>
                            </a:solidFill>
                            <a:latin typeface="Cambria Math" panose="02040503050406030204" pitchFamily="18" charset="0"/>
                            <a:cs typeface="Calibri" pitchFamily="34" charset="-120"/>
                          </a:rPr>
                        </m:ctrlPr>
                      </m:accPr>
                      <m:e>
                        <m:sSub>
                          <m:sSubPr>
                            <m:ctrlPr>
                              <a:rPr lang="en-US" sz="1400" i="1" smtClean="0">
                                <a:solidFill>
                                  <a:srgbClr val="333333"/>
                                </a:solidFill>
                                <a:latin typeface="Cambria Math" panose="02040503050406030204" pitchFamily="18" charset="0"/>
                                <a:cs typeface="Calibri" pitchFamily="34" charset="-120"/>
                              </a:rPr>
                            </m:ctrlPr>
                          </m:sSubPr>
                          <m:e>
                            <m:r>
                              <a:rPr lang="en-US" sz="1400" b="0" i="1" smtClean="0">
                                <a:solidFill>
                                  <a:srgbClr val="333333"/>
                                </a:solidFill>
                                <a:latin typeface="Cambria Math" panose="02040503050406030204" pitchFamily="18" charset="0"/>
                                <a:cs typeface="Calibri" pitchFamily="34" charset="-120"/>
                              </a:rPr>
                              <m:t>𝑝</m:t>
                            </m:r>
                          </m:e>
                          <m:sub>
                            <m:r>
                              <a:rPr lang="en-US" sz="1400" b="0" i="1" smtClean="0">
                                <a:solidFill>
                                  <a:srgbClr val="333333"/>
                                </a:solidFill>
                                <a:latin typeface="Cambria Math" panose="02040503050406030204" pitchFamily="18" charset="0"/>
                                <a:cs typeface="Calibri" pitchFamily="34" charset="-120"/>
                              </a:rPr>
                              <m:t>𝑖</m:t>
                            </m:r>
                          </m:sub>
                        </m:sSub>
                      </m:e>
                    </m:acc>
                  </m:oMath>
                </a14:m>
                <a:r>
                  <a:rPr lang="en-US" sz="1400" dirty="0">
                    <a:solidFill>
                      <a:srgbClr val="333333"/>
                    </a:solidFill>
                    <a:latin typeface="Calibri" pitchFamily="34" charset="0"/>
                    <a:ea typeface="Calibri" pitchFamily="34" charset="-122"/>
                    <a:cs typeface="Calibri" pitchFamily="34" charset="-120"/>
                  </a:rPr>
                  <a:t>is unitless</a:t>
                </a:r>
                <a:endParaRPr lang="en-US" sz="1400" dirty="0"/>
              </a:p>
            </p:txBody>
          </p:sp>
        </mc:Choice>
        <mc:Fallback>
          <p:sp>
            <p:nvSpPr>
              <p:cNvPr id="6" name="Text 4"/>
              <p:cNvSpPr txBox="1">
                <a:spLocks noRot="1" noChangeAspect="1" noMove="1" noResize="1" noEditPoints="1" noAdjustHandles="1" noChangeArrowheads="1" noChangeShapeType="1" noTextEdit="1"/>
              </p:cNvSpPr>
              <p:nvPr/>
            </p:nvSpPr>
            <p:spPr>
              <a:xfrm>
                <a:off x="777240" y="2057400"/>
                <a:ext cx="3154680" cy="3749040"/>
              </a:xfrm>
              <a:prstGeom prst="rect">
                <a:avLst/>
              </a:prstGeom>
              <a:blipFill>
                <a:blip r:embed="rId3"/>
                <a:stretch>
                  <a:fillRect l="-3614" t="-1689" r="-1205"/>
                </a:stretch>
              </a:blipFill>
              <a:ln/>
            </p:spPr>
            <p:txBody>
              <a:bodyPr/>
              <a:lstStyle/>
              <a:p>
                <a:r>
                  <a:rPr lang="en-US">
                    <a:noFill/>
                  </a:rPr>
                  <a:t> </a:t>
                </a:r>
              </a:p>
            </p:txBody>
          </p:sp>
        </mc:Fallback>
      </mc:AlternateContent>
      <p:sp>
        <p:nvSpPr>
          <p:cNvPr id="7" name="Shape 5"/>
          <p:cNvSpPr/>
          <p:nvPr/>
        </p:nvSpPr>
        <p:spPr>
          <a:xfrm>
            <a:off x="4389120" y="1481328"/>
            <a:ext cx="384048" cy="384048"/>
          </a:xfrm>
          <a:prstGeom prst="ellipse">
            <a:avLst/>
          </a:prstGeom>
          <a:solidFill>
            <a:srgbClr val="73000A"/>
          </a:solidFill>
          <a:ln/>
        </p:spPr>
        <p:txBody>
          <a:bodyPr/>
          <a:lstStyle/>
          <a:p>
            <a:endParaRPr lang="en-US"/>
          </a:p>
        </p:txBody>
      </p:sp>
      <p:sp>
        <p:nvSpPr>
          <p:cNvPr id="8" name="Text 6"/>
          <p:cNvSpPr txBox="1"/>
          <p:nvPr/>
        </p:nvSpPr>
        <p:spPr>
          <a:xfrm>
            <a:off x="4389120" y="14813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4892040" y="1463040"/>
            <a:ext cx="6793992" cy="420624"/>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Parameterize each track as a line</a:t>
            </a:r>
            <a:endParaRPr lang="en-US" sz="1600" dirty="0"/>
          </a:p>
        </p:txBody>
      </p:sp>
      <p:sp>
        <p:nvSpPr>
          <p:cNvPr id="10" name="Shape 8"/>
          <p:cNvSpPr/>
          <p:nvPr/>
        </p:nvSpPr>
        <p:spPr>
          <a:xfrm>
            <a:off x="4389120" y="1965960"/>
            <a:ext cx="7342632" cy="868680"/>
          </a:xfrm>
          <a:prstGeom prst="roundRect">
            <a:avLst>
              <a:gd name="adj" fmla="val 8421"/>
            </a:avLst>
          </a:prstGeom>
          <a:solidFill>
            <a:srgbClr val="FFFFFF"/>
          </a:solidFill>
          <a:ln w="12700">
            <a:solidFill>
              <a:srgbClr val="D9C4C6"/>
            </a:solidFill>
            <a:prstDash val="solid"/>
          </a:ln>
        </p:spPr>
        <p:txBody>
          <a:bodyPr/>
          <a:lstStyle/>
          <a:p>
            <a:endParaRPr lang="en-US"/>
          </a:p>
        </p:txBody>
      </p:sp>
      <p:pic>
        <p:nvPicPr>
          <p:cNvPr id="11" name="Image 0" descr="equation a1"/>
          <p:cNvPicPr>
            <a:picLocks noChangeAspect="1"/>
          </p:cNvPicPr>
          <p:nvPr/>
        </p:nvPicPr>
        <p:blipFill>
          <a:blip r:embed="rId4"/>
          <a:stretch>
            <a:fillRect/>
          </a:stretch>
        </p:blipFill>
        <p:spPr>
          <a:xfrm>
            <a:off x="5914362" y="2226998"/>
            <a:ext cx="4292148" cy="346603"/>
          </a:xfrm>
          <a:prstGeom prst="rect">
            <a:avLst/>
          </a:prstGeom>
        </p:spPr>
      </p:pic>
      <p:sp>
        <p:nvSpPr>
          <p:cNvPr id="12" name="Shape 9"/>
          <p:cNvSpPr/>
          <p:nvPr/>
        </p:nvSpPr>
        <p:spPr>
          <a:xfrm>
            <a:off x="4389120" y="3017520"/>
            <a:ext cx="384048" cy="384048"/>
          </a:xfrm>
          <a:prstGeom prst="ellipse">
            <a:avLst/>
          </a:prstGeom>
          <a:solidFill>
            <a:srgbClr val="73000A"/>
          </a:solidFill>
          <a:ln/>
        </p:spPr>
        <p:txBody>
          <a:bodyPr/>
          <a:lstStyle/>
          <a:p>
            <a:endParaRPr lang="en-US"/>
          </a:p>
        </p:txBody>
      </p:sp>
      <p:sp>
        <p:nvSpPr>
          <p:cNvPr id="13" name="Text 10"/>
          <p:cNvSpPr txBox="1"/>
          <p:nvPr/>
        </p:nvSpPr>
        <p:spPr>
          <a:xfrm>
            <a:off x="4389120" y="3017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txBox="1"/>
          <p:nvPr/>
        </p:nvSpPr>
        <p:spPr>
          <a:xfrm>
            <a:off x="4892040" y="2999232"/>
            <a:ext cx="6793992" cy="420624"/>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Build the separation vector</a:t>
            </a:r>
            <a:endParaRPr lang="en-US" sz="1600" dirty="0"/>
          </a:p>
        </p:txBody>
      </p:sp>
      <p:sp>
        <p:nvSpPr>
          <p:cNvPr id="15" name="Shape 12"/>
          <p:cNvSpPr/>
          <p:nvPr/>
        </p:nvSpPr>
        <p:spPr>
          <a:xfrm>
            <a:off x="4389120" y="3502152"/>
            <a:ext cx="7342632" cy="868680"/>
          </a:xfrm>
          <a:prstGeom prst="roundRect">
            <a:avLst>
              <a:gd name="adj" fmla="val 8421"/>
            </a:avLst>
          </a:prstGeom>
          <a:solidFill>
            <a:srgbClr val="FFFFFF"/>
          </a:solidFill>
          <a:ln w="12700">
            <a:solidFill>
              <a:srgbClr val="D9C4C6"/>
            </a:solidFill>
            <a:prstDash val="solid"/>
          </a:ln>
        </p:spPr>
        <p:txBody>
          <a:bodyPr/>
          <a:lstStyle/>
          <a:p>
            <a:endParaRPr lang="en-US"/>
          </a:p>
        </p:txBody>
      </p:sp>
      <p:pic>
        <p:nvPicPr>
          <p:cNvPr id="16" name="Image 1" descr="equation a2"/>
          <p:cNvPicPr>
            <a:picLocks noChangeAspect="1"/>
          </p:cNvPicPr>
          <p:nvPr/>
        </p:nvPicPr>
        <p:blipFill>
          <a:blip r:embed="rId5"/>
          <a:stretch>
            <a:fillRect/>
          </a:stretch>
        </p:blipFill>
        <p:spPr>
          <a:xfrm>
            <a:off x="4873249" y="3763190"/>
            <a:ext cx="6374374" cy="346603"/>
          </a:xfrm>
          <a:prstGeom prst="rect">
            <a:avLst/>
          </a:prstGeom>
        </p:spPr>
      </p:pic>
      <p:sp>
        <p:nvSpPr>
          <p:cNvPr id="17" name="Shape 13"/>
          <p:cNvSpPr/>
          <p:nvPr/>
        </p:nvSpPr>
        <p:spPr>
          <a:xfrm>
            <a:off x="4389120" y="4553712"/>
            <a:ext cx="384048" cy="384048"/>
          </a:xfrm>
          <a:prstGeom prst="ellipse">
            <a:avLst/>
          </a:prstGeom>
          <a:solidFill>
            <a:srgbClr val="73000A"/>
          </a:solidFill>
          <a:ln/>
        </p:spPr>
        <p:txBody>
          <a:bodyPr/>
          <a:lstStyle/>
          <a:p>
            <a:endParaRPr lang="en-US"/>
          </a:p>
        </p:txBody>
      </p:sp>
      <p:sp>
        <p:nvSpPr>
          <p:cNvPr id="18" name="Text 14"/>
          <p:cNvSpPr txBox="1"/>
          <p:nvPr/>
        </p:nvSpPr>
        <p:spPr>
          <a:xfrm>
            <a:off x="4389120" y="45537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5"/>
          <p:cNvSpPr txBox="1"/>
          <p:nvPr/>
        </p:nvSpPr>
        <p:spPr>
          <a:xfrm>
            <a:off x="4892040" y="4535424"/>
            <a:ext cx="6793992" cy="420624"/>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Squared distance to minimize</a:t>
            </a:r>
            <a:endParaRPr lang="en-US" sz="1600" dirty="0"/>
          </a:p>
        </p:txBody>
      </p:sp>
      <p:sp>
        <p:nvSpPr>
          <p:cNvPr id="20" name="Shape 16"/>
          <p:cNvSpPr/>
          <p:nvPr/>
        </p:nvSpPr>
        <p:spPr>
          <a:xfrm>
            <a:off x="4389120" y="5038344"/>
            <a:ext cx="7342632" cy="868680"/>
          </a:xfrm>
          <a:prstGeom prst="roundRect">
            <a:avLst>
              <a:gd name="adj" fmla="val 8421"/>
            </a:avLst>
          </a:prstGeom>
          <a:solidFill>
            <a:srgbClr val="FFFFFF"/>
          </a:solidFill>
          <a:ln w="22225">
            <a:solidFill>
              <a:srgbClr val="73000A"/>
            </a:solidFill>
            <a:prstDash val="solid"/>
          </a:ln>
        </p:spPr>
        <p:txBody>
          <a:bodyPr/>
          <a:lstStyle/>
          <a:p>
            <a:endParaRPr lang="en-US"/>
          </a:p>
        </p:txBody>
      </p:sp>
      <p:pic>
        <p:nvPicPr>
          <p:cNvPr id="21" name="Image 2" descr="equation a3"/>
          <p:cNvPicPr>
            <a:picLocks noChangeAspect="1"/>
          </p:cNvPicPr>
          <p:nvPr/>
        </p:nvPicPr>
        <p:blipFill>
          <a:blip r:embed="rId6"/>
          <a:stretch>
            <a:fillRect/>
          </a:stretch>
        </p:blipFill>
        <p:spPr>
          <a:xfrm>
            <a:off x="4590494" y="5304594"/>
            <a:ext cx="6939885" cy="33617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Initial Vertexing Procedure for Finding a Common Origin Position (Part 2)</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The vertex sits at the midpoint of the two lines’ closest approach</a:t>
            </a:r>
            <a:endParaRPr lang="en-US" sz="1600" dirty="0"/>
          </a:p>
        </p:txBody>
      </p:sp>
      <p:sp>
        <p:nvSpPr>
          <p:cNvPr id="4" name="Shape 2"/>
          <p:cNvSpPr/>
          <p:nvPr/>
        </p:nvSpPr>
        <p:spPr>
          <a:xfrm>
            <a:off x="548640" y="1728216"/>
            <a:ext cx="384048" cy="384048"/>
          </a:xfrm>
          <a:prstGeom prst="ellipse">
            <a:avLst/>
          </a:prstGeom>
          <a:solidFill>
            <a:srgbClr val="73000A"/>
          </a:solidFill>
          <a:ln/>
        </p:spPr>
        <p:txBody>
          <a:bodyPr/>
          <a:lstStyle/>
          <a:p>
            <a:endParaRPr lang="en-US"/>
          </a:p>
        </p:txBody>
      </p:sp>
      <p:sp>
        <p:nvSpPr>
          <p:cNvPr id="5" name="Text 3"/>
          <p:cNvSpPr txBox="1"/>
          <p:nvPr/>
        </p:nvSpPr>
        <p:spPr>
          <a:xfrm>
            <a:off x="548640" y="17282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051560" y="1572768"/>
            <a:ext cx="2880360" cy="384048"/>
          </a:xfrm>
          <a:prstGeom prst="rect">
            <a:avLst/>
          </a:prstGeom>
          <a:noFill/>
          <a:ln/>
        </p:spPr>
        <p:txBody>
          <a:bodyPr wrap="square" lIns="0" tIns="0" rIns="0" bIns="0" rtlCol="0" anchor="b"/>
          <a:lstStyle/>
          <a:p>
            <a:pPr marL="0" indent="0">
              <a:buNone/>
            </a:pPr>
            <a:r>
              <a:rPr lang="en-US" sz="1500" b="1" dirty="0">
                <a:solidFill>
                  <a:srgbClr val="1A1A1A"/>
                </a:solidFill>
                <a:latin typeface="Calibri" pitchFamily="34" charset="0"/>
                <a:ea typeface="Calibri" pitchFamily="34" charset="-122"/>
                <a:cs typeface="Calibri" pitchFamily="34" charset="-120"/>
              </a:rPr>
              <a:t>Set the gradient to zero</a:t>
            </a:r>
            <a:endParaRPr lang="en-US" sz="1500" dirty="0"/>
          </a:p>
        </p:txBody>
      </p:sp>
      <p:sp>
        <p:nvSpPr>
          <p:cNvPr id="7" name="Text 5"/>
          <p:cNvSpPr txBox="1"/>
          <p:nvPr/>
        </p:nvSpPr>
        <p:spPr>
          <a:xfrm>
            <a:off x="1051560" y="1956816"/>
            <a:ext cx="2880360" cy="329184"/>
          </a:xfrm>
          <a:prstGeom prst="rect">
            <a:avLst/>
          </a:prstGeom>
          <a:noFill/>
          <a:ln/>
        </p:spPr>
        <p:txBody>
          <a:bodyPr wrap="square" lIns="0" tIns="0" rIns="0" bIns="0" rtlCol="0" anchor="t"/>
          <a:lstStyle/>
          <a:p>
            <a:pPr marL="0" indent="0">
              <a:buNone/>
            </a:pPr>
            <a:r>
              <a:rPr lang="en-US" sz="1200" i="1" dirty="0">
                <a:solidFill>
                  <a:srgbClr val="5A5A5A"/>
                </a:solidFill>
                <a:latin typeface="Calibri" pitchFamily="34" charset="0"/>
                <a:ea typeface="Calibri" pitchFamily="34" charset="-122"/>
                <a:cs typeface="Calibri" pitchFamily="34" charset="-120"/>
              </a:rPr>
              <a:t>Two linear equations in s and t</a:t>
            </a:r>
            <a:endParaRPr lang="en-US" sz="1200" dirty="0"/>
          </a:p>
        </p:txBody>
      </p:sp>
      <p:sp>
        <p:nvSpPr>
          <p:cNvPr id="8" name="Shape 6"/>
          <p:cNvSpPr/>
          <p:nvPr/>
        </p:nvSpPr>
        <p:spPr>
          <a:xfrm>
            <a:off x="4160520" y="1463040"/>
            <a:ext cx="7571232" cy="914400"/>
          </a:xfrm>
          <a:prstGeom prst="roundRect">
            <a:avLst>
              <a:gd name="adj" fmla="val 8000"/>
            </a:avLst>
          </a:prstGeom>
          <a:solidFill>
            <a:srgbClr val="FFFFFF"/>
          </a:solidFill>
          <a:ln w="12700">
            <a:solidFill>
              <a:srgbClr val="D9C4C6"/>
            </a:solidFill>
            <a:prstDash val="solid"/>
          </a:ln>
        </p:spPr>
        <p:txBody>
          <a:bodyPr/>
          <a:lstStyle/>
          <a:p>
            <a:endParaRPr lang="en-US"/>
          </a:p>
        </p:txBody>
      </p:sp>
      <p:pic>
        <p:nvPicPr>
          <p:cNvPr id="9" name="Image 0" descr="equation b1"/>
          <p:cNvPicPr>
            <a:picLocks noChangeAspect="1"/>
          </p:cNvPicPr>
          <p:nvPr/>
        </p:nvPicPr>
        <p:blipFill>
          <a:blip r:embed="rId3"/>
          <a:stretch>
            <a:fillRect/>
          </a:stretch>
        </p:blipFill>
        <p:spPr>
          <a:xfrm>
            <a:off x="4297680" y="1663795"/>
            <a:ext cx="7296912" cy="512890"/>
          </a:xfrm>
          <a:prstGeom prst="rect">
            <a:avLst/>
          </a:prstGeom>
        </p:spPr>
      </p:pic>
      <p:sp>
        <p:nvSpPr>
          <p:cNvPr id="10" name="Shape 7"/>
          <p:cNvSpPr/>
          <p:nvPr/>
        </p:nvSpPr>
        <p:spPr>
          <a:xfrm>
            <a:off x="740664" y="2130552"/>
            <a:ext cx="0" cy="603504"/>
          </a:xfrm>
          <a:prstGeom prst="line">
            <a:avLst/>
          </a:prstGeom>
          <a:noFill/>
          <a:ln w="19050">
            <a:solidFill>
              <a:srgbClr val="73000A"/>
            </a:solidFill>
            <a:prstDash val="solid"/>
          </a:ln>
        </p:spPr>
        <p:txBody>
          <a:bodyPr/>
          <a:lstStyle/>
          <a:p>
            <a:endParaRPr lang="en-US"/>
          </a:p>
        </p:txBody>
      </p:sp>
      <p:sp>
        <p:nvSpPr>
          <p:cNvPr id="11" name="Shape 8"/>
          <p:cNvSpPr/>
          <p:nvPr/>
        </p:nvSpPr>
        <p:spPr>
          <a:xfrm>
            <a:off x="548640" y="2825496"/>
            <a:ext cx="384048" cy="384048"/>
          </a:xfrm>
          <a:prstGeom prst="ellipse">
            <a:avLst/>
          </a:prstGeom>
          <a:solidFill>
            <a:srgbClr val="73000A"/>
          </a:solidFill>
          <a:ln/>
        </p:spPr>
        <p:txBody>
          <a:bodyPr/>
          <a:lstStyle/>
          <a:p>
            <a:endParaRPr lang="en-US"/>
          </a:p>
        </p:txBody>
      </p:sp>
      <p:sp>
        <p:nvSpPr>
          <p:cNvPr id="12" name="Text 9"/>
          <p:cNvSpPr txBox="1"/>
          <p:nvPr/>
        </p:nvSpPr>
        <p:spPr>
          <a:xfrm>
            <a:off x="548640" y="28254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1051560" y="2670048"/>
            <a:ext cx="2880360" cy="384048"/>
          </a:xfrm>
          <a:prstGeom prst="rect">
            <a:avLst/>
          </a:prstGeom>
          <a:noFill/>
          <a:ln/>
        </p:spPr>
        <p:txBody>
          <a:bodyPr wrap="square" lIns="0" tIns="0" rIns="0" bIns="0" rtlCol="0" anchor="b"/>
          <a:lstStyle/>
          <a:p>
            <a:pPr marL="0" indent="0">
              <a:buNone/>
            </a:pPr>
            <a:r>
              <a:rPr lang="en-US" sz="1500" b="1" dirty="0">
                <a:solidFill>
                  <a:srgbClr val="1A1A1A"/>
                </a:solidFill>
                <a:latin typeface="Calibri" pitchFamily="34" charset="0"/>
                <a:ea typeface="Calibri" pitchFamily="34" charset="-122"/>
                <a:cs typeface="Calibri" pitchFamily="34" charset="-120"/>
              </a:rPr>
              <a:t>Solve for s* and t*</a:t>
            </a:r>
            <a:endParaRPr lang="en-US" sz="1500" dirty="0"/>
          </a:p>
        </p:txBody>
      </p:sp>
      <p:sp>
        <p:nvSpPr>
          <p:cNvPr id="14" name="Text 11"/>
          <p:cNvSpPr txBox="1"/>
          <p:nvPr/>
        </p:nvSpPr>
        <p:spPr>
          <a:xfrm>
            <a:off x="1051560" y="3054096"/>
            <a:ext cx="2880360" cy="329184"/>
          </a:xfrm>
          <a:prstGeom prst="rect">
            <a:avLst/>
          </a:prstGeom>
          <a:noFill/>
          <a:ln/>
        </p:spPr>
        <p:txBody>
          <a:bodyPr wrap="square" lIns="0" tIns="0" rIns="0" bIns="0" rtlCol="0" anchor="t"/>
          <a:lstStyle/>
          <a:p>
            <a:pPr marL="0" indent="0">
              <a:buNone/>
            </a:pPr>
            <a:r>
              <a:rPr lang="en-US" sz="1200" i="1" dirty="0">
                <a:solidFill>
                  <a:srgbClr val="5A5A5A"/>
                </a:solidFill>
                <a:latin typeface="Calibri" pitchFamily="34" charset="0"/>
                <a:ea typeface="Calibri" pitchFamily="34" charset="-122"/>
                <a:cs typeface="Calibri" pitchFamily="34" charset="-120"/>
              </a:rPr>
              <a:t>Shorthand a and d keeps the result compact</a:t>
            </a:r>
            <a:endParaRPr lang="en-US" sz="1200" dirty="0"/>
          </a:p>
        </p:txBody>
      </p:sp>
      <p:sp>
        <p:nvSpPr>
          <p:cNvPr id="15" name="Shape 12"/>
          <p:cNvSpPr/>
          <p:nvPr/>
        </p:nvSpPr>
        <p:spPr>
          <a:xfrm>
            <a:off x="4160520" y="2560320"/>
            <a:ext cx="7571232" cy="914400"/>
          </a:xfrm>
          <a:prstGeom prst="roundRect">
            <a:avLst>
              <a:gd name="adj" fmla="val 8000"/>
            </a:avLst>
          </a:prstGeom>
          <a:solidFill>
            <a:srgbClr val="FFFFFF"/>
          </a:solidFill>
          <a:ln w="22225">
            <a:solidFill>
              <a:srgbClr val="73000A"/>
            </a:solidFill>
            <a:prstDash val="solid"/>
          </a:ln>
        </p:spPr>
        <p:txBody>
          <a:bodyPr/>
          <a:lstStyle/>
          <a:p>
            <a:endParaRPr lang="en-US"/>
          </a:p>
        </p:txBody>
      </p:sp>
      <p:pic>
        <p:nvPicPr>
          <p:cNvPr id="16" name="Image 1" descr="equation b2"/>
          <p:cNvPicPr>
            <a:picLocks noChangeAspect="1"/>
          </p:cNvPicPr>
          <p:nvPr/>
        </p:nvPicPr>
        <p:blipFill>
          <a:blip r:embed="rId4"/>
          <a:stretch>
            <a:fillRect/>
          </a:stretch>
        </p:blipFill>
        <p:spPr>
          <a:xfrm>
            <a:off x="4549163" y="2726947"/>
            <a:ext cx="6793946" cy="581147"/>
          </a:xfrm>
          <a:prstGeom prst="rect">
            <a:avLst/>
          </a:prstGeom>
        </p:spPr>
      </p:pic>
      <p:sp>
        <p:nvSpPr>
          <p:cNvPr id="17" name="Shape 13"/>
          <p:cNvSpPr/>
          <p:nvPr/>
        </p:nvSpPr>
        <p:spPr>
          <a:xfrm>
            <a:off x="740664" y="3227832"/>
            <a:ext cx="0" cy="603504"/>
          </a:xfrm>
          <a:prstGeom prst="line">
            <a:avLst/>
          </a:prstGeom>
          <a:noFill/>
          <a:ln w="19050">
            <a:solidFill>
              <a:srgbClr val="73000A"/>
            </a:solidFill>
            <a:prstDash val="solid"/>
          </a:ln>
        </p:spPr>
        <p:txBody>
          <a:bodyPr/>
          <a:lstStyle/>
          <a:p>
            <a:endParaRPr lang="en-US"/>
          </a:p>
        </p:txBody>
      </p:sp>
      <p:sp>
        <p:nvSpPr>
          <p:cNvPr id="18" name="Shape 14"/>
          <p:cNvSpPr/>
          <p:nvPr/>
        </p:nvSpPr>
        <p:spPr>
          <a:xfrm>
            <a:off x="548640" y="3808476"/>
            <a:ext cx="384048" cy="384048"/>
          </a:xfrm>
          <a:prstGeom prst="ellipse">
            <a:avLst/>
          </a:prstGeom>
          <a:solidFill>
            <a:srgbClr val="73000A"/>
          </a:solidFill>
          <a:ln/>
        </p:spPr>
        <p:txBody>
          <a:bodyPr/>
          <a:lstStyle/>
          <a:p>
            <a:endParaRPr lang="en-US"/>
          </a:p>
        </p:txBody>
      </p:sp>
      <p:sp>
        <p:nvSpPr>
          <p:cNvPr id="19" name="Text 15"/>
          <p:cNvSpPr txBox="1"/>
          <p:nvPr/>
        </p:nvSpPr>
        <p:spPr>
          <a:xfrm>
            <a:off x="548640" y="38084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6"/>
          <p:cNvSpPr txBox="1"/>
          <p:nvPr/>
        </p:nvSpPr>
        <p:spPr>
          <a:xfrm>
            <a:off x="1051560" y="3653028"/>
            <a:ext cx="2880360" cy="384048"/>
          </a:xfrm>
          <a:prstGeom prst="rect">
            <a:avLst/>
          </a:prstGeom>
          <a:noFill/>
          <a:ln/>
        </p:spPr>
        <p:txBody>
          <a:bodyPr wrap="square" lIns="0" tIns="0" rIns="0" bIns="0" rtlCol="0" anchor="b"/>
          <a:lstStyle/>
          <a:p>
            <a:pPr marL="0" indent="0">
              <a:buNone/>
            </a:pPr>
            <a:r>
              <a:rPr lang="en-US" sz="1500" b="1" dirty="0">
                <a:solidFill>
                  <a:srgbClr val="1A1A1A"/>
                </a:solidFill>
                <a:latin typeface="Calibri" pitchFamily="34" charset="0"/>
                <a:ea typeface="Calibri" pitchFamily="34" charset="-122"/>
                <a:cs typeface="Calibri" pitchFamily="34" charset="-120"/>
              </a:rPr>
              <a:t>Distance of closest approach</a:t>
            </a:r>
            <a:endParaRPr lang="en-US" sz="1500" dirty="0"/>
          </a:p>
        </p:txBody>
      </p:sp>
      <p:sp>
        <p:nvSpPr>
          <p:cNvPr id="21" name="Text 17"/>
          <p:cNvSpPr txBox="1"/>
          <p:nvPr/>
        </p:nvSpPr>
        <p:spPr>
          <a:xfrm>
            <a:off x="1051560" y="4037076"/>
            <a:ext cx="2880360" cy="329184"/>
          </a:xfrm>
          <a:prstGeom prst="rect">
            <a:avLst/>
          </a:prstGeom>
          <a:noFill/>
          <a:ln/>
        </p:spPr>
        <p:txBody>
          <a:bodyPr wrap="square" lIns="0" tIns="0" rIns="0" bIns="0" rtlCol="0" anchor="t"/>
          <a:lstStyle/>
          <a:p>
            <a:pPr marL="0" indent="0">
              <a:buNone/>
            </a:pPr>
            <a:r>
              <a:rPr lang="en-US" sz="1200" i="1" dirty="0">
                <a:solidFill>
                  <a:srgbClr val="5A5A5A"/>
                </a:solidFill>
                <a:latin typeface="Calibri" pitchFamily="34" charset="0"/>
                <a:ea typeface="Calibri" pitchFamily="34" charset="-122"/>
                <a:cs typeface="Calibri" pitchFamily="34" charset="-120"/>
              </a:rPr>
              <a:t>Small D* means the tracks share an origin</a:t>
            </a:r>
            <a:endParaRPr lang="en-US" sz="1200" dirty="0"/>
          </a:p>
        </p:txBody>
      </p:sp>
      <p:sp>
        <p:nvSpPr>
          <p:cNvPr id="22" name="Shape 18"/>
          <p:cNvSpPr/>
          <p:nvPr/>
        </p:nvSpPr>
        <p:spPr>
          <a:xfrm>
            <a:off x="4160520" y="3657600"/>
            <a:ext cx="7571232" cy="685800"/>
          </a:xfrm>
          <a:prstGeom prst="roundRect">
            <a:avLst>
              <a:gd name="adj" fmla="val 10667"/>
            </a:avLst>
          </a:prstGeom>
          <a:solidFill>
            <a:srgbClr val="FFFFFF"/>
          </a:solidFill>
          <a:ln w="12700">
            <a:solidFill>
              <a:srgbClr val="D9C4C6"/>
            </a:solidFill>
            <a:prstDash val="solid"/>
          </a:ln>
        </p:spPr>
        <p:txBody>
          <a:bodyPr/>
          <a:lstStyle/>
          <a:p>
            <a:endParaRPr lang="en-US"/>
          </a:p>
        </p:txBody>
      </p:sp>
      <p:pic>
        <p:nvPicPr>
          <p:cNvPr id="23" name="Image 2" descr="equation b3"/>
          <p:cNvPicPr>
            <a:picLocks noChangeAspect="1"/>
          </p:cNvPicPr>
          <p:nvPr/>
        </p:nvPicPr>
        <p:blipFill>
          <a:blip r:embed="rId5"/>
          <a:stretch>
            <a:fillRect/>
          </a:stretch>
        </p:blipFill>
        <p:spPr>
          <a:xfrm>
            <a:off x="6645722" y="3832410"/>
            <a:ext cx="2600828" cy="336179"/>
          </a:xfrm>
          <a:prstGeom prst="rect">
            <a:avLst/>
          </a:prstGeom>
        </p:spPr>
      </p:pic>
      <p:sp>
        <p:nvSpPr>
          <p:cNvPr id="24" name="Shape 19"/>
          <p:cNvSpPr/>
          <p:nvPr/>
        </p:nvSpPr>
        <p:spPr>
          <a:xfrm>
            <a:off x="740664" y="4210812"/>
            <a:ext cx="0" cy="489204"/>
          </a:xfrm>
          <a:prstGeom prst="line">
            <a:avLst/>
          </a:prstGeom>
          <a:noFill/>
          <a:ln w="19050">
            <a:solidFill>
              <a:srgbClr val="73000A"/>
            </a:solidFill>
            <a:prstDash val="solid"/>
          </a:ln>
        </p:spPr>
        <p:txBody>
          <a:bodyPr/>
          <a:lstStyle/>
          <a:p>
            <a:endParaRPr lang="en-US"/>
          </a:p>
        </p:txBody>
      </p:sp>
      <p:sp>
        <p:nvSpPr>
          <p:cNvPr id="25" name="Shape 20"/>
          <p:cNvSpPr/>
          <p:nvPr/>
        </p:nvSpPr>
        <p:spPr>
          <a:xfrm>
            <a:off x="548640" y="4768596"/>
            <a:ext cx="384048" cy="384048"/>
          </a:xfrm>
          <a:prstGeom prst="ellipse">
            <a:avLst/>
          </a:prstGeom>
          <a:solidFill>
            <a:srgbClr val="73000A"/>
          </a:solidFill>
          <a:ln/>
        </p:spPr>
        <p:txBody>
          <a:bodyPr/>
          <a:lstStyle/>
          <a:p>
            <a:endParaRPr lang="en-US"/>
          </a:p>
        </p:txBody>
      </p:sp>
      <p:sp>
        <p:nvSpPr>
          <p:cNvPr id="26" name="Text 21"/>
          <p:cNvSpPr txBox="1"/>
          <p:nvPr/>
        </p:nvSpPr>
        <p:spPr>
          <a:xfrm>
            <a:off x="548640" y="47685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2"/>
          <p:cNvSpPr txBox="1"/>
          <p:nvPr/>
        </p:nvSpPr>
        <p:spPr>
          <a:xfrm>
            <a:off x="1051560" y="4613148"/>
            <a:ext cx="2880360" cy="384048"/>
          </a:xfrm>
          <a:prstGeom prst="rect">
            <a:avLst/>
          </a:prstGeom>
          <a:noFill/>
          <a:ln/>
        </p:spPr>
        <p:txBody>
          <a:bodyPr wrap="square" lIns="0" tIns="0" rIns="0" bIns="0" rtlCol="0" anchor="b"/>
          <a:lstStyle/>
          <a:p>
            <a:pPr marL="0" indent="0">
              <a:buNone/>
            </a:pPr>
            <a:r>
              <a:rPr lang="en-US" sz="1500" b="1" dirty="0">
                <a:solidFill>
                  <a:srgbClr val="1A1A1A"/>
                </a:solidFill>
                <a:latin typeface="Calibri" pitchFamily="34" charset="0"/>
                <a:ea typeface="Calibri" pitchFamily="34" charset="-122"/>
                <a:cs typeface="Calibri" pitchFamily="34" charset="-120"/>
              </a:rPr>
              <a:t>Reconstructed vertex</a:t>
            </a:r>
            <a:endParaRPr lang="en-US" sz="1500" dirty="0"/>
          </a:p>
        </p:txBody>
      </p:sp>
      <p:sp>
        <p:nvSpPr>
          <p:cNvPr id="28" name="Text 23"/>
          <p:cNvSpPr txBox="1"/>
          <p:nvPr/>
        </p:nvSpPr>
        <p:spPr>
          <a:xfrm>
            <a:off x="1051560" y="4997196"/>
            <a:ext cx="2880360" cy="329184"/>
          </a:xfrm>
          <a:prstGeom prst="rect">
            <a:avLst/>
          </a:prstGeom>
          <a:noFill/>
          <a:ln/>
        </p:spPr>
        <p:txBody>
          <a:bodyPr wrap="square" lIns="0" tIns="0" rIns="0" bIns="0" rtlCol="0" anchor="t"/>
          <a:lstStyle/>
          <a:p>
            <a:pPr marL="0" indent="0">
              <a:buNone/>
            </a:pPr>
            <a:r>
              <a:rPr lang="en-US" sz="1200" i="1" dirty="0">
                <a:solidFill>
                  <a:srgbClr val="5A5A5A"/>
                </a:solidFill>
                <a:latin typeface="Calibri" pitchFamily="34" charset="0"/>
                <a:ea typeface="Calibri" pitchFamily="34" charset="-122"/>
                <a:cs typeface="Calibri" pitchFamily="34" charset="-120"/>
              </a:rPr>
              <a:t>Midpoint of the closest-approach segment</a:t>
            </a:r>
            <a:endParaRPr lang="en-US" sz="1200" dirty="0"/>
          </a:p>
        </p:txBody>
      </p:sp>
      <p:sp>
        <p:nvSpPr>
          <p:cNvPr id="29" name="Shape 24"/>
          <p:cNvSpPr/>
          <p:nvPr/>
        </p:nvSpPr>
        <p:spPr>
          <a:xfrm>
            <a:off x="4160520" y="4526280"/>
            <a:ext cx="7571232" cy="868680"/>
          </a:xfrm>
          <a:prstGeom prst="roundRect">
            <a:avLst>
              <a:gd name="adj" fmla="val 8421"/>
            </a:avLst>
          </a:prstGeom>
          <a:solidFill>
            <a:srgbClr val="F4E6E7"/>
          </a:solidFill>
          <a:ln w="22225">
            <a:solidFill>
              <a:srgbClr val="73000A"/>
            </a:solidFill>
            <a:prstDash val="solid"/>
          </a:ln>
        </p:spPr>
        <p:txBody>
          <a:bodyPr/>
          <a:lstStyle/>
          <a:p>
            <a:endParaRPr lang="en-US"/>
          </a:p>
        </p:txBody>
      </p:sp>
      <p:pic>
        <p:nvPicPr>
          <p:cNvPr id="30" name="Image 3" descr="equation b4"/>
          <p:cNvPicPr>
            <a:picLocks noChangeAspect="1"/>
          </p:cNvPicPr>
          <p:nvPr/>
        </p:nvPicPr>
        <p:blipFill>
          <a:blip r:embed="rId6"/>
          <a:stretch>
            <a:fillRect/>
          </a:stretch>
        </p:blipFill>
        <p:spPr>
          <a:xfrm>
            <a:off x="6660055" y="4693501"/>
            <a:ext cx="2572161" cy="53423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87E71-FBD5-B525-1899-66EE901D8217}"/>
              </a:ext>
            </a:extLst>
          </p:cNvPr>
          <p:cNvSpPr>
            <a:spLocks noGrp="1"/>
          </p:cNvSpPr>
          <p:nvPr>
            <p:ph type="title"/>
          </p:nvPr>
        </p:nvSpPr>
        <p:spPr>
          <a:xfrm>
            <a:off x="548640" y="320040"/>
            <a:ext cx="11064240" cy="548640"/>
          </a:xfrm>
          <a:ln>
            <a:noFill/>
          </a:ln>
        </p:spPr>
        <p:txBody>
          <a:bodyPr lIns="0" tIns="0" rIns="0" bIns="0" anchor="ctr">
            <a:noAutofit/>
          </a:bodyPr>
          <a:lstStyle/>
          <a:p>
            <a:pPr algn="l"/>
            <a:r>
              <a:rPr lang="en-US" sz="2800" b="1" dirty="0">
                <a:solidFill>
                  <a:srgbClr val="1A1A1A"/>
                </a:solidFill>
                <a:latin typeface="Calibri"/>
                <a:cs typeface="Calibri"/>
              </a:rPr>
              <a:t>Vertexing Algorithm</a:t>
            </a:r>
          </a:p>
        </p:txBody>
      </p:sp>
      <p:sp>
        <p:nvSpPr>
          <p:cNvPr id="4" name="Can 3">
            <a:extLst>
              <a:ext uri="{FF2B5EF4-FFF2-40B4-BE49-F238E27FC236}">
                <a16:creationId xmlns:a16="http://schemas.microsoft.com/office/drawing/2014/main" id="{9E84DA9A-039C-A2A8-2EFA-B9136A26A348}"/>
              </a:ext>
            </a:extLst>
          </p:cNvPr>
          <p:cNvSpPr/>
          <p:nvPr/>
        </p:nvSpPr>
        <p:spPr>
          <a:xfrm rot="5400000">
            <a:off x="3771900" y="2534444"/>
            <a:ext cx="4013200" cy="2933700"/>
          </a:xfrm>
          <a:prstGeom prst="can">
            <a:avLst/>
          </a:prstGeom>
          <a:noFill/>
          <a:ln w="19050">
            <a:solidFill>
              <a:srgbClr val="7F7F7F"/>
            </a:solidFill>
          </a:ln>
        </p:spPr>
        <p:style>
          <a:lnRef idx="2">
            <a:schemeClr val="accent1">
              <a:shade val="15000"/>
            </a:schemeClr>
          </a:lnRef>
          <a:fillRef idx="1">
            <a:srgbClr val="1F3A68"/>
          </a:fillRef>
          <a:effectRef idx="0">
            <a:srgbClr val="1F3A68"/>
          </a:effectRef>
          <a:fontRef idx="minor">
            <a:schemeClr val="lt1"/>
          </a:fontRef>
        </p:style>
        <p:txBody>
          <a:bodyPr rtlCol="0" anchor="ctr"/>
          <a:lstStyle/>
          <a:p>
            <a:pPr algn="ctr"/>
            <a:endParaRPr lang="en-US"/>
          </a:p>
        </p:txBody>
      </p:sp>
      <p:sp>
        <p:nvSpPr>
          <p:cNvPr id="7" name="Arc 6">
            <a:extLst>
              <a:ext uri="{FF2B5EF4-FFF2-40B4-BE49-F238E27FC236}">
                <a16:creationId xmlns:a16="http://schemas.microsoft.com/office/drawing/2014/main" id="{28CDBAC7-D533-1382-1254-D72B5B365496}"/>
              </a:ext>
            </a:extLst>
          </p:cNvPr>
          <p:cNvSpPr/>
          <p:nvPr/>
        </p:nvSpPr>
        <p:spPr>
          <a:xfrm>
            <a:off x="4514852" y="1994694"/>
            <a:ext cx="304800" cy="4013200"/>
          </a:xfrm>
          <a:prstGeom prst="arc">
            <a:avLst>
              <a:gd name="adj1" fmla="val 16200000"/>
              <a:gd name="adj2" fmla="val 2699959"/>
            </a:avLst>
          </a:prstGeom>
          <a:ln>
            <a:solidFill>
              <a:schemeClr val="tx1"/>
            </a:solidFill>
            <a:prstDash val="sysDash"/>
          </a:ln>
        </p:spPr>
        <p:style>
          <a:lnRef idx="2">
            <a:srgbClr val="1F3A68"/>
          </a:lnRef>
          <a:fillRef idx="0">
            <a:srgbClr val="1F3A68"/>
          </a:fillRef>
          <a:effectRef idx="1">
            <a:srgbClr val="1F3A68"/>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9901078C-6DFA-D45F-599B-E646AA75C693}"/>
              </a:ext>
            </a:extLst>
          </p:cNvPr>
          <p:cNvSpPr/>
          <p:nvPr/>
        </p:nvSpPr>
        <p:spPr>
          <a:xfrm flipV="1">
            <a:off x="4362450" y="1994694"/>
            <a:ext cx="457202" cy="4013200"/>
          </a:xfrm>
          <a:prstGeom prst="arc">
            <a:avLst/>
          </a:prstGeom>
          <a:ln>
            <a:solidFill>
              <a:schemeClr val="tx1"/>
            </a:solidFill>
            <a:prstDash val="sysDash"/>
          </a:ln>
        </p:spPr>
        <p:style>
          <a:lnRef idx="2">
            <a:srgbClr val="1F3A68"/>
          </a:lnRef>
          <a:fillRef idx="0">
            <a:srgbClr val="1F3A68"/>
          </a:fillRef>
          <a:effectRef idx="1">
            <a:srgbClr val="1F3A68"/>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2E948651-A309-5283-AA4A-9F1E6F1B1AD7}"/>
              </a:ext>
            </a:extLst>
          </p:cNvPr>
          <p:cNvSpPr/>
          <p:nvPr/>
        </p:nvSpPr>
        <p:spPr>
          <a:xfrm>
            <a:off x="6825343" y="3429000"/>
            <a:ext cx="45719" cy="244929"/>
          </a:xfrm>
          <a:prstGeom prst="ellipse">
            <a:avLst/>
          </a:prstGeom>
          <a:ln>
            <a:noFill/>
          </a:ln>
        </p:spPr>
        <p:style>
          <a:lnRef idx="2">
            <a:schemeClr val="accent1">
              <a:shade val="15000"/>
            </a:schemeClr>
          </a:lnRef>
          <a:fillRef idx="1">
            <a:srgbClr val="1F3A68"/>
          </a:fillRef>
          <a:effectRef idx="0">
            <a:srgbClr val="1F3A68"/>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937DBB4D-1EFF-44ED-8E03-03D2F21191B2}"/>
              </a:ext>
            </a:extLst>
          </p:cNvPr>
          <p:cNvSpPr/>
          <p:nvPr/>
        </p:nvSpPr>
        <p:spPr>
          <a:xfrm>
            <a:off x="4621531" y="4832169"/>
            <a:ext cx="45719" cy="244929"/>
          </a:xfrm>
          <a:prstGeom prst="ellipse">
            <a:avLst/>
          </a:prstGeom>
          <a:solidFill>
            <a:srgbClr val="73000A"/>
          </a:solidFill>
          <a:ln>
            <a:noFill/>
          </a:ln>
        </p:spPr>
        <p:style>
          <a:lnRef idx="2">
            <a:schemeClr val="accent1">
              <a:shade val="15000"/>
            </a:schemeClr>
          </a:lnRef>
          <a:fillRef idx="1">
            <a:srgbClr val="1F3A68"/>
          </a:fillRef>
          <a:effectRef idx="0">
            <a:srgbClr val="1F3A68"/>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C8CB407-A6A5-D9F1-C24B-6A89DFB09063}"/>
                  </a:ext>
                </a:extLst>
              </p:cNvPr>
              <p:cNvSpPr txBox="1"/>
              <p:nvPr/>
            </p:nvSpPr>
            <p:spPr>
              <a:xfrm>
                <a:off x="1634255" y="4652407"/>
                <a:ext cx="1891821" cy="302226"/>
              </a:xfrm>
              <a:prstGeom prst="roundRect">
                <a:avLst/>
              </a:prstGeom>
              <a:solidFill>
                <a:srgbClr val="EEF2F8"/>
              </a:solidFill>
              <a:ln w="15875">
                <a:solidFill>
                  <a:srgbClr val="1F3A68"/>
                </a:solidFill>
              </a:ln>
            </p:spPr>
            <p:txBody>
              <a:bodyPr wrap="square" lIns="0" tIns="0" rIns="0" bIns="0" rtlCol="0">
                <a:spAutoFit/>
              </a:bodyPr>
              <a:lstStyle/>
              <a:p>
                <a:r>
                  <a:rPr lang="en-US"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1,0</m:t>
                            </m:r>
                          </m:sub>
                        </m:sSub>
                      </m:e>
                    </m:acc>
                  </m:oMath>
                </a14:m>
                <a:r>
                  <a:rPr lang="en-US" b="0" dirty="0"/>
                  <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r>
                          <a:rPr lang="en-US" b="0" i="1" smtClean="0">
                            <a:latin typeface="Cambria Math" panose="02040503050406030204" pitchFamily="18" charset="0"/>
                          </a:rPr>
                          <m:t>𝑧</m:t>
                        </m:r>
                      </m:sub>
                    </m:sSub>
                    <m:r>
                      <a:rPr lang="en-US" b="0" i="1" smtClean="0">
                        <a:latin typeface="Cambria Math" panose="02040503050406030204" pitchFamily="18" charset="0"/>
                      </a:rPr>
                      <m:t>)</m:t>
                    </m:r>
                  </m:oMath>
                </a14:m>
                <a:endParaRPr lang="en-US" dirty="0"/>
              </a:p>
            </p:txBody>
          </p:sp>
        </mc:Choice>
        <mc:Fallback xmlns="">
          <p:sp>
            <p:nvSpPr>
              <p:cNvPr id="19" name="TextBox 18">
                <a:extLst>
                  <a:ext uri="{FF2B5EF4-FFF2-40B4-BE49-F238E27FC236}">
                    <a16:creationId xmlns:a16="http://schemas.microsoft.com/office/drawing/2014/main" id="{4C8CB407-A6A5-D9F1-C24B-6A89DFB09063}"/>
                  </a:ext>
                </a:extLst>
              </p:cNvPr>
              <p:cNvSpPr txBox="1">
                <a:spLocks noRot="1" noChangeAspect="1" noMove="1" noResize="1" noEditPoints="1" noAdjustHandles="1" noChangeArrowheads="1" noChangeShapeType="1" noTextEdit="1"/>
              </p:cNvSpPr>
              <p:nvPr/>
            </p:nvSpPr>
            <p:spPr>
              <a:xfrm>
                <a:off x="1634255" y="4652407"/>
                <a:ext cx="1891821" cy="302226"/>
              </a:xfrm>
              <a:prstGeom prst="roundRect">
                <a:avLst/>
              </a:prstGeom>
              <a:blipFill>
                <a:blip r:embed="rIdV0"/>
                <a:stretch>
                  <a:fillRect/>
                </a:stretch>
              </a:blipFill>
              <a:ln w="15875">
                <a:solidFill>
                  <a:srgbClr val="1F3A68"/>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E7C3CFF-042A-BA56-B6BB-9A4648C2D313}"/>
                  </a:ext>
                </a:extLst>
              </p:cNvPr>
              <p:cNvSpPr txBox="1"/>
              <p:nvPr/>
            </p:nvSpPr>
            <p:spPr>
              <a:xfrm>
                <a:off x="2031941" y="5831431"/>
                <a:ext cx="1952434" cy="298928"/>
              </a:xfrm>
              <a:prstGeom prst="roundRect">
                <a:avLst/>
              </a:prstGeom>
              <a:solidFill>
                <a:srgbClr val="F4E6E7"/>
              </a:solidFill>
              <a:ln w="15875">
                <a:solidFill>
                  <a:srgbClr val="73000A"/>
                </a:solidFill>
              </a:ln>
            </p:spPr>
            <p:txBody>
              <a:bodyPr wrap="square" lIns="0" tIns="0" rIns="0" bIns="0" rtlCol="0">
                <a:spAutoFit/>
              </a:bodyPr>
              <a:lstStyle/>
              <a:p>
                <a:r>
                  <a:rPr lang="en-US"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2,0</m:t>
                            </m:r>
                          </m:sub>
                        </m:sSub>
                      </m:e>
                    </m:acc>
                  </m:oMath>
                </a14:m>
                <a:r>
                  <a:rPr lang="en-US" b="0" dirty="0"/>
                  <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r>
                          <a:rPr lang="en-US" b="0" i="1" smtClean="0">
                            <a:latin typeface="Cambria Math" panose="02040503050406030204" pitchFamily="18" charset="0"/>
                          </a:rPr>
                          <m:t>𝑧</m:t>
                        </m:r>
                      </m:sub>
                    </m:sSub>
                    <m:r>
                      <a:rPr lang="en-US" b="0" i="1" smtClean="0">
                        <a:latin typeface="Cambria Math" panose="02040503050406030204" pitchFamily="18" charset="0"/>
                      </a:rPr>
                      <m:t>)</m:t>
                    </m:r>
                  </m:oMath>
                </a14:m>
                <a:endParaRPr lang="en-US" dirty="0"/>
              </a:p>
            </p:txBody>
          </p:sp>
        </mc:Choice>
        <mc:Fallback xmlns="">
          <p:sp>
            <p:nvSpPr>
              <p:cNvPr id="20" name="TextBox 19">
                <a:extLst>
                  <a:ext uri="{FF2B5EF4-FFF2-40B4-BE49-F238E27FC236}">
                    <a16:creationId xmlns:a16="http://schemas.microsoft.com/office/drawing/2014/main" id="{2E7C3CFF-042A-BA56-B6BB-9A4648C2D313}"/>
                  </a:ext>
                </a:extLst>
              </p:cNvPr>
              <p:cNvSpPr txBox="1">
                <a:spLocks noRot="1" noChangeAspect="1" noMove="1" noResize="1" noEditPoints="1" noAdjustHandles="1" noChangeArrowheads="1" noChangeShapeType="1" noTextEdit="1"/>
              </p:cNvSpPr>
              <p:nvPr/>
            </p:nvSpPr>
            <p:spPr>
              <a:xfrm>
                <a:off x="2031941" y="5831431"/>
                <a:ext cx="1952434" cy="298928"/>
              </a:xfrm>
              <a:prstGeom prst="roundRect">
                <a:avLst/>
              </a:prstGeom>
              <a:blipFill>
                <a:blip r:embed="rIdV1"/>
                <a:stretch>
                  <a:fillRect/>
                </a:stretch>
              </a:blipFill>
              <a:ln w="15875">
                <a:solidFill>
                  <a:srgbClr val="73000A"/>
                </a:solidFill>
              </a:ln>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07F58678-A114-15F3-3A62-0C50B94C5518}"/>
              </a:ext>
            </a:extLst>
          </p:cNvPr>
          <p:cNvCxnSpPr>
            <a:cxnSpLocks/>
            <a:endCxn id="15" idx="2"/>
          </p:cNvCxnSpPr>
          <p:nvPr/>
        </p:nvCxnSpPr>
        <p:spPr>
          <a:xfrm flipV="1">
            <a:off x="1172439" y="4954634"/>
            <a:ext cx="3449092" cy="1053260"/>
          </a:xfrm>
          <a:prstGeom prst="straightConnector1">
            <a:avLst/>
          </a:prstGeom>
          <a:ln>
            <a:solidFill>
              <a:srgbClr val="73000A"/>
            </a:solidFill>
            <a:tailEnd type="triangle"/>
          </a:ln>
        </p:spPr>
        <p:style>
          <a:lnRef idx="2">
            <a:srgbClr val="1F3A68"/>
          </a:lnRef>
          <a:fillRef idx="0">
            <a:srgbClr val="1F3A68"/>
          </a:fillRef>
          <a:effectRef idx="1">
            <a:srgbClr val="1F3A68"/>
          </a:effectRef>
          <a:fontRef idx="minor">
            <a:schemeClr val="tx1"/>
          </a:fontRef>
        </p:style>
      </p:cxnSp>
      <p:sp>
        <p:nvSpPr>
          <p:cNvPr id="24" name="Oval 23">
            <a:extLst>
              <a:ext uri="{FF2B5EF4-FFF2-40B4-BE49-F238E27FC236}">
                <a16:creationId xmlns:a16="http://schemas.microsoft.com/office/drawing/2014/main" id="{1A6E2EAE-7552-5F6E-DCEA-558AF9094398}"/>
              </a:ext>
            </a:extLst>
          </p:cNvPr>
          <p:cNvSpPr/>
          <p:nvPr/>
        </p:nvSpPr>
        <p:spPr>
          <a:xfrm>
            <a:off x="1013112" y="5964105"/>
            <a:ext cx="159327" cy="166254"/>
          </a:xfrm>
          <a:prstGeom prst="ellipse">
            <a:avLst/>
          </a:prstGeom>
          <a:solidFill>
            <a:schemeClr val="tx1"/>
          </a:solidFill>
        </p:spPr>
        <p:style>
          <a:lnRef idx="2">
            <a:schemeClr val="accent1">
              <a:shade val="15000"/>
            </a:schemeClr>
          </a:lnRef>
          <a:fillRef idx="1">
            <a:srgbClr val="1F3A68"/>
          </a:fillRef>
          <a:effectRef idx="0">
            <a:srgbClr val="1F3A68"/>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BC0128F-272E-6055-5C13-830EB897371B}"/>
              </a:ext>
            </a:extLst>
          </p:cNvPr>
          <p:cNvSpPr txBox="1"/>
          <p:nvPr/>
        </p:nvSpPr>
        <p:spPr>
          <a:xfrm>
            <a:off x="242574" y="6241496"/>
            <a:ext cx="1700402" cy="369332"/>
          </a:xfrm>
          <a:prstGeom prst="rect">
            <a:avLst/>
          </a:prstGeom>
          <a:noFill/>
        </p:spPr>
        <p:txBody>
          <a:bodyPr wrap="none" rtlCol="0">
            <a:spAutoFit/>
          </a:bodyPr>
          <a:lstStyle/>
          <a:p>
            <a:r>
              <a:rPr lang="en-US" sz="1600" i="1" dirty="0">
                <a:solidFill>
                  <a:srgbClr val="4A4A4A"/>
                </a:solidFill>
                <a:latin typeface="Calibri"/>
                <a:cs typeface="Calibri"/>
              </a:rPr>
              <a:t>Detector Origin</a:t>
            </a:r>
          </a:p>
        </p:txBody>
      </p:sp>
      <p:cxnSp>
        <p:nvCxnSpPr>
          <p:cNvPr id="27" name="Straight Arrow Connector 26">
            <a:extLst>
              <a:ext uri="{FF2B5EF4-FFF2-40B4-BE49-F238E27FC236}">
                <a16:creationId xmlns:a16="http://schemas.microsoft.com/office/drawing/2014/main" id="{1D7FC67E-7C50-95BA-9786-A10585841108}"/>
              </a:ext>
            </a:extLst>
          </p:cNvPr>
          <p:cNvCxnSpPr>
            <a:cxnSpLocks/>
            <a:stCxn id="24" idx="7"/>
            <a:endCxn id="14" idx="2"/>
          </p:cNvCxnSpPr>
          <p:nvPr/>
        </p:nvCxnSpPr>
        <p:spPr>
          <a:xfrm flipV="1">
            <a:off x="1149106" y="3551465"/>
            <a:ext cx="5676237" cy="2436987"/>
          </a:xfrm>
          <a:prstGeom prst="straightConnector1">
            <a:avLst/>
          </a:prstGeom>
          <a:ln>
            <a:tailEnd type="triangle"/>
          </a:ln>
        </p:spPr>
        <p:style>
          <a:lnRef idx="2">
            <a:srgbClr val="1F3A68"/>
          </a:lnRef>
          <a:fillRef idx="0">
            <a:srgbClr val="1F3A68"/>
          </a:fillRef>
          <a:effectRef idx="1">
            <a:srgbClr val="1F3A68"/>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37" name="Ink 36">
                <a:extLst>
                  <a:ext uri="{FF2B5EF4-FFF2-40B4-BE49-F238E27FC236}">
                    <a16:creationId xmlns:a16="http://schemas.microsoft.com/office/drawing/2014/main" id="{2ABEC8D9-5031-9D15-BD89-C45E5006BC81}"/>
                  </a:ext>
                </a:extLst>
              </p14:cNvPr>
              <p14:cNvContentPartPr/>
              <p14:nvPr/>
            </p14:nvContentPartPr>
            <p14:xfrm>
              <a:off x="4359355" y="5017950"/>
              <a:ext cx="9360" cy="43920"/>
            </p14:xfrm>
          </p:contentPart>
        </mc:Choice>
        <mc:Fallback xmlns="">
          <p:pic>
            <p:nvPicPr>
              <p:cNvPr id="37" name="Ink 36">
                <a:extLst>
                  <a:ext uri="{FF2B5EF4-FFF2-40B4-BE49-F238E27FC236}">
                    <a16:creationId xmlns:a16="http://schemas.microsoft.com/office/drawing/2014/main" id="{2ABEC8D9-5031-9D15-BD89-C45E5006BC81}"/>
                  </a:ext>
                </a:extLst>
              </p:cNvPr>
              <p:cNvPicPr/>
              <p:nvPr/>
            </p:nvPicPr>
            <p:blipFill>
              <a:blip r:embed="rId5"/>
              <a:stretch>
                <a:fillRect/>
              </a:stretch>
            </p:blipFill>
            <p:spPr>
              <a:xfrm>
                <a:off x="4353235" y="5011830"/>
                <a:ext cx="2160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a:extLst>
                  <a:ext uri="{FF2B5EF4-FFF2-40B4-BE49-F238E27FC236}">
                    <a16:creationId xmlns:a16="http://schemas.microsoft.com/office/drawing/2014/main" id="{401E46F9-E430-A55C-65B5-EF0E108393F2}"/>
                  </a:ext>
                </a:extLst>
              </p14:cNvPr>
              <p14:cNvContentPartPr/>
              <p14:nvPr/>
            </p14:nvContentPartPr>
            <p14:xfrm>
              <a:off x="4413715" y="5001030"/>
              <a:ext cx="9720" cy="49320"/>
            </p14:xfrm>
          </p:contentPart>
        </mc:Choice>
        <mc:Fallback xmlns="">
          <p:pic>
            <p:nvPicPr>
              <p:cNvPr id="43" name="Ink 42">
                <a:extLst>
                  <a:ext uri="{FF2B5EF4-FFF2-40B4-BE49-F238E27FC236}">
                    <a16:creationId xmlns:a16="http://schemas.microsoft.com/office/drawing/2014/main" id="{401E46F9-E430-A55C-65B5-EF0E108393F2}"/>
                  </a:ext>
                </a:extLst>
              </p:cNvPr>
              <p:cNvPicPr/>
              <p:nvPr/>
            </p:nvPicPr>
            <p:blipFill>
              <a:blip r:embed="rId7"/>
              <a:stretch>
                <a:fillRect/>
              </a:stretch>
            </p:blipFill>
            <p:spPr>
              <a:xfrm>
                <a:off x="4407595" y="4994910"/>
                <a:ext cx="219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4" name="Ink 43">
                <a:extLst>
                  <a:ext uri="{FF2B5EF4-FFF2-40B4-BE49-F238E27FC236}">
                    <a16:creationId xmlns:a16="http://schemas.microsoft.com/office/drawing/2014/main" id="{E4761F57-C5D9-1A7E-AA00-6BDEB6C442F3}"/>
                  </a:ext>
                </a:extLst>
              </p14:cNvPr>
              <p14:cNvContentPartPr/>
              <p14:nvPr/>
            </p14:nvContentPartPr>
            <p14:xfrm>
              <a:off x="4490035" y="4973670"/>
              <a:ext cx="20160" cy="62280"/>
            </p14:xfrm>
          </p:contentPart>
        </mc:Choice>
        <mc:Fallback xmlns="">
          <p:pic>
            <p:nvPicPr>
              <p:cNvPr id="44" name="Ink 43">
                <a:extLst>
                  <a:ext uri="{FF2B5EF4-FFF2-40B4-BE49-F238E27FC236}">
                    <a16:creationId xmlns:a16="http://schemas.microsoft.com/office/drawing/2014/main" id="{E4761F57-C5D9-1A7E-AA00-6BDEB6C442F3}"/>
                  </a:ext>
                </a:extLst>
              </p:cNvPr>
              <p:cNvPicPr/>
              <p:nvPr/>
            </p:nvPicPr>
            <p:blipFill>
              <a:blip r:embed="rId9"/>
              <a:stretch>
                <a:fillRect/>
              </a:stretch>
            </p:blipFill>
            <p:spPr>
              <a:xfrm>
                <a:off x="4483915" y="4967550"/>
                <a:ext cx="32400" cy="74520"/>
              </a:xfrm>
              <a:prstGeom prst="rect">
                <a:avLst/>
              </a:prstGeom>
            </p:spPr>
          </p:pic>
        </mc:Fallback>
      </mc:AlternateContent>
      <p:cxnSp>
        <p:nvCxnSpPr>
          <p:cNvPr id="46" name="Straight Arrow Connector 45">
            <a:extLst>
              <a:ext uri="{FF2B5EF4-FFF2-40B4-BE49-F238E27FC236}">
                <a16:creationId xmlns:a16="http://schemas.microsoft.com/office/drawing/2014/main" id="{E7D7FE76-3E8E-895E-21C2-E01F49550308}"/>
              </a:ext>
            </a:extLst>
          </p:cNvPr>
          <p:cNvCxnSpPr>
            <a:cxnSpLocks/>
            <a:stCxn id="14" idx="6"/>
          </p:cNvCxnSpPr>
          <p:nvPr/>
        </p:nvCxnSpPr>
        <p:spPr>
          <a:xfrm>
            <a:off x="6871062" y="3551465"/>
            <a:ext cx="687206" cy="122464"/>
          </a:xfrm>
          <a:prstGeom prst="straightConnector1">
            <a:avLst/>
          </a:prstGeom>
          <a:ln w="31750">
            <a:tailEnd type="triangle"/>
          </a:ln>
        </p:spPr>
        <p:style>
          <a:lnRef idx="2">
            <a:srgbClr val="1F3A68"/>
          </a:lnRef>
          <a:fillRef idx="0">
            <a:srgbClr val="1F3A68"/>
          </a:fillRef>
          <a:effectRef idx="1">
            <a:srgbClr val="1F3A68"/>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BFEA669-164C-6A6B-95D0-07EA8DDF4633}"/>
                  </a:ext>
                </a:extLst>
              </p:cNvPr>
              <p:cNvSpPr txBox="1"/>
              <p:nvPr/>
            </p:nvSpPr>
            <p:spPr>
              <a:xfrm>
                <a:off x="7336767" y="3252536"/>
                <a:ext cx="1914274" cy="298928"/>
              </a:xfrm>
              <a:prstGeom prst="roundRect">
                <a:avLst/>
              </a:prstGeom>
              <a:solidFill>
                <a:srgbClr val="EEF2F8"/>
              </a:solidFill>
              <a:ln w="15875">
                <a:solidFill>
                  <a:srgbClr val="1F3A68"/>
                </a:solidFill>
              </a:ln>
            </p:spPr>
            <p:txBody>
              <a:bodyPr wrap="square" lIns="0" tIns="0" rIns="0" bIns="0" rtlCol="0">
                <a:spAutoFit/>
              </a:bodyPr>
              <a:lstStyle/>
              <a:p>
                <a:r>
                  <a:rPr lang="en-US"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e>
                    </m:acc>
                  </m:oMath>
                </a14:m>
                <a:r>
                  <a:rPr lang="en-US" b="0" dirty="0"/>
                  <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r>
                          <a:rPr lang="en-US" b="0" i="1" smtClean="0">
                            <a:latin typeface="Cambria Math" panose="02040503050406030204" pitchFamily="18" charset="0"/>
                          </a:rPr>
                          <m:t>𝑧</m:t>
                        </m:r>
                      </m:sub>
                    </m:sSub>
                    <m:r>
                      <a:rPr lang="en-US" b="0" i="1" smtClean="0">
                        <a:latin typeface="Cambria Math" panose="02040503050406030204" pitchFamily="18" charset="0"/>
                      </a:rPr>
                      <m:t>)</m:t>
                    </m:r>
                  </m:oMath>
                </a14:m>
                <a:endParaRPr lang="en-US" dirty="0"/>
              </a:p>
            </p:txBody>
          </p:sp>
        </mc:Choice>
        <mc:Fallback xmlns="">
          <p:sp>
            <p:nvSpPr>
              <p:cNvPr id="48" name="TextBox 47">
                <a:extLst>
                  <a:ext uri="{FF2B5EF4-FFF2-40B4-BE49-F238E27FC236}">
                    <a16:creationId xmlns:a16="http://schemas.microsoft.com/office/drawing/2014/main" id="{4BFEA669-164C-6A6B-95D0-07EA8DDF4633}"/>
                  </a:ext>
                </a:extLst>
              </p:cNvPr>
              <p:cNvSpPr txBox="1">
                <a:spLocks noRot="1" noChangeAspect="1" noMove="1" noResize="1" noEditPoints="1" noAdjustHandles="1" noChangeArrowheads="1" noChangeShapeType="1" noTextEdit="1"/>
              </p:cNvSpPr>
              <p:nvPr/>
            </p:nvSpPr>
            <p:spPr>
              <a:xfrm>
                <a:off x="7336767" y="3252536"/>
                <a:ext cx="1914274" cy="298928"/>
              </a:xfrm>
              <a:prstGeom prst="roundRect">
                <a:avLst/>
              </a:prstGeom>
              <a:blipFill>
                <a:blip r:embed="rId10"/>
                <a:stretch>
                  <a:fillRect l="-1299" r="-3247" b="-23077"/>
                </a:stretch>
              </a:blipFill>
              <a:ln w="15875">
                <a:solidFill>
                  <a:srgbClr val="1F3A68"/>
                </a:solidFill>
              </a:ln>
            </p:spPr>
            <p:txBody>
              <a:bodyPr/>
              <a:lstStyle/>
              <a:p>
                <a:r>
                  <a:rPr lang="en-US">
                    <a:noFill/>
                  </a:rPr>
                  <a:t> </a:t>
                </a:r>
              </a:p>
            </p:txBody>
          </p:sp>
        </mc:Fallback>
      </mc:AlternateContent>
      <p:cxnSp>
        <p:nvCxnSpPr>
          <p:cNvPr id="49" name="Straight Arrow Connector 48">
            <a:extLst>
              <a:ext uri="{FF2B5EF4-FFF2-40B4-BE49-F238E27FC236}">
                <a16:creationId xmlns:a16="http://schemas.microsoft.com/office/drawing/2014/main" id="{8861E8FF-2D21-1437-FAD3-24EFA8FD5C69}"/>
              </a:ext>
            </a:extLst>
          </p:cNvPr>
          <p:cNvCxnSpPr>
            <a:cxnSpLocks/>
          </p:cNvCxnSpPr>
          <p:nvPr/>
        </p:nvCxnSpPr>
        <p:spPr>
          <a:xfrm flipH="1">
            <a:off x="3824375" y="4954633"/>
            <a:ext cx="812700" cy="322042"/>
          </a:xfrm>
          <a:prstGeom prst="straightConnector1">
            <a:avLst/>
          </a:prstGeom>
          <a:ln w="31750">
            <a:solidFill>
              <a:srgbClr val="73000A"/>
            </a:solidFill>
            <a:tailEnd type="triangle"/>
          </a:ln>
        </p:spPr>
        <p:style>
          <a:lnRef idx="2">
            <a:srgbClr val="1F3A68"/>
          </a:lnRef>
          <a:fillRef idx="0">
            <a:srgbClr val="1F3A68"/>
          </a:fillRef>
          <a:effectRef idx="1">
            <a:srgbClr val="1F3A68"/>
          </a:effectRef>
          <a:fontRef idx="minor">
            <a:schemeClr val="tx1"/>
          </a:fontRef>
        </p:style>
      </p:cxnSp>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037A94E9-6F64-5DE0-301D-A4BC46224A7F}"/>
                  </a:ext>
                </a:extLst>
              </p:cNvPr>
              <p:cNvSpPr txBox="1"/>
              <p:nvPr/>
            </p:nvSpPr>
            <p:spPr>
              <a:xfrm>
                <a:off x="2305958" y="4529942"/>
                <a:ext cx="2004875" cy="330729"/>
              </a:xfrm>
              <a:prstGeom prst="roundRect">
                <a:avLst/>
              </a:prstGeom>
              <a:solidFill>
                <a:srgbClr val="F4E6E7"/>
              </a:solidFill>
              <a:ln w="15875">
                <a:solidFill>
                  <a:srgbClr val="73000A"/>
                </a:solidFill>
              </a:ln>
            </p:spPr>
            <p:txBody>
              <a:bodyPr wrap="square" lIns="0" tIns="0" rIns="0" bIns="0" rtlCol="0">
                <a:spAutoFit/>
              </a:bodyPr>
              <a:lstStyle/>
              <a:p>
                <a:r>
                  <a:rPr lang="en-US"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e>
                    </m:acc>
                  </m:oMath>
                </a14:m>
                <a:r>
                  <a:rPr lang="en-US" b="0" dirty="0"/>
                  <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r>
                          <a:rPr lang="en-US" b="0" i="1" smtClean="0">
                            <a:latin typeface="Cambria Math" panose="02040503050406030204" pitchFamily="18" charset="0"/>
                          </a:rPr>
                          <m:t>𝑧</m:t>
                        </m:r>
                      </m:sub>
                    </m:sSub>
                    <m:r>
                      <a:rPr lang="en-US" b="0" i="1" smtClean="0">
                        <a:latin typeface="Cambria Math" panose="02040503050406030204" pitchFamily="18" charset="0"/>
                      </a:rPr>
                      <m:t>)</m:t>
                    </m:r>
                  </m:oMath>
                </a14:m>
                <a:endParaRPr lang="en-US" dirty="0"/>
              </a:p>
            </p:txBody>
          </p:sp>
        </mc:Choice>
        <mc:Fallback>
          <p:sp>
            <p:nvSpPr>
              <p:cNvPr id="51" name="TextBox 50">
                <a:extLst>
                  <a:ext uri="{FF2B5EF4-FFF2-40B4-BE49-F238E27FC236}">
                    <a16:creationId xmlns:a16="http://schemas.microsoft.com/office/drawing/2014/main" id="{037A94E9-6F64-5DE0-301D-A4BC46224A7F}"/>
                  </a:ext>
                </a:extLst>
              </p:cNvPr>
              <p:cNvSpPr txBox="1">
                <a:spLocks noRot="1" noChangeAspect="1" noMove="1" noResize="1" noEditPoints="1" noAdjustHandles="1" noChangeArrowheads="1" noChangeShapeType="1" noTextEdit="1"/>
              </p:cNvSpPr>
              <p:nvPr/>
            </p:nvSpPr>
            <p:spPr>
              <a:xfrm>
                <a:off x="2305958" y="4529942"/>
                <a:ext cx="2004875" cy="330729"/>
              </a:xfrm>
              <a:prstGeom prst="roundRect">
                <a:avLst/>
              </a:prstGeom>
              <a:blipFill>
                <a:blip r:embed="rId11"/>
                <a:stretch>
                  <a:fillRect l="-621" r="-621" b="-14286"/>
                </a:stretch>
              </a:blipFill>
              <a:ln w="15875">
                <a:solidFill>
                  <a:srgbClr val="73000A"/>
                </a:solidFill>
              </a:ln>
            </p:spPr>
            <p:txBody>
              <a:bodyPr/>
              <a:lstStyle/>
              <a:p>
                <a:r>
                  <a:rPr lang="en-US">
                    <a:noFill/>
                  </a:rPr>
                  <a:t> </a:t>
                </a:r>
              </a:p>
            </p:txBody>
          </p:sp>
        </mc:Fallback>
      </mc:AlternateContent>
      <p:cxnSp>
        <p:nvCxnSpPr>
          <p:cNvPr id="53" name="Straight Connector 52">
            <a:extLst>
              <a:ext uri="{FF2B5EF4-FFF2-40B4-BE49-F238E27FC236}">
                <a16:creationId xmlns:a16="http://schemas.microsoft.com/office/drawing/2014/main" id="{30C69304-D82A-2F78-A82F-EDAF9CDF88BD}"/>
              </a:ext>
            </a:extLst>
          </p:cNvPr>
          <p:cNvCxnSpPr>
            <a:cxnSpLocks/>
          </p:cNvCxnSpPr>
          <p:nvPr/>
        </p:nvCxnSpPr>
        <p:spPr>
          <a:xfrm flipH="1" flipV="1">
            <a:off x="3366076" y="2963119"/>
            <a:ext cx="5627453" cy="956717"/>
          </a:xfrm>
          <a:prstGeom prst="line">
            <a:avLst/>
          </a:prstGeom>
          <a:ln>
            <a:prstDash val="sysDash"/>
          </a:ln>
        </p:spPr>
        <p:style>
          <a:lnRef idx="2">
            <a:srgbClr val="1F3A68"/>
          </a:lnRef>
          <a:fillRef idx="0">
            <a:srgbClr val="1F3A68"/>
          </a:fillRef>
          <a:effectRef idx="1">
            <a:srgbClr val="1F3A68"/>
          </a:effectRef>
          <a:fontRef idx="minor">
            <a:schemeClr val="tx1"/>
          </a:fontRef>
        </p:style>
      </p:cxnSp>
      <p:grpSp>
        <p:nvGrpSpPr>
          <p:cNvPr id="62" name="Group 61">
            <a:extLst>
              <a:ext uri="{FF2B5EF4-FFF2-40B4-BE49-F238E27FC236}">
                <a16:creationId xmlns:a16="http://schemas.microsoft.com/office/drawing/2014/main" id="{691BBC56-5662-8609-1AE3-41023B59DDEF}"/>
              </a:ext>
            </a:extLst>
          </p:cNvPr>
          <p:cNvGrpSpPr/>
          <p:nvPr/>
        </p:nvGrpSpPr>
        <p:grpSpPr>
          <a:xfrm>
            <a:off x="5017554" y="3188608"/>
            <a:ext cx="79560" cy="121320"/>
            <a:chOff x="5017554" y="3188608"/>
            <a:chExt cx="79560" cy="121320"/>
          </a:xfrm>
        </p:grpSpPr>
        <mc:AlternateContent xmlns:mc="http://schemas.openxmlformats.org/markup-compatibility/2006" xmlns:p14="http://schemas.microsoft.com/office/powerpoint/2010/main">
          <mc:Choice Requires="p14">
            <p:contentPart p14:bwMode="auto" r:id="rId12">
              <p14:nvContentPartPr>
                <p14:cNvPr id="59" name="Ink 58">
                  <a:extLst>
                    <a:ext uri="{FF2B5EF4-FFF2-40B4-BE49-F238E27FC236}">
                      <a16:creationId xmlns:a16="http://schemas.microsoft.com/office/drawing/2014/main" id="{6EEE98EB-8EE2-2894-BC1E-80CDBDA03B55}"/>
                    </a:ext>
                  </a:extLst>
                </p14:cNvPr>
                <p14:cNvContentPartPr/>
                <p14:nvPr/>
              </p14:nvContentPartPr>
              <p14:xfrm>
                <a:off x="5037354" y="3188608"/>
                <a:ext cx="49320" cy="121320"/>
              </p14:xfrm>
            </p:contentPart>
          </mc:Choice>
          <mc:Fallback xmlns="">
            <p:pic>
              <p:nvPicPr>
                <p:cNvPr id="59" name="Ink 58">
                  <a:extLst>
                    <a:ext uri="{FF2B5EF4-FFF2-40B4-BE49-F238E27FC236}">
                      <a16:creationId xmlns:a16="http://schemas.microsoft.com/office/drawing/2014/main" id="{6EEE98EB-8EE2-2894-BC1E-80CDBDA03B55}"/>
                    </a:ext>
                  </a:extLst>
                </p:cNvPr>
                <p:cNvPicPr/>
                <p:nvPr/>
              </p:nvPicPr>
              <p:blipFill>
                <a:blip r:embed="rId13"/>
                <a:stretch>
                  <a:fillRect/>
                </a:stretch>
              </p:blipFill>
              <p:spPr>
                <a:xfrm>
                  <a:off x="5028354" y="3179608"/>
                  <a:ext cx="6696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0" name="Ink 59">
                  <a:extLst>
                    <a:ext uri="{FF2B5EF4-FFF2-40B4-BE49-F238E27FC236}">
                      <a16:creationId xmlns:a16="http://schemas.microsoft.com/office/drawing/2014/main" id="{F28CC27E-1AA1-D432-E6D4-3DB35E4762F3}"/>
                    </a:ext>
                  </a:extLst>
                </p14:cNvPr>
                <p14:cNvContentPartPr/>
                <p14:nvPr/>
              </p14:nvContentPartPr>
              <p14:xfrm>
                <a:off x="5017554" y="3195088"/>
                <a:ext cx="79560" cy="111600"/>
              </p14:xfrm>
            </p:contentPart>
          </mc:Choice>
          <mc:Fallback xmlns="">
            <p:pic>
              <p:nvPicPr>
                <p:cNvPr id="60" name="Ink 59">
                  <a:extLst>
                    <a:ext uri="{FF2B5EF4-FFF2-40B4-BE49-F238E27FC236}">
                      <a16:creationId xmlns:a16="http://schemas.microsoft.com/office/drawing/2014/main" id="{F28CC27E-1AA1-D432-E6D4-3DB35E4762F3}"/>
                    </a:ext>
                  </a:extLst>
                </p:cNvPr>
                <p:cNvPicPr/>
                <p:nvPr/>
              </p:nvPicPr>
              <p:blipFill>
                <a:blip r:embed="rId15"/>
                <a:stretch>
                  <a:fillRect/>
                </a:stretch>
              </p:blipFill>
              <p:spPr>
                <a:xfrm>
                  <a:off x="5008554" y="3186448"/>
                  <a:ext cx="97200" cy="129240"/>
                </a:xfrm>
                <a:prstGeom prst="rect">
                  <a:avLst/>
                </a:prstGeom>
              </p:spPr>
            </p:pic>
          </mc:Fallback>
        </mc:AlternateContent>
      </p:grpSp>
      <p:cxnSp>
        <p:nvCxnSpPr>
          <p:cNvPr id="65" name="Straight Connector 64">
            <a:extLst>
              <a:ext uri="{FF2B5EF4-FFF2-40B4-BE49-F238E27FC236}">
                <a16:creationId xmlns:a16="http://schemas.microsoft.com/office/drawing/2014/main" id="{B9BAF2BF-7DBD-7934-531B-226E4E07D175}"/>
              </a:ext>
            </a:extLst>
          </p:cNvPr>
          <p:cNvCxnSpPr>
            <a:cxnSpLocks/>
          </p:cNvCxnSpPr>
          <p:nvPr/>
        </p:nvCxnSpPr>
        <p:spPr>
          <a:xfrm flipV="1">
            <a:off x="3078760" y="3791824"/>
            <a:ext cx="4412609" cy="1778466"/>
          </a:xfrm>
          <a:prstGeom prst="line">
            <a:avLst/>
          </a:prstGeom>
          <a:ln>
            <a:solidFill>
              <a:srgbClr val="73000A"/>
            </a:solidFill>
            <a:prstDash val="sysDash"/>
          </a:ln>
        </p:spPr>
        <p:style>
          <a:lnRef idx="2">
            <a:srgbClr val="1F3A68"/>
          </a:lnRef>
          <a:fillRef idx="0">
            <a:srgbClr val="1F3A68"/>
          </a:fillRef>
          <a:effectRef idx="1">
            <a:srgbClr val="1F3A68"/>
          </a:effectRef>
          <a:fontRef idx="minor">
            <a:schemeClr val="tx1"/>
          </a:fontRef>
        </p:style>
      </p:cxnSp>
      <p:grpSp>
        <p:nvGrpSpPr>
          <p:cNvPr id="71" name="Group 70">
            <a:extLst>
              <a:ext uri="{FF2B5EF4-FFF2-40B4-BE49-F238E27FC236}">
                <a16:creationId xmlns:a16="http://schemas.microsoft.com/office/drawing/2014/main" id="{1EB857A6-CA2D-0B11-D143-58A27F219DF6}"/>
              </a:ext>
            </a:extLst>
          </p:cNvPr>
          <p:cNvGrpSpPr/>
          <p:nvPr/>
        </p:nvGrpSpPr>
        <p:grpSpPr>
          <a:xfrm>
            <a:off x="6941960" y="3964726"/>
            <a:ext cx="59040" cy="85680"/>
            <a:chOff x="6954176" y="4747928"/>
            <a:chExt cx="59040" cy="85680"/>
          </a:xfrm>
        </p:grpSpPr>
        <mc:AlternateContent xmlns:mc="http://schemas.openxmlformats.org/markup-compatibility/2006" xmlns:p14="http://schemas.microsoft.com/office/powerpoint/2010/main">
          <mc:Choice Requires="p14">
            <p:contentPart p14:bwMode="auto" r:id="rId16">
              <p14:nvContentPartPr>
                <p14:cNvPr id="68" name="Ink 67">
                  <a:extLst>
                    <a:ext uri="{FF2B5EF4-FFF2-40B4-BE49-F238E27FC236}">
                      <a16:creationId xmlns:a16="http://schemas.microsoft.com/office/drawing/2014/main" id="{346F1BE6-8CAD-7165-D7D1-5067CDDF997A}"/>
                    </a:ext>
                  </a:extLst>
                </p14:cNvPr>
                <p14:cNvContentPartPr/>
                <p14:nvPr/>
              </p14:nvContentPartPr>
              <p14:xfrm>
                <a:off x="6954176" y="4754048"/>
                <a:ext cx="59040" cy="73440"/>
              </p14:xfrm>
            </p:contentPart>
          </mc:Choice>
          <mc:Fallback xmlns="">
            <p:pic>
              <p:nvPicPr>
                <p:cNvPr id="68" name="Ink 67">
                  <a:extLst>
                    <a:ext uri="{FF2B5EF4-FFF2-40B4-BE49-F238E27FC236}">
                      <a16:creationId xmlns:a16="http://schemas.microsoft.com/office/drawing/2014/main" id="{346F1BE6-8CAD-7165-D7D1-5067CDDF997A}"/>
                    </a:ext>
                  </a:extLst>
                </p:cNvPr>
                <p:cNvPicPr/>
                <p:nvPr/>
              </p:nvPicPr>
              <p:blipFill>
                <a:blip r:embed="rId17"/>
                <a:stretch>
                  <a:fillRect/>
                </a:stretch>
              </p:blipFill>
              <p:spPr>
                <a:xfrm>
                  <a:off x="6945536" y="4745048"/>
                  <a:ext cx="7668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9" name="Ink 68">
                  <a:extLst>
                    <a:ext uri="{FF2B5EF4-FFF2-40B4-BE49-F238E27FC236}">
                      <a16:creationId xmlns:a16="http://schemas.microsoft.com/office/drawing/2014/main" id="{EAA37F75-00CE-76F0-8A0D-6F9B525918D7}"/>
                    </a:ext>
                  </a:extLst>
                </p14:cNvPr>
                <p14:cNvContentPartPr/>
                <p14:nvPr/>
              </p14:nvContentPartPr>
              <p14:xfrm>
                <a:off x="6961376" y="4747928"/>
                <a:ext cx="51120" cy="85680"/>
              </p14:xfrm>
            </p:contentPart>
          </mc:Choice>
          <mc:Fallback xmlns="">
            <p:pic>
              <p:nvPicPr>
                <p:cNvPr id="69" name="Ink 68">
                  <a:extLst>
                    <a:ext uri="{FF2B5EF4-FFF2-40B4-BE49-F238E27FC236}">
                      <a16:creationId xmlns:a16="http://schemas.microsoft.com/office/drawing/2014/main" id="{EAA37F75-00CE-76F0-8A0D-6F9B525918D7}"/>
                    </a:ext>
                  </a:extLst>
                </p:cNvPr>
                <p:cNvPicPr/>
                <p:nvPr/>
              </p:nvPicPr>
              <p:blipFill>
                <a:blip r:embed="rId19"/>
                <a:stretch>
                  <a:fillRect/>
                </a:stretch>
              </p:blipFill>
              <p:spPr>
                <a:xfrm>
                  <a:off x="6952376" y="4738928"/>
                  <a:ext cx="68760" cy="103320"/>
                </a:xfrm>
                <a:prstGeom prst="rect">
                  <a:avLst/>
                </a:prstGeom>
              </p:spPr>
            </p:pic>
          </mc:Fallback>
        </mc:AlternateContent>
      </p:grpSp>
      <p:sp>
        <p:nvSpPr>
          <p:cNvPr id="76" name="Oval 75">
            <a:extLst>
              <a:ext uri="{FF2B5EF4-FFF2-40B4-BE49-F238E27FC236}">
                <a16:creationId xmlns:a16="http://schemas.microsoft.com/office/drawing/2014/main" id="{49417978-D658-E832-85E8-914BFD551944}"/>
              </a:ext>
            </a:extLst>
          </p:cNvPr>
          <p:cNvSpPr/>
          <p:nvPr/>
        </p:nvSpPr>
        <p:spPr>
          <a:xfrm>
            <a:off x="5670958" y="3306688"/>
            <a:ext cx="94268" cy="102870"/>
          </a:xfrm>
          <a:prstGeom prst="ellipse">
            <a:avLst/>
          </a:prstGeom>
          <a:solidFill>
            <a:srgbClr val="1F3A68"/>
          </a:solidFill>
          <a:ln>
            <a:noFill/>
          </a:ln>
        </p:spPr>
        <p:style>
          <a:lnRef idx="2">
            <a:schemeClr val="accent1">
              <a:shade val="15000"/>
            </a:schemeClr>
          </a:lnRef>
          <a:fillRef idx="1">
            <a:srgbClr val="1F3A68"/>
          </a:fillRef>
          <a:effectRef idx="0">
            <a:srgbClr val="1F3A68"/>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A340A5CA-5187-8399-6F42-DDB1DA87ADFD}"/>
              </a:ext>
            </a:extLst>
          </p:cNvPr>
          <p:cNvSpPr/>
          <p:nvPr/>
        </p:nvSpPr>
        <p:spPr>
          <a:xfrm>
            <a:off x="5670958" y="4456747"/>
            <a:ext cx="94268" cy="102870"/>
          </a:xfrm>
          <a:prstGeom prst="ellipse">
            <a:avLst/>
          </a:prstGeom>
          <a:solidFill>
            <a:srgbClr val="73000A"/>
          </a:solidFill>
          <a:ln>
            <a:noFill/>
          </a:ln>
        </p:spPr>
        <p:style>
          <a:lnRef idx="2">
            <a:schemeClr val="accent1">
              <a:shade val="15000"/>
            </a:schemeClr>
          </a:lnRef>
          <a:fillRef idx="1">
            <a:srgbClr val="1F3A68"/>
          </a:fillRef>
          <a:effectRef idx="0">
            <a:srgbClr val="1F3A68"/>
          </a:effectRef>
          <a:fontRef idx="minor">
            <a:schemeClr val="lt1"/>
          </a:fontRef>
        </p:style>
        <p:txBody>
          <a:bodyPr rtlCol="0" anchor="ctr"/>
          <a:lstStyle/>
          <a:p>
            <a:pPr algn="ctr"/>
            <a:endParaRPr lang="en-US"/>
          </a:p>
        </p:txBody>
      </p:sp>
      <p:cxnSp>
        <p:nvCxnSpPr>
          <p:cNvPr id="79" name="Straight Connector 78">
            <a:extLst>
              <a:ext uri="{FF2B5EF4-FFF2-40B4-BE49-F238E27FC236}">
                <a16:creationId xmlns:a16="http://schemas.microsoft.com/office/drawing/2014/main" id="{5C0BCCF7-8F25-0438-1F50-F8114274A02C}"/>
              </a:ext>
            </a:extLst>
          </p:cNvPr>
          <p:cNvCxnSpPr>
            <a:stCxn id="76" idx="4"/>
            <a:endCxn id="77" idx="0"/>
          </p:cNvCxnSpPr>
          <p:nvPr/>
        </p:nvCxnSpPr>
        <p:spPr>
          <a:xfrm>
            <a:off x="5718092" y="3409558"/>
            <a:ext cx="0" cy="1047189"/>
          </a:xfrm>
          <a:prstGeom prst="line">
            <a:avLst/>
          </a:prstGeom>
          <a:ln>
            <a:solidFill>
              <a:schemeClr val="tx1"/>
            </a:solidFill>
            <a:prstDash val="sysDot"/>
          </a:ln>
        </p:spPr>
        <p:style>
          <a:lnRef idx="2">
            <a:srgbClr val="1F3A68"/>
          </a:lnRef>
          <a:fillRef idx="0">
            <a:srgbClr val="1F3A68"/>
          </a:fillRef>
          <a:effectRef idx="1">
            <a:srgbClr val="1F3A68"/>
          </a:effectRef>
          <a:fontRef idx="minor">
            <a:schemeClr val="tx1"/>
          </a:fontRef>
        </p:style>
      </p:cxnSp>
      <p:sp>
        <p:nvSpPr>
          <p:cNvPr id="80" name="Oval 79">
            <a:extLst>
              <a:ext uri="{FF2B5EF4-FFF2-40B4-BE49-F238E27FC236}">
                <a16:creationId xmlns:a16="http://schemas.microsoft.com/office/drawing/2014/main" id="{3CE4E045-4C69-97CA-B4C8-E1FEC63F885D}"/>
              </a:ext>
            </a:extLst>
          </p:cNvPr>
          <p:cNvSpPr/>
          <p:nvPr/>
        </p:nvSpPr>
        <p:spPr>
          <a:xfrm>
            <a:off x="5671774" y="3895034"/>
            <a:ext cx="94268" cy="102870"/>
          </a:xfrm>
          <a:prstGeom prst="ellipse">
            <a:avLst/>
          </a:prstGeom>
          <a:solidFill>
            <a:schemeClr val="tx1"/>
          </a:solidFill>
          <a:ln>
            <a:noFill/>
          </a:ln>
        </p:spPr>
        <p:style>
          <a:lnRef idx="2">
            <a:schemeClr val="accent1">
              <a:shade val="15000"/>
            </a:schemeClr>
          </a:lnRef>
          <a:fillRef idx="1">
            <a:srgbClr val="1F3A68"/>
          </a:fillRef>
          <a:effectRef idx="0">
            <a:srgbClr val="1F3A68"/>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898D6215-7EC2-A2EB-A7EB-C288938DDE05}"/>
                  </a:ext>
                </a:extLst>
              </p:cNvPr>
              <p:cNvSpPr txBox="1"/>
              <p:nvPr/>
            </p:nvSpPr>
            <p:spPr>
              <a:xfrm>
                <a:off x="7866621" y="3919836"/>
                <a:ext cx="570322" cy="317972"/>
              </a:xfrm>
              <a:prstGeom prst="roundRect">
                <a:avLst/>
              </a:prstGeom>
              <a:solidFill>
                <a:srgbClr val="EEF2F8"/>
              </a:solidFill>
              <a:ln w="15875">
                <a:solidFill>
                  <a:srgbClr val="1F3A68"/>
                </a:solidFill>
              </a:ln>
            </p:spPr>
            <p:txBody>
              <a:bodyPr wrap="square" lIns="0" tIns="0" rIns="0" bIns="0" rtlCol="0">
                <a:spAutoFit/>
              </a:bodyPr>
              <a:lstStyle/>
              <a:p>
                <a:r>
                  <a:rPr lang="en-US"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p:txBody>
          </p:sp>
        </mc:Choice>
        <mc:Fallback xmlns="">
          <p:sp>
            <p:nvSpPr>
              <p:cNvPr id="82" name="TextBox 81">
                <a:extLst>
                  <a:ext uri="{FF2B5EF4-FFF2-40B4-BE49-F238E27FC236}">
                    <a16:creationId xmlns:a16="http://schemas.microsoft.com/office/drawing/2014/main" id="{898D6215-7EC2-A2EB-A7EB-C288938DDE05}"/>
                  </a:ext>
                </a:extLst>
              </p:cNvPr>
              <p:cNvSpPr txBox="1">
                <a:spLocks noRot="1" noChangeAspect="1" noMove="1" noResize="1" noEditPoints="1" noAdjustHandles="1" noChangeArrowheads="1" noChangeShapeType="1" noTextEdit="1"/>
              </p:cNvSpPr>
              <p:nvPr/>
            </p:nvSpPr>
            <p:spPr>
              <a:xfrm>
                <a:off x="7866621" y="3919836"/>
                <a:ext cx="570322" cy="317972"/>
              </a:xfrm>
              <a:prstGeom prst="roundRect">
                <a:avLst/>
              </a:prstGeom>
              <a:blipFill>
                <a:blip r:embed="rIdV2"/>
                <a:stretch>
                  <a:fillRect/>
                </a:stretch>
              </a:blipFill>
              <a:ln w="15875">
                <a:solidFill>
                  <a:srgbClr val="1F3A68"/>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8C6D793A-4475-8060-36E4-646B9EB71EFA}"/>
                  </a:ext>
                </a:extLst>
              </p:cNvPr>
              <p:cNvSpPr txBox="1"/>
              <p:nvPr/>
            </p:nvSpPr>
            <p:spPr>
              <a:xfrm>
                <a:off x="3668260" y="5390948"/>
                <a:ext cx="570322" cy="317972"/>
              </a:xfrm>
              <a:prstGeom prst="roundRect">
                <a:avLst/>
              </a:prstGeom>
              <a:solidFill>
                <a:srgbClr val="F4E6E7"/>
              </a:solidFill>
              <a:ln w="15875">
                <a:solidFill>
                  <a:srgbClr val="73000A"/>
                </a:solidFill>
              </a:ln>
            </p:spPr>
            <p:txBody>
              <a:bodyPr wrap="square" lIns="0" tIns="0" rIns="0" bIns="0" rtlCol="0">
                <a:spAutoFit/>
              </a:bodyPr>
              <a:lstStyle/>
              <a:p>
                <a:r>
                  <a:rPr lang="en-US"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e>
                    </m:acc>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dirty="0"/>
              </a:p>
            </p:txBody>
          </p:sp>
        </mc:Choice>
        <mc:Fallback xmlns="">
          <p:sp>
            <p:nvSpPr>
              <p:cNvPr id="83" name="TextBox 82">
                <a:extLst>
                  <a:ext uri="{FF2B5EF4-FFF2-40B4-BE49-F238E27FC236}">
                    <a16:creationId xmlns:a16="http://schemas.microsoft.com/office/drawing/2014/main" id="{8C6D793A-4475-8060-36E4-646B9EB71EFA}"/>
                  </a:ext>
                </a:extLst>
              </p:cNvPr>
              <p:cNvSpPr txBox="1">
                <a:spLocks noRot="1" noChangeAspect="1" noMove="1" noResize="1" noEditPoints="1" noAdjustHandles="1" noChangeArrowheads="1" noChangeShapeType="1" noTextEdit="1"/>
              </p:cNvSpPr>
              <p:nvPr/>
            </p:nvSpPr>
            <p:spPr>
              <a:xfrm>
                <a:off x="3668260" y="5390948"/>
                <a:ext cx="570322" cy="317972"/>
              </a:xfrm>
              <a:prstGeom prst="roundRect">
                <a:avLst/>
              </a:prstGeom>
              <a:blipFill>
                <a:blip r:embed="rIdV3"/>
                <a:stretch>
                  <a:fillRect/>
                </a:stretch>
              </a:blipFill>
              <a:ln w="15875">
                <a:solidFill>
                  <a:srgbClr val="73000A"/>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4" name="TextBox 83">
                <a:extLst>
                  <a:ext uri="{FF2B5EF4-FFF2-40B4-BE49-F238E27FC236}">
                    <a16:creationId xmlns:a16="http://schemas.microsoft.com/office/drawing/2014/main" id="{9A1D79A0-2952-349C-3FED-2277CFB682F0}"/>
                  </a:ext>
                </a:extLst>
              </p:cNvPr>
              <p:cNvSpPr txBox="1"/>
              <p:nvPr/>
            </p:nvSpPr>
            <p:spPr>
              <a:xfrm>
                <a:off x="5432930" y="2863419"/>
                <a:ext cx="663069" cy="317972"/>
              </a:xfrm>
              <a:prstGeom prst="roundRect">
                <a:avLst/>
              </a:prstGeom>
              <a:solidFill>
                <a:srgbClr val="EEF2F8"/>
              </a:solidFill>
              <a:ln w="15875">
                <a:solidFill>
                  <a:srgbClr val="1F3A68"/>
                </a:solidFill>
              </a:ln>
            </p:spPr>
            <p:txBody>
              <a:bodyPr wrap="square" lIns="0" tIns="0" rIns="0" bIns="0" rtlCol="0">
                <a:spAutoFit/>
              </a:bodyPr>
              <a:lstStyle/>
              <a:p>
                <a:r>
                  <a:rPr lang="en-US"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p>
            </p:txBody>
          </p:sp>
        </mc:Choice>
        <mc:Fallback>
          <p:sp>
            <p:nvSpPr>
              <p:cNvPr id="84" name="TextBox 83">
                <a:extLst>
                  <a:ext uri="{FF2B5EF4-FFF2-40B4-BE49-F238E27FC236}">
                    <a16:creationId xmlns:a16="http://schemas.microsoft.com/office/drawing/2014/main" id="{9A1D79A0-2952-349C-3FED-2277CFB682F0}"/>
                  </a:ext>
                </a:extLst>
              </p:cNvPr>
              <p:cNvSpPr txBox="1">
                <a:spLocks noRot="1" noChangeAspect="1" noMove="1" noResize="1" noEditPoints="1" noAdjustHandles="1" noChangeArrowheads="1" noChangeShapeType="1" noTextEdit="1"/>
              </p:cNvSpPr>
              <p:nvPr/>
            </p:nvSpPr>
            <p:spPr>
              <a:xfrm>
                <a:off x="5432930" y="2863419"/>
                <a:ext cx="663069" cy="317972"/>
              </a:xfrm>
              <a:prstGeom prst="roundRect">
                <a:avLst/>
              </a:prstGeom>
              <a:blipFill>
                <a:blip r:embed="rId20"/>
                <a:stretch>
                  <a:fillRect r="-12963" b="-18519"/>
                </a:stretch>
              </a:blipFill>
              <a:ln w="15875">
                <a:solidFill>
                  <a:srgbClr val="1F3A68"/>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5" name="TextBox 84">
                <a:extLst>
                  <a:ext uri="{FF2B5EF4-FFF2-40B4-BE49-F238E27FC236}">
                    <a16:creationId xmlns:a16="http://schemas.microsoft.com/office/drawing/2014/main" id="{0C2DBE4C-C4BB-4FF5-38CD-D4B2A1F87FF1}"/>
                  </a:ext>
                </a:extLst>
              </p:cNvPr>
              <p:cNvSpPr txBox="1"/>
              <p:nvPr/>
            </p:nvSpPr>
            <p:spPr>
              <a:xfrm>
                <a:off x="5440050" y="4677512"/>
                <a:ext cx="692724" cy="317972"/>
              </a:xfrm>
              <a:prstGeom prst="roundRect">
                <a:avLst/>
              </a:prstGeom>
              <a:solidFill>
                <a:srgbClr val="F4E6E7"/>
              </a:solidFill>
              <a:ln w="15875">
                <a:solidFill>
                  <a:srgbClr val="73000A"/>
                </a:solidFill>
              </a:ln>
            </p:spPr>
            <p:txBody>
              <a:bodyPr wrap="square" lIns="0" tIns="0" rIns="0" bIns="0" rtlCol="0">
                <a:spAutoFit/>
              </a:bodyPr>
              <a:lstStyle/>
              <a:p>
                <a:r>
                  <a:rPr lang="en-US"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p>
            </p:txBody>
          </p:sp>
        </mc:Choice>
        <mc:Fallback>
          <p:sp>
            <p:nvSpPr>
              <p:cNvPr id="85" name="TextBox 84">
                <a:extLst>
                  <a:ext uri="{FF2B5EF4-FFF2-40B4-BE49-F238E27FC236}">
                    <a16:creationId xmlns:a16="http://schemas.microsoft.com/office/drawing/2014/main" id="{0C2DBE4C-C4BB-4FF5-38CD-D4B2A1F87FF1}"/>
                  </a:ext>
                </a:extLst>
              </p:cNvPr>
              <p:cNvSpPr txBox="1">
                <a:spLocks noRot="1" noChangeAspect="1" noMove="1" noResize="1" noEditPoints="1" noAdjustHandles="1" noChangeArrowheads="1" noChangeShapeType="1" noTextEdit="1"/>
              </p:cNvSpPr>
              <p:nvPr/>
            </p:nvSpPr>
            <p:spPr>
              <a:xfrm>
                <a:off x="5440050" y="4677512"/>
                <a:ext cx="692724" cy="317972"/>
              </a:xfrm>
              <a:prstGeom prst="roundRect">
                <a:avLst/>
              </a:prstGeom>
              <a:blipFill>
                <a:blip r:embed="rId21"/>
                <a:stretch>
                  <a:fillRect r="-7018" b="-17857"/>
                </a:stretch>
              </a:blipFill>
              <a:ln w="15875">
                <a:solidFill>
                  <a:srgbClr val="73000A"/>
                </a:solidFill>
              </a:ln>
            </p:spPr>
            <p:txBody>
              <a:bodyPr/>
              <a:lstStyle/>
              <a:p>
                <a:r>
                  <a:rPr lang="en-US">
                    <a:noFill/>
                  </a:rPr>
                  <a:t> </a:t>
                </a:r>
              </a:p>
            </p:txBody>
          </p:sp>
        </mc:Fallback>
      </mc:AlternateContent>
      <p:cxnSp>
        <p:nvCxnSpPr>
          <p:cNvPr id="88" name="Straight Arrow Connector 87">
            <a:extLst>
              <a:ext uri="{FF2B5EF4-FFF2-40B4-BE49-F238E27FC236}">
                <a16:creationId xmlns:a16="http://schemas.microsoft.com/office/drawing/2014/main" id="{43DB1F7A-3AEA-A436-6749-811B7DFBCD48}"/>
              </a:ext>
            </a:extLst>
          </p:cNvPr>
          <p:cNvCxnSpPr>
            <a:stCxn id="24" idx="7"/>
            <a:endCxn id="76" idx="2"/>
          </p:cNvCxnSpPr>
          <p:nvPr/>
        </p:nvCxnSpPr>
        <p:spPr>
          <a:xfrm flipV="1">
            <a:off x="1149106" y="3358123"/>
            <a:ext cx="4521852" cy="2630329"/>
          </a:xfrm>
          <a:prstGeom prst="straightConnector1">
            <a:avLst/>
          </a:prstGeom>
          <a:ln>
            <a:tailEnd type="triangle"/>
          </a:ln>
        </p:spPr>
        <p:style>
          <a:lnRef idx="2">
            <a:srgbClr val="1F3A68"/>
          </a:lnRef>
          <a:fillRef idx="0">
            <a:srgbClr val="1F3A68"/>
          </a:fillRef>
          <a:effectRef idx="1">
            <a:srgbClr val="1F3A68"/>
          </a:effectRef>
          <a:fontRef idx="minor">
            <a:schemeClr val="tx1"/>
          </a:fontRef>
        </p:style>
      </p:cxnSp>
      <p:cxnSp>
        <p:nvCxnSpPr>
          <p:cNvPr id="90" name="Straight Arrow Connector 89">
            <a:extLst>
              <a:ext uri="{FF2B5EF4-FFF2-40B4-BE49-F238E27FC236}">
                <a16:creationId xmlns:a16="http://schemas.microsoft.com/office/drawing/2014/main" id="{24EE1275-1303-7C69-8492-EF0CE0C7CCA1}"/>
              </a:ext>
            </a:extLst>
          </p:cNvPr>
          <p:cNvCxnSpPr>
            <a:stCxn id="24" idx="7"/>
            <a:endCxn id="77" idx="2"/>
          </p:cNvCxnSpPr>
          <p:nvPr/>
        </p:nvCxnSpPr>
        <p:spPr>
          <a:xfrm flipV="1">
            <a:off x="1149106" y="4508182"/>
            <a:ext cx="4521852" cy="1480270"/>
          </a:xfrm>
          <a:prstGeom prst="straightConnector1">
            <a:avLst/>
          </a:prstGeom>
          <a:ln>
            <a:solidFill>
              <a:srgbClr val="73000A"/>
            </a:solidFill>
            <a:tailEnd type="triangle"/>
          </a:ln>
        </p:spPr>
        <p:style>
          <a:lnRef idx="2">
            <a:srgbClr val="1F3A68"/>
          </a:lnRef>
          <a:fillRef idx="0">
            <a:srgbClr val="1F3A68"/>
          </a:fillRef>
          <a:effectRef idx="1">
            <a:srgbClr val="1F3A68"/>
          </a:effectRef>
          <a:fontRef idx="minor">
            <a:schemeClr val="tx1"/>
          </a:fontRef>
        </p:style>
      </p:cxnSp>
      <p:cxnSp>
        <p:nvCxnSpPr>
          <p:cNvPr id="92" name="Straight Arrow Connector 91">
            <a:extLst>
              <a:ext uri="{FF2B5EF4-FFF2-40B4-BE49-F238E27FC236}">
                <a16:creationId xmlns:a16="http://schemas.microsoft.com/office/drawing/2014/main" id="{82CA69F2-B1E1-BB70-B518-D049E686F63C}"/>
              </a:ext>
            </a:extLst>
          </p:cNvPr>
          <p:cNvCxnSpPr>
            <a:stCxn id="24" idx="7"/>
            <a:endCxn id="80" idx="2"/>
          </p:cNvCxnSpPr>
          <p:nvPr/>
        </p:nvCxnSpPr>
        <p:spPr>
          <a:xfrm flipV="1">
            <a:off x="1149106" y="3946469"/>
            <a:ext cx="4522668" cy="2041983"/>
          </a:xfrm>
          <a:prstGeom prst="straightConnector1">
            <a:avLst/>
          </a:prstGeom>
          <a:ln>
            <a:solidFill>
              <a:schemeClr val="tx1"/>
            </a:solidFill>
            <a:tailEnd type="triangle"/>
          </a:ln>
        </p:spPr>
        <p:style>
          <a:lnRef idx="2">
            <a:srgbClr val="1F3A68"/>
          </a:lnRef>
          <a:fillRef idx="0">
            <a:srgbClr val="1F3A68"/>
          </a:fillRef>
          <a:effectRef idx="1">
            <a:srgbClr val="1F3A68"/>
          </a:effectRef>
          <a:fontRef idx="minor">
            <a:schemeClr val="tx1"/>
          </a:fontRef>
        </p:style>
      </p:cxn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6E89E422-4248-D5AD-BAAE-0CBC6A321BEB}"/>
                  </a:ext>
                </a:extLst>
              </p:cNvPr>
              <p:cNvSpPr txBox="1"/>
              <p:nvPr/>
            </p:nvSpPr>
            <p:spPr>
              <a:xfrm>
                <a:off x="5074954" y="3579172"/>
                <a:ext cx="469783" cy="369332"/>
              </a:xfrm>
              <a:prstGeom prst="roundRect">
                <a:avLst/>
              </a:prstGeom>
              <a:solidFill>
                <a:srgbClr val="F2F2F2"/>
              </a:solidFill>
              <a:ln w="15875">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i="1" smtClean="0">
                                  <a:latin typeface="Cambria Math" panose="02040503050406030204" pitchFamily="18" charset="0"/>
                                  <a:ea typeface="Cambria Math" panose="02040503050406030204" pitchFamily="18" charset="0"/>
                                </a:rPr>
                                <m:t>𝒱</m:t>
                              </m:r>
                            </m:sub>
                          </m:sSub>
                        </m:e>
                      </m:acc>
                    </m:oMath>
                  </m:oMathPara>
                </a14:m>
                <a:endParaRPr lang="en-US" dirty="0"/>
              </a:p>
            </p:txBody>
          </p:sp>
        </mc:Choice>
        <mc:Fallback xmlns="">
          <p:sp>
            <p:nvSpPr>
              <p:cNvPr id="93" name="TextBox 92">
                <a:extLst>
                  <a:ext uri="{FF2B5EF4-FFF2-40B4-BE49-F238E27FC236}">
                    <a16:creationId xmlns:a16="http://schemas.microsoft.com/office/drawing/2014/main" id="{6E89E422-4248-D5AD-BAAE-0CBC6A321BEB}"/>
                  </a:ext>
                </a:extLst>
              </p:cNvPr>
              <p:cNvSpPr txBox="1">
                <a:spLocks noRot="1" noChangeAspect="1" noMove="1" noResize="1" noEditPoints="1" noAdjustHandles="1" noChangeArrowheads="1" noChangeShapeType="1" noTextEdit="1"/>
              </p:cNvSpPr>
              <p:nvPr/>
            </p:nvSpPr>
            <p:spPr>
              <a:xfrm>
                <a:off x="5074954" y="3579172"/>
                <a:ext cx="469783" cy="369332"/>
              </a:xfrm>
              <a:prstGeom prst="roundRect">
                <a:avLst/>
              </a:prstGeom>
              <a:blipFill>
                <a:blip r:embed="rId24"/>
                <a:stretch>
                  <a:fillRect/>
                </a:stretch>
              </a:blipFill>
              <a:ln w="15875">
                <a:solidFill>
                  <a:schemeClr val="tx1"/>
                </a:solidFill>
              </a:ln>
            </p:spPr>
            <p:txBody>
              <a:bodyPr/>
              <a:lstStyle/>
              <a:p>
                <a:r>
                  <a:rPr lang="en-US">
                    <a:noFill/>
                  </a:rPr>
                  <a:t> </a:t>
                </a:r>
              </a:p>
            </p:txBody>
          </p:sp>
        </mc:Fallback>
      </mc:AlternateContent>
      <p:sp>
        <p:nvSpPr>
          <p:cNvPr id="96" name="TextBox 95">
            <a:extLst>
              <a:ext uri="{FF2B5EF4-FFF2-40B4-BE49-F238E27FC236}">
                <a16:creationId xmlns:a16="http://schemas.microsoft.com/office/drawing/2014/main" id="{EB0E0410-33DF-5292-20D3-1B0BF0AF81A5}"/>
              </a:ext>
            </a:extLst>
          </p:cNvPr>
          <p:cNvSpPr txBox="1"/>
          <p:nvPr/>
        </p:nvSpPr>
        <p:spPr>
          <a:xfrm>
            <a:off x="4667250" y="1463040"/>
            <a:ext cx="2158093" cy="369332"/>
          </a:xfrm>
          <a:prstGeom prst="rect">
            <a:avLst/>
          </a:prstGeom>
          <a:noFill/>
        </p:spPr>
        <p:txBody>
          <a:bodyPr wrap="square" rtlCol="0">
            <a:spAutoFit/>
          </a:bodyPr>
          <a:lstStyle/>
          <a:p>
            <a:r>
              <a:rPr lang="en-US" sz="1600" i="1" dirty="0">
                <a:solidFill>
                  <a:srgbClr val="4A4A4A"/>
                </a:solidFill>
                <a:latin typeface="Calibri"/>
                <a:cs typeface="Calibri"/>
              </a:rPr>
              <a:t>Selected Target Foil</a:t>
            </a:r>
          </a:p>
        </p:txBody>
      </p:sp>
      <p:sp>
        <p:nvSpPr>
          <p:cNvPr id="300" name="Subtitle Claim"/>
          <p:cNvSpPr txBox="1"/>
          <p:nvPr/>
        </p:nvSpPr>
        <p:spPr>
          <a:xfrm>
            <a:off x="548640" y="896112"/>
            <a:ext cx="11064240" cy="365760"/>
          </a:xfrm>
          <a:prstGeom prst="rect">
            <a:avLst/>
          </a:prstGeom>
          <a:noFill/>
        </p:spPr>
        <p:txBody>
          <a:bodyPr wrap="square" lIns="0" tIns="0" rIns="0" bIns="0" rtlCol="0" anchor="ctr">
            <a:noAutofit/>
          </a:bodyPr>
          <a:lstStyle/>
          <a:p>
            <a:r>
              <a:rPr lang="en-US" sz="1600" i="1" dirty="0">
                <a:solidFill>
                  <a:srgbClr val="73000A"/>
                </a:solidFill>
                <a:latin typeface="Calibri"/>
                <a:cs typeface="Calibri"/>
              </a:rPr>
              <a:t>The vertex is the midpoint of the closest-approach segment between the two track lines</a:t>
            </a:r>
          </a:p>
        </p:txBody>
      </p:sp>
      <p:sp>
        <p:nvSpPr>
          <p:cNvPr id="5" name="Slide Number Placeholder 4">
            <a:extLst>
              <a:ext uri="{FF2B5EF4-FFF2-40B4-BE49-F238E27FC236}">
                <a16:creationId xmlns:a16="http://schemas.microsoft.com/office/drawing/2014/main" id="{A925E44F-59AE-B677-5320-8A7FFEE584DB}"/>
              </a:ext>
            </a:extLst>
          </p:cNvPr>
          <p:cNvSpPr>
            <a:spLocks noGrp="1"/>
          </p:cNvSpPr>
          <p:nvPr>
            <p:ph type="sldNum" sz="quarter" idx="12"/>
          </p:nvPr>
        </p:nvSpPr>
        <p:spPr/>
        <p:txBody>
          <a:bodyPr/>
          <a:lstStyle/>
          <a:p>
            <a:fld id="{C0E0CB54-3DBF-E947-906E-85E307CF7971}" type="slidenum">
              <a:rPr lang="en-US" smtClean="0"/>
              <a:t>31</a:t>
            </a:fld>
            <a:endParaRPr lang="en-US"/>
          </a:p>
        </p:txBody>
      </p:sp>
    </p:spTree>
    <p:extLst>
      <p:ext uri="{BB962C8B-B14F-4D97-AF65-F5344CB8AC3E}">
        <p14:creationId xmlns:p14="http://schemas.microsoft.com/office/powerpoint/2010/main" val="288942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par>
                                <p:cTn id="26" presetID="9" presetClass="exit" presetSubtype="0" fill="hold" grpId="1" nodeType="withEffect">
                                  <p:stCondLst>
                                    <p:cond delay="0"/>
                                  </p:stCondLst>
                                  <p:childTnLst>
                                    <p:animEffect transition="out" filter="dissolve">
                                      <p:cBhvr>
                                        <p:cTn id="27" dur="500"/>
                                        <p:tgtEl>
                                          <p:spTgt spid="19"/>
                                        </p:tgtEl>
                                      </p:cBhvr>
                                    </p:animEffect>
                                    <p:set>
                                      <p:cBhvr>
                                        <p:cTn id="28" dur="1" fill="hold">
                                          <p:stCondLst>
                                            <p:cond delay="499"/>
                                          </p:stCondLst>
                                        </p:cTn>
                                        <p:tgtEl>
                                          <p:spTgt spid="19"/>
                                        </p:tgtEl>
                                        <p:attrNameLst>
                                          <p:attrName>style.visibility</p:attrName>
                                        </p:attrNameLst>
                                      </p:cBhvr>
                                      <p:to>
                                        <p:strVal val="hidden"/>
                                      </p:to>
                                    </p:set>
                                  </p:childTnLst>
                                </p:cTn>
                              </p:par>
                              <p:par>
                                <p:cTn id="29" presetID="9" presetClass="exit" presetSubtype="0" fill="hold" nodeType="withEffect">
                                  <p:stCondLst>
                                    <p:cond delay="0"/>
                                  </p:stCondLst>
                                  <p:childTnLst>
                                    <p:animEffect transition="out" filter="dissolve">
                                      <p:cBhvr>
                                        <p:cTn id="30" dur="500"/>
                                        <p:tgtEl>
                                          <p:spTgt spid="22"/>
                                        </p:tgtEl>
                                      </p:cBhvr>
                                    </p:animEffect>
                                    <p:set>
                                      <p:cBhvr>
                                        <p:cTn id="31" dur="1" fill="hold">
                                          <p:stCondLst>
                                            <p:cond delay="499"/>
                                          </p:stCondLst>
                                        </p:cTn>
                                        <p:tgtEl>
                                          <p:spTgt spid="22"/>
                                        </p:tgtEl>
                                        <p:attrNameLst>
                                          <p:attrName>style.visibility</p:attrName>
                                        </p:attrNameLst>
                                      </p:cBhvr>
                                      <p:to>
                                        <p:strVal val="hidden"/>
                                      </p:to>
                                    </p:set>
                                  </p:childTnLst>
                                </p:cTn>
                              </p:par>
                              <p:par>
                                <p:cTn id="32" presetID="9" presetClass="exit" presetSubtype="0" fill="hold" grpId="1" nodeType="withEffect">
                                  <p:stCondLst>
                                    <p:cond delay="0"/>
                                  </p:stCondLst>
                                  <p:childTnLst>
                                    <p:animEffect transition="out" filter="dissolve">
                                      <p:cBhvr>
                                        <p:cTn id="33" dur="500"/>
                                        <p:tgtEl>
                                          <p:spTgt spid="20"/>
                                        </p:tgtEl>
                                      </p:cBhvr>
                                    </p:animEffect>
                                    <p:set>
                                      <p:cBhvr>
                                        <p:cTn id="34" dur="1" fill="hold">
                                          <p:stCondLst>
                                            <p:cond delay="499"/>
                                          </p:stCondLst>
                                        </p:cTn>
                                        <p:tgtEl>
                                          <p:spTgt spid="2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5"/>
                                        </p:tgtEl>
                                        <p:attrNameLst>
                                          <p:attrName>style.visibility</p:attrName>
                                        </p:attrNameLst>
                                      </p:cBhvr>
                                      <p:to>
                                        <p:strVal val="visible"/>
                                      </p:to>
                                    </p:set>
                                  </p:childTnLst>
                                </p:cTn>
                              </p:par>
                              <p:par>
                                <p:cTn id="57" presetID="9" presetClass="entr" presetSubtype="0" fill="hold" nodeType="withEffect">
                                  <p:stCondLst>
                                    <p:cond delay="0"/>
                                  </p:stCondLst>
                                  <p:childTnLst>
                                    <p:set>
                                      <p:cBhvr>
                                        <p:cTn id="58" dur="1" fill="hold">
                                          <p:stCondLst>
                                            <p:cond delay="0"/>
                                          </p:stCondLst>
                                        </p:cTn>
                                        <p:tgtEl>
                                          <p:spTgt spid="71"/>
                                        </p:tgtEl>
                                        <p:attrNameLst>
                                          <p:attrName>style.visibility</p:attrName>
                                        </p:attrNameLst>
                                      </p:cBhvr>
                                      <p:to>
                                        <p:strVal val="visible"/>
                                      </p:to>
                                    </p:set>
                                    <p:animEffect transition="in" filter="dissolve">
                                      <p:cBhvr>
                                        <p:cTn id="59" dur="500"/>
                                        <p:tgtEl>
                                          <p:spTgt spid="71"/>
                                        </p:tgtEl>
                                      </p:cBhvr>
                                    </p:animEffect>
                                  </p:childTnLst>
                                </p:cTn>
                              </p:par>
                              <p:par>
                                <p:cTn id="60" presetID="1" presetClass="entr" presetSubtype="0" fill="hold" grpId="0" nodeType="withEffect">
                                  <p:stCondLst>
                                    <p:cond delay="0"/>
                                  </p:stCondLst>
                                  <p:childTnLst>
                                    <p:set>
                                      <p:cBhvr>
                                        <p:cTn id="61" dur="1" fill="hold">
                                          <p:stCondLst>
                                            <p:cond delay="0"/>
                                          </p:stCondLst>
                                        </p:cTn>
                                        <p:tgtEl>
                                          <p:spTgt spid="8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76"/>
                                        </p:tgtEl>
                                        <p:attrNameLst>
                                          <p:attrName>style.visibility</p:attrName>
                                        </p:attrNameLst>
                                      </p:cBhvr>
                                      <p:to>
                                        <p:strVal val="visible"/>
                                      </p:to>
                                    </p:set>
                                  </p:childTnLst>
                                </p:cTn>
                              </p:par>
                              <p:par>
                                <p:cTn id="66" presetID="9" presetClass="exit" presetSubtype="0" fill="hold" grpId="1" nodeType="withEffect">
                                  <p:stCondLst>
                                    <p:cond delay="0"/>
                                  </p:stCondLst>
                                  <p:childTnLst>
                                    <p:animEffect transition="out" filter="dissolve">
                                      <p:cBhvr>
                                        <p:cTn id="67" dur="500"/>
                                        <p:tgtEl>
                                          <p:spTgt spid="48"/>
                                        </p:tgtEl>
                                      </p:cBhvr>
                                    </p:animEffect>
                                    <p:set>
                                      <p:cBhvr>
                                        <p:cTn id="68" dur="1" fill="hold">
                                          <p:stCondLst>
                                            <p:cond delay="499"/>
                                          </p:stCondLst>
                                        </p:cTn>
                                        <p:tgtEl>
                                          <p:spTgt spid="48"/>
                                        </p:tgtEl>
                                        <p:attrNameLst>
                                          <p:attrName>style.visibility</p:attrName>
                                        </p:attrNameLst>
                                      </p:cBhvr>
                                      <p:to>
                                        <p:strVal val="hidden"/>
                                      </p:to>
                                    </p:set>
                                  </p:childTnLst>
                                </p:cTn>
                              </p:par>
                              <p:par>
                                <p:cTn id="69" presetID="9" presetClass="exit" presetSubtype="0" fill="hold" grpId="1" nodeType="withEffect">
                                  <p:stCondLst>
                                    <p:cond delay="0"/>
                                  </p:stCondLst>
                                  <p:childTnLst>
                                    <p:animEffect transition="out" filter="dissolve">
                                      <p:cBhvr>
                                        <p:cTn id="70" dur="500"/>
                                        <p:tgtEl>
                                          <p:spTgt spid="51"/>
                                        </p:tgtEl>
                                      </p:cBhvr>
                                    </p:animEffect>
                                    <p:set>
                                      <p:cBhvr>
                                        <p:cTn id="71" dur="1" fill="hold">
                                          <p:stCondLst>
                                            <p:cond delay="499"/>
                                          </p:stCondLst>
                                        </p:cTn>
                                        <p:tgtEl>
                                          <p:spTgt spid="51"/>
                                        </p:tgtEl>
                                        <p:attrNameLst>
                                          <p:attrName>style.visibility</p:attrName>
                                        </p:attrNameLst>
                                      </p:cBhvr>
                                      <p:to>
                                        <p:strVal val="hidden"/>
                                      </p:to>
                                    </p:set>
                                  </p:childTnLst>
                                </p:cTn>
                              </p:par>
                              <p:par>
                                <p:cTn id="72" presetID="1" presetClass="entr" presetSubtype="0" fill="hold" grpId="0" nodeType="withEffect">
                                  <p:stCondLst>
                                    <p:cond delay="0"/>
                                  </p:stCondLst>
                                  <p:childTnLst>
                                    <p:set>
                                      <p:cBhvr>
                                        <p:cTn id="73" dur="1" fill="hold">
                                          <p:stCondLst>
                                            <p:cond delay="0"/>
                                          </p:stCondLst>
                                        </p:cTn>
                                        <p:tgtEl>
                                          <p:spTgt spid="77"/>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84"/>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85"/>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88"/>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9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79"/>
                                        </p:tgtEl>
                                        <p:attrNameLst>
                                          <p:attrName>style.visibility</p:attrName>
                                        </p:attrNameLst>
                                      </p:cBhvr>
                                      <p:to>
                                        <p:strVal val="visible"/>
                                      </p:to>
                                    </p:set>
                                  </p:childTnLst>
                                </p:cTn>
                              </p:par>
                              <p:par>
                                <p:cTn id="86" presetID="9" presetClass="exit" presetSubtype="0" fill="hold" nodeType="withEffect">
                                  <p:stCondLst>
                                    <p:cond delay="0"/>
                                  </p:stCondLst>
                                  <p:childTnLst>
                                    <p:animEffect transition="out" filter="dissolve">
                                      <p:cBhvr>
                                        <p:cTn id="87" dur="500"/>
                                        <p:tgtEl>
                                          <p:spTgt spid="90"/>
                                        </p:tgtEl>
                                      </p:cBhvr>
                                    </p:animEffect>
                                    <p:set>
                                      <p:cBhvr>
                                        <p:cTn id="88" dur="1" fill="hold">
                                          <p:stCondLst>
                                            <p:cond delay="499"/>
                                          </p:stCondLst>
                                        </p:cTn>
                                        <p:tgtEl>
                                          <p:spTgt spid="90"/>
                                        </p:tgtEl>
                                        <p:attrNameLst>
                                          <p:attrName>style.visibility</p:attrName>
                                        </p:attrNameLst>
                                      </p:cBhvr>
                                      <p:to>
                                        <p:strVal val="hidden"/>
                                      </p:to>
                                    </p:set>
                                  </p:childTnLst>
                                </p:cTn>
                              </p:par>
                              <p:par>
                                <p:cTn id="89" presetID="9" presetClass="exit" presetSubtype="0" fill="hold" nodeType="withEffect">
                                  <p:stCondLst>
                                    <p:cond delay="0"/>
                                  </p:stCondLst>
                                  <p:childTnLst>
                                    <p:animEffect transition="out" filter="dissolve">
                                      <p:cBhvr>
                                        <p:cTn id="90" dur="500"/>
                                        <p:tgtEl>
                                          <p:spTgt spid="88"/>
                                        </p:tgtEl>
                                      </p:cBhvr>
                                    </p:animEffect>
                                    <p:set>
                                      <p:cBhvr>
                                        <p:cTn id="91" dur="1" fill="hold">
                                          <p:stCondLst>
                                            <p:cond delay="499"/>
                                          </p:stCondLst>
                                        </p:cTn>
                                        <p:tgtEl>
                                          <p:spTgt spid="88"/>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80"/>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93"/>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9" grpId="0" animBg="1"/>
      <p:bldP spid="19" grpId="1" animBg="1"/>
      <p:bldP spid="20" grpId="0" animBg="1"/>
      <p:bldP spid="20" grpId="1" animBg="1"/>
      <p:bldP spid="48" grpId="0" animBg="1"/>
      <p:bldP spid="48" grpId="1" animBg="1"/>
      <p:bldP spid="51" grpId="0" animBg="1"/>
      <p:bldP spid="51" grpId="1" animBg="1"/>
      <p:bldP spid="76" grpId="0" animBg="1"/>
      <p:bldP spid="77" grpId="0" animBg="1"/>
      <p:bldP spid="80" grpId="0" animBg="1"/>
      <p:bldP spid="82" grpId="0" animBg="1"/>
      <p:bldP spid="83" grpId="0" animBg="1"/>
      <p:bldP spid="84" grpId="0" animBg="1"/>
      <p:bldP spid="85" grpId="0" animBg="1"/>
      <p:bldP spid="9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Reconstructed Vertex Position</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Most reconstructed vertices fall inside the stopping target</a:t>
            </a:r>
            <a:endParaRPr lang="en-US" sz="1600" dirty="0"/>
          </a:p>
        </p:txBody>
      </p:sp>
      <p:pic>
        <p:nvPicPr>
          <p:cNvPr id="4" name="Image 0" descr="Reconstructed vertex xy and xz histograms"/>
          <p:cNvPicPr>
            <a:picLocks noChangeAspect="1"/>
          </p:cNvPicPr>
          <p:nvPr/>
        </p:nvPicPr>
        <p:blipFill>
          <a:blip r:embed="rId3"/>
          <a:stretch>
            <a:fillRect/>
          </a:stretch>
        </p:blipFill>
        <p:spPr>
          <a:xfrm>
            <a:off x="457200" y="1554480"/>
            <a:ext cx="8001000" cy="3846323"/>
          </a:xfrm>
          <a:prstGeom prst="rect">
            <a:avLst/>
          </a:prstGeom>
        </p:spPr>
      </p:pic>
      <p:sp>
        <p:nvSpPr>
          <p:cNvPr id="5" name="Text 2"/>
          <p:cNvSpPr txBox="1"/>
          <p:nvPr/>
        </p:nvSpPr>
        <p:spPr>
          <a:xfrm>
            <a:off x="457200" y="5473955"/>
            <a:ext cx="4000500" cy="274320"/>
          </a:xfrm>
          <a:prstGeom prst="rect">
            <a:avLst/>
          </a:prstGeom>
          <a:noFill/>
          <a:ln/>
        </p:spPr>
        <p:txBody>
          <a:bodyPr wrap="square" lIns="0" tIns="0" rIns="0" bIns="0"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x–y view</a:t>
            </a:r>
            <a:endParaRPr lang="en-US" sz="1300" dirty="0"/>
          </a:p>
        </p:txBody>
      </p:sp>
      <p:sp>
        <p:nvSpPr>
          <p:cNvPr id="6" name="Text 3"/>
          <p:cNvSpPr txBox="1"/>
          <p:nvPr/>
        </p:nvSpPr>
        <p:spPr>
          <a:xfrm>
            <a:off x="4457700" y="5473955"/>
            <a:ext cx="4000500" cy="274320"/>
          </a:xfrm>
          <a:prstGeom prst="rect">
            <a:avLst/>
          </a:prstGeom>
          <a:noFill/>
          <a:ln/>
        </p:spPr>
        <p:txBody>
          <a:bodyPr wrap="square" lIns="0" tIns="0" rIns="0" bIns="0"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x–z view</a:t>
            </a:r>
            <a:endParaRPr lang="en-US" sz="1300" dirty="0"/>
          </a:p>
        </p:txBody>
      </p:sp>
      <p:sp>
        <p:nvSpPr>
          <p:cNvPr id="7" name="Text 4"/>
          <p:cNvSpPr txBox="1"/>
          <p:nvPr/>
        </p:nvSpPr>
        <p:spPr>
          <a:xfrm>
            <a:off x="457200" y="5784851"/>
            <a:ext cx="8001000" cy="274320"/>
          </a:xfrm>
          <a:prstGeom prst="rect">
            <a:avLst/>
          </a:prstGeom>
          <a:noFill/>
          <a:ln/>
        </p:spPr>
        <p:txBody>
          <a:bodyPr wrap="square" lIns="0" tIns="0" rIns="0" bIns="0" rtlCol="0" anchor="ctr"/>
          <a:lstStyle/>
          <a:p>
            <a:pPr marL="0" indent="0" algn="ctr">
              <a:buNone/>
            </a:pPr>
            <a:r>
              <a:rPr lang="en-US" sz="1200" i="1" dirty="0">
                <a:solidFill>
                  <a:srgbClr val="6A6A6A"/>
                </a:solidFill>
                <a:latin typeface="Calibri" pitchFamily="34" charset="0"/>
                <a:ea typeface="Calibri" pitchFamily="34" charset="-122"/>
                <a:cs typeface="Calibri" pitchFamily="34" charset="-120"/>
              </a:rPr>
              <a:t>Red boxes: stopping-target extent in each projection</a:t>
            </a:r>
            <a:endParaRPr lang="en-US" sz="1200" dirty="0"/>
          </a:p>
        </p:txBody>
      </p:sp>
      <p:sp>
        <p:nvSpPr>
          <p:cNvPr id="8" name="Shape 5"/>
          <p:cNvSpPr/>
          <p:nvPr/>
        </p:nvSpPr>
        <p:spPr>
          <a:xfrm>
            <a:off x="8732520" y="1554480"/>
            <a:ext cx="3017520" cy="3108960"/>
          </a:xfrm>
          <a:prstGeom prst="roundRect">
            <a:avLst>
              <a:gd name="adj" fmla="val 3030"/>
            </a:avLst>
          </a:prstGeom>
          <a:solidFill>
            <a:srgbClr val="F4F0F0"/>
          </a:solidFill>
          <a:ln/>
        </p:spPr>
        <p:txBody>
          <a:bodyPr/>
          <a:lstStyle/>
          <a:p>
            <a:endParaRPr lang="en-US"/>
          </a:p>
        </p:txBody>
      </p:sp>
      <p:sp>
        <p:nvSpPr>
          <p:cNvPr id="9" name="Text 6"/>
          <p:cNvSpPr txBox="1"/>
          <p:nvPr/>
        </p:nvSpPr>
        <p:spPr>
          <a:xfrm>
            <a:off x="8961120" y="1691640"/>
            <a:ext cx="2651760" cy="365760"/>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What the plots show</a:t>
            </a:r>
            <a:endParaRPr lang="en-US" sz="1500" dirty="0"/>
          </a:p>
        </p:txBody>
      </p:sp>
      <p:sp>
        <p:nvSpPr>
          <p:cNvPr id="10" name="Text 7"/>
          <p:cNvSpPr txBox="1"/>
          <p:nvPr/>
        </p:nvSpPr>
        <p:spPr>
          <a:xfrm>
            <a:off x="8961120" y="2103120"/>
            <a:ext cx="2606040" cy="2423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x–y: vertices cluster within the target radius</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x–z: vertices fill the full foil stack along z</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The inner hole and the gaps between foils are not resolved</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A sparse halo of vertices falls outside the target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Vertex Resolution versus Monte Carlo Truth</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x and y resolve well, while z drives the total residual</a:t>
            </a:r>
            <a:endParaRPr lang="en-US" sz="1600" dirty="0"/>
          </a:p>
        </p:txBody>
      </p:sp>
      <p:sp>
        <p:nvSpPr>
          <p:cNvPr id="4" name="Text 2"/>
          <p:cNvSpPr txBox="1"/>
          <p:nvPr/>
        </p:nvSpPr>
        <p:spPr>
          <a:xfrm>
            <a:off x="457200" y="1463040"/>
            <a:ext cx="2011680" cy="365760"/>
          </a:xfrm>
          <a:prstGeom prst="rect">
            <a:avLst/>
          </a:prstGeom>
          <a:noFill/>
          <a:ln/>
        </p:spPr>
        <p:txBody>
          <a:bodyPr wrap="square" lIns="0" tIns="0" rIns="0" bIns="0" rtlCol="0" anchor="ctr"/>
          <a:lstStyle/>
          <a:p>
            <a:pPr marL="0" indent="0">
              <a:buNone/>
            </a:pPr>
            <a:r>
              <a:rPr lang="en-US" sz="1500" b="1" dirty="0">
                <a:solidFill>
                  <a:srgbClr val="1F3A68"/>
                </a:solidFill>
                <a:latin typeface="Calibri" pitchFamily="34" charset="0"/>
                <a:ea typeface="Calibri" pitchFamily="34" charset="-122"/>
                <a:cs typeface="Calibri" pitchFamily="34" charset="-120"/>
              </a:rPr>
              <a:t>Δx (reco − truth)</a:t>
            </a:r>
            <a:endParaRPr lang="en-US" sz="1500" dirty="0"/>
          </a:p>
        </p:txBody>
      </p:sp>
      <p:sp>
        <p:nvSpPr>
          <p:cNvPr id="5" name="Shape 3"/>
          <p:cNvSpPr/>
          <p:nvPr/>
        </p:nvSpPr>
        <p:spPr>
          <a:xfrm>
            <a:off x="2560320" y="1499616"/>
            <a:ext cx="1874520" cy="310896"/>
          </a:xfrm>
          <a:prstGeom prst="roundRect">
            <a:avLst>
              <a:gd name="adj" fmla="val 50000"/>
            </a:avLst>
          </a:prstGeom>
          <a:solidFill>
            <a:srgbClr val="EEF2F8"/>
          </a:solidFill>
          <a:ln w="12700">
            <a:solidFill>
              <a:srgbClr val="1F3A68"/>
            </a:solidFill>
            <a:prstDash val="solid"/>
          </a:ln>
        </p:spPr>
        <p:txBody>
          <a:bodyPr/>
          <a:lstStyle/>
          <a:p>
            <a:endParaRPr lang="en-US"/>
          </a:p>
        </p:txBody>
      </p:sp>
      <mc:AlternateContent xmlns:mc="http://schemas.openxmlformats.org/markup-compatibility/2006">
        <mc:Choice xmlns:a14="http://schemas.microsoft.com/office/drawing/2010/main" Requires="a14">
          <p:sp>
            <p:nvSpPr>
              <p:cNvPr id="6" name="Text 4"/>
              <p:cNvSpPr txBox="1"/>
              <p:nvPr/>
            </p:nvSpPr>
            <p:spPr>
              <a:xfrm>
                <a:off x="2560320" y="1499616"/>
                <a:ext cx="1874520" cy="310896"/>
              </a:xfrm>
              <a:prstGeom prst="rect">
                <a:avLst/>
              </a:prstGeom>
              <a:noFill/>
              <a:ln/>
            </p:spPr>
            <p:txBody>
              <a:bodyPr wrap="square" lIns="0" tIns="0" rIns="0" bIns="0" rtlCol="0" anchor="ctr"/>
              <a:lstStyle/>
              <a:p>
                <a:pPr marL="0" indent="0" algn="ctr">
                  <a:buNone/>
                </a:pPr>
                <a14:m>
                  <m:oMath xmlns:m="http://schemas.openxmlformats.org/officeDocument/2006/math">
                    <m:r>
                      <a:rPr lang="en-US" sz="1100" b="1" i="1" dirty="0" smtClean="0">
                        <a:solidFill>
                          <a:srgbClr val="1F3A68"/>
                        </a:solidFill>
                        <a:latin typeface="Cambria Math" panose="02040503050406030204" pitchFamily="18" charset="0"/>
                        <a:ea typeface="Calibri" pitchFamily="34" charset="-122"/>
                        <a:cs typeface="Calibri" pitchFamily="34" charset="-120"/>
                      </a:rPr>
                      <m:t>𝝁</m:t>
                    </m:r>
                    <m:r>
                      <a:rPr lang="en-US" sz="1100" b="1" i="1" dirty="0" smtClean="0">
                        <a:solidFill>
                          <a:srgbClr val="1F3A68"/>
                        </a:solidFill>
                        <a:latin typeface="Cambria Math" panose="02040503050406030204" pitchFamily="18" charset="0"/>
                        <a:ea typeface="Calibri" pitchFamily="34" charset="-122"/>
                        <a:cs typeface="Calibri" pitchFamily="34" charset="-120"/>
                      </a:rPr>
                      <m:t>=</m:t>
                    </m:r>
                    <m:r>
                      <a:rPr lang="en-US" sz="1100" b="1" i="1" dirty="0" smtClean="0">
                        <a:solidFill>
                          <a:srgbClr val="1F3A68"/>
                        </a:solidFill>
                        <a:latin typeface="Cambria Math" panose="02040503050406030204" pitchFamily="18" charset="0"/>
                        <a:ea typeface="Calibri" pitchFamily="34" charset="-122"/>
                        <a:cs typeface="Calibri" pitchFamily="34" charset="-120"/>
                      </a:rPr>
                      <m:t>𝟎</m:t>
                    </m:r>
                    <m:r>
                      <a:rPr lang="en-US" sz="1100" b="1" i="1" dirty="0" smtClean="0">
                        <a:solidFill>
                          <a:srgbClr val="1F3A68"/>
                        </a:solidFill>
                        <a:latin typeface="Cambria Math" panose="02040503050406030204" pitchFamily="18" charset="0"/>
                        <a:ea typeface="Calibri" pitchFamily="34" charset="-122"/>
                        <a:cs typeface="Calibri" pitchFamily="34" charset="-120"/>
                      </a:rPr>
                      <m:t>.</m:t>
                    </m:r>
                    <m:r>
                      <a:rPr lang="en-US" sz="1100" b="1" i="1" dirty="0" smtClean="0">
                        <a:solidFill>
                          <a:srgbClr val="1F3A68"/>
                        </a:solidFill>
                        <a:latin typeface="Cambria Math" panose="02040503050406030204" pitchFamily="18" charset="0"/>
                        <a:ea typeface="Calibri" pitchFamily="34" charset="-122"/>
                        <a:cs typeface="Calibri" pitchFamily="34" charset="-120"/>
                      </a:rPr>
                      <m:t>𝟐𝟑</m:t>
                    </m:r>
                    <m:r>
                      <a:rPr lang="en-US" sz="1100" b="1" i="1" dirty="0" smtClean="0">
                        <a:solidFill>
                          <a:srgbClr val="1F3A68"/>
                        </a:solidFill>
                        <a:latin typeface="Cambria Math" panose="02040503050406030204" pitchFamily="18" charset="0"/>
                        <a:ea typeface="Calibri" pitchFamily="34" charset="-122"/>
                        <a:cs typeface="Calibri" pitchFamily="34" charset="-120"/>
                      </a:rPr>
                      <m:t>  </m:t>
                    </m:r>
                    <m:r>
                      <a:rPr lang="en-US" sz="1100" b="1" i="1" dirty="0" smtClean="0">
                        <a:solidFill>
                          <a:srgbClr val="1F3A68"/>
                        </a:solidFill>
                        <a:latin typeface="Cambria Math" panose="02040503050406030204" pitchFamily="18" charset="0"/>
                        <a:ea typeface="Calibri" pitchFamily="34" charset="-122"/>
                        <a:cs typeface="Calibri" pitchFamily="34" charset="-120"/>
                      </a:rPr>
                      <m:t>𝝈</m:t>
                    </m:r>
                    <m:r>
                      <a:rPr lang="en-US" sz="1100" b="1" i="1" dirty="0" smtClean="0">
                        <a:solidFill>
                          <a:srgbClr val="1F3A68"/>
                        </a:solidFill>
                        <a:latin typeface="Cambria Math" panose="02040503050406030204" pitchFamily="18" charset="0"/>
                        <a:ea typeface="Calibri" pitchFamily="34" charset="-122"/>
                        <a:cs typeface="Calibri" pitchFamily="34" charset="-120"/>
                      </a:rPr>
                      <m:t>=</m:t>
                    </m:r>
                    <m:r>
                      <a:rPr lang="en-US" sz="1100" b="1" i="1" dirty="0" smtClean="0">
                        <a:solidFill>
                          <a:srgbClr val="1F3A68"/>
                        </a:solidFill>
                        <a:latin typeface="Cambria Math" panose="02040503050406030204" pitchFamily="18" charset="0"/>
                        <a:ea typeface="Calibri" pitchFamily="34" charset="-122"/>
                        <a:cs typeface="Calibri" pitchFamily="34" charset="-120"/>
                      </a:rPr>
                      <m:t>𝟔𝟑</m:t>
                    </m:r>
                    <m:r>
                      <a:rPr lang="en-US" sz="1100" b="1" i="1" dirty="0" smtClean="0">
                        <a:solidFill>
                          <a:srgbClr val="1F3A68"/>
                        </a:solidFill>
                        <a:latin typeface="Cambria Math" panose="02040503050406030204" pitchFamily="18" charset="0"/>
                        <a:ea typeface="Calibri" pitchFamily="34" charset="-122"/>
                        <a:cs typeface="Calibri" pitchFamily="34" charset="-120"/>
                      </a:rPr>
                      <m:t>.</m:t>
                    </m:r>
                    <m:r>
                      <a:rPr lang="en-US" sz="1100" b="1" i="1" dirty="0" smtClean="0">
                        <a:solidFill>
                          <a:srgbClr val="1F3A68"/>
                        </a:solidFill>
                        <a:latin typeface="Cambria Math" panose="02040503050406030204" pitchFamily="18" charset="0"/>
                        <a:ea typeface="Calibri" pitchFamily="34" charset="-122"/>
                        <a:cs typeface="Calibri" pitchFamily="34" charset="-120"/>
                      </a:rPr>
                      <m:t>𝟔</m:t>
                    </m:r>
                    <m:r>
                      <a:rPr lang="en-US" sz="1100" b="1" i="1" dirty="0" smtClean="0">
                        <a:solidFill>
                          <a:srgbClr val="1F3A68"/>
                        </a:solidFill>
                        <a:latin typeface="Cambria Math" panose="02040503050406030204" pitchFamily="18" charset="0"/>
                        <a:ea typeface="Calibri" pitchFamily="34" charset="-122"/>
                        <a:cs typeface="Calibri" pitchFamily="34" charset="-120"/>
                      </a:rPr>
                      <m:t> </m:t>
                    </m:r>
                  </m:oMath>
                </a14:m>
                <a:r>
                  <a:rPr lang="en-US" sz="1100" b="1" dirty="0">
                    <a:solidFill>
                      <a:srgbClr val="1F3A68"/>
                    </a:solidFill>
                    <a:latin typeface="Calibri" pitchFamily="34" charset="0"/>
                    <a:ea typeface="Calibri" pitchFamily="34" charset="-122"/>
                    <a:cs typeface="Calibri" pitchFamily="34" charset="-120"/>
                  </a:rPr>
                  <a:t>mm</a:t>
                </a:r>
                <a:endParaRPr lang="en-US" sz="1100" dirty="0"/>
              </a:p>
            </p:txBody>
          </p:sp>
        </mc:Choice>
        <mc:Fallback>
          <p:sp>
            <p:nvSpPr>
              <p:cNvPr id="6" name="Text 4"/>
              <p:cNvSpPr txBox="1">
                <a:spLocks noRot="1" noChangeAspect="1" noMove="1" noResize="1" noEditPoints="1" noAdjustHandles="1" noChangeArrowheads="1" noChangeShapeType="1" noTextEdit="1"/>
              </p:cNvSpPr>
              <p:nvPr/>
            </p:nvSpPr>
            <p:spPr>
              <a:xfrm>
                <a:off x="2560320" y="1499616"/>
                <a:ext cx="1874520" cy="310896"/>
              </a:xfrm>
              <a:prstGeom prst="rect">
                <a:avLst/>
              </a:prstGeom>
              <a:blipFill>
                <a:blip r:embed="rId3"/>
                <a:stretch>
                  <a:fillRect b="-4000"/>
                </a:stretch>
              </a:blipFill>
              <a:ln/>
            </p:spPr>
            <p:txBody>
              <a:bodyPr/>
              <a:lstStyle/>
              <a:p>
                <a:r>
                  <a:rPr lang="en-US">
                    <a:noFill/>
                  </a:rPr>
                  <a:t> </a:t>
                </a:r>
              </a:p>
            </p:txBody>
          </p:sp>
        </mc:Fallback>
      </mc:AlternateContent>
      <p:pic>
        <p:nvPicPr>
          <p:cNvPr id="7" name="Image 0" descr="Δx resolution histogram"/>
          <p:cNvPicPr>
            <a:picLocks noChangeAspect="1"/>
          </p:cNvPicPr>
          <p:nvPr/>
        </p:nvPicPr>
        <p:blipFill>
          <a:blip r:embed="rId4"/>
          <a:stretch>
            <a:fillRect/>
          </a:stretch>
        </p:blipFill>
        <p:spPr>
          <a:xfrm>
            <a:off x="457200" y="1874520"/>
            <a:ext cx="3977640" cy="1750267"/>
          </a:xfrm>
          <a:prstGeom prst="rect">
            <a:avLst/>
          </a:prstGeom>
        </p:spPr>
      </p:pic>
      <p:sp>
        <p:nvSpPr>
          <p:cNvPr id="8" name="Text 5"/>
          <p:cNvSpPr txBox="1"/>
          <p:nvPr/>
        </p:nvSpPr>
        <p:spPr>
          <a:xfrm>
            <a:off x="4572000" y="1463040"/>
            <a:ext cx="2011680" cy="365760"/>
          </a:xfrm>
          <a:prstGeom prst="rect">
            <a:avLst/>
          </a:prstGeom>
          <a:noFill/>
          <a:ln/>
        </p:spPr>
        <p:txBody>
          <a:bodyPr wrap="square" lIns="0" tIns="0" rIns="0" bIns="0" rtlCol="0" anchor="ctr"/>
          <a:lstStyle/>
          <a:p>
            <a:pPr marL="0" indent="0">
              <a:buNone/>
            </a:pPr>
            <a:r>
              <a:rPr lang="en-US" sz="1500" b="1" dirty="0">
                <a:solidFill>
                  <a:srgbClr val="1F3A68"/>
                </a:solidFill>
                <a:latin typeface="Calibri" pitchFamily="34" charset="0"/>
                <a:ea typeface="Calibri" pitchFamily="34" charset="-122"/>
                <a:cs typeface="Calibri" pitchFamily="34" charset="-120"/>
              </a:rPr>
              <a:t>Δy (reco − truth)</a:t>
            </a:r>
            <a:endParaRPr lang="en-US" sz="1500" dirty="0"/>
          </a:p>
        </p:txBody>
      </p:sp>
      <p:sp>
        <p:nvSpPr>
          <p:cNvPr id="9" name="Shape 6"/>
          <p:cNvSpPr/>
          <p:nvPr/>
        </p:nvSpPr>
        <p:spPr>
          <a:xfrm>
            <a:off x="6675120" y="1499616"/>
            <a:ext cx="1874520" cy="310896"/>
          </a:xfrm>
          <a:prstGeom prst="roundRect">
            <a:avLst>
              <a:gd name="adj" fmla="val 50000"/>
            </a:avLst>
          </a:prstGeom>
          <a:solidFill>
            <a:srgbClr val="EEF2F8"/>
          </a:solidFill>
          <a:ln w="12700">
            <a:solidFill>
              <a:srgbClr val="1F3A68"/>
            </a:solidFill>
            <a:prstDash val="solid"/>
          </a:ln>
        </p:spPr>
        <p:txBody>
          <a:bodyPr/>
          <a:lstStyle/>
          <a:p>
            <a:endParaRPr lang="en-US"/>
          </a:p>
        </p:txBody>
      </p:sp>
      <p:sp>
        <p:nvSpPr>
          <p:cNvPr id="10" name="Text 7"/>
          <p:cNvSpPr txBox="1"/>
          <p:nvPr/>
        </p:nvSpPr>
        <p:spPr>
          <a:xfrm>
            <a:off x="6675120" y="1499616"/>
            <a:ext cx="1874520" cy="310896"/>
          </a:xfrm>
          <a:prstGeom prst="rect">
            <a:avLst/>
          </a:prstGeom>
          <a:noFill/>
          <a:ln/>
        </p:spPr>
        <p:txBody>
          <a:bodyPr wrap="square" lIns="0" tIns="0" rIns="0" bIns="0" rtlCol="0" anchor="ctr"/>
          <a:lstStyle/>
          <a:p>
            <a:pPr marL="0" indent="0" algn="ctr">
              <a:buNone/>
            </a:pPr>
            <a:r>
              <a:rPr lang="en-US" sz="1100" b="1" dirty="0">
                <a:solidFill>
                  <a:srgbClr val="1F3A68"/>
                </a:solidFill>
                <a:latin typeface="Calibri" pitchFamily="34" charset="0"/>
                <a:ea typeface="Calibri" pitchFamily="34" charset="-122"/>
                <a:cs typeface="Calibri" pitchFamily="34" charset="-120"/>
              </a:rPr>
              <a:t>μ = −1.92  σ = 61.1 mm</a:t>
            </a:r>
            <a:endParaRPr lang="en-US" sz="1100" dirty="0"/>
          </a:p>
        </p:txBody>
      </p:sp>
      <p:pic>
        <p:nvPicPr>
          <p:cNvPr id="11" name="Image 1" descr="Δy resolution histogram"/>
          <p:cNvPicPr>
            <a:picLocks noChangeAspect="1"/>
          </p:cNvPicPr>
          <p:nvPr/>
        </p:nvPicPr>
        <p:blipFill>
          <a:blip r:embed="rId5"/>
          <a:stretch>
            <a:fillRect/>
          </a:stretch>
        </p:blipFill>
        <p:spPr>
          <a:xfrm>
            <a:off x="4572000" y="1874520"/>
            <a:ext cx="3977640" cy="1750267"/>
          </a:xfrm>
          <a:prstGeom prst="rect">
            <a:avLst/>
          </a:prstGeom>
        </p:spPr>
      </p:pic>
      <p:sp>
        <p:nvSpPr>
          <p:cNvPr id="12" name="Text 8"/>
          <p:cNvSpPr txBox="1"/>
          <p:nvPr/>
        </p:nvSpPr>
        <p:spPr>
          <a:xfrm>
            <a:off x="457200" y="3807667"/>
            <a:ext cx="2011680" cy="365760"/>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Δz (reco − truth)</a:t>
            </a:r>
            <a:endParaRPr lang="en-US" sz="1500" dirty="0"/>
          </a:p>
        </p:txBody>
      </p:sp>
      <p:sp>
        <p:nvSpPr>
          <p:cNvPr id="13" name="Shape 9"/>
          <p:cNvSpPr/>
          <p:nvPr/>
        </p:nvSpPr>
        <p:spPr>
          <a:xfrm>
            <a:off x="2560320" y="3844243"/>
            <a:ext cx="1874520" cy="310896"/>
          </a:xfrm>
          <a:prstGeom prst="roundRect">
            <a:avLst>
              <a:gd name="adj" fmla="val 50000"/>
            </a:avLst>
          </a:prstGeom>
          <a:solidFill>
            <a:srgbClr val="F4E6E7"/>
          </a:solidFill>
          <a:ln w="12700">
            <a:solidFill>
              <a:srgbClr val="73000A"/>
            </a:solidFill>
            <a:prstDash val="solid"/>
          </a:ln>
        </p:spPr>
        <p:txBody>
          <a:bodyPr/>
          <a:lstStyle/>
          <a:p>
            <a:endParaRPr lang="en-US"/>
          </a:p>
        </p:txBody>
      </p:sp>
      <p:sp>
        <p:nvSpPr>
          <p:cNvPr id="14" name="Text 10"/>
          <p:cNvSpPr txBox="1"/>
          <p:nvPr/>
        </p:nvSpPr>
        <p:spPr>
          <a:xfrm>
            <a:off x="2560320" y="3844243"/>
            <a:ext cx="1874520" cy="310896"/>
          </a:xfrm>
          <a:prstGeom prst="rect">
            <a:avLst/>
          </a:prstGeom>
          <a:noFill/>
          <a:ln/>
        </p:spPr>
        <p:txBody>
          <a:bodyPr wrap="square" lIns="0" tIns="0" rIns="0" bIns="0" rtlCol="0" anchor="ctr"/>
          <a:lstStyle/>
          <a:p>
            <a:pPr marL="0" indent="0" algn="ctr">
              <a:buNone/>
            </a:pPr>
            <a:r>
              <a:rPr lang="en-US" sz="1100" b="1" dirty="0">
                <a:solidFill>
                  <a:srgbClr val="73000A"/>
                </a:solidFill>
                <a:latin typeface="Calibri" pitchFamily="34" charset="0"/>
                <a:ea typeface="Calibri" pitchFamily="34" charset="-122"/>
                <a:cs typeface="Calibri" pitchFamily="34" charset="-120"/>
              </a:rPr>
              <a:t>μ = 84.4  σ = 288.6 mm</a:t>
            </a:r>
            <a:endParaRPr lang="en-US" sz="1100" dirty="0"/>
          </a:p>
        </p:txBody>
      </p:sp>
      <p:pic>
        <p:nvPicPr>
          <p:cNvPr id="15" name="Image 2" descr="Δz resolution histogram"/>
          <p:cNvPicPr>
            <a:picLocks noChangeAspect="1"/>
          </p:cNvPicPr>
          <p:nvPr/>
        </p:nvPicPr>
        <p:blipFill>
          <a:blip r:embed="rId6"/>
          <a:stretch>
            <a:fillRect/>
          </a:stretch>
        </p:blipFill>
        <p:spPr>
          <a:xfrm>
            <a:off x="457200" y="4219147"/>
            <a:ext cx="3977640" cy="1750267"/>
          </a:xfrm>
          <a:prstGeom prst="rect">
            <a:avLst/>
          </a:prstGeom>
        </p:spPr>
      </p:pic>
      <p:sp>
        <p:nvSpPr>
          <p:cNvPr id="16" name="Text 11"/>
          <p:cNvSpPr txBox="1"/>
          <p:nvPr/>
        </p:nvSpPr>
        <p:spPr>
          <a:xfrm>
            <a:off x="4572000" y="3807667"/>
            <a:ext cx="2011680" cy="365760"/>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|Δr| (distance to truth)</a:t>
            </a:r>
            <a:endParaRPr lang="en-US" sz="1500" dirty="0"/>
          </a:p>
        </p:txBody>
      </p:sp>
      <p:sp>
        <p:nvSpPr>
          <p:cNvPr id="17" name="Shape 12"/>
          <p:cNvSpPr/>
          <p:nvPr/>
        </p:nvSpPr>
        <p:spPr>
          <a:xfrm>
            <a:off x="6675120" y="3844243"/>
            <a:ext cx="1874520" cy="310896"/>
          </a:xfrm>
          <a:prstGeom prst="roundRect">
            <a:avLst>
              <a:gd name="adj" fmla="val 50000"/>
            </a:avLst>
          </a:prstGeom>
          <a:solidFill>
            <a:srgbClr val="F4E6E7"/>
          </a:solidFill>
          <a:ln w="12700">
            <a:solidFill>
              <a:srgbClr val="73000A"/>
            </a:solidFill>
            <a:prstDash val="solid"/>
          </a:ln>
        </p:spPr>
        <p:txBody>
          <a:bodyPr/>
          <a:lstStyle/>
          <a:p>
            <a:endParaRPr lang="en-US"/>
          </a:p>
        </p:txBody>
      </p:sp>
      <p:sp>
        <p:nvSpPr>
          <p:cNvPr id="18" name="Text 13"/>
          <p:cNvSpPr txBox="1"/>
          <p:nvPr/>
        </p:nvSpPr>
        <p:spPr>
          <a:xfrm>
            <a:off x="6675120" y="3844243"/>
            <a:ext cx="1874520" cy="310896"/>
          </a:xfrm>
          <a:prstGeom prst="rect">
            <a:avLst/>
          </a:prstGeom>
          <a:noFill/>
          <a:ln/>
        </p:spPr>
        <p:txBody>
          <a:bodyPr wrap="square" lIns="0" tIns="0" rIns="0" bIns="0" rtlCol="0" anchor="ctr"/>
          <a:lstStyle/>
          <a:p>
            <a:pPr marL="0" indent="0" algn="ctr">
              <a:buNone/>
            </a:pPr>
            <a:r>
              <a:rPr lang="en-US" sz="1100" b="1" dirty="0">
                <a:solidFill>
                  <a:srgbClr val="73000A"/>
                </a:solidFill>
                <a:latin typeface="Calibri" pitchFamily="34" charset="0"/>
                <a:ea typeface="Calibri" pitchFamily="34" charset="-122"/>
                <a:cs typeface="Calibri" pitchFamily="34" charset="-120"/>
              </a:rPr>
              <a:t>μ = 239.4  σ = 197.6 mm</a:t>
            </a:r>
            <a:endParaRPr lang="en-US" sz="1100" dirty="0"/>
          </a:p>
        </p:txBody>
      </p:sp>
      <p:pic>
        <p:nvPicPr>
          <p:cNvPr id="19" name="Image 3" descr="|Δr| resolution histogram"/>
          <p:cNvPicPr>
            <a:picLocks noChangeAspect="1"/>
          </p:cNvPicPr>
          <p:nvPr/>
        </p:nvPicPr>
        <p:blipFill>
          <a:blip r:embed="rId7"/>
          <a:stretch>
            <a:fillRect/>
          </a:stretch>
        </p:blipFill>
        <p:spPr>
          <a:xfrm>
            <a:off x="4572000" y="4219147"/>
            <a:ext cx="3977640" cy="1750267"/>
          </a:xfrm>
          <a:prstGeom prst="rect">
            <a:avLst/>
          </a:prstGeom>
        </p:spPr>
      </p:pic>
      <p:sp>
        <p:nvSpPr>
          <p:cNvPr id="20" name="Shape 14"/>
          <p:cNvSpPr/>
          <p:nvPr/>
        </p:nvSpPr>
        <p:spPr>
          <a:xfrm>
            <a:off x="8732520" y="1463040"/>
            <a:ext cx="3017520" cy="4526280"/>
          </a:xfrm>
          <a:prstGeom prst="roundRect">
            <a:avLst>
              <a:gd name="adj" fmla="val 3030"/>
            </a:avLst>
          </a:prstGeom>
          <a:solidFill>
            <a:srgbClr val="F4F0F0"/>
          </a:solidFill>
          <a:ln/>
        </p:spPr>
        <p:txBody>
          <a:bodyPr/>
          <a:lstStyle/>
          <a:p>
            <a:endParaRPr lang="en-US"/>
          </a:p>
        </p:txBody>
      </p:sp>
      <p:sp>
        <p:nvSpPr>
          <p:cNvPr id="21" name="Text 15"/>
          <p:cNvSpPr txBox="1"/>
          <p:nvPr/>
        </p:nvSpPr>
        <p:spPr>
          <a:xfrm>
            <a:off x="8961120" y="1600200"/>
            <a:ext cx="2651760" cy="365760"/>
          </a:xfrm>
          <a:prstGeom prst="rect">
            <a:avLst/>
          </a:prstGeom>
          <a:noFill/>
          <a:ln/>
        </p:spPr>
        <p:txBody>
          <a:bodyPr wrap="square" lIns="0" tIns="0" rIns="0" bIns="0" rtlCol="0" anchor="ctr"/>
          <a:lstStyle/>
          <a:p>
            <a:pPr marL="0" indent="0">
              <a:buNone/>
            </a:pPr>
            <a:r>
              <a:rPr lang="en-US" sz="1500" b="1" dirty="0">
                <a:solidFill>
                  <a:srgbClr val="73000A"/>
                </a:solidFill>
                <a:latin typeface="Calibri" pitchFamily="34" charset="0"/>
                <a:ea typeface="Calibri" pitchFamily="34" charset="-122"/>
                <a:cs typeface="Calibri" pitchFamily="34" charset="-120"/>
              </a:rPr>
              <a:t>Why z lags</a:t>
            </a:r>
            <a:endParaRPr lang="en-US" sz="1500" dirty="0"/>
          </a:p>
        </p:txBody>
      </p:sp>
      <p:sp>
        <p:nvSpPr>
          <p:cNvPr id="22" name="Text 16"/>
          <p:cNvSpPr txBox="1"/>
          <p:nvPr/>
        </p:nvSpPr>
        <p:spPr>
          <a:xfrm>
            <a:off x="8961120" y="2011680"/>
            <a:ext cx="2606040" cy="3840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x and y: narrow peaks centered near zero</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z: offset by +84 mm with a long positive tail</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Straight lines ignore helix curvature, which hits z hardest</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Near back-to-back pairs make 1 − a² small and destabilize s*, t*</a:t>
            </a:r>
            <a:endParaRPr lang="en-US" sz="1300" dirty="0"/>
          </a:p>
          <a:p>
            <a:pPr marL="342900" indent="-342900">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Next: helical, covariance-aware vertexing (Goal 1)</a:t>
            </a:r>
            <a:endParaRPr lang="en-US" sz="1300" dirty="0"/>
          </a:p>
        </p:txBody>
      </p:sp>
      <p:sp>
        <p:nvSpPr>
          <p:cNvPr id="23" name="Text 17"/>
          <p:cNvSpPr txBox="1"/>
          <p:nvPr/>
        </p:nvSpPr>
        <p:spPr>
          <a:xfrm>
            <a:off x="457200" y="6053328"/>
            <a:ext cx="8092440" cy="228600"/>
          </a:xfrm>
          <a:prstGeom prst="rect">
            <a:avLst/>
          </a:prstGeom>
          <a:noFill/>
          <a:ln/>
        </p:spPr>
        <p:txBody>
          <a:bodyPr wrap="square" lIns="0" tIns="0" rIns="0" bIns="0" rtlCol="0" anchor="ctr"/>
          <a:lstStyle/>
          <a:p>
            <a:pPr marL="0" indent="0">
              <a:buNone/>
            </a:pPr>
            <a:r>
              <a:rPr lang="en-US" sz="1100" i="1" dirty="0">
                <a:solidFill>
                  <a:srgbClr val="6A6A6A"/>
                </a:solidFill>
                <a:latin typeface="Calibri" pitchFamily="34" charset="0"/>
                <a:ea typeface="Calibri" pitchFamily="34" charset="-122"/>
                <a:cs typeface="Calibri" pitchFamily="34" charset="-120"/>
              </a:rPr>
              <a:t>7,640 vertices compared to MC truth</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5486400" cy="365760"/>
          </a:xfrm>
          <a:prstGeom prst="rect">
            <a:avLst/>
          </a:prstGeom>
          <a:noFill/>
          <a:ln/>
        </p:spPr>
        <p:txBody>
          <a:bodyPr wrap="square" lIns="0" tIns="0" rIns="0" bIns="0" rtlCol="0" anchor="ctr"/>
          <a:lstStyle/>
          <a:p>
            <a:pPr marL="0" indent="0">
              <a:buNone/>
            </a:pPr>
            <a:r>
              <a:rPr lang="en-US" sz="1600" i="1" dirty="0">
                <a:solidFill>
                  <a:srgbClr val="73000A"/>
                </a:solidFill>
                <a:latin typeface="+mn-lt" pitchFamily="34" charset="0"/>
                <a:ea typeface="+mn-lt" pitchFamily="34" charset="-122"/>
                <a:cs typeface="+mn-lt" pitchFamily="34" charset="-120"/>
              </a:rPr>
              <a:t>Section 5 of 5</a:t>
            </a:r>
            <a:endParaRPr lang="en-US" sz="1600" dirty="0">
              <a:solidFill>
                <a:srgbClr val="73000A"/>
              </a:solidFill>
            </a:endParaRPr>
          </a:p>
        </p:txBody>
      </p:sp>
      <p:sp>
        <p:nvSpPr>
          <p:cNvPr id="3" name="Section title"/>
          <p:cNvSpPr txBox="1"/>
          <p:nvPr/>
        </p:nvSpPr>
        <p:spPr>
          <a:xfrm>
            <a:off x="548640" y="685800"/>
            <a:ext cx="11064240" cy="548640"/>
          </a:xfrm>
          <a:prstGeom prst="rect">
            <a:avLst/>
          </a:prstGeom>
          <a:noFill/>
          <a:ln/>
        </p:spPr>
        <p:txBody>
          <a:bodyPr wrap="square" lIns="0" tIns="0" rIns="0" bIns="0" rtlCol="0" anchor="ctr"/>
          <a:lstStyle/>
          <a:p>
            <a:pPr marL="0" indent="0">
              <a:buNone/>
            </a:pPr>
            <a:r>
              <a:rPr lang="en-US" sz="3200" b="1" dirty="0">
                <a:solidFill>
                  <a:schemeClr val="tx1"/>
                </a:solidFill>
                <a:latin typeface="+mj-lt" pitchFamily="34" charset="0"/>
                <a:ea typeface="+mj-lt" pitchFamily="34" charset="-122"/>
                <a:cs typeface="+mj-lt" pitchFamily="34" charset="-120"/>
              </a:rPr>
              <a:t>Goals and Deliverables</a:t>
            </a:r>
            <a:endParaRPr lang="en-US" sz="3200" dirty="0"/>
          </a:p>
        </p:txBody>
      </p:sp>
      <p:sp>
        <p:nvSpPr>
          <p:cNvPr id="4" name="Shape 2"/>
          <p:cNvSpPr/>
          <p:nvPr/>
        </p:nvSpPr>
        <p:spPr>
          <a:xfrm>
            <a:off x="685800" y="1591056"/>
            <a:ext cx="603504" cy="603504"/>
          </a:xfrm>
          <a:prstGeom prst="ellipse">
            <a:avLst/>
          </a:prstGeom>
          <a:solidFill>
            <a:schemeClr val="bg2"/>
          </a:solidFill>
          <a:ln/>
        </p:spPr>
        <p:txBody>
          <a:bodyPr/>
          <a:lstStyle/>
          <a:p>
            <a:endParaRPr lang="en-US"/>
          </a:p>
        </p:txBody>
      </p:sp>
      <p:sp>
        <p:nvSpPr>
          <p:cNvPr id="5" name="Text 3"/>
          <p:cNvSpPr txBox="1"/>
          <p:nvPr/>
        </p:nvSpPr>
        <p:spPr>
          <a:xfrm>
            <a:off x="685800" y="1591056"/>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1</a:t>
            </a:r>
            <a:endParaRPr lang="en-US" sz="2200" dirty="0"/>
          </a:p>
        </p:txBody>
      </p:sp>
      <p:sp>
        <p:nvSpPr>
          <p:cNvPr id="6" name="Text 4"/>
          <p:cNvSpPr txBox="1"/>
          <p:nvPr/>
        </p:nvSpPr>
        <p:spPr>
          <a:xfrm>
            <a:off x="1600200" y="1527048"/>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Theoretical Motivation</a:t>
            </a:r>
            <a:endParaRPr lang="en-US" sz="2200" dirty="0"/>
          </a:p>
        </p:txBody>
      </p:sp>
      <p:sp>
        <p:nvSpPr>
          <p:cNvPr id="7" name="Text 5"/>
          <p:cNvSpPr txBox="1"/>
          <p:nvPr/>
        </p:nvSpPr>
        <p:spPr>
          <a:xfrm>
            <a:off x="1600200" y="1911096"/>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Why search for charged lepton flavor violation?</a:t>
            </a:r>
            <a:endParaRPr lang="en-US" sz="1500" dirty="0"/>
          </a:p>
        </p:txBody>
      </p:sp>
      <p:sp>
        <p:nvSpPr>
          <p:cNvPr id="8" name="Text 6"/>
          <p:cNvSpPr txBox="1"/>
          <p:nvPr/>
        </p:nvSpPr>
        <p:spPr>
          <a:xfrm>
            <a:off x="9875520" y="1591056"/>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3–11</a:t>
            </a:r>
            <a:endParaRPr lang="en-US" sz="1400" dirty="0"/>
          </a:p>
        </p:txBody>
      </p:sp>
      <p:sp>
        <p:nvSpPr>
          <p:cNvPr id="9" name="Shape 7"/>
          <p:cNvSpPr/>
          <p:nvPr/>
        </p:nvSpPr>
        <p:spPr>
          <a:xfrm>
            <a:off x="685800" y="2615184"/>
            <a:ext cx="603504" cy="603504"/>
          </a:xfrm>
          <a:prstGeom prst="ellipse">
            <a:avLst/>
          </a:prstGeom>
          <a:solidFill>
            <a:schemeClr val="bg2"/>
          </a:solidFill>
          <a:ln/>
        </p:spPr>
        <p:txBody>
          <a:bodyPr/>
          <a:lstStyle/>
          <a:p>
            <a:endParaRPr lang="en-US"/>
          </a:p>
        </p:txBody>
      </p:sp>
      <p:sp>
        <p:nvSpPr>
          <p:cNvPr id="10" name="Text 8"/>
          <p:cNvSpPr txBox="1"/>
          <p:nvPr/>
        </p:nvSpPr>
        <p:spPr>
          <a:xfrm>
            <a:off x="685800" y="2615184"/>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2</a:t>
            </a:r>
            <a:endParaRPr lang="en-US" sz="2200" dirty="0"/>
          </a:p>
        </p:txBody>
      </p:sp>
      <p:sp>
        <p:nvSpPr>
          <p:cNvPr id="11" name="Text 9"/>
          <p:cNvSpPr txBox="1"/>
          <p:nvPr/>
        </p:nvSpPr>
        <p:spPr>
          <a:xfrm>
            <a:off x="1600200" y="2551176"/>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The Mu2e Experiment</a:t>
            </a:r>
            <a:endParaRPr lang="en-US" sz="2200" dirty="0"/>
          </a:p>
        </p:txBody>
      </p:sp>
      <p:sp>
        <p:nvSpPr>
          <p:cNvPr id="12" name="Text 10"/>
          <p:cNvSpPr txBox="1"/>
          <p:nvPr/>
        </p:nvSpPr>
        <p:spPr>
          <a:xfrm>
            <a:off x="1600200" y="2935224"/>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How does Mu2e isolate a single conversion electron?</a:t>
            </a:r>
            <a:endParaRPr lang="en-US" sz="1500" dirty="0"/>
          </a:p>
        </p:txBody>
      </p:sp>
      <p:sp>
        <p:nvSpPr>
          <p:cNvPr id="13" name="Text 11"/>
          <p:cNvSpPr txBox="1"/>
          <p:nvPr/>
        </p:nvSpPr>
        <p:spPr>
          <a:xfrm>
            <a:off x="9875520" y="2615184"/>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12–20</a:t>
            </a:r>
            <a:endParaRPr lang="en-US" sz="1400" dirty="0"/>
          </a:p>
        </p:txBody>
      </p:sp>
      <p:sp>
        <p:nvSpPr>
          <p:cNvPr id="14" name="Shape 12"/>
          <p:cNvSpPr/>
          <p:nvPr/>
        </p:nvSpPr>
        <p:spPr>
          <a:xfrm>
            <a:off x="685800" y="3639312"/>
            <a:ext cx="603504" cy="603504"/>
          </a:xfrm>
          <a:prstGeom prst="ellipse">
            <a:avLst/>
          </a:prstGeom>
          <a:solidFill>
            <a:schemeClr val="bg2"/>
          </a:solidFill>
          <a:ln/>
        </p:spPr>
        <p:txBody>
          <a:bodyPr/>
          <a:lstStyle/>
          <a:p>
            <a:endParaRPr lang="en-US"/>
          </a:p>
        </p:txBody>
      </p:sp>
      <p:sp>
        <p:nvSpPr>
          <p:cNvPr id="15" name="Text 13"/>
          <p:cNvSpPr txBox="1"/>
          <p:nvPr/>
        </p:nvSpPr>
        <p:spPr>
          <a:xfrm>
            <a:off x="685800" y="3639312"/>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3</a:t>
            </a:r>
            <a:endParaRPr lang="en-US" sz="2200" dirty="0"/>
          </a:p>
        </p:txBody>
      </p:sp>
      <p:sp>
        <p:nvSpPr>
          <p:cNvPr id="16" name="Text 14"/>
          <p:cNvSpPr txBox="1"/>
          <p:nvPr/>
        </p:nvSpPr>
        <p:spPr>
          <a:xfrm>
            <a:off x="1600200" y="3575304"/>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Event Identification and Signal</a:t>
            </a:r>
            <a:endParaRPr lang="en-US" sz="2200" dirty="0"/>
          </a:p>
        </p:txBody>
      </p:sp>
      <p:sp>
        <p:nvSpPr>
          <p:cNvPr id="17" name="Text 15"/>
          <p:cNvSpPr txBox="1"/>
          <p:nvPr/>
        </p:nvSpPr>
        <p:spPr>
          <a:xfrm>
            <a:off x="1600200" y="3959352"/>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does μ⁻e⁻ → e⁻e⁻ look like in the detector?</a:t>
            </a:r>
            <a:endParaRPr lang="en-US" sz="1500" dirty="0"/>
          </a:p>
        </p:txBody>
      </p:sp>
      <p:sp>
        <p:nvSpPr>
          <p:cNvPr id="18" name="Text 16"/>
          <p:cNvSpPr txBox="1"/>
          <p:nvPr/>
        </p:nvSpPr>
        <p:spPr>
          <a:xfrm>
            <a:off x="9875520" y="3639312"/>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21–26</a:t>
            </a:r>
            <a:endParaRPr lang="en-US" sz="1400" dirty="0"/>
          </a:p>
        </p:txBody>
      </p:sp>
      <p:sp>
        <p:nvSpPr>
          <p:cNvPr id="19" name="Shape 17"/>
          <p:cNvSpPr/>
          <p:nvPr/>
        </p:nvSpPr>
        <p:spPr>
          <a:xfrm>
            <a:off x="685800" y="4663440"/>
            <a:ext cx="603504" cy="603504"/>
          </a:xfrm>
          <a:prstGeom prst="ellipse">
            <a:avLst/>
          </a:prstGeom>
          <a:solidFill>
            <a:schemeClr val="bg2"/>
          </a:solidFill>
          <a:ln/>
        </p:spPr>
        <p:txBody>
          <a:bodyPr/>
          <a:lstStyle/>
          <a:p>
            <a:endParaRPr lang="en-US"/>
          </a:p>
        </p:txBody>
      </p:sp>
      <p:sp>
        <p:nvSpPr>
          <p:cNvPr id="20" name="Text 18"/>
          <p:cNvSpPr txBox="1"/>
          <p:nvPr/>
        </p:nvSpPr>
        <p:spPr>
          <a:xfrm>
            <a:off x="685800" y="4663440"/>
            <a:ext cx="603504" cy="603504"/>
          </a:xfrm>
          <a:prstGeom prst="rect">
            <a:avLst/>
          </a:prstGeom>
          <a:noFill/>
          <a:ln/>
        </p:spPr>
        <p:txBody>
          <a:bodyPr wrap="square" lIns="0" tIns="0" rIns="0" bIns="0" rtlCol="0" anchor="ctr"/>
          <a:lstStyle/>
          <a:p>
            <a:pPr marL="0" indent="0" algn="ctr">
              <a:buNone/>
            </a:pPr>
            <a:r>
              <a:rPr lang="en-US" sz="2200" b="1" dirty="0">
                <a:solidFill>
                  <a:schemeClr val="tx2">
                    <a:alpha val="55000"/>
                  </a:schemeClr>
                </a:solidFill>
                <a:latin typeface="+mj-lt" pitchFamily="34" charset="0"/>
                <a:ea typeface="+mj-lt" pitchFamily="34" charset="-122"/>
                <a:cs typeface="+mj-lt" pitchFamily="34" charset="-120"/>
              </a:rPr>
              <a:t>4</a:t>
            </a:r>
            <a:endParaRPr lang="en-US" sz="2200" dirty="0"/>
          </a:p>
        </p:txBody>
      </p:sp>
      <p:sp>
        <p:nvSpPr>
          <p:cNvPr id="21" name="Text 19"/>
          <p:cNvSpPr txBox="1"/>
          <p:nvPr/>
        </p:nvSpPr>
        <p:spPr>
          <a:xfrm>
            <a:off x="1600200" y="4599432"/>
            <a:ext cx="7863840" cy="384048"/>
          </a:xfrm>
          <a:prstGeom prst="rect">
            <a:avLst/>
          </a:prstGeom>
          <a:noFill/>
          <a:ln/>
        </p:spPr>
        <p:txBody>
          <a:bodyPr wrap="square" lIns="0" tIns="0" rIns="0" bIns="0" rtlCol="0" anchor="ctr"/>
          <a:lstStyle/>
          <a:p>
            <a:pPr marL="0" indent="0">
              <a:buNone/>
            </a:pPr>
            <a:r>
              <a:rPr lang="en-US" sz="2200" dirty="0">
                <a:solidFill>
                  <a:schemeClr val="tx2">
                    <a:alpha val="45000"/>
                  </a:schemeClr>
                </a:solidFill>
                <a:latin typeface="+mj-lt" pitchFamily="34" charset="0"/>
                <a:ea typeface="+mj-lt" pitchFamily="34" charset="-122"/>
                <a:cs typeface="+mj-lt" pitchFamily="34" charset="-120"/>
              </a:rPr>
              <a:t>Initial Investigation</a:t>
            </a:r>
            <a:endParaRPr lang="en-US" sz="2200" dirty="0"/>
          </a:p>
        </p:txBody>
      </p:sp>
      <p:sp>
        <p:nvSpPr>
          <p:cNvPr id="22" name="Text 20"/>
          <p:cNvSpPr txBox="1"/>
          <p:nvPr/>
        </p:nvSpPr>
        <p:spPr>
          <a:xfrm>
            <a:off x="1600200" y="4983480"/>
            <a:ext cx="8138160" cy="347472"/>
          </a:xfrm>
          <a:prstGeom prst="rect">
            <a:avLst/>
          </a:prstGeom>
          <a:noFill/>
          <a:ln/>
        </p:spPr>
        <p:txBody>
          <a:bodyPr wrap="square" lIns="0" tIns="0" rIns="0" bIns="0" rtlCol="0" anchor="t"/>
          <a:lstStyle/>
          <a:p>
            <a:pPr marL="0" indent="0">
              <a:buNone/>
            </a:pPr>
            <a:r>
              <a:rPr lang="en-US" sz="1500" dirty="0">
                <a:solidFill>
                  <a:schemeClr val="tx2">
                    <a:alpha val="45000"/>
                  </a:schemeClr>
                </a:solidFill>
                <a:latin typeface="+mn-lt" pitchFamily="34" charset="0"/>
                <a:ea typeface="+mn-lt" pitchFamily="34" charset="-122"/>
                <a:cs typeface="+mn-lt" pitchFamily="34" charset="-120"/>
              </a:rPr>
              <a:t>What have I shown so far?</a:t>
            </a:r>
            <a:endParaRPr lang="en-US" sz="1500" dirty="0"/>
          </a:p>
        </p:txBody>
      </p:sp>
      <p:sp>
        <p:nvSpPr>
          <p:cNvPr id="23" name="Text 21"/>
          <p:cNvSpPr txBox="1"/>
          <p:nvPr/>
        </p:nvSpPr>
        <p:spPr>
          <a:xfrm>
            <a:off x="9875520" y="4663440"/>
            <a:ext cx="1645920" cy="603504"/>
          </a:xfrm>
          <a:prstGeom prst="rect">
            <a:avLst/>
          </a:prstGeom>
          <a:noFill/>
          <a:ln/>
        </p:spPr>
        <p:txBody>
          <a:bodyPr wrap="square" lIns="0" tIns="0" rIns="0" bIns="0" rtlCol="0" anchor="ctr"/>
          <a:lstStyle/>
          <a:p>
            <a:pPr marL="0" indent="0" algn="r">
              <a:buNone/>
            </a:pPr>
            <a:r>
              <a:rPr lang="en-US" sz="1400" i="1" dirty="0">
                <a:solidFill>
                  <a:schemeClr val="tx2">
                    <a:alpha val="45000"/>
                  </a:schemeClr>
                </a:solidFill>
                <a:latin typeface="+mn-lt" pitchFamily="34" charset="0"/>
                <a:ea typeface="+mn-lt" pitchFamily="34" charset="-122"/>
                <a:cs typeface="+mn-lt" pitchFamily="34" charset="-120"/>
              </a:rPr>
              <a:t>Slides 27–35</a:t>
            </a:r>
            <a:endParaRPr lang="en-US" sz="1400" dirty="0"/>
          </a:p>
        </p:txBody>
      </p:sp>
      <p:sp>
        <p:nvSpPr>
          <p:cNvPr id="24" name="current"/>
          <p:cNvSpPr/>
          <p:nvPr/>
        </p:nvSpPr>
        <p:spPr>
          <a:xfrm>
            <a:off x="457200" y="5532120"/>
            <a:ext cx="11274552" cy="914400"/>
          </a:xfrm>
          <a:prstGeom prst="roundRect">
            <a:avLst>
              <a:gd name="adj" fmla="val 12000"/>
            </a:avLst>
          </a:prstGeom>
          <a:solidFill>
            <a:srgbClr val="73000A"/>
          </a:solidFill>
          <a:ln/>
        </p:spPr>
        <p:txBody>
          <a:bodyPr/>
          <a:lstStyle/>
          <a:p>
            <a:endParaRPr lang="en-US"/>
          </a:p>
        </p:txBody>
      </p:sp>
      <p:sp>
        <p:nvSpPr>
          <p:cNvPr id="25" name="Shape 23"/>
          <p:cNvSpPr/>
          <p:nvPr/>
        </p:nvSpPr>
        <p:spPr>
          <a:xfrm>
            <a:off x="685800" y="5687568"/>
            <a:ext cx="603504" cy="603504"/>
          </a:xfrm>
          <a:prstGeom prst="ellipse">
            <a:avLst/>
          </a:prstGeom>
          <a:solidFill>
            <a:schemeClr val="bg1"/>
          </a:solidFill>
          <a:ln/>
        </p:spPr>
        <p:txBody>
          <a:bodyPr/>
          <a:lstStyle/>
          <a:p>
            <a:endParaRPr lang="en-US"/>
          </a:p>
        </p:txBody>
      </p:sp>
      <p:sp>
        <p:nvSpPr>
          <p:cNvPr id="26" name="Text 24"/>
          <p:cNvSpPr txBox="1"/>
          <p:nvPr/>
        </p:nvSpPr>
        <p:spPr>
          <a:xfrm>
            <a:off x="685800" y="5687568"/>
            <a:ext cx="603504" cy="603504"/>
          </a:xfrm>
          <a:prstGeom prst="rect">
            <a:avLst/>
          </a:prstGeom>
          <a:noFill/>
          <a:ln/>
        </p:spPr>
        <p:txBody>
          <a:bodyPr wrap="square" lIns="0" tIns="0" rIns="0" bIns="0" rtlCol="0" anchor="ctr"/>
          <a:lstStyle/>
          <a:p>
            <a:pPr marL="0" indent="0" algn="ctr">
              <a:buNone/>
            </a:pPr>
            <a:r>
              <a:rPr lang="en-US" sz="2200" b="1" dirty="0">
                <a:solidFill>
                  <a:srgbClr val="73000A"/>
                </a:solidFill>
                <a:latin typeface="+mj-lt" pitchFamily="34" charset="0"/>
                <a:ea typeface="+mj-lt" pitchFamily="34" charset="-122"/>
                <a:cs typeface="+mj-lt" pitchFamily="34" charset="-120"/>
              </a:rPr>
              <a:t>5</a:t>
            </a:r>
            <a:endParaRPr lang="en-US" sz="2200" dirty="0">
              <a:solidFill>
                <a:srgbClr val="73000A"/>
              </a:solidFill>
            </a:endParaRPr>
          </a:p>
        </p:txBody>
      </p:sp>
      <p:sp>
        <p:nvSpPr>
          <p:cNvPr id="27" name="Text 25"/>
          <p:cNvSpPr txBox="1"/>
          <p:nvPr/>
        </p:nvSpPr>
        <p:spPr>
          <a:xfrm>
            <a:off x="1600200" y="5623560"/>
            <a:ext cx="7863840" cy="384048"/>
          </a:xfrm>
          <a:prstGeom prst="rect">
            <a:avLst/>
          </a:prstGeom>
          <a:noFill/>
          <a:ln/>
        </p:spPr>
        <p:txBody>
          <a:bodyPr wrap="square" lIns="0" tIns="0" rIns="0" bIns="0" rtlCol="0" anchor="ctr"/>
          <a:lstStyle/>
          <a:p>
            <a:pPr marL="0" indent="0">
              <a:buNone/>
            </a:pPr>
            <a:r>
              <a:rPr lang="en-US" sz="2200" b="1" dirty="0">
                <a:solidFill>
                  <a:schemeClr val="bg1"/>
                </a:solidFill>
                <a:latin typeface="+mj-lt" pitchFamily="34" charset="0"/>
                <a:ea typeface="+mj-lt" pitchFamily="34" charset="-122"/>
                <a:cs typeface="+mj-lt" pitchFamily="34" charset="-120"/>
              </a:rPr>
              <a:t>Goals and Deliverables</a:t>
            </a:r>
            <a:endParaRPr lang="en-US" sz="2200" dirty="0"/>
          </a:p>
        </p:txBody>
      </p:sp>
      <p:sp>
        <p:nvSpPr>
          <p:cNvPr id="28" name="Text 26"/>
          <p:cNvSpPr txBox="1"/>
          <p:nvPr/>
        </p:nvSpPr>
        <p:spPr>
          <a:xfrm>
            <a:off x="1600200" y="6007608"/>
            <a:ext cx="8138160" cy="347472"/>
          </a:xfrm>
          <a:prstGeom prst="rect">
            <a:avLst/>
          </a:prstGeom>
          <a:noFill/>
          <a:ln/>
        </p:spPr>
        <p:txBody>
          <a:bodyPr wrap="square" lIns="0" tIns="0" rIns="0" bIns="0" rtlCol="0" anchor="t"/>
          <a:lstStyle/>
          <a:p>
            <a:pPr marL="0" indent="0">
              <a:buNone/>
            </a:pPr>
            <a:r>
              <a:rPr lang="en-US" sz="1500" i="1" dirty="0">
                <a:solidFill>
                  <a:schemeClr val="bg1"/>
                </a:solidFill>
                <a:latin typeface="+mn-lt" pitchFamily="34" charset="0"/>
                <a:ea typeface="+mn-lt" pitchFamily="34" charset="-122"/>
                <a:cs typeface="+mn-lt" pitchFamily="34" charset="-120"/>
              </a:rPr>
              <a:t>What will the dissertation deliver, and by when?</a:t>
            </a:r>
            <a:endParaRPr lang="en-US" sz="1500" dirty="0"/>
          </a:p>
        </p:txBody>
      </p:sp>
      <p:sp>
        <p:nvSpPr>
          <p:cNvPr id="29" name="Text 27"/>
          <p:cNvSpPr txBox="1"/>
          <p:nvPr/>
        </p:nvSpPr>
        <p:spPr>
          <a:xfrm>
            <a:off x="9875520" y="5687568"/>
            <a:ext cx="1645920" cy="603504"/>
          </a:xfrm>
          <a:prstGeom prst="rect">
            <a:avLst/>
          </a:prstGeom>
          <a:noFill/>
          <a:ln/>
        </p:spPr>
        <p:txBody>
          <a:bodyPr wrap="square" lIns="0" tIns="0" rIns="0" bIns="0" rtlCol="0" anchor="ctr"/>
          <a:lstStyle/>
          <a:p>
            <a:pPr marL="0" indent="0" algn="r">
              <a:buNone/>
            </a:pPr>
            <a:r>
              <a:rPr lang="en-US" sz="1400" i="1" dirty="0">
                <a:solidFill>
                  <a:schemeClr val="bg1"/>
                </a:solidFill>
                <a:latin typeface="+mn-lt" pitchFamily="34" charset="0"/>
                <a:ea typeface="+mn-lt" pitchFamily="34" charset="-122"/>
                <a:cs typeface="+mn-lt" pitchFamily="34" charset="-120"/>
              </a:rPr>
              <a:t>Slides 36–43</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Goals and Deliverables</a:t>
            </a:r>
            <a:endParaRPr lang="en-US" sz="28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Four goals build toward one reconstruction-level sensitivity result by Winter 2028</a:t>
            </a:r>
            <a:endParaRPr lang="en-US" sz="1600" dirty="0"/>
          </a:p>
        </p:txBody>
      </p:sp>
      <p:sp>
        <p:nvSpPr>
          <p:cNvPr id="4" name="Shape 2"/>
          <p:cNvSpPr/>
          <p:nvPr/>
        </p:nvSpPr>
        <p:spPr>
          <a:xfrm>
            <a:off x="3675888" y="1508760"/>
            <a:ext cx="1116874" cy="384048"/>
          </a:xfrm>
          <a:prstGeom prst="rect">
            <a:avLst/>
          </a:prstGeom>
          <a:solidFill>
            <a:srgbClr val="EFE7E8"/>
          </a:solidFill>
          <a:ln/>
        </p:spPr>
        <p:txBody>
          <a:bodyPr/>
          <a:lstStyle/>
          <a:p>
            <a:endParaRPr lang="en-US"/>
          </a:p>
        </p:txBody>
      </p:sp>
      <p:sp>
        <p:nvSpPr>
          <p:cNvPr id="5" name="Text 3"/>
          <p:cNvSpPr txBox="1"/>
          <p:nvPr/>
        </p:nvSpPr>
        <p:spPr>
          <a:xfrm>
            <a:off x="3657600" y="1508760"/>
            <a:ext cx="1153450" cy="384048"/>
          </a:xfrm>
          <a:prstGeom prst="rect">
            <a:avLst/>
          </a:prstGeom>
          <a:noFill/>
          <a:ln/>
        </p:spPr>
        <p:txBody>
          <a:bodyPr wrap="square" lIns="0" tIns="0" rIns="0" bIns="0" rtlCol="0" anchor="ctr"/>
          <a:lstStyle/>
          <a:p>
            <a:pPr marL="0" indent="0" algn="ctr">
              <a:buNone/>
            </a:pPr>
            <a:r>
              <a:rPr lang="en-US" sz="1100" b="1" dirty="0">
                <a:solidFill>
                  <a:srgbClr val="4A4A4A"/>
                </a:solidFill>
                <a:latin typeface="Calibri" pitchFamily="34" charset="0"/>
                <a:ea typeface="Calibri" pitchFamily="34" charset="-122"/>
                <a:cs typeface="Calibri" pitchFamily="34" charset="-120"/>
              </a:rPr>
              <a:t>Fall 2026</a:t>
            </a:r>
            <a:endParaRPr lang="en-US" sz="1100" dirty="0"/>
          </a:p>
        </p:txBody>
      </p:sp>
      <p:sp>
        <p:nvSpPr>
          <p:cNvPr id="6" name="Shape 4"/>
          <p:cNvSpPr/>
          <p:nvPr/>
        </p:nvSpPr>
        <p:spPr>
          <a:xfrm>
            <a:off x="3657600" y="1965960"/>
            <a:ext cx="0" cy="3794760"/>
          </a:xfrm>
          <a:prstGeom prst="line">
            <a:avLst/>
          </a:prstGeom>
          <a:noFill/>
          <a:ln w="9525">
            <a:solidFill>
              <a:srgbClr val="E3D3D4"/>
            </a:solidFill>
            <a:prstDash val="dash"/>
          </a:ln>
        </p:spPr>
        <p:txBody>
          <a:bodyPr/>
          <a:lstStyle/>
          <a:p>
            <a:endParaRPr lang="en-US"/>
          </a:p>
        </p:txBody>
      </p:sp>
      <p:sp>
        <p:nvSpPr>
          <p:cNvPr id="7" name="Shape 5"/>
          <p:cNvSpPr/>
          <p:nvPr/>
        </p:nvSpPr>
        <p:spPr>
          <a:xfrm>
            <a:off x="4829338" y="1508760"/>
            <a:ext cx="1116874" cy="384048"/>
          </a:xfrm>
          <a:prstGeom prst="rect">
            <a:avLst/>
          </a:prstGeom>
          <a:solidFill>
            <a:srgbClr val="F7F3F3"/>
          </a:solidFill>
          <a:ln/>
        </p:spPr>
        <p:txBody>
          <a:bodyPr/>
          <a:lstStyle/>
          <a:p>
            <a:endParaRPr lang="en-US"/>
          </a:p>
        </p:txBody>
      </p:sp>
      <p:sp>
        <p:nvSpPr>
          <p:cNvPr id="8" name="Text 6"/>
          <p:cNvSpPr txBox="1"/>
          <p:nvPr/>
        </p:nvSpPr>
        <p:spPr>
          <a:xfrm>
            <a:off x="4811050" y="1508760"/>
            <a:ext cx="1153450" cy="384048"/>
          </a:xfrm>
          <a:prstGeom prst="rect">
            <a:avLst/>
          </a:prstGeom>
          <a:noFill/>
          <a:ln/>
        </p:spPr>
        <p:txBody>
          <a:bodyPr wrap="square" lIns="0" tIns="0" rIns="0" bIns="0" rtlCol="0" anchor="ctr"/>
          <a:lstStyle/>
          <a:p>
            <a:pPr marL="0" indent="0" algn="ctr">
              <a:buNone/>
            </a:pPr>
            <a:r>
              <a:rPr lang="en-US" sz="1100" b="1" dirty="0">
                <a:solidFill>
                  <a:srgbClr val="4A4A4A"/>
                </a:solidFill>
                <a:latin typeface="Calibri" pitchFamily="34" charset="0"/>
                <a:ea typeface="Calibri" pitchFamily="34" charset="-122"/>
                <a:cs typeface="Calibri" pitchFamily="34" charset="-120"/>
              </a:rPr>
              <a:t>Spring 2027</a:t>
            </a:r>
            <a:endParaRPr lang="en-US" sz="1100" dirty="0"/>
          </a:p>
        </p:txBody>
      </p:sp>
      <p:sp>
        <p:nvSpPr>
          <p:cNvPr id="9" name="Shape 7"/>
          <p:cNvSpPr/>
          <p:nvPr/>
        </p:nvSpPr>
        <p:spPr>
          <a:xfrm>
            <a:off x="4811050" y="1965960"/>
            <a:ext cx="0" cy="3794760"/>
          </a:xfrm>
          <a:prstGeom prst="line">
            <a:avLst/>
          </a:prstGeom>
          <a:noFill/>
          <a:ln w="9525">
            <a:solidFill>
              <a:srgbClr val="E3D3D4"/>
            </a:solidFill>
            <a:prstDash val="dash"/>
          </a:ln>
        </p:spPr>
        <p:txBody>
          <a:bodyPr/>
          <a:lstStyle/>
          <a:p>
            <a:endParaRPr lang="en-US"/>
          </a:p>
        </p:txBody>
      </p:sp>
      <p:sp>
        <p:nvSpPr>
          <p:cNvPr id="10" name="Shape 8"/>
          <p:cNvSpPr/>
          <p:nvPr/>
        </p:nvSpPr>
        <p:spPr>
          <a:xfrm>
            <a:off x="5982789" y="1508760"/>
            <a:ext cx="1116874" cy="384048"/>
          </a:xfrm>
          <a:prstGeom prst="rect">
            <a:avLst/>
          </a:prstGeom>
          <a:solidFill>
            <a:srgbClr val="EFE7E8"/>
          </a:solidFill>
          <a:ln/>
        </p:spPr>
        <p:txBody>
          <a:bodyPr/>
          <a:lstStyle/>
          <a:p>
            <a:endParaRPr lang="en-US"/>
          </a:p>
        </p:txBody>
      </p:sp>
      <p:sp>
        <p:nvSpPr>
          <p:cNvPr id="11" name="Text 9"/>
          <p:cNvSpPr txBox="1"/>
          <p:nvPr/>
        </p:nvSpPr>
        <p:spPr>
          <a:xfrm>
            <a:off x="5964501" y="1508760"/>
            <a:ext cx="1153450" cy="384048"/>
          </a:xfrm>
          <a:prstGeom prst="rect">
            <a:avLst/>
          </a:prstGeom>
          <a:noFill/>
          <a:ln/>
        </p:spPr>
        <p:txBody>
          <a:bodyPr wrap="square" lIns="0" tIns="0" rIns="0" bIns="0" rtlCol="0" anchor="ctr"/>
          <a:lstStyle/>
          <a:p>
            <a:pPr marL="0" indent="0" algn="ctr">
              <a:buNone/>
            </a:pPr>
            <a:r>
              <a:rPr lang="en-US" sz="1100" b="1" dirty="0">
                <a:solidFill>
                  <a:srgbClr val="4A4A4A"/>
                </a:solidFill>
                <a:latin typeface="Calibri" pitchFamily="34" charset="0"/>
                <a:ea typeface="Calibri" pitchFamily="34" charset="-122"/>
                <a:cs typeface="Calibri" pitchFamily="34" charset="-120"/>
              </a:rPr>
              <a:t>Summer 2027</a:t>
            </a:r>
            <a:endParaRPr lang="en-US" sz="1100" dirty="0"/>
          </a:p>
        </p:txBody>
      </p:sp>
      <p:sp>
        <p:nvSpPr>
          <p:cNvPr id="12" name="Shape 10"/>
          <p:cNvSpPr/>
          <p:nvPr/>
        </p:nvSpPr>
        <p:spPr>
          <a:xfrm>
            <a:off x="5964501" y="1965960"/>
            <a:ext cx="0" cy="3794760"/>
          </a:xfrm>
          <a:prstGeom prst="line">
            <a:avLst/>
          </a:prstGeom>
          <a:noFill/>
          <a:ln w="9525">
            <a:solidFill>
              <a:srgbClr val="E3D3D4"/>
            </a:solidFill>
            <a:prstDash val="dash"/>
          </a:ln>
        </p:spPr>
        <p:txBody>
          <a:bodyPr/>
          <a:lstStyle/>
          <a:p>
            <a:endParaRPr lang="en-US"/>
          </a:p>
        </p:txBody>
      </p:sp>
      <p:sp>
        <p:nvSpPr>
          <p:cNvPr id="13" name="Shape 11"/>
          <p:cNvSpPr/>
          <p:nvPr/>
        </p:nvSpPr>
        <p:spPr>
          <a:xfrm>
            <a:off x="7136239" y="1508760"/>
            <a:ext cx="1116874" cy="384048"/>
          </a:xfrm>
          <a:prstGeom prst="rect">
            <a:avLst/>
          </a:prstGeom>
          <a:solidFill>
            <a:srgbClr val="F7F3F3"/>
          </a:solidFill>
          <a:ln/>
        </p:spPr>
        <p:txBody>
          <a:bodyPr/>
          <a:lstStyle/>
          <a:p>
            <a:endParaRPr lang="en-US"/>
          </a:p>
        </p:txBody>
      </p:sp>
      <p:sp>
        <p:nvSpPr>
          <p:cNvPr id="14" name="Text 12"/>
          <p:cNvSpPr txBox="1"/>
          <p:nvPr/>
        </p:nvSpPr>
        <p:spPr>
          <a:xfrm>
            <a:off x="7117951" y="1508760"/>
            <a:ext cx="1153450" cy="384048"/>
          </a:xfrm>
          <a:prstGeom prst="rect">
            <a:avLst/>
          </a:prstGeom>
          <a:noFill/>
          <a:ln/>
        </p:spPr>
        <p:txBody>
          <a:bodyPr wrap="square" lIns="0" tIns="0" rIns="0" bIns="0" rtlCol="0" anchor="ctr"/>
          <a:lstStyle/>
          <a:p>
            <a:pPr marL="0" indent="0" algn="ctr">
              <a:buNone/>
            </a:pPr>
            <a:r>
              <a:rPr lang="en-US" sz="1100" b="1" dirty="0">
                <a:solidFill>
                  <a:srgbClr val="4A4A4A"/>
                </a:solidFill>
                <a:latin typeface="Calibri" pitchFamily="34" charset="0"/>
                <a:ea typeface="Calibri" pitchFamily="34" charset="-122"/>
                <a:cs typeface="Calibri" pitchFamily="34" charset="-120"/>
              </a:rPr>
              <a:t>Fall 2027</a:t>
            </a:r>
            <a:endParaRPr lang="en-US" sz="1100" dirty="0"/>
          </a:p>
        </p:txBody>
      </p:sp>
      <p:sp>
        <p:nvSpPr>
          <p:cNvPr id="15" name="Shape 13"/>
          <p:cNvSpPr/>
          <p:nvPr/>
        </p:nvSpPr>
        <p:spPr>
          <a:xfrm>
            <a:off x="7117951" y="1965960"/>
            <a:ext cx="0" cy="3794760"/>
          </a:xfrm>
          <a:prstGeom prst="line">
            <a:avLst/>
          </a:prstGeom>
          <a:noFill/>
          <a:ln w="9525">
            <a:solidFill>
              <a:srgbClr val="E3D3D4"/>
            </a:solidFill>
            <a:prstDash val="dash"/>
          </a:ln>
        </p:spPr>
        <p:txBody>
          <a:bodyPr/>
          <a:lstStyle/>
          <a:p>
            <a:endParaRPr lang="en-US"/>
          </a:p>
        </p:txBody>
      </p:sp>
      <p:sp>
        <p:nvSpPr>
          <p:cNvPr id="16" name="Shape 14"/>
          <p:cNvSpPr/>
          <p:nvPr/>
        </p:nvSpPr>
        <p:spPr>
          <a:xfrm>
            <a:off x="8289689" y="1508760"/>
            <a:ext cx="1116874" cy="384048"/>
          </a:xfrm>
          <a:prstGeom prst="rect">
            <a:avLst/>
          </a:prstGeom>
          <a:solidFill>
            <a:srgbClr val="EFE7E8"/>
          </a:solidFill>
          <a:ln/>
        </p:spPr>
        <p:txBody>
          <a:bodyPr/>
          <a:lstStyle/>
          <a:p>
            <a:endParaRPr lang="en-US"/>
          </a:p>
        </p:txBody>
      </p:sp>
      <p:sp>
        <p:nvSpPr>
          <p:cNvPr id="17" name="Text 15"/>
          <p:cNvSpPr txBox="1"/>
          <p:nvPr/>
        </p:nvSpPr>
        <p:spPr>
          <a:xfrm>
            <a:off x="8271401" y="1508760"/>
            <a:ext cx="1153450" cy="384048"/>
          </a:xfrm>
          <a:prstGeom prst="rect">
            <a:avLst/>
          </a:prstGeom>
          <a:noFill/>
          <a:ln/>
        </p:spPr>
        <p:txBody>
          <a:bodyPr wrap="square" lIns="0" tIns="0" rIns="0" bIns="0" rtlCol="0" anchor="ctr"/>
          <a:lstStyle/>
          <a:p>
            <a:pPr marL="0" indent="0" algn="ctr">
              <a:buNone/>
            </a:pPr>
            <a:r>
              <a:rPr lang="en-US" sz="1100" b="1" dirty="0">
                <a:solidFill>
                  <a:srgbClr val="4A4A4A"/>
                </a:solidFill>
                <a:latin typeface="Calibri" pitchFamily="34" charset="0"/>
                <a:ea typeface="Calibri" pitchFamily="34" charset="-122"/>
                <a:cs typeface="Calibri" pitchFamily="34" charset="-120"/>
              </a:rPr>
              <a:t>Spring 2028</a:t>
            </a:r>
            <a:endParaRPr lang="en-US" sz="1100" dirty="0"/>
          </a:p>
        </p:txBody>
      </p:sp>
      <p:sp>
        <p:nvSpPr>
          <p:cNvPr id="18" name="Shape 16"/>
          <p:cNvSpPr/>
          <p:nvPr/>
        </p:nvSpPr>
        <p:spPr>
          <a:xfrm>
            <a:off x="8271401" y="1965960"/>
            <a:ext cx="0" cy="3794760"/>
          </a:xfrm>
          <a:prstGeom prst="line">
            <a:avLst/>
          </a:prstGeom>
          <a:noFill/>
          <a:ln w="9525">
            <a:solidFill>
              <a:srgbClr val="E3D3D4"/>
            </a:solidFill>
            <a:prstDash val="dash"/>
          </a:ln>
        </p:spPr>
        <p:txBody>
          <a:bodyPr/>
          <a:lstStyle/>
          <a:p>
            <a:endParaRPr lang="en-US"/>
          </a:p>
        </p:txBody>
      </p:sp>
      <p:sp>
        <p:nvSpPr>
          <p:cNvPr id="19" name="Shape 17"/>
          <p:cNvSpPr/>
          <p:nvPr/>
        </p:nvSpPr>
        <p:spPr>
          <a:xfrm>
            <a:off x="9443139" y="1508760"/>
            <a:ext cx="1116874" cy="384048"/>
          </a:xfrm>
          <a:prstGeom prst="rect">
            <a:avLst/>
          </a:prstGeom>
          <a:solidFill>
            <a:srgbClr val="F7F3F3"/>
          </a:solidFill>
          <a:ln/>
        </p:spPr>
        <p:txBody>
          <a:bodyPr/>
          <a:lstStyle/>
          <a:p>
            <a:endParaRPr lang="en-US"/>
          </a:p>
        </p:txBody>
      </p:sp>
      <p:sp>
        <p:nvSpPr>
          <p:cNvPr id="20" name="Text 18"/>
          <p:cNvSpPr txBox="1"/>
          <p:nvPr/>
        </p:nvSpPr>
        <p:spPr>
          <a:xfrm>
            <a:off x="9424851" y="1508760"/>
            <a:ext cx="1153450" cy="384048"/>
          </a:xfrm>
          <a:prstGeom prst="rect">
            <a:avLst/>
          </a:prstGeom>
          <a:noFill/>
          <a:ln/>
        </p:spPr>
        <p:txBody>
          <a:bodyPr wrap="square" lIns="0" tIns="0" rIns="0" bIns="0" rtlCol="0" anchor="ctr"/>
          <a:lstStyle/>
          <a:p>
            <a:pPr marL="0" indent="0" algn="ctr">
              <a:buNone/>
            </a:pPr>
            <a:r>
              <a:rPr lang="en-US" sz="1100" b="1" dirty="0">
                <a:solidFill>
                  <a:srgbClr val="4A4A4A"/>
                </a:solidFill>
                <a:latin typeface="Calibri" pitchFamily="34" charset="0"/>
                <a:ea typeface="Calibri" pitchFamily="34" charset="-122"/>
                <a:cs typeface="Calibri" pitchFamily="34" charset="-120"/>
              </a:rPr>
              <a:t>Summer 2028</a:t>
            </a:r>
            <a:endParaRPr lang="en-US" sz="1100" dirty="0"/>
          </a:p>
        </p:txBody>
      </p:sp>
      <p:sp>
        <p:nvSpPr>
          <p:cNvPr id="21" name="Shape 19"/>
          <p:cNvSpPr/>
          <p:nvPr/>
        </p:nvSpPr>
        <p:spPr>
          <a:xfrm>
            <a:off x="9424851" y="1965960"/>
            <a:ext cx="0" cy="3794760"/>
          </a:xfrm>
          <a:prstGeom prst="line">
            <a:avLst/>
          </a:prstGeom>
          <a:noFill/>
          <a:ln w="9525">
            <a:solidFill>
              <a:srgbClr val="E3D3D4"/>
            </a:solidFill>
            <a:prstDash val="dash"/>
          </a:ln>
        </p:spPr>
        <p:txBody>
          <a:bodyPr/>
          <a:lstStyle/>
          <a:p>
            <a:endParaRPr lang="en-US"/>
          </a:p>
        </p:txBody>
      </p:sp>
      <p:sp>
        <p:nvSpPr>
          <p:cNvPr id="22" name="Shape 20"/>
          <p:cNvSpPr/>
          <p:nvPr/>
        </p:nvSpPr>
        <p:spPr>
          <a:xfrm>
            <a:off x="10596590" y="1508760"/>
            <a:ext cx="1116874" cy="384048"/>
          </a:xfrm>
          <a:prstGeom prst="rect">
            <a:avLst/>
          </a:prstGeom>
          <a:solidFill>
            <a:srgbClr val="EFE7E8"/>
          </a:solidFill>
          <a:ln/>
        </p:spPr>
        <p:txBody>
          <a:bodyPr/>
          <a:lstStyle/>
          <a:p>
            <a:endParaRPr lang="en-US"/>
          </a:p>
        </p:txBody>
      </p:sp>
      <p:sp>
        <p:nvSpPr>
          <p:cNvPr id="23" name="Text 21"/>
          <p:cNvSpPr txBox="1"/>
          <p:nvPr/>
        </p:nvSpPr>
        <p:spPr>
          <a:xfrm>
            <a:off x="10578302" y="1508760"/>
            <a:ext cx="1153450" cy="384048"/>
          </a:xfrm>
          <a:prstGeom prst="rect">
            <a:avLst/>
          </a:prstGeom>
          <a:noFill/>
          <a:ln/>
        </p:spPr>
        <p:txBody>
          <a:bodyPr wrap="square" lIns="0" tIns="0" rIns="0" bIns="0" rtlCol="0" anchor="ctr"/>
          <a:lstStyle/>
          <a:p>
            <a:pPr marL="0" indent="0" algn="ctr">
              <a:buNone/>
            </a:pPr>
            <a:r>
              <a:rPr lang="en-US" sz="1100" b="1" dirty="0">
                <a:solidFill>
                  <a:srgbClr val="4A4A4A"/>
                </a:solidFill>
                <a:latin typeface="Calibri" pitchFamily="34" charset="0"/>
                <a:ea typeface="Calibri" pitchFamily="34" charset="-122"/>
                <a:cs typeface="Calibri" pitchFamily="34" charset="-120"/>
              </a:rPr>
              <a:t>Fall–Winter 2028</a:t>
            </a:r>
            <a:endParaRPr lang="en-US" sz="1100" dirty="0"/>
          </a:p>
        </p:txBody>
      </p:sp>
      <p:sp>
        <p:nvSpPr>
          <p:cNvPr id="24" name="Shape 22"/>
          <p:cNvSpPr/>
          <p:nvPr/>
        </p:nvSpPr>
        <p:spPr>
          <a:xfrm>
            <a:off x="10578302" y="1965960"/>
            <a:ext cx="0" cy="3794760"/>
          </a:xfrm>
          <a:prstGeom prst="line">
            <a:avLst/>
          </a:prstGeom>
          <a:noFill/>
          <a:ln w="9525">
            <a:solidFill>
              <a:srgbClr val="E3D3D4"/>
            </a:solidFill>
            <a:prstDash val="dash"/>
          </a:ln>
        </p:spPr>
        <p:txBody>
          <a:bodyPr/>
          <a:lstStyle/>
          <a:p>
            <a:endParaRPr lang="en-US"/>
          </a:p>
        </p:txBody>
      </p:sp>
      <p:sp>
        <p:nvSpPr>
          <p:cNvPr id="25" name="Shape 23"/>
          <p:cNvSpPr/>
          <p:nvPr/>
        </p:nvSpPr>
        <p:spPr>
          <a:xfrm>
            <a:off x="548640" y="2194560"/>
            <a:ext cx="457200" cy="457200"/>
          </a:xfrm>
          <a:prstGeom prst="ellipse">
            <a:avLst/>
          </a:prstGeom>
          <a:solidFill>
            <a:srgbClr val="73000A"/>
          </a:solidFill>
          <a:ln/>
        </p:spPr>
        <p:txBody>
          <a:bodyPr/>
          <a:lstStyle/>
          <a:p>
            <a:endParaRPr lang="en-US"/>
          </a:p>
        </p:txBody>
      </p:sp>
      <p:sp>
        <p:nvSpPr>
          <p:cNvPr id="26" name="Text 24"/>
          <p:cNvSpPr txBox="1"/>
          <p:nvPr/>
        </p:nvSpPr>
        <p:spPr>
          <a:xfrm>
            <a:off x="548640" y="21945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7" name="Text 25"/>
          <p:cNvSpPr txBox="1"/>
          <p:nvPr/>
        </p:nvSpPr>
        <p:spPr>
          <a:xfrm>
            <a:off x="1143000" y="2121408"/>
            <a:ext cx="2423160" cy="329184"/>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Vertexing Update</a:t>
            </a:r>
            <a:endParaRPr lang="en-US" sz="1500" dirty="0"/>
          </a:p>
        </p:txBody>
      </p:sp>
      <p:sp>
        <p:nvSpPr>
          <p:cNvPr id="28" name="Text 26"/>
          <p:cNvSpPr txBox="1"/>
          <p:nvPr/>
        </p:nvSpPr>
        <p:spPr>
          <a:xfrm>
            <a:off x="1143000" y="2441448"/>
            <a:ext cx="2423160" cy="256032"/>
          </a:xfrm>
          <a:prstGeom prst="rect">
            <a:avLst/>
          </a:prstGeom>
          <a:noFill/>
          <a:ln/>
        </p:spPr>
        <p:txBody>
          <a:bodyPr wrap="square" lIns="0" tIns="0" rIns="0" bIns="0" rtlCol="0" anchor="ctr"/>
          <a:lstStyle/>
          <a:p>
            <a:pPr marL="0" indent="0">
              <a:buNone/>
            </a:pPr>
            <a:r>
              <a:rPr lang="en-US" sz="1100" i="1" dirty="0">
                <a:solidFill>
                  <a:srgbClr val="73000A"/>
                </a:solidFill>
                <a:latin typeface="Calibri" pitchFamily="34" charset="0"/>
                <a:ea typeface="Calibri" pitchFamily="34" charset="-122"/>
                <a:cs typeface="Calibri" pitchFamily="34" charset="-120"/>
              </a:rPr>
              <a:t>Goal 1</a:t>
            </a:r>
            <a:endParaRPr lang="en-US" sz="1100" dirty="0"/>
          </a:p>
        </p:txBody>
      </p:sp>
      <p:sp>
        <p:nvSpPr>
          <p:cNvPr id="29" name="Goal 1 bar"/>
          <p:cNvSpPr/>
          <p:nvPr/>
        </p:nvSpPr>
        <p:spPr>
          <a:xfrm>
            <a:off x="3712465" y="2194560"/>
            <a:ext cx="3405486" cy="502920"/>
          </a:xfrm>
          <a:prstGeom prst="roundRect">
            <a:avLst>
              <a:gd name="adj" fmla="val 21818"/>
            </a:avLst>
          </a:prstGeom>
          <a:solidFill>
            <a:srgbClr val="73000A"/>
          </a:solidFill>
          <a:ln/>
        </p:spPr>
        <p:txBody>
          <a:bodyPr/>
          <a:lstStyle/>
          <a:p>
            <a:endParaRPr lang="en-US"/>
          </a:p>
        </p:txBody>
      </p:sp>
      <p:sp>
        <p:nvSpPr>
          <p:cNvPr id="30" name="Text 28"/>
          <p:cNvSpPr txBox="1"/>
          <p:nvPr/>
        </p:nvSpPr>
        <p:spPr>
          <a:xfrm>
            <a:off x="3803905" y="2194560"/>
            <a:ext cx="292690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Develop improved </a:t>
            </a:r>
            <a:r>
              <a:rPr lang="en-US" sz="1200" b="1" dirty="0" err="1">
                <a:solidFill>
                  <a:srgbClr val="FFFFFF"/>
                </a:solidFill>
                <a:latin typeface="Calibri" pitchFamily="34" charset="0"/>
                <a:ea typeface="Calibri" pitchFamily="34" charset="-122"/>
                <a:cs typeface="Calibri" pitchFamily="34" charset="-120"/>
              </a:rPr>
              <a:t>vertexer</a:t>
            </a:r>
            <a:r>
              <a:rPr lang="en-US" sz="1200" b="1" dirty="0">
                <a:solidFill>
                  <a:srgbClr val="FFFFFF"/>
                </a:solidFill>
                <a:latin typeface="Calibri" pitchFamily="34" charset="0"/>
                <a:ea typeface="Calibri" pitchFamily="34" charset="-122"/>
                <a:cs typeface="Calibri" pitchFamily="34" charset="-120"/>
              </a:rPr>
              <a:t> and integrate into Mu2e Computing/Offline workflow</a:t>
            </a:r>
            <a:endParaRPr lang="en-US" sz="1200" dirty="0"/>
          </a:p>
        </p:txBody>
      </p:sp>
      <p:sp>
        <p:nvSpPr>
          <p:cNvPr id="31" name="Shape 29"/>
          <p:cNvSpPr/>
          <p:nvPr/>
        </p:nvSpPr>
        <p:spPr>
          <a:xfrm>
            <a:off x="548640" y="2944368"/>
            <a:ext cx="457200" cy="457200"/>
          </a:xfrm>
          <a:prstGeom prst="ellipse">
            <a:avLst/>
          </a:prstGeom>
          <a:solidFill>
            <a:srgbClr val="73000A"/>
          </a:solidFill>
          <a:ln/>
        </p:spPr>
        <p:txBody>
          <a:bodyPr/>
          <a:lstStyle/>
          <a:p>
            <a:endParaRPr lang="en-US"/>
          </a:p>
        </p:txBody>
      </p:sp>
      <p:sp>
        <p:nvSpPr>
          <p:cNvPr id="32" name="Text 30"/>
          <p:cNvSpPr txBox="1"/>
          <p:nvPr/>
        </p:nvSpPr>
        <p:spPr>
          <a:xfrm>
            <a:off x="548640" y="294436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3" name="Text 31"/>
          <p:cNvSpPr txBox="1"/>
          <p:nvPr/>
        </p:nvSpPr>
        <p:spPr>
          <a:xfrm>
            <a:off x="1143000" y="2871216"/>
            <a:ext cx="2423160" cy="329184"/>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Background Mixing</a:t>
            </a:r>
            <a:endParaRPr lang="en-US" sz="1500" dirty="0"/>
          </a:p>
        </p:txBody>
      </p:sp>
      <p:sp>
        <p:nvSpPr>
          <p:cNvPr id="34" name="Text 32"/>
          <p:cNvSpPr txBox="1"/>
          <p:nvPr/>
        </p:nvSpPr>
        <p:spPr>
          <a:xfrm>
            <a:off x="1143000" y="3191256"/>
            <a:ext cx="2423160" cy="256032"/>
          </a:xfrm>
          <a:prstGeom prst="rect">
            <a:avLst/>
          </a:prstGeom>
          <a:noFill/>
          <a:ln/>
        </p:spPr>
        <p:txBody>
          <a:bodyPr wrap="square" lIns="0" tIns="0" rIns="0" bIns="0" rtlCol="0" anchor="ctr"/>
          <a:lstStyle/>
          <a:p>
            <a:pPr marL="0" indent="0">
              <a:buNone/>
            </a:pPr>
            <a:r>
              <a:rPr lang="en-US" sz="1100" i="1" dirty="0">
                <a:solidFill>
                  <a:srgbClr val="73000A"/>
                </a:solidFill>
                <a:latin typeface="Calibri" pitchFamily="34" charset="0"/>
                <a:ea typeface="Calibri" pitchFamily="34" charset="-122"/>
                <a:cs typeface="Calibri" pitchFamily="34" charset="-120"/>
              </a:rPr>
              <a:t>Goal 2</a:t>
            </a:r>
            <a:endParaRPr lang="en-US" sz="1100" dirty="0"/>
          </a:p>
        </p:txBody>
      </p:sp>
      <p:sp>
        <p:nvSpPr>
          <p:cNvPr id="35" name="Goal 2 bar"/>
          <p:cNvSpPr/>
          <p:nvPr/>
        </p:nvSpPr>
        <p:spPr>
          <a:xfrm>
            <a:off x="4920778" y="2944368"/>
            <a:ext cx="4504073" cy="502920"/>
          </a:xfrm>
          <a:prstGeom prst="roundRect">
            <a:avLst>
              <a:gd name="adj" fmla="val 21818"/>
            </a:avLst>
          </a:prstGeom>
          <a:solidFill>
            <a:srgbClr val="73000A"/>
          </a:solidFill>
          <a:ln/>
        </p:spPr>
        <p:txBody>
          <a:bodyPr/>
          <a:lstStyle/>
          <a:p>
            <a:endParaRPr lang="en-US"/>
          </a:p>
        </p:txBody>
      </p:sp>
      <mc:AlternateContent xmlns:mc="http://schemas.openxmlformats.org/markup-compatibility/2006">
        <mc:Choice xmlns:a14="http://schemas.microsoft.com/office/drawing/2010/main" Requires="a14">
          <p:sp>
            <p:nvSpPr>
              <p:cNvPr id="36" name="Text 34"/>
              <p:cNvSpPr txBox="1"/>
              <p:nvPr/>
            </p:nvSpPr>
            <p:spPr>
              <a:xfrm>
                <a:off x="5012218" y="2944368"/>
                <a:ext cx="4321193"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cs typeface="Calibri" pitchFamily="34" charset="-120"/>
                  </a:rPr>
                  <a:t>Production team assisted mixing of relevant backgrounds for the </a:t>
                </a:r>
                <a14:m>
                  <m:oMath xmlns:m="http://schemas.openxmlformats.org/officeDocument/2006/math">
                    <m:sSup>
                      <m:sSupPr>
                        <m:ctrlPr>
                          <a:rPr lang="en-US" sz="1200" b="1" i="1" smtClean="0">
                            <a:solidFill>
                              <a:srgbClr val="FFFFFF"/>
                            </a:solidFill>
                            <a:latin typeface="Cambria Math" panose="02040503050406030204" pitchFamily="18" charset="0"/>
                            <a:cs typeface="Calibri" pitchFamily="34" charset="-120"/>
                          </a:rPr>
                        </m:ctrlPr>
                      </m:sSupPr>
                      <m:e>
                        <m:r>
                          <a:rPr lang="en-US" sz="1200" b="1" i="1" smtClean="0">
                            <a:solidFill>
                              <a:srgbClr val="FFFFFF"/>
                            </a:solidFill>
                            <a:latin typeface="Cambria Math" panose="02040503050406030204" pitchFamily="18" charset="0"/>
                            <a:ea typeface="Cambria Math" panose="02040503050406030204" pitchFamily="18" charset="0"/>
                            <a:cs typeface="Calibri" pitchFamily="34" charset="-120"/>
                          </a:rPr>
                          <m:t>𝝁</m:t>
                        </m:r>
                      </m:e>
                      <m:sup>
                        <m:r>
                          <a:rPr lang="en-US" sz="1200" b="1" i="1" smtClean="0">
                            <a:solidFill>
                              <a:srgbClr val="FFFFFF"/>
                            </a:solidFill>
                            <a:latin typeface="Cambria Math" panose="02040503050406030204" pitchFamily="18" charset="0"/>
                            <a:cs typeface="Calibri" pitchFamily="34" charset="-120"/>
                          </a:rPr>
                          <m:t>−</m:t>
                        </m:r>
                      </m:sup>
                    </m:sSup>
                    <m:sSup>
                      <m:sSupPr>
                        <m:ctrlPr>
                          <a:rPr lang="en-US" sz="1200" b="1" i="1" smtClean="0">
                            <a:solidFill>
                              <a:srgbClr val="FFFFFF"/>
                            </a:solidFill>
                            <a:latin typeface="Cambria Math" panose="02040503050406030204" pitchFamily="18" charset="0"/>
                            <a:cs typeface="Calibri" pitchFamily="34" charset="-120"/>
                          </a:rPr>
                        </m:ctrlPr>
                      </m:sSupPr>
                      <m:e>
                        <m:r>
                          <a:rPr lang="en-US" sz="1200" b="1" i="1" smtClean="0">
                            <a:solidFill>
                              <a:srgbClr val="FFFFFF"/>
                            </a:solidFill>
                            <a:latin typeface="Cambria Math" panose="02040503050406030204" pitchFamily="18" charset="0"/>
                            <a:cs typeface="Calibri" pitchFamily="34" charset="-120"/>
                          </a:rPr>
                          <m:t>𝒆</m:t>
                        </m:r>
                      </m:e>
                      <m:sup>
                        <m:r>
                          <a:rPr lang="en-US" sz="1200" b="1" i="1" smtClean="0">
                            <a:solidFill>
                              <a:srgbClr val="FFFFFF"/>
                            </a:solidFill>
                            <a:latin typeface="Cambria Math" panose="02040503050406030204" pitchFamily="18" charset="0"/>
                            <a:cs typeface="Calibri" pitchFamily="34" charset="-120"/>
                          </a:rPr>
                          <m:t>−</m:t>
                        </m:r>
                      </m:sup>
                    </m:sSup>
                    <m:r>
                      <a:rPr lang="en-US" sz="1200" b="1" i="1" smtClean="0">
                        <a:solidFill>
                          <a:srgbClr val="FFFFFF"/>
                        </a:solidFill>
                        <a:latin typeface="Cambria Math" panose="02040503050406030204" pitchFamily="18" charset="0"/>
                        <a:ea typeface="Cambria Math" panose="02040503050406030204" pitchFamily="18" charset="0"/>
                        <a:cs typeface="Calibri" pitchFamily="34" charset="-120"/>
                      </a:rPr>
                      <m:t>→</m:t>
                    </m:r>
                    <m:sSup>
                      <m:sSupPr>
                        <m:ctrlPr>
                          <a:rPr lang="en-US" sz="1200" b="1" i="1" smtClean="0">
                            <a:solidFill>
                              <a:srgbClr val="FFFFFF"/>
                            </a:solidFill>
                            <a:latin typeface="Cambria Math" panose="02040503050406030204" pitchFamily="18" charset="0"/>
                            <a:ea typeface="Cambria Math" panose="02040503050406030204" pitchFamily="18" charset="0"/>
                            <a:cs typeface="Calibri" pitchFamily="34" charset="-120"/>
                          </a:rPr>
                        </m:ctrlPr>
                      </m:sSupPr>
                      <m:e>
                        <m:r>
                          <a:rPr lang="en-US" sz="1200" b="1" i="1" smtClean="0">
                            <a:solidFill>
                              <a:srgbClr val="FFFFFF"/>
                            </a:solidFill>
                            <a:latin typeface="Cambria Math" panose="02040503050406030204" pitchFamily="18" charset="0"/>
                            <a:ea typeface="Cambria Math" panose="02040503050406030204" pitchFamily="18" charset="0"/>
                            <a:cs typeface="Calibri" pitchFamily="34" charset="-120"/>
                          </a:rPr>
                          <m:t>𝒆</m:t>
                        </m:r>
                      </m:e>
                      <m:sup>
                        <m:r>
                          <a:rPr lang="en-US" sz="1200" b="1" i="1" smtClean="0">
                            <a:solidFill>
                              <a:srgbClr val="FFFFFF"/>
                            </a:solidFill>
                            <a:latin typeface="Cambria Math" panose="02040503050406030204" pitchFamily="18" charset="0"/>
                            <a:ea typeface="Cambria Math" panose="02040503050406030204" pitchFamily="18" charset="0"/>
                            <a:cs typeface="Calibri" pitchFamily="34" charset="-120"/>
                          </a:rPr>
                          <m:t>−</m:t>
                        </m:r>
                      </m:sup>
                    </m:sSup>
                    <m:sSup>
                      <m:sSupPr>
                        <m:ctrlPr>
                          <a:rPr lang="en-US" sz="1200" b="1" i="1" smtClean="0">
                            <a:solidFill>
                              <a:srgbClr val="FFFFFF"/>
                            </a:solidFill>
                            <a:latin typeface="Cambria Math" panose="02040503050406030204" pitchFamily="18" charset="0"/>
                            <a:ea typeface="Cambria Math" panose="02040503050406030204" pitchFamily="18" charset="0"/>
                            <a:cs typeface="Calibri" pitchFamily="34" charset="-120"/>
                          </a:rPr>
                        </m:ctrlPr>
                      </m:sSupPr>
                      <m:e>
                        <m:r>
                          <a:rPr lang="en-US" sz="1200" b="1" i="1" smtClean="0">
                            <a:solidFill>
                              <a:srgbClr val="FFFFFF"/>
                            </a:solidFill>
                            <a:latin typeface="Cambria Math" panose="02040503050406030204" pitchFamily="18" charset="0"/>
                            <a:ea typeface="Cambria Math" panose="02040503050406030204" pitchFamily="18" charset="0"/>
                            <a:cs typeface="Calibri" pitchFamily="34" charset="-120"/>
                          </a:rPr>
                          <m:t>𝒆</m:t>
                        </m:r>
                      </m:e>
                      <m:sup>
                        <m:r>
                          <a:rPr lang="en-US" sz="1200" b="1" i="1" smtClean="0">
                            <a:solidFill>
                              <a:srgbClr val="FFFFFF"/>
                            </a:solidFill>
                            <a:latin typeface="Cambria Math" panose="02040503050406030204" pitchFamily="18" charset="0"/>
                            <a:ea typeface="Cambria Math" panose="02040503050406030204" pitchFamily="18" charset="0"/>
                            <a:cs typeface="Calibri" pitchFamily="34" charset="-120"/>
                          </a:rPr>
                          <m:t>−</m:t>
                        </m:r>
                      </m:sup>
                    </m:sSup>
                  </m:oMath>
                </a14:m>
                <a:r>
                  <a:rPr lang="en-US" sz="1200" dirty="0">
                    <a:solidFill>
                      <a:schemeClr val="bg1"/>
                    </a:solidFill>
                  </a:rPr>
                  <a:t> </a:t>
                </a:r>
                <a:r>
                  <a:rPr lang="en-US" sz="1200" b="1" dirty="0">
                    <a:solidFill>
                      <a:schemeClr val="bg1"/>
                    </a:solidFill>
                  </a:rPr>
                  <a:t>process with signal</a:t>
                </a:r>
                <a:endParaRPr lang="en-US" sz="1200" dirty="0"/>
              </a:p>
            </p:txBody>
          </p:sp>
        </mc:Choice>
        <mc:Fallback>
          <p:sp>
            <p:nvSpPr>
              <p:cNvPr id="36" name="Text 34"/>
              <p:cNvSpPr txBox="1">
                <a:spLocks noRot="1" noChangeAspect="1" noMove="1" noResize="1" noEditPoints="1" noAdjustHandles="1" noChangeArrowheads="1" noChangeShapeType="1" noTextEdit="1"/>
              </p:cNvSpPr>
              <p:nvPr/>
            </p:nvSpPr>
            <p:spPr>
              <a:xfrm>
                <a:off x="5012218" y="2944368"/>
                <a:ext cx="4321193" cy="502920"/>
              </a:xfrm>
              <a:prstGeom prst="rect">
                <a:avLst/>
              </a:prstGeom>
              <a:blipFill>
                <a:blip r:embed="rId3"/>
                <a:stretch>
                  <a:fillRect r="-293" b="-4878"/>
                </a:stretch>
              </a:blipFill>
              <a:ln/>
            </p:spPr>
            <p:txBody>
              <a:bodyPr/>
              <a:lstStyle/>
              <a:p>
                <a:r>
                  <a:rPr lang="en-US">
                    <a:noFill/>
                  </a:rPr>
                  <a:t> </a:t>
                </a:r>
              </a:p>
            </p:txBody>
          </p:sp>
        </mc:Fallback>
      </mc:AlternateContent>
      <p:sp>
        <p:nvSpPr>
          <p:cNvPr id="37" name="Shape 35"/>
          <p:cNvSpPr/>
          <p:nvPr/>
        </p:nvSpPr>
        <p:spPr>
          <a:xfrm>
            <a:off x="548640" y="3694176"/>
            <a:ext cx="457200" cy="457200"/>
          </a:xfrm>
          <a:prstGeom prst="ellipse">
            <a:avLst/>
          </a:prstGeom>
          <a:solidFill>
            <a:srgbClr val="73000A"/>
          </a:solidFill>
          <a:ln/>
        </p:spPr>
        <p:txBody>
          <a:bodyPr/>
          <a:lstStyle/>
          <a:p>
            <a:endParaRPr lang="en-US"/>
          </a:p>
        </p:txBody>
      </p:sp>
      <p:sp>
        <p:nvSpPr>
          <p:cNvPr id="38" name="Text 36"/>
          <p:cNvSpPr txBox="1"/>
          <p:nvPr/>
        </p:nvSpPr>
        <p:spPr>
          <a:xfrm>
            <a:off x="548640" y="3694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9" name="Text 37"/>
          <p:cNvSpPr txBox="1"/>
          <p:nvPr/>
        </p:nvSpPr>
        <p:spPr>
          <a:xfrm>
            <a:off x="1143000" y="3621024"/>
            <a:ext cx="2423160" cy="329184"/>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Theory-Weighted Generator</a:t>
            </a:r>
            <a:endParaRPr lang="en-US" sz="1500" dirty="0"/>
          </a:p>
        </p:txBody>
      </p:sp>
      <p:sp>
        <p:nvSpPr>
          <p:cNvPr id="40" name="Text 38"/>
          <p:cNvSpPr txBox="1"/>
          <p:nvPr/>
        </p:nvSpPr>
        <p:spPr>
          <a:xfrm>
            <a:off x="1143000" y="3941064"/>
            <a:ext cx="2423160" cy="256032"/>
          </a:xfrm>
          <a:prstGeom prst="rect">
            <a:avLst/>
          </a:prstGeom>
          <a:noFill/>
          <a:ln/>
        </p:spPr>
        <p:txBody>
          <a:bodyPr wrap="square" lIns="0" tIns="0" rIns="0" bIns="0" rtlCol="0" anchor="ctr"/>
          <a:lstStyle/>
          <a:p>
            <a:pPr marL="0" indent="0">
              <a:buNone/>
            </a:pPr>
            <a:r>
              <a:rPr lang="en-US" sz="1100" i="1" dirty="0">
                <a:solidFill>
                  <a:srgbClr val="73000A"/>
                </a:solidFill>
                <a:latin typeface="Calibri" pitchFamily="34" charset="0"/>
                <a:ea typeface="Calibri" pitchFamily="34" charset="-122"/>
                <a:cs typeface="Calibri" pitchFamily="34" charset="-120"/>
              </a:rPr>
              <a:t>Goal 3</a:t>
            </a:r>
            <a:endParaRPr lang="en-US" sz="1100" dirty="0"/>
          </a:p>
        </p:txBody>
      </p:sp>
      <p:sp>
        <p:nvSpPr>
          <p:cNvPr id="41" name="Goal 3 bar"/>
          <p:cNvSpPr/>
          <p:nvPr/>
        </p:nvSpPr>
        <p:spPr>
          <a:xfrm>
            <a:off x="6924282" y="3698748"/>
            <a:ext cx="2500569" cy="502920"/>
          </a:xfrm>
          <a:prstGeom prst="roundRect">
            <a:avLst>
              <a:gd name="adj" fmla="val 21818"/>
            </a:avLst>
          </a:prstGeom>
          <a:solidFill>
            <a:srgbClr val="73000A"/>
          </a:solidFill>
          <a:ln/>
        </p:spPr>
        <p:txBody>
          <a:bodyPr/>
          <a:lstStyle/>
          <a:p>
            <a:endParaRPr lang="en-US"/>
          </a:p>
        </p:txBody>
      </p:sp>
      <p:sp>
        <p:nvSpPr>
          <p:cNvPr id="42" name="Text 40"/>
          <p:cNvSpPr txBox="1"/>
          <p:nvPr/>
        </p:nvSpPr>
        <p:spPr>
          <a:xfrm>
            <a:off x="7015722" y="3698748"/>
            <a:ext cx="2292436"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Implement differential templates calculated by Sudheer Muhammad</a:t>
            </a:r>
            <a:endParaRPr lang="en-US" sz="1200" dirty="0"/>
          </a:p>
        </p:txBody>
      </p:sp>
      <p:sp>
        <p:nvSpPr>
          <p:cNvPr id="43" name="Shape 41"/>
          <p:cNvSpPr/>
          <p:nvPr/>
        </p:nvSpPr>
        <p:spPr>
          <a:xfrm>
            <a:off x="548640" y="4443984"/>
            <a:ext cx="457200" cy="457200"/>
          </a:xfrm>
          <a:prstGeom prst="ellipse">
            <a:avLst/>
          </a:prstGeom>
          <a:solidFill>
            <a:srgbClr val="73000A"/>
          </a:solidFill>
          <a:ln/>
        </p:spPr>
        <p:txBody>
          <a:bodyPr/>
          <a:lstStyle/>
          <a:p>
            <a:endParaRPr lang="en-US"/>
          </a:p>
        </p:txBody>
      </p:sp>
      <p:sp>
        <p:nvSpPr>
          <p:cNvPr id="44" name="Text 42"/>
          <p:cNvSpPr txBox="1"/>
          <p:nvPr/>
        </p:nvSpPr>
        <p:spPr>
          <a:xfrm>
            <a:off x="548640" y="44439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5" name="Text 43"/>
          <p:cNvSpPr txBox="1"/>
          <p:nvPr/>
        </p:nvSpPr>
        <p:spPr>
          <a:xfrm>
            <a:off x="1143000" y="4370832"/>
            <a:ext cx="2423160" cy="329184"/>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Sensitivity Study</a:t>
            </a:r>
            <a:endParaRPr lang="en-US" sz="1500" dirty="0"/>
          </a:p>
        </p:txBody>
      </p:sp>
      <p:sp>
        <p:nvSpPr>
          <p:cNvPr id="46" name="Text 44"/>
          <p:cNvSpPr txBox="1"/>
          <p:nvPr/>
        </p:nvSpPr>
        <p:spPr>
          <a:xfrm>
            <a:off x="1143000" y="4690872"/>
            <a:ext cx="2423160" cy="256032"/>
          </a:xfrm>
          <a:prstGeom prst="rect">
            <a:avLst/>
          </a:prstGeom>
          <a:noFill/>
          <a:ln/>
        </p:spPr>
        <p:txBody>
          <a:bodyPr wrap="square" lIns="0" tIns="0" rIns="0" bIns="0" rtlCol="0" anchor="ctr"/>
          <a:lstStyle/>
          <a:p>
            <a:pPr marL="0" indent="0">
              <a:buNone/>
            </a:pPr>
            <a:r>
              <a:rPr lang="en-US" sz="1100" i="1" dirty="0">
                <a:solidFill>
                  <a:srgbClr val="73000A"/>
                </a:solidFill>
                <a:latin typeface="Calibri" pitchFamily="34" charset="0"/>
                <a:ea typeface="Calibri" pitchFamily="34" charset="-122"/>
                <a:cs typeface="Calibri" pitchFamily="34" charset="-120"/>
              </a:rPr>
              <a:t>Goal 4</a:t>
            </a:r>
            <a:endParaRPr lang="en-US" sz="1100" dirty="0"/>
          </a:p>
        </p:txBody>
      </p:sp>
      <p:sp>
        <p:nvSpPr>
          <p:cNvPr id="47" name="Goal 4 bar"/>
          <p:cNvSpPr/>
          <p:nvPr/>
        </p:nvSpPr>
        <p:spPr>
          <a:xfrm>
            <a:off x="9479715" y="4443984"/>
            <a:ext cx="2197173" cy="502920"/>
          </a:xfrm>
          <a:prstGeom prst="roundRect">
            <a:avLst>
              <a:gd name="adj" fmla="val 21818"/>
            </a:avLst>
          </a:prstGeom>
          <a:solidFill>
            <a:srgbClr val="73000A"/>
          </a:solidFill>
          <a:ln/>
        </p:spPr>
        <p:txBody>
          <a:bodyPr/>
          <a:lstStyle/>
          <a:p>
            <a:endParaRPr lang="en-US"/>
          </a:p>
        </p:txBody>
      </p:sp>
      <p:sp>
        <p:nvSpPr>
          <p:cNvPr id="48" name="Text 46"/>
          <p:cNvSpPr txBox="1"/>
          <p:nvPr/>
        </p:nvSpPr>
        <p:spPr>
          <a:xfrm>
            <a:off x="9479716" y="4443984"/>
            <a:ext cx="2197172"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cs typeface="Calibri" pitchFamily="34" charset="-120"/>
              </a:rPr>
              <a:t>Full statistical analysis and exp. requirements predicted</a:t>
            </a:r>
            <a:endParaRPr lang="en-US" sz="1200" dirty="0"/>
          </a:p>
        </p:txBody>
      </p:sp>
      <p:sp>
        <p:nvSpPr>
          <p:cNvPr id="49" name="Shape 47"/>
          <p:cNvSpPr/>
          <p:nvPr/>
        </p:nvSpPr>
        <p:spPr>
          <a:xfrm>
            <a:off x="548640" y="5193792"/>
            <a:ext cx="457200" cy="457200"/>
          </a:xfrm>
          <a:prstGeom prst="ellipse">
            <a:avLst/>
          </a:prstGeom>
          <a:solidFill>
            <a:srgbClr val="FFFFFF"/>
          </a:solidFill>
          <a:ln w="19050">
            <a:solidFill>
              <a:srgbClr val="73000A"/>
            </a:solidFill>
            <a:prstDash val="solid"/>
          </a:ln>
        </p:spPr>
        <p:txBody>
          <a:bodyPr/>
          <a:lstStyle/>
          <a:p>
            <a:endParaRPr lang="en-US"/>
          </a:p>
        </p:txBody>
      </p:sp>
      <p:sp>
        <p:nvSpPr>
          <p:cNvPr id="50" name="Text 48"/>
          <p:cNvSpPr txBox="1"/>
          <p:nvPr/>
        </p:nvSpPr>
        <p:spPr>
          <a:xfrm>
            <a:off x="548640" y="5193792"/>
            <a:ext cx="457200" cy="457200"/>
          </a:xfrm>
          <a:prstGeom prst="rect">
            <a:avLst/>
          </a:prstGeom>
          <a:noFill/>
          <a:ln/>
        </p:spPr>
        <p:txBody>
          <a:bodyPr wrap="square" lIns="0" tIns="0" rIns="0" bIns="0" rtlCol="0" anchor="ctr"/>
          <a:lstStyle/>
          <a:p>
            <a:pPr marL="0" indent="0" algn="ctr">
              <a:buNone/>
            </a:pPr>
            <a:r>
              <a:rPr lang="en-US" sz="1500" b="1" dirty="0">
                <a:solidFill>
                  <a:srgbClr val="73000A"/>
                </a:solidFill>
                <a:latin typeface="Calibri" pitchFamily="34" charset="0"/>
                <a:ea typeface="Calibri" pitchFamily="34" charset="-122"/>
                <a:cs typeface="Calibri" pitchFamily="34" charset="-120"/>
              </a:rPr>
              <a:t>D</a:t>
            </a:r>
            <a:endParaRPr lang="en-US" sz="1500" dirty="0"/>
          </a:p>
        </p:txBody>
      </p:sp>
      <p:sp>
        <p:nvSpPr>
          <p:cNvPr id="51" name="Text 49"/>
          <p:cNvSpPr txBox="1"/>
          <p:nvPr/>
        </p:nvSpPr>
        <p:spPr>
          <a:xfrm>
            <a:off x="1143000" y="5120640"/>
            <a:ext cx="2423160" cy="329184"/>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Dissertation</a:t>
            </a:r>
            <a:endParaRPr lang="en-US" sz="1500" dirty="0"/>
          </a:p>
        </p:txBody>
      </p:sp>
      <p:sp>
        <p:nvSpPr>
          <p:cNvPr id="52" name="Text 50"/>
          <p:cNvSpPr txBox="1"/>
          <p:nvPr/>
        </p:nvSpPr>
        <p:spPr>
          <a:xfrm>
            <a:off x="1143000" y="5440680"/>
            <a:ext cx="2423160" cy="256032"/>
          </a:xfrm>
          <a:prstGeom prst="rect">
            <a:avLst/>
          </a:prstGeom>
          <a:noFill/>
          <a:ln/>
        </p:spPr>
        <p:txBody>
          <a:bodyPr wrap="square" lIns="0" tIns="0" rIns="0" bIns="0" rtlCol="0" anchor="ctr"/>
          <a:lstStyle/>
          <a:p>
            <a:pPr marL="0" indent="0">
              <a:buNone/>
            </a:pPr>
            <a:r>
              <a:rPr lang="en-US" sz="1100" i="1" dirty="0">
                <a:solidFill>
                  <a:srgbClr val="73000A"/>
                </a:solidFill>
                <a:latin typeface="Calibri" pitchFamily="34" charset="0"/>
                <a:ea typeface="Calibri" pitchFamily="34" charset="-122"/>
                <a:cs typeface="Calibri" pitchFamily="34" charset="-120"/>
              </a:rPr>
              <a:t>Final goal</a:t>
            </a:r>
            <a:endParaRPr lang="en-US" sz="1100" dirty="0"/>
          </a:p>
        </p:txBody>
      </p:sp>
      <p:sp>
        <p:nvSpPr>
          <p:cNvPr id="53" name="Shape 51"/>
          <p:cNvSpPr/>
          <p:nvPr/>
        </p:nvSpPr>
        <p:spPr>
          <a:xfrm>
            <a:off x="10633166" y="5193792"/>
            <a:ext cx="1043722" cy="502920"/>
          </a:xfrm>
          <a:prstGeom prst="roundRect">
            <a:avLst>
              <a:gd name="adj" fmla="val 21818"/>
            </a:avLst>
          </a:prstGeom>
          <a:solidFill>
            <a:srgbClr val="FFFFFF"/>
          </a:solidFill>
          <a:ln w="19050">
            <a:solidFill>
              <a:srgbClr val="73000A"/>
            </a:solidFill>
            <a:prstDash val="solid"/>
          </a:ln>
        </p:spPr>
        <p:txBody>
          <a:bodyPr/>
          <a:lstStyle/>
          <a:p>
            <a:endParaRPr lang="en-US"/>
          </a:p>
        </p:txBody>
      </p:sp>
      <p:sp>
        <p:nvSpPr>
          <p:cNvPr id="54" name="Text 52"/>
          <p:cNvSpPr txBox="1"/>
          <p:nvPr/>
        </p:nvSpPr>
        <p:spPr>
          <a:xfrm>
            <a:off x="10678886" y="5193792"/>
            <a:ext cx="952282" cy="502920"/>
          </a:xfrm>
          <a:prstGeom prst="rect">
            <a:avLst/>
          </a:prstGeom>
          <a:noFill/>
          <a:ln/>
        </p:spPr>
        <p:txBody>
          <a:bodyPr wrap="square" lIns="0" tIns="0" rIns="0" bIns="0" rtlCol="0" anchor="ctr"/>
          <a:lstStyle/>
          <a:p>
            <a:pPr marL="0" indent="0" algn="ctr">
              <a:buNone/>
            </a:pPr>
            <a:r>
              <a:rPr lang="en-US" sz="1200" b="1" dirty="0">
                <a:solidFill>
                  <a:srgbClr val="73000A"/>
                </a:solidFill>
                <a:latin typeface="Calibri" pitchFamily="34" charset="0"/>
                <a:ea typeface="Calibri" pitchFamily="34" charset="-122"/>
                <a:cs typeface="Calibri" pitchFamily="34" charset="-120"/>
              </a:rPr>
              <a:t>Write and defend</a:t>
            </a:r>
            <a:endParaRPr lang="en-US" sz="1200" dirty="0"/>
          </a:p>
        </p:txBody>
      </p:sp>
      <p:sp>
        <p:nvSpPr>
          <p:cNvPr id="55" name="Shape 53"/>
          <p:cNvSpPr/>
          <p:nvPr/>
        </p:nvSpPr>
        <p:spPr>
          <a:xfrm>
            <a:off x="8951976" y="6510528"/>
            <a:ext cx="201168" cy="164592"/>
          </a:xfrm>
          <a:prstGeom prst="triangle">
            <a:avLst/>
          </a:prstGeom>
          <a:solidFill>
            <a:srgbClr val="4A4A4A"/>
          </a:solidFill>
          <a:ln/>
        </p:spPr>
        <p:txBody>
          <a:bodyPr/>
          <a:lstStyle/>
          <a:p>
            <a:endParaRPr lang="en-US"/>
          </a:p>
        </p:txBody>
      </p:sp>
      <p:sp>
        <p:nvSpPr>
          <p:cNvPr id="56" name="Text 54"/>
          <p:cNvSpPr txBox="1"/>
          <p:nvPr/>
        </p:nvSpPr>
        <p:spPr>
          <a:xfrm>
            <a:off x="9208008" y="6464808"/>
            <a:ext cx="2377440" cy="256032"/>
          </a:xfrm>
          <a:prstGeom prst="rect">
            <a:avLst/>
          </a:prstGeom>
          <a:noFill/>
          <a:ln/>
        </p:spPr>
        <p:txBody>
          <a:bodyPr wrap="square" lIns="0" tIns="0" rIns="0" bIns="0" rtlCol="0" anchor="ctr"/>
          <a:lstStyle/>
          <a:p>
            <a:pPr marL="0" indent="0">
              <a:buNone/>
            </a:pPr>
            <a:r>
              <a:rPr lang="en-US" sz="1100" i="1" dirty="0">
                <a:solidFill>
                  <a:srgbClr val="4A4A4A"/>
                </a:solidFill>
                <a:latin typeface="Calibri" pitchFamily="34" charset="0"/>
                <a:ea typeface="Calibri" pitchFamily="34" charset="-122"/>
                <a:cs typeface="Calibri" pitchFamily="34" charset="-120"/>
              </a:rPr>
              <a:t>Proposal defense, Oct 2026</a:t>
            </a:r>
            <a:endParaRPr lang="en-US" sz="1100" dirty="0"/>
          </a:p>
        </p:txBody>
      </p:sp>
      <p:sp>
        <p:nvSpPr>
          <p:cNvPr id="57" name="Shape 55"/>
          <p:cNvSpPr/>
          <p:nvPr/>
        </p:nvSpPr>
        <p:spPr>
          <a:xfrm>
            <a:off x="11420856" y="5852160"/>
            <a:ext cx="201168" cy="164592"/>
          </a:xfrm>
          <a:prstGeom prst="triangle">
            <a:avLst/>
          </a:prstGeom>
          <a:solidFill>
            <a:srgbClr val="73000A"/>
          </a:solidFill>
          <a:ln/>
        </p:spPr>
        <p:txBody>
          <a:bodyPr/>
          <a:lstStyle/>
          <a:p>
            <a:endParaRPr lang="en-US"/>
          </a:p>
        </p:txBody>
      </p:sp>
      <p:sp>
        <p:nvSpPr>
          <p:cNvPr id="58" name="Text 56"/>
          <p:cNvSpPr txBox="1"/>
          <p:nvPr/>
        </p:nvSpPr>
        <p:spPr>
          <a:xfrm>
            <a:off x="9079992" y="5806440"/>
            <a:ext cx="2286000" cy="256032"/>
          </a:xfrm>
          <a:prstGeom prst="rect">
            <a:avLst/>
          </a:prstGeom>
          <a:noFill/>
          <a:ln/>
        </p:spPr>
        <p:txBody>
          <a:bodyPr wrap="square" lIns="0" tIns="0" rIns="0" bIns="0" rtlCol="0" anchor="ctr"/>
          <a:lstStyle/>
          <a:p>
            <a:pPr marL="0" indent="0" algn="r">
              <a:buNone/>
            </a:pPr>
            <a:r>
              <a:rPr lang="en-US" sz="1100" i="1" dirty="0">
                <a:solidFill>
                  <a:srgbClr val="73000A"/>
                </a:solidFill>
                <a:latin typeface="Calibri" pitchFamily="34" charset="0"/>
                <a:ea typeface="Calibri" pitchFamily="34" charset="-122"/>
                <a:cs typeface="Calibri" pitchFamily="34" charset="-120"/>
              </a:rPr>
              <a:t>Dissertation defense</a:t>
            </a:r>
            <a:endParaRPr lang="en-US" sz="1100" dirty="0"/>
          </a:p>
        </p:txBody>
      </p:sp>
      <p:sp>
        <p:nvSpPr>
          <p:cNvPr id="59" name="Text 57"/>
          <p:cNvSpPr txBox="1"/>
          <p:nvPr/>
        </p:nvSpPr>
        <p:spPr>
          <a:xfrm>
            <a:off x="548640" y="6053328"/>
            <a:ext cx="11155680" cy="274320"/>
          </a:xfrm>
          <a:prstGeom prst="rect">
            <a:avLst/>
          </a:prstGeom>
          <a:noFill/>
          <a:ln/>
        </p:spPr>
        <p:txBody>
          <a:bodyPr wrap="square" lIns="0" tIns="0" rIns="0" bIns="0" rtlCol="0" anchor="ctr"/>
          <a:lstStyle/>
          <a:p>
            <a:pPr marL="0" indent="0">
              <a:buNone/>
            </a:pPr>
            <a:r>
              <a:rPr lang="en-US" sz="1200" i="1" dirty="0">
                <a:solidFill>
                  <a:srgbClr val="4A4A4A"/>
                </a:solidFill>
                <a:latin typeface="Calibri" pitchFamily="34" charset="0"/>
                <a:ea typeface="Calibri" pitchFamily="34" charset="-122"/>
                <a:cs typeface="Calibri" pitchFamily="34" charset="-120"/>
              </a:rPr>
              <a:t>Goal 3 feeds updated signal into the Goal 2 samples. All goals converge in Goal 4. Final deliverables: dissertation, short paper, and internal Mu2e note.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47472"/>
            <a:ext cx="512064" cy="512064"/>
          </a:xfrm>
          <a:prstGeom prst="ellipse">
            <a:avLst/>
          </a:prstGeom>
          <a:solidFill>
            <a:srgbClr val="73000A"/>
          </a:solidFill>
          <a:ln/>
        </p:spPr>
        <p:txBody>
          <a:bodyPr/>
          <a:lstStyle/>
          <a:p>
            <a:endParaRPr lang="en-US"/>
          </a:p>
        </p:txBody>
      </p:sp>
      <p:sp>
        <p:nvSpPr>
          <p:cNvPr id="3" name="Text 1"/>
          <p:cNvSpPr txBox="1"/>
          <p:nvPr/>
        </p:nvSpPr>
        <p:spPr>
          <a:xfrm>
            <a:off x="548640" y="34747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4" name="Text 2"/>
          <p:cNvSpPr txBox="1"/>
          <p:nvPr/>
        </p:nvSpPr>
        <p:spPr>
          <a:xfrm>
            <a:off x="1234440" y="320040"/>
            <a:ext cx="10424160" cy="566928"/>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Helical Common-Vertex Reconstruction</a:t>
            </a:r>
            <a:endParaRPr lang="en-US" sz="2800" dirty="0"/>
          </a:p>
        </p:txBody>
      </p:sp>
      <p:sp>
        <p:nvSpPr>
          <p:cNvPr id="5" name="Text 3"/>
          <p:cNvSpPr txBox="1"/>
          <p:nvPr/>
        </p:nvSpPr>
        <p:spPr>
          <a:xfrm>
            <a:off x="1234440" y="896112"/>
            <a:ext cx="1042416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Goal 1 of 4  |  Fall 2026 to Summer 2027</a:t>
            </a:r>
            <a:endParaRPr lang="en-US" sz="1600" dirty="0"/>
          </a:p>
        </p:txBody>
      </p:sp>
      <p:sp>
        <p:nvSpPr>
          <p:cNvPr id="6" name="Shape 4"/>
          <p:cNvSpPr/>
          <p:nvPr/>
        </p:nvSpPr>
        <p:spPr>
          <a:xfrm>
            <a:off x="548640" y="1463040"/>
            <a:ext cx="5120640" cy="777240"/>
          </a:xfrm>
          <a:prstGeom prst="roundRect">
            <a:avLst>
              <a:gd name="adj" fmla="val 11765"/>
            </a:avLst>
          </a:prstGeom>
          <a:solidFill>
            <a:srgbClr val="F2F2F2"/>
          </a:solidFill>
          <a:ln/>
        </p:spPr>
        <p:txBody>
          <a:bodyPr/>
          <a:lstStyle/>
          <a:p>
            <a:endParaRPr lang="en-US"/>
          </a:p>
        </p:txBody>
      </p:sp>
      <p:sp>
        <p:nvSpPr>
          <p:cNvPr id="7" name="Text 5"/>
          <p:cNvSpPr txBox="1"/>
          <p:nvPr/>
        </p:nvSpPr>
        <p:spPr>
          <a:xfrm>
            <a:off x="731520" y="1554480"/>
            <a:ext cx="1371600" cy="228600"/>
          </a:xfrm>
          <a:prstGeom prst="rect">
            <a:avLst/>
          </a:prstGeom>
          <a:noFill/>
          <a:ln/>
        </p:spPr>
        <p:txBody>
          <a:bodyPr wrap="square" lIns="0" tIns="0" rIns="0" bIns="0" rtlCol="0" anchor="ctr"/>
          <a:lstStyle/>
          <a:p>
            <a:pPr marL="0" indent="0">
              <a:buNone/>
            </a:pPr>
            <a:r>
              <a:rPr lang="en-US" sz="1100" b="1" kern="0" spc="200" dirty="0">
                <a:solidFill>
                  <a:srgbClr val="6A6A6A"/>
                </a:solidFill>
                <a:latin typeface="Calibri" pitchFamily="34" charset="0"/>
                <a:ea typeface="Calibri" pitchFamily="34" charset="-122"/>
                <a:cs typeface="Calibri" pitchFamily="34" charset="-120"/>
              </a:rPr>
              <a:t>NOW</a:t>
            </a:r>
            <a:endParaRPr lang="en-US" sz="1100" dirty="0"/>
          </a:p>
        </p:txBody>
      </p:sp>
      <p:sp>
        <p:nvSpPr>
          <p:cNvPr id="8" name="Text 6"/>
          <p:cNvSpPr txBox="1"/>
          <p:nvPr/>
        </p:nvSpPr>
        <p:spPr>
          <a:xfrm>
            <a:off x="731520" y="1792224"/>
            <a:ext cx="4800600" cy="384048"/>
          </a:xfrm>
          <a:prstGeom prst="rect">
            <a:avLst/>
          </a:prstGeom>
          <a:noFill/>
          <a:ln/>
        </p:spPr>
        <p:txBody>
          <a:bodyPr wrap="square" lIns="0" tIns="0" rIns="0" bIns="0" rtlCol="0" anchor="t"/>
          <a:lstStyle/>
          <a:p>
            <a:pPr marL="0" indent="0">
              <a:buNone/>
            </a:pPr>
            <a:r>
              <a:rPr lang="en-US" sz="1300" dirty="0">
                <a:solidFill>
                  <a:srgbClr val="4A4A4A"/>
                </a:solidFill>
                <a:latin typeface="Calibri" pitchFamily="34" charset="0"/>
                <a:ea typeface="Calibri" pitchFamily="34" charset="-122"/>
                <a:cs typeface="Calibri" pitchFamily="34" charset="-120"/>
              </a:rPr>
              <a:t>Straight-line closest approach and midpoint estimate</a:t>
            </a:r>
            <a:endParaRPr lang="en-US" sz="1300" dirty="0"/>
          </a:p>
        </p:txBody>
      </p:sp>
      <p:sp>
        <p:nvSpPr>
          <p:cNvPr id="9" name="Shape 7"/>
          <p:cNvSpPr/>
          <p:nvPr/>
        </p:nvSpPr>
        <p:spPr>
          <a:xfrm>
            <a:off x="5779008" y="1691640"/>
            <a:ext cx="457200" cy="320040"/>
          </a:xfrm>
          <a:prstGeom prst="rightArrow">
            <a:avLst/>
          </a:prstGeom>
          <a:solidFill>
            <a:srgbClr val="73000A"/>
          </a:solidFill>
          <a:ln/>
        </p:spPr>
        <p:txBody>
          <a:bodyPr/>
          <a:lstStyle/>
          <a:p>
            <a:endParaRPr lang="en-US"/>
          </a:p>
        </p:txBody>
      </p:sp>
      <p:sp>
        <p:nvSpPr>
          <p:cNvPr id="10" name="Shape 8"/>
          <p:cNvSpPr/>
          <p:nvPr/>
        </p:nvSpPr>
        <p:spPr>
          <a:xfrm>
            <a:off x="6355080" y="1463040"/>
            <a:ext cx="5376672" cy="777240"/>
          </a:xfrm>
          <a:prstGeom prst="roundRect">
            <a:avLst>
              <a:gd name="adj" fmla="val 11765"/>
            </a:avLst>
          </a:prstGeom>
          <a:solidFill>
            <a:srgbClr val="F4E6E7"/>
          </a:solidFill>
          <a:ln w="15875">
            <a:solidFill>
              <a:srgbClr val="73000A"/>
            </a:solidFill>
            <a:prstDash val="solid"/>
          </a:ln>
        </p:spPr>
        <p:txBody>
          <a:bodyPr/>
          <a:lstStyle/>
          <a:p>
            <a:endParaRPr lang="en-US"/>
          </a:p>
        </p:txBody>
      </p:sp>
      <p:sp>
        <p:nvSpPr>
          <p:cNvPr id="11" name="Text 9"/>
          <p:cNvSpPr txBox="1"/>
          <p:nvPr/>
        </p:nvSpPr>
        <p:spPr>
          <a:xfrm>
            <a:off x="6537960" y="1554480"/>
            <a:ext cx="1371600" cy="228600"/>
          </a:xfrm>
          <a:prstGeom prst="rect">
            <a:avLst/>
          </a:prstGeom>
          <a:noFill/>
          <a:ln/>
        </p:spPr>
        <p:txBody>
          <a:bodyPr wrap="square" lIns="0" tIns="0" rIns="0" bIns="0" rtlCol="0" anchor="ctr"/>
          <a:lstStyle/>
          <a:p>
            <a:pPr marL="0" indent="0">
              <a:buNone/>
            </a:pPr>
            <a:r>
              <a:rPr lang="en-US" sz="1100" b="1" kern="0" spc="200" dirty="0">
                <a:solidFill>
                  <a:srgbClr val="73000A"/>
                </a:solidFill>
                <a:latin typeface="Calibri" pitchFamily="34" charset="0"/>
                <a:ea typeface="Calibri" pitchFamily="34" charset="-122"/>
                <a:cs typeface="Calibri" pitchFamily="34" charset="-120"/>
              </a:rPr>
              <a:t>TARGET</a:t>
            </a:r>
            <a:endParaRPr lang="en-US" sz="1100" dirty="0"/>
          </a:p>
        </p:txBody>
      </p:sp>
      <p:sp>
        <p:nvSpPr>
          <p:cNvPr id="12" name="Text 10"/>
          <p:cNvSpPr txBox="1"/>
          <p:nvPr/>
        </p:nvSpPr>
        <p:spPr>
          <a:xfrm>
            <a:off x="6537960" y="1792224"/>
            <a:ext cx="5074920" cy="384048"/>
          </a:xfrm>
          <a:prstGeom prst="rect">
            <a:avLst/>
          </a:prstGeom>
          <a:noFill/>
          <a:ln/>
        </p:spPr>
        <p:txBody>
          <a:bodyPr wrap="square" lIns="0" tIns="0" rIns="0" bIns="0" rtlCol="0" anchor="t"/>
          <a:lstStyle/>
          <a:p>
            <a:pPr marL="0" indent="0">
              <a:buNone/>
            </a:pPr>
            <a:r>
              <a:rPr lang="en-US" sz="1300" b="1" dirty="0">
                <a:solidFill>
                  <a:srgbClr val="1A1A1A"/>
                </a:solidFill>
                <a:latin typeface="Calibri" pitchFamily="34" charset="0"/>
                <a:ea typeface="Calibri" pitchFamily="34" charset="-122"/>
                <a:cs typeface="Calibri" pitchFamily="34" charset="-120"/>
              </a:rPr>
              <a:t>Covariance-aware helical vertex from reconstruction-level track fits</a:t>
            </a:r>
            <a:endParaRPr lang="en-US" sz="1300" dirty="0"/>
          </a:p>
        </p:txBody>
      </p:sp>
      <p:sp>
        <p:nvSpPr>
          <p:cNvPr id="13" name="Text 11"/>
          <p:cNvSpPr txBox="1"/>
          <p:nvPr/>
        </p:nvSpPr>
        <p:spPr>
          <a:xfrm>
            <a:off x="548640" y="2514600"/>
            <a:ext cx="5486400" cy="329184"/>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Approach</a:t>
            </a:r>
            <a:endParaRPr lang="en-US" sz="1600" dirty="0"/>
          </a:p>
        </p:txBody>
      </p:sp>
      <p:sp>
        <p:nvSpPr>
          <p:cNvPr id="14" name="Shape 12"/>
          <p:cNvSpPr/>
          <p:nvPr/>
        </p:nvSpPr>
        <p:spPr>
          <a:xfrm>
            <a:off x="566928" y="2990088"/>
            <a:ext cx="274320" cy="274320"/>
          </a:xfrm>
          <a:prstGeom prst="ellipse">
            <a:avLst/>
          </a:prstGeom>
          <a:solidFill>
            <a:srgbClr val="FFFFFF"/>
          </a:solidFill>
          <a:ln w="15875">
            <a:solidFill>
              <a:srgbClr val="73000A"/>
            </a:solidFill>
            <a:prstDash val="solid"/>
          </a:ln>
        </p:spPr>
        <p:txBody>
          <a:bodyPr/>
          <a:lstStyle/>
          <a:p>
            <a:endParaRPr lang="en-US"/>
          </a:p>
        </p:txBody>
      </p:sp>
      <p:sp>
        <p:nvSpPr>
          <p:cNvPr id="15" name="Text 13"/>
          <p:cNvSpPr txBox="1"/>
          <p:nvPr/>
        </p:nvSpPr>
        <p:spPr>
          <a:xfrm>
            <a:off x="566928" y="2990088"/>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1</a:t>
            </a:r>
            <a:endParaRPr lang="en-US" sz="1000" dirty="0"/>
          </a:p>
        </p:txBody>
      </p:sp>
      <p:sp>
        <p:nvSpPr>
          <p:cNvPr id="16" name="Text 14"/>
          <p:cNvSpPr txBox="1"/>
          <p:nvPr/>
        </p:nvSpPr>
        <p:spPr>
          <a:xfrm>
            <a:off x="987552" y="2935224"/>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Replace straight lines with the fitted helical trajectories of both tracks</a:t>
            </a:r>
            <a:endParaRPr lang="en-US" sz="1300" dirty="0"/>
          </a:p>
        </p:txBody>
      </p:sp>
      <p:sp>
        <p:nvSpPr>
          <p:cNvPr id="17" name="Shape 15"/>
          <p:cNvSpPr/>
          <p:nvPr/>
        </p:nvSpPr>
        <p:spPr>
          <a:xfrm>
            <a:off x="566928" y="3502152"/>
            <a:ext cx="274320" cy="274320"/>
          </a:xfrm>
          <a:prstGeom prst="ellipse">
            <a:avLst/>
          </a:prstGeom>
          <a:solidFill>
            <a:srgbClr val="FFFFFF"/>
          </a:solidFill>
          <a:ln w="15875">
            <a:solidFill>
              <a:srgbClr val="73000A"/>
            </a:solidFill>
            <a:prstDash val="solid"/>
          </a:ln>
        </p:spPr>
        <p:txBody>
          <a:bodyPr/>
          <a:lstStyle/>
          <a:p>
            <a:endParaRPr lang="en-US"/>
          </a:p>
        </p:txBody>
      </p:sp>
      <p:sp>
        <p:nvSpPr>
          <p:cNvPr id="18" name="Text 16"/>
          <p:cNvSpPr txBox="1"/>
          <p:nvPr/>
        </p:nvSpPr>
        <p:spPr>
          <a:xfrm>
            <a:off x="566928" y="3502152"/>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2</a:t>
            </a:r>
            <a:endParaRPr lang="en-US" sz="1000" dirty="0"/>
          </a:p>
        </p:txBody>
      </p:sp>
      <p:sp>
        <p:nvSpPr>
          <p:cNvPr id="19" name="Text 17"/>
          <p:cNvSpPr txBox="1"/>
          <p:nvPr/>
        </p:nvSpPr>
        <p:spPr>
          <a:xfrm>
            <a:off x="987552" y="3447288"/>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Use full track-fit information: position, direction, time, and covariance</a:t>
            </a:r>
            <a:endParaRPr lang="en-US" sz="1300" dirty="0"/>
          </a:p>
        </p:txBody>
      </p:sp>
      <p:sp>
        <p:nvSpPr>
          <p:cNvPr id="20" name="Shape 18"/>
          <p:cNvSpPr/>
          <p:nvPr/>
        </p:nvSpPr>
        <p:spPr>
          <a:xfrm>
            <a:off x="566928" y="4014216"/>
            <a:ext cx="274320" cy="274320"/>
          </a:xfrm>
          <a:prstGeom prst="ellipse">
            <a:avLst/>
          </a:prstGeom>
          <a:solidFill>
            <a:srgbClr val="FFFFFF"/>
          </a:solidFill>
          <a:ln w="15875">
            <a:solidFill>
              <a:srgbClr val="73000A"/>
            </a:solidFill>
            <a:prstDash val="solid"/>
          </a:ln>
        </p:spPr>
        <p:txBody>
          <a:bodyPr/>
          <a:lstStyle/>
          <a:p>
            <a:endParaRPr lang="en-US"/>
          </a:p>
        </p:txBody>
      </p:sp>
      <p:sp>
        <p:nvSpPr>
          <p:cNvPr id="21" name="Text 19"/>
          <p:cNvSpPr txBox="1"/>
          <p:nvPr/>
        </p:nvSpPr>
        <p:spPr>
          <a:xfrm>
            <a:off x="566928" y="4014216"/>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3</a:t>
            </a:r>
            <a:endParaRPr lang="en-US" sz="1000" dirty="0"/>
          </a:p>
        </p:txBody>
      </p:sp>
      <p:sp>
        <p:nvSpPr>
          <p:cNvPr id="22" name="Text 20"/>
          <p:cNvSpPr txBox="1"/>
          <p:nvPr/>
        </p:nvSpPr>
        <p:spPr>
          <a:xfrm>
            <a:off x="987552" y="3959352"/>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Quantify vertex quality: closest approach, residuals, fit quality, bias, resolution</a:t>
            </a:r>
            <a:endParaRPr lang="en-US" sz="1300" dirty="0"/>
          </a:p>
        </p:txBody>
      </p:sp>
      <p:sp>
        <p:nvSpPr>
          <p:cNvPr id="23" name="Shape 21"/>
          <p:cNvSpPr/>
          <p:nvPr/>
        </p:nvSpPr>
        <p:spPr>
          <a:xfrm>
            <a:off x="566928" y="4526280"/>
            <a:ext cx="274320" cy="274320"/>
          </a:xfrm>
          <a:prstGeom prst="ellipse">
            <a:avLst/>
          </a:prstGeom>
          <a:solidFill>
            <a:srgbClr val="FFFFFF"/>
          </a:solidFill>
          <a:ln w="15875">
            <a:solidFill>
              <a:srgbClr val="73000A"/>
            </a:solidFill>
            <a:prstDash val="solid"/>
          </a:ln>
        </p:spPr>
        <p:txBody>
          <a:bodyPr/>
          <a:lstStyle/>
          <a:p>
            <a:endParaRPr lang="en-US"/>
          </a:p>
        </p:txBody>
      </p:sp>
      <p:sp>
        <p:nvSpPr>
          <p:cNvPr id="24" name="Text 22"/>
          <p:cNvSpPr txBox="1"/>
          <p:nvPr/>
        </p:nvSpPr>
        <p:spPr>
          <a:xfrm>
            <a:off x="566928" y="4526280"/>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987552" y="4471416"/>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Validate against Monte Carlo truth across the signal kinematics</a:t>
            </a:r>
            <a:endParaRPr lang="en-US" sz="1300" dirty="0"/>
          </a:p>
        </p:txBody>
      </p:sp>
      <p:sp>
        <p:nvSpPr>
          <p:cNvPr id="26" name="Shape 24"/>
          <p:cNvSpPr/>
          <p:nvPr/>
        </p:nvSpPr>
        <p:spPr>
          <a:xfrm>
            <a:off x="566928" y="5038344"/>
            <a:ext cx="274320" cy="274320"/>
          </a:xfrm>
          <a:prstGeom prst="ellipse">
            <a:avLst/>
          </a:prstGeom>
          <a:solidFill>
            <a:srgbClr val="FFFFFF"/>
          </a:solidFill>
          <a:ln w="15875">
            <a:solidFill>
              <a:srgbClr val="73000A"/>
            </a:solidFill>
            <a:prstDash val="solid"/>
          </a:ln>
        </p:spPr>
        <p:txBody>
          <a:bodyPr/>
          <a:lstStyle/>
          <a:p>
            <a:endParaRPr lang="en-US"/>
          </a:p>
        </p:txBody>
      </p:sp>
      <p:sp>
        <p:nvSpPr>
          <p:cNvPr id="27" name="Text 25"/>
          <p:cNvSpPr txBox="1"/>
          <p:nvPr/>
        </p:nvSpPr>
        <p:spPr>
          <a:xfrm>
            <a:off x="566928" y="5038344"/>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5</a:t>
            </a:r>
            <a:endParaRPr lang="en-US" sz="1000" dirty="0"/>
          </a:p>
        </p:txBody>
      </p:sp>
      <p:sp>
        <p:nvSpPr>
          <p:cNvPr id="28" name="Text 26"/>
          <p:cNvSpPr txBox="1"/>
          <p:nvPr/>
        </p:nvSpPr>
        <p:spPr>
          <a:xfrm>
            <a:off x="987552" y="4983480"/>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Integrate into the Mu2e workflow, reusable for any multi-body final state</a:t>
            </a:r>
            <a:endParaRPr lang="en-US" sz="1300" dirty="0"/>
          </a:p>
        </p:txBody>
      </p:sp>
      <p:sp>
        <p:nvSpPr>
          <p:cNvPr id="29" name="Shape 27"/>
          <p:cNvSpPr/>
          <p:nvPr/>
        </p:nvSpPr>
        <p:spPr>
          <a:xfrm>
            <a:off x="566928" y="5550408"/>
            <a:ext cx="274320" cy="274320"/>
          </a:xfrm>
          <a:prstGeom prst="ellipse">
            <a:avLst/>
          </a:prstGeom>
          <a:solidFill>
            <a:srgbClr val="FFFFFF"/>
          </a:solidFill>
          <a:ln w="15875">
            <a:solidFill>
              <a:srgbClr val="73000A"/>
            </a:solidFill>
            <a:prstDash val="solid"/>
          </a:ln>
        </p:spPr>
        <p:txBody>
          <a:bodyPr/>
          <a:lstStyle/>
          <a:p>
            <a:endParaRPr lang="en-US"/>
          </a:p>
        </p:txBody>
      </p:sp>
      <p:sp>
        <p:nvSpPr>
          <p:cNvPr id="30" name="Text 28"/>
          <p:cNvSpPr txBox="1"/>
          <p:nvPr/>
        </p:nvSpPr>
        <p:spPr>
          <a:xfrm>
            <a:off x="566928" y="5550408"/>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6</a:t>
            </a:r>
            <a:endParaRPr lang="en-US" sz="1000" dirty="0"/>
          </a:p>
        </p:txBody>
      </p:sp>
      <p:sp>
        <p:nvSpPr>
          <p:cNvPr id="31" name="Text 29"/>
          <p:cNvSpPr txBox="1"/>
          <p:nvPr/>
        </p:nvSpPr>
        <p:spPr>
          <a:xfrm>
            <a:off x="987552" y="5495544"/>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Use common-vertex consistency to reject accidental pairs and backgrounds</a:t>
            </a:r>
            <a:endParaRPr lang="en-US" sz="1300" dirty="0"/>
          </a:p>
        </p:txBody>
      </p:sp>
      <p:sp>
        <p:nvSpPr>
          <p:cNvPr id="32" name="Shape 30"/>
          <p:cNvSpPr/>
          <p:nvPr/>
        </p:nvSpPr>
        <p:spPr>
          <a:xfrm>
            <a:off x="6720840" y="2514600"/>
            <a:ext cx="5010912" cy="3657600"/>
          </a:xfrm>
          <a:prstGeom prst="roundRect">
            <a:avLst>
              <a:gd name="adj" fmla="val 2500"/>
            </a:avLst>
          </a:prstGeom>
          <a:solidFill>
            <a:srgbClr val="F4F0F0"/>
          </a:solidFill>
          <a:ln/>
        </p:spPr>
        <p:txBody>
          <a:bodyPr/>
          <a:lstStyle/>
          <a:p>
            <a:endParaRPr lang="en-US"/>
          </a:p>
        </p:txBody>
      </p:sp>
      <p:sp>
        <p:nvSpPr>
          <p:cNvPr id="33" name="Text 31"/>
          <p:cNvSpPr txBox="1"/>
          <p:nvPr/>
        </p:nvSpPr>
        <p:spPr>
          <a:xfrm>
            <a:off x="6949440" y="2624328"/>
            <a:ext cx="4645152" cy="329184"/>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Deliverables</a:t>
            </a:r>
            <a:endParaRPr lang="en-US" sz="1600" dirty="0"/>
          </a:p>
        </p:txBody>
      </p:sp>
      <p:sp>
        <p:nvSpPr>
          <p:cNvPr id="34" name="Shape 32"/>
          <p:cNvSpPr/>
          <p:nvPr/>
        </p:nvSpPr>
        <p:spPr>
          <a:xfrm>
            <a:off x="6976872" y="3127248"/>
            <a:ext cx="146304" cy="146304"/>
          </a:xfrm>
          <a:prstGeom prst="rect">
            <a:avLst/>
          </a:prstGeom>
          <a:solidFill>
            <a:srgbClr val="73000A"/>
          </a:solidFill>
          <a:ln/>
        </p:spPr>
        <p:txBody>
          <a:bodyPr/>
          <a:lstStyle/>
          <a:p>
            <a:endParaRPr lang="en-US"/>
          </a:p>
        </p:txBody>
      </p:sp>
      <p:sp>
        <p:nvSpPr>
          <p:cNvPr id="35" name="Text 33"/>
          <p:cNvSpPr txBox="1"/>
          <p:nvPr/>
        </p:nvSpPr>
        <p:spPr>
          <a:xfrm>
            <a:off x="7269480" y="30449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Analyzable reconstructed-track and helix data product</a:t>
            </a:r>
            <a:endParaRPr lang="en-US" sz="1250" dirty="0"/>
          </a:p>
        </p:txBody>
      </p:sp>
      <p:sp>
        <p:nvSpPr>
          <p:cNvPr id="36" name="Shape 34"/>
          <p:cNvSpPr/>
          <p:nvPr/>
        </p:nvSpPr>
        <p:spPr>
          <a:xfrm>
            <a:off x="6976872" y="3529584"/>
            <a:ext cx="146304" cy="146304"/>
          </a:xfrm>
          <a:prstGeom prst="rect">
            <a:avLst/>
          </a:prstGeom>
          <a:solidFill>
            <a:srgbClr val="73000A"/>
          </a:solidFill>
          <a:ln/>
        </p:spPr>
        <p:txBody>
          <a:bodyPr/>
          <a:lstStyle/>
          <a:p>
            <a:endParaRPr lang="en-US"/>
          </a:p>
        </p:txBody>
      </p:sp>
      <p:sp>
        <p:nvSpPr>
          <p:cNvPr id="37" name="Text 35"/>
          <p:cNvSpPr txBox="1"/>
          <p:nvPr/>
        </p:nvSpPr>
        <p:spPr>
          <a:xfrm>
            <a:off x="7269480" y="3447288"/>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Covariance-aware common-vertexing module</a:t>
            </a:r>
            <a:endParaRPr lang="en-US" sz="1250" dirty="0"/>
          </a:p>
        </p:txBody>
      </p:sp>
      <p:sp>
        <p:nvSpPr>
          <p:cNvPr id="38" name="Shape 36"/>
          <p:cNvSpPr/>
          <p:nvPr/>
        </p:nvSpPr>
        <p:spPr>
          <a:xfrm>
            <a:off x="6976872" y="3931920"/>
            <a:ext cx="146304" cy="146304"/>
          </a:xfrm>
          <a:prstGeom prst="rect">
            <a:avLst/>
          </a:prstGeom>
          <a:solidFill>
            <a:srgbClr val="73000A"/>
          </a:solidFill>
          <a:ln/>
        </p:spPr>
        <p:txBody>
          <a:bodyPr/>
          <a:lstStyle/>
          <a:p>
            <a:endParaRPr lang="en-US"/>
          </a:p>
        </p:txBody>
      </p:sp>
      <p:sp>
        <p:nvSpPr>
          <p:cNvPr id="39" name="Text 37"/>
          <p:cNvSpPr txBox="1"/>
          <p:nvPr/>
        </p:nvSpPr>
        <p:spPr>
          <a:xfrm>
            <a:off x="7269480" y="3849624"/>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Vertex position, time, quality, and uncertainty</a:t>
            </a:r>
            <a:endParaRPr lang="en-US" sz="1250" dirty="0"/>
          </a:p>
        </p:txBody>
      </p:sp>
      <p:sp>
        <p:nvSpPr>
          <p:cNvPr id="40" name="Shape 38"/>
          <p:cNvSpPr/>
          <p:nvPr/>
        </p:nvSpPr>
        <p:spPr>
          <a:xfrm>
            <a:off x="6976872" y="4334256"/>
            <a:ext cx="146304" cy="146304"/>
          </a:xfrm>
          <a:prstGeom prst="rect">
            <a:avLst/>
          </a:prstGeom>
          <a:solidFill>
            <a:srgbClr val="73000A"/>
          </a:solidFill>
          <a:ln/>
        </p:spPr>
        <p:txBody>
          <a:bodyPr/>
          <a:lstStyle/>
          <a:p>
            <a:endParaRPr lang="en-US"/>
          </a:p>
        </p:txBody>
      </p:sp>
      <p:sp>
        <p:nvSpPr>
          <p:cNvPr id="41" name="Text 39"/>
          <p:cNvSpPr txBox="1"/>
          <p:nvPr/>
        </p:nvSpPr>
        <p:spPr>
          <a:xfrm>
            <a:off x="7269480" y="4251960"/>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Monte Carlo truth validation in the Mu2e art/FHiCL workflow</a:t>
            </a:r>
            <a:endParaRPr lang="en-US" sz="1250" dirty="0"/>
          </a:p>
        </p:txBody>
      </p:sp>
      <p:sp>
        <p:nvSpPr>
          <p:cNvPr id="42" name="Shape 40"/>
          <p:cNvSpPr/>
          <p:nvPr/>
        </p:nvSpPr>
        <p:spPr>
          <a:xfrm>
            <a:off x="6976872" y="4736592"/>
            <a:ext cx="146304" cy="146304"/>
          </a:xfrm>
          <a:prstGeom prst="rect">
            <a:avLst/>
          </a:prstGeom>
          <a:solidFill>
            <a:srgbClr val="73000A"/>
          </a:solidFill>
          <a:ln/>
        </p:spPr>
        <p:txBody>
          <a:bodyPr/>
          <a:lstStyle/>
          <a:p>
            <a:endParaRPr lang="en-US"/>
          </a:p>
        </p:txBody>
      </p:sp>
      <p:sp>
        <p:nvSpPr>
          <p:cNvPr id="43" name="Text 41"/>
          <p:cNvSpPr txBox="1"/>
          <p:nvPr/>
        </p:nvSpPr>
        <p:spPr>
          <a:xfrm>
            <a:off x="7269480" y="4654296"/>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Vertex-quality variables for background discrimination</a:t>
            </a:r>
            <a:endParaRPr lang="en-US" sz="1250" dirty="0"/>
          </a:p>
        </p:txBody>
      </p:sp>
      <p:sp>
        <p:nvSpPr>
          <p:cNvPr id="44" name="Shape 42"/>
          <p:cNvSpPr/>
          <p:nvPr/>
        </p:nvSpPr>
        <p:spPr>
          <a:xfrm>
            <a:off x="6949440" y="5166360"/>
            <a:ext cx="4553712" cy="0"/>
          </a:xfrm>
          <a:prstGeom prst="line">
            <a:avLst/>
          </a:prstGeom>
          <a:noFill/>
          <a:ln w="12700">
            <a:solidFill>
              <a:srgbClr val="D9C4C6"/>
            </a:solidFill>
            <a:prstDash val="solid"/>
          </a:ln>
        </p:spPr>
        <p:txBody>
          <a:bodyPr/>
          <a:lstStyle/>
          <a:p>
            <a:endParaRPr lang="en-US"/>
          </a:p>
        </p:txBody>
      </p:sp>
      <p:sp>
        <p:nvSpPr>
          <p:cNvPr id="45" name="Text 43"/>
          <p:cNvSpPr txBox="1"/>
          <p:nvPr/>
        </p:nvSpPr>
        <p:spPr>
          <a:xfrm>
            <a:off x="6949440" y="5239512"/>
            <a:ext cx="4645152" cy="256032"/>
          </a:xfrm>
          <a:prstGeom prst="rect">
            <a:avLst/>
          </a:prstGeom>
          <a:noFill/>
          <a:ln/>
        </p:spPr>
        <p:txBody>
          <a:bodyPr wrap="square" lIns="0" tIns="0" rIns="0" bIns="0" rtlCol="0" anchor="ctr"/>
          <a:lstStyle/>
          <a:p>
            <a:pPr marL="0" indent="0">
              <a:buNone/>
            </a:pPr>
            <a:r>
              <a:rPr lang="en-US" sz="1200" b="1" dirty="0">
                <a:solidFill>
                  <a:srgbClr val="73000A"/>
                </a:solidFill>
                <a:latin typeface="Calibri" pitchFamily="34" charset="0"/>
                <a:ea typeface="Calibri" pitchFamily="34" charset="-122"/>
                <a:cs typeface="Calibri" pitchFamily="34" charset="-120"/>
              </a:rPr>
              <a:t>Write-ups</a:t>
            </a:r>
            <a:endParaRPr lang="en-US" sz="1200" dirty="0"/>
          </a:p>
        </p:txBody>
      </p:sp>
      <p:sp>
        <p:nvSpPr>
          <p:cNvPr id="46" name="Shape 44"/>
          <p:cNvSpPr/>
          <p:nvPr/>
        </p:nvSpPr>
        <p:spPr>
          <a:xfrm>
            <a:off x="6976872" y="5586984"/>
            <a:ext cx="146304" cy="146304"/>
          </a:xfrm>
          <a:prstGeom prst="rect">
            <a:avLst/>
          </a:prstGeom>
          <a:solidFill>
            <a:srgbClr val="FFFFFF"/>
          </a:solidFill>
          <a:ln w="15875">
            <a:solidFill>
              <a:srgbClr val="73000A"/>
            </a:solidFill>
            <a:prstDash val="solid"/>
          </a:ln>
        </p:spPr>
        <p:txBody>
          <a:bodyPr/>
          <a:lstStyle/>
          <a:p>
            <a:endParaRPr lang="en-US"/>
          </a:p>
        </p:txBody>
      </p:sp>
      <p:sp>
        <p:nvSpPr>
          <p:cNvPr id="47" name="Text 45"/>
          <p:cNvSpPr txBox="1"/>
          <p:nvPr/>
        </p:nvSpPr>
        <p:spPr>
          <a:xfrm>
            <a:off x="7269480" y="5513832"/>
            <a:ext cx="4279392" cy="274320"/>
          </a:xfrm>
          <a:prstGeom prst="rect">
            <a:avLst/>
          </a:prstGeom>
          <a:noFill/>
          <a:ln/>
        </p:spPr>
        <p:txBody>
          <a:bodyPr wrap="square" lIns="0" tIns="0" rIns="0" bIns="0" rtlCol="0" anchor="ctr"/>
          <a:lstStyle/>
          <a:p>
            <a:pPr marL="0" indent="0">
              <a:buNone/>
            </a:pPr>
            <a:r>
              <a:rPr lang="en-US" sz="1200" i="1" dirty="0">
                <a:solidFill>
                  <a:srgbClr val="333333"/>
                </a:solidFill>
                <a:latin typeface="Calibri" pitchFamily="34" charset="0"/>
                <a:ea typeface="Calibri" pitchFamily="34" charset="-122"/>
                <a:cs typeface="Calibri" pitchFamily="34" charset="-120"/>
              </a:rPr>
              <a:t>Technical paper on the vertexing implementation</a:t>
            </a:r>
            <a:endParaRPr lang="en-US" sz="1200" dirty="0"/>
          </a:p>
        </p:txBody>
      </p:sp>
      <p:sp>
        <p:nvSpPr>
          <p:cNvPr id="48" name="Shape 46"/>
          <p:cNvSpPr/>
          <p:nvPr/>
        </p:nvSpPr>
        <p:spPr>
          <a:xfrm>
            <a:off x="6976872" y="5861304"/>
            <a:ext cx="146304" cy="146304"/>
          </a:xfrm>
          <a:prstGeom prst="rect">
            <a:avLst/>
          </a:prstGeom>
          <a:solidFill>
            <a:srgbClr val="FFFFFF"/>
          </a:solidFill>
          <a:ln w="15875">
            <a:solidFill>
              <a:srgbClr val="73000A"/>
            </a:solidFill>
            <a:prstDash val="solid"/>
          </a:ln>
        </p:spPr>
        <p:txBody>
          <a:bodyPr/>
          <a:lstStyle/>
          <a:p>
            <a:endParaRPr lang="en-US"/>
          </a:p>
        </p:txBody>
      </p:sp>
      <p:sp>
        <p:nvSpPr>
          <p:cNvPr id="49" name="Text 47"/>
          <p:cNvSpPr txBox="1"/>
          <p:nvPr/>
        </p:nvSpPr>
        <p:spPr>
          <a:xfrm>
            <a:off x="7269480" y="5788152"/>
            <a:ext cx="4279392" cy="274320"/>
          </a:xfrm>
          <a:prstGeom prst="rect">
            <a:avLst/>
          </a:prstGeom>
          <a:noFill/>
          <a:ln/>
        </p:spPr>
        <p:txBody>
          <a:bodyPr wrap="square" lIns="0" tIns="0" rIns="0" bIns="0" rtlCol="0" anchor="ctr"/>
          <a:lstStyle/>
          <a:p>
            <a:pPr marL="0" indent="0">
              <a:buNone/>
            </a:pPr>
            <a:r>
              <a:rPr lang="en-US" sz="1200" i="1" dirty="0">
                <a:solidFill>
                  <a:srgbClr val="333333"/>
                </a:solidFill>
                <a:latin typeface="Calibri" pitchFamily="34" charset="0"/>
                <a:ea typeface="Calibri" pitchFamily="34" charset="-122"/>
                <a:cs typeface="Calibri" pitchFamily="34" charset="-120"/>
              </a:rPr>
              <a:t>Internal Mu2e note on using the vertexer</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47472"/>
            <a:ext cx="512064" cy="512064"/>
          </a:xfrm>
          <a:prstGeom prst="ellipse">
            <a:avLst/>
          </a:prstGeom>
          <a:solidFill>
            <a:srgbClr val="73000A"/>
          </a:solidFill>
          <a:ln/>
        </p:spPr>
        <p:txBody>
          <a:bodyPr/>
          <a:lstStyle/>
          <a:p>
            <a:endParaRPr lang="en-US"/>
          </a:p>
        </p:txBody>
      </p:sp>
      <p:sp>
        <p:nvSpPr>
          <p:cNvPr id="3" name="Text 1"/>
          <p:cNvSpPr txBox="1"/>
          <p:nvPr/>
        </p:nvSpPr>
        <p:spPr>
          <a:xfrm>
            <a:off x="548640" y="34747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 name="Text 2"/>
          <p:cNvSpPr txBox="1"/>
          <p:nvPr/>
        </p:nvSpPr>
        <p:spPr>
          <a:xfrm>
            <a:off x="1234440" y="320040"/>
            <a:ext cx="10424160" cy="566928"/>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Signal–Background Mixing</a:t>
            </a:r>
            <a:endParaRPr lang="en-US" sz="2800" dirty="0"/>
          </a:p>
        </p:txBody>
      </p:sp>
      <p:sp>
        <p:nvSpPr>
          <p:cNvPr id="5" name="Text 3"/>
          <p:cNvSpPr txBox="1"/>
          <p:nvPr/>
        </p:nvSpPr>
        <p:spPr>
          <a:xfrm>
            <a:off x="1234440" y="896112"/>
            <a:ext cx="1042416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Goal 2 of 4  |  Spring 2027 to Spring 2028</a:t>
            </a:r>
            <a:endParaRPr lang="en-US" sz="1600" dirty="0"/>
          </a:p>
        </p:txBody>
      </p:sp>
      <p:sp>
        <p:nvSpPr>
          <p:cNvPr id="6" name="Shape 4"/>
          <p:cNvSpPr/>
          <p:nvPr/>
        </p:nvSpPr>
        <p:spPr>
          <a:xfrm>
            <a:off x="548640" y="1463040"/>
            <a:ext cx="5120640" cy="777240"/>
          </a:xfrm>
          <a:prstGeom prst="roundRect">
            <a:avLst>
              <a:gd name="adj" fmla="val 11765"/>
            </a:avLst>
          </a:prstGeom>
          <a:solidFill>
            <a:srgbClr val="F2F2F2"/>
          </a:solidFill>
          <a:ln/>
        </p:spPr>
        <p:txBody>
          <a:bodyPr/>
          <a:lstStyle/>
          <a:p>
            <a:endParaRPr lang="en-US"/>
          </a:p>
        </p:txBody>
      </p:sp>
      <p:sp>
        <p:nvSpPr>
          <p:cNvPr id="7" name="Text 5"/>
          <p:cNvSpPr txBox="1"/>
          <p:nvPr/>
        </p:nvSpPr>
        <p:spPr>
          <a:xfrm>
            <a:off x="731520" y="1554480"/>
            <a:ext cx="1371600" cy="228600"/>
          </a:xfrm>
          <a:prstGeom prst="rect">
            <a:avLst/>
          </a:prstGeom>
          <a:noFill/>
          <a:ln/>
        </p:spPr>
        <p:txBody>
          <a:bodyPr wrap="square" lIns="0" tIns="0" rIns="0" bIns="0" rtlCol="0" anchor="ctr"/>
          <a:lstStyle/>
          <a:p>
            <a:pPr marL="0" indent="0">
              <a:buNone/>
            </a:pPr>
            <a:r>
              <a:rPr lang="en-US" sz="1100" b="1" kern="0" spc="200" dirty="0">
                <a:solidFill>
                  <a:srgbClr val="6A6A6A"/>
                </a:solidFill>
                <a:latin typeface="Calibri" pitchFamily="34" charset="0"/>
                <a:ea typeface="Calibri" pitchFamily="34" charset="-122"/>
                <a:cs typeface="Calibri" pitchFamily="34" charset="-120"/>
              </a:rPr>
              <a:t>NOW</a:t>
            </a:r>
            <a:endParaRPr lang="en-US" sz="1100" dirty="0"/>
          </a:p>
        </p:txBody>
      </p:sp>
      <p:sp>
        <p:nvSpPr>
          <p:cNvPr id="8" name="Text 6"/>
          <p:cNvSpPr txBox="1"/>
          <p:nvPr/>
        </p:nvSpPr>
        <p:spPr>
          <a:xfrm>
            <a:off x="731520" y="1792224"/>
            <a:ext cx="4800600" cy="384048"/>
          </a:xfrm>
          <a:prstGeom prst="rect">
            <a:avLst/>
          </a:prstGeom>
          <a:noFill/>
          <a:ln/>
        </p:spPr>
        <p:txBody>
          <a:bodyPr wrap="square" lIns="0" tIns="0" rIns="0" bIns="0" rtlCol="0" anchor="t"/>
          <a:lstStyle/>
          <a:p>
            <a:pPr marL="0" indent="0">
              <a:buNone/>
            </a:pPr>
            <a:r>
              <a:rPr lang="en-US" sz="1300" dirty="0">
                <a:solidFill>
                  <a:srgbClr val="4A4A4A"/>
                </a:solidFill>
                <a:latin typeface="Calibri" pitchFamily="34" charset="0"/>
                <a:ea typeface="Calibri" pitchFamily="34" charset="-122"/>
                <a:cs typeface="Calibri" pitchFamily="34" charset="-120"/>
              </a:rPr>
              <a:t>Reconstructed signal-only samples and preliminary characterization</a:t>
            </a:r>
            <a:endParaRPr lang="en-US" sz="1300" dirty="0"/>
          </a:p>
        </p:txBody>
      </p:sp>
      <p:sp>
        <p:nvSpPr>
          <p:cNvPr id="9" name="Shape 7"/>
          <p:cNvSpPr/>
          <p:nvPr/>
        </p:nvSpPr>
        <p:spPr>
          <a:xfrm>
            <a:off x="5779008" y="1691640"/>
            <a:ext cx="457200" cy="320040"/>
          </a:xfrm>
          <a:prstGeom prst="rightArrow">
            <a:avLst/>
          </a:prstGeom>
          <a:solidFill>
            <a:srgbClr val="73000A"/>
          </a:solidFill>
          <a:ln/>
        </p:spPr>
        <p:txBody>
          <a:bodyPr/>
          <a:lstStyle/>
          <a:p>
            <a:endParaRPr lang="en-US"/>
          </a:p>
        </p:txBody>
      </p:sp>
      <p:sp>
        <p:nvSpPr>
          <p:cNvPr id="10" name="Shape 8"/>
          <p:cNvSpPr/>
          <p:nvPr/>
        </p:nvSpPr>
        <p:spPr>
          <a:xfrm>
            <a:off x="6355080" y="1463040"/>
            <a:ext cx="5376672" cy="777240"/>
          </a:xfrm>
          <a:prstGeom prst="roundRect">
            <a:avLst>
              <a:gd name="adj" fmla="val 11765"/>
            </a:avLst>
          </a:prstGeom>
          <a:solidFill>
            <a:srgbClr val="F4E6E7"/>
          </a:solidFill>
          <a:ln w="15875">
            <a:solidFill>
              <a:srgbClr val="73000A"/>
            </a:solidFill>
            <a:prstDash val="solid"/>
          </a:ln>
        </p:spPr>
        <p:txBody>
          <a:bodyPr/>
          <a:lstStyle/>
          <a:p>
            <a:endParaRPr lang="en-US"/>
          </a:p>
        </p:txBody>
      </p:sp>
      <p:sp>
        <p:nvSpPr>
          <p:cNvPr id="11" name="Text 9"/>
          <p:cNvSpPr txBox="1"/>
          <p:nvPr/>
        </p:nvSpPr>
        <p:spPr>
          <a:xfrm>
            <a:off x="6537960" y="1554480"/>
            <a:ext cx="1371600" cy="228600"/>
          </a:xfrm>
          <a:prstGeom prst="rect">
            <a:avLst/>
          </a:prstGeom>
          <a:noFill/>
          <a:ln/>
        </p:spPr>
        <p:txBody>
          <a:bodyPr wrap="square" lIns="0" tIns="0" rIns="0" bIns="0" rtlCol="0" anchor="ctr"/>
          <a:lstStyle/>
          <a:p>
            <a:pPr marL="0" indent="0">
              <a:buNone/>
            </a:pPr>
            <a:r>
              <a:rPr lang="en-US" sz="1100" b="1" kern="0" spc="200" dirty="0">
                <a:solidFill>
                  <a:srgbClr val="73000A"/>
                </a:solidFill>
                <a:latin typeface="Calibri" pitchFamily="34" charset="0"/>
                <a:ea typeface="Calibri" pitchFamily="34" charset="-122"/>
                <a:cs typeface="Calibri" pitchFamily="34" charset="-120"/>
              </a:rPr>
              <a:t>TARGET</a:t>
            </a:r>
            <a:endParaRPr lang="en-US" sz="1100" dirty="0"/>
          </a:p>
        </p:txBody>
      </p:sp>
      <p:sp>
        <p:nvSpPr>
          <p:cNvPr id="12" name="Text 10"/>
          <p:cNvSpPr txBox="1"/>
          <p:nvPr/>
        </p:nvSpPr>
        <p:spPr>
          <a:xfrm>
            <a:off x="6537960" y="1792224"/>
            <a:ext cx="5074920" cy="384048"/>
          </a:xfrm>
          <a:prstGeom prst="rect">
            <a:avLst/>
          </a:prstGeom>
          <a:noFill/>
          <a:ln/>
        </p:spPr>
        <p:txBody>
          <a:bodyPr wrap="square" lIns="0" tIns="0" rIns="0" bIns="0" rtlCol="0" anchor="t"/>
          <a:lstStyle/>
          <a:p>
            <a:pPr marL="0" indent="0">
              <a:buNone/>
            </a:pPr>
            <a:r>
              <a:rPr lang="en-US" sz="1300" b="1" dirty="0">
                <a:solidFill>
                  <a:srgbClr val="1A1A1A"/>
                </a:solidFill>
                <a:latin typeface="Calibri" pitchFamily="34" charset="0"/>
                <a:ea typeface="Calibri" pitchFamily="34" charset="-122"/>
                <a:cs typeface="Calibri" pitchFamily="34" charset="-120"/>
              </a:rPr>
              <a:t>Production-supported mixed samples with validated discrimination</a:t>
            </a:r>
            <a:endParaRPr lang="en-US" sz="1300" dirty="0"/>
          </a:p>
        </p:txBody>
      </p:sp>
      <p:sp>
        <p:nvSpPr>
          <p:cNvPr id="13" name="Text 11"/>
          <p:cNvSpPr txBox="1"/>
          <p:nvPr/>
        </p:nvSpPr>
        <p:spPr>
          <a:xfrm>
            <a:off x="548640" y="2514600"/>
            <a:ext cx="5486400" cy="329184"/>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Approach</a:t>
            </a:r>
            <a:endParaRPr lang="en-US" sz="1600" dirty="0"/>
          </a:p>
        </p:txBody>
      </p:sp>
      <p:sp>
        <p:nvSpPr>
          <p:cNvPr id="14" name="Shape 12"/>
          <p:cNvSpPr/>
          <p:nvPr/>
        </p:nvSpPr>
        <p:spPr>
          <a:xfrm>
            <a:off x="566928" y="2990088"/>
            <a:ext cx="274320" cy="274320"/>
          </a:xfrm>
          <a:prstGeom prst="ellipse">
            <a:avLst/>
          </a:prstGeom>
          <a:solidFill>
            <a:srgbClr val="FFFFFF"/>
          </a:solidFill>
          <a:ln w="15875">
            <a:solidFill>
              <a:srgbClr val="73000A"/>
            </a:solidFill>
            <a:prstDash val="solid"/>
          </a:ln>
        </p:spPr>
        <p:txBody>
          <a:bodyPr/>
          <a:lstStyle/>
          <a:p>
            <a:endParaRPr lang="en-US"/>
          </a:p>
        </p:txBody>
      </p:sp>
      <p:sp>
        <p:nvSpPr>
          <p:cNvPr id="15" name="Text 13"/>
          <p:cNvSpPr txBox="1"/>
          <p:nvPr/>
        </p:nvSpPr>
        <p:spPr>
          <a:xfrm>
            <a:off x="566928" y="2990088"/>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1</a:t>
            </a:r>
            <a:endParaRPr lang="en-US" sz="1000" dirty="0"/>
          </a:p>
        </p:txBody>
      </p:sp>
      <p:sp>
        <p:nvSpPr>
          <p:cNvPr id="16" name="Text 14"/>
          <p:cNvSpPr txBox="1"/>
          <p:nvPr/>
        </p:nvSpPr>
        <p:spPr>
          <a:xfrm>
            <a:off x="987552" y="2935224"/>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Define overlay samples with the production team, including realistic pileup</a:t>
            </a:r>
            <a:endParaRPr lang="en-US" sz="1300" dirty="0"/>
          </a:p>
        </p:txBody>
      </p:sp>
      <p:sp>
        <p:nvSpPr>
          <p:cNvPr id="17" name="Shape 15"/>
          <p:cNvSpPr/>
          <p:nvPr/>
        </p:nvSpPr>
        <p:spPr>
          <a:xfrm>
            <a:off x="566928" y="3434225"/>
            <a:ext cx="274320" cy="274320"/>
          </a:xfrm>
          <a:prstGeom prst="ellipse">
            <a:avLst/>
          </a:prstGeom>
          <a:solidFill>
            <a:srgbClr val="FFFFFF"/>
          </a:solidFill>
          <a:ln w="15875">
            <a:solidFill>
              <a:srgbClr val="73000A"/>
            </a:solidFill>
            <a:prstDash val="solid"/>
          </a:ln>
        </p:spPr>
        <p:txBody>
          <a:bodyPr/>
          <a:lstStyle/>
          <a:p>
            <a:endParaRPr lang="en-US"/>
          </a:p>
        </p:txBody>
      </p:sp>
      <p:sp>
        <p:nvSpPr>
          <p:cNvPr id="18" name="Text 16"/>
          <p:cNvSpPr txBox="1"/>
          <p:nvPr/>
        </p:nvSpPr>
        <p:spPr>
          <a:xfrm>
            <a:off x="566928" y="3434225"/>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2</a:t>
            </a:r>
            <a:endParaRPr lang="en-US" sz="1000" dirty="0"/>
          </a:p>
        </p:txBody>
      </p:sp>
      <p:sp>
        <p:nvSpPr>
          <p:cNvPr id="19" name="Text 17"/>
          <p:cNvSpPr txBox="1"/>
          <p:nvPr/>
        </p:nvSpPr>
        <p:spPr>
          <a:xfrm>
            <a:off x="987552" y="3379361"/>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Study DIO, cosmic-ray, RPC/RMC, and beam backgrounds alone, then overlay and scale</a:t>
            </a:r>
            <a:endParaRPr lang="en-US" sz="1300" dirty="0"/>
          </a:p>
        </p:txBody>
      </p:sp>
      <p:sp>
        <p:nvSpPr>
          <p:cNvPr id="20" name="Shape 18"/>
          <p:cNvSpPr/>
          <p:nvPr/>
        </p:nvSpPr>
        <p:spPr>
          <a:xfrm>
            <a:off x="566928" y="3878362"/>
            <a:ext cx="274320" cy="274320"/>
          </a:xfrm>
          <a:prstGeom prst="ellipse">
            <a:avLst/>
          </a:prstGeom>
          <a:solidFill>
            <a:srgbClr val="FFFFFF"/>
          </a:solidFill>
          <a:ln w="15875">
            <a:solidFill>
              <a:srgbClr val="73000A"/>
            </a:solidFill>
            <a:prstDash val="solid"/>
          </a:ln>
        </p:spPr>
        <p:txBody>
          <a:bodyPr/>
          <a:lstStyle/>
          <a:p>
            <a:endParaRPr lang="en-US"/>
          </a:p>
        </p:txBody>
      </p:sp>
      <p:sp>
        <p:nvSpPr>
          <p:cNvPr id="21" name="Text 19"/>
          <p:cNvSpPr txBox="1"/>
          <p:nvPr/>
        </p:nvSpPr>
        <p:spPr>
          <a:xfrm>
            <a:off x="566928" y="3878362"/>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3</a:t>
            </a:r>
            <a:endParaRPr lang="en-US" sz="1000" dirty="0"/>
          </a:p>
        </p:txBody>
      </p:sp>
      <p:sp>
        <p:nvSpPr>
          <p:cNvPr id="22" name="Text 20"/>
          <p:cNvSpPr txBox="1"/>
          <p:nvPr/>
        </p:nvSpPr>
        <p:spPr>
          <a:xfrm>
            <a:off x="987552" y="3823498"/>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Measure DIO pileup at half field to set the required beam-intensity reduction</a:t>
            </a:r>
            <a:endParaRPr lang="en-US" sz="1300" dirty="0"/>
          </a:p>
        </p:txBody>
      </p:sp>
      <p:sp>
        <p:nvSpPr>
          <p:cNvPr id="23" name="Shape 21"/>
          <p:cNvSpPr/>
          <p:nvPr/>
        </p:nvSpPr>
        <p:spPr>
          <a:xfrm>
            <a:off x="566928" y="4322499"/>
            <a:ext cx="274320" cy="274320"/>
          </a:xfrm>
          <a:prstGeom prst="ellipse">
            <a:avLst/>
          </a:prstGeom>
          <a:solidFill>
            <a:srgbClr val="FFFFFF"/>
          </a:solidFill>
          <a:ln w="15875">
            <a:solidFill>
              <a:srgbClr val="73000A"/>
            </a:solidFill>
            <a:prstDash val="solid"/>
          </a:ln>
        </p:spPr>
        <p:txBody>
          <a:bodyPr/>
          <a:lstStyle/>
          <a:p>
            <a:endParaRPr lang="en-US"/>
          </a:p>
        </p:txBody>
      </p:sp>
      <p:sp>
        <p:nvSpPr>
          <p:cNvPr id="24" name="Text 22"/>
          <p:cNvSpPr txBox="1"/>
          <p:nvPr/>
        </p:nvSpPr>
        <p:spPr>
          <a:xfrm>
            <a:off x="566928" y="4322499"/>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987552" y="4267635"/>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Quantify occupancy and combinatoric effects on tracking, vertexing, and efficiency</a:t>
            </a:r>
            <a:endParaRPr lang="en-US" sz="1300" dirty="0"/>
          </a:p>
        </p:txBody>
      </p:sp>
      <p:sp>
        <p:nvSpPr>
          <p:cNvPr id="26" name="Shape 24"/>
          <p:cNvSpPr/>
          <p:nvPr/>
        </p:nvSpPr>
        <p:spPr>
          <a:xfrm>
            <a:off x="566928" y="4766637"/>
            <a:ext cx="274320" cy="274320"/>
          </a:xfrm>
          <a:prstGeom prst="ellipse">
            <a:avLst/>
          </a:prstGeom>
          <a:solidFill>
            <a:srgbClr val="FFFFFF"/>
          </a:solidFill>
          <a:ln w="15875">
            <a:solidFill>
              <a:srgbClr val="73000A"/>
            </a:solidFill>
            <a:prstDash val="solid"/>
          </a:ln>
        </p:spPr>
        <p:txBody>
          <a:bodyPr/>
          <a:lstStyle/>
          <a:p>
            <a:endParaRPr lang="en-US"/>
          </a:p>
        </p:txBody>
      </p:sp>
      <p:sp>
        <p:nvSpPr>
          <p:cNvPr id="27" name="Text 25"/>
          <p:cNvSpPr txBox="1"/>
          <p:nvPr/>
        </p:nvSpPr>
        <p:spPr>
          <a:xfrm>
            <a:off x="566928" y="4766637"/>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5</a:t>
            </a:r>
            <a:endParaRPr lang="en-US" sz="1000" dirty="0"/>
          </a:p>
        </p:txBody>
      </p:sp>
      <p:sp>
        <p:nvSpPr>
          <p:cNvPr id="28" name="Text 26"/>
          <p:cNvSpPr txBox="1"/>
          <p:nvPr/>
        </p:nvSpPr>
        <p:spPr>
          <a:xfrm>
            <a:off x="987552" y="4711773"/>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Characterize backgrounds with kinematics, timing, vertex consistency, calorimeter, and CRV</a:t>
            </a:r>
            <a:endParaRPr lang="en-US" sz="1300" dirty="0"/>
          </a:p>
        </p:txBody>
      </p:sp>
      <p:sp>
        <p:nvSpPr>
          <p:cNvPr id="29" name="Shape 27"/>
          <p:cNvSpPr/>
          <p:nvPr/>
        </p:nvSpPr>
        <p:spPr>
          <a:xfrm>
            <a:off x="566928" y="5210774"/>
            <a:ext cx="274320" cy="274320"/>
          </a:xfrm>
          <a:prstGeom prst="ellipse">
            <a:avLst/>
          </a:prstGeom>
          <a:solidFill>
            <a:srgbClr val="FFFFFF"/>
          </a:solidFill>
          <a:ln w="15875">
            <a:solidFill>
              <a:srgbClr val="73000A"/>
            </a:solidFill>
            <a:prstDash val="solid"/>
          </a:ln>
        </p:spPr>
        <p:txBody>
          <a:bodyPr/>
          <a:lstStyle/>
          <a:p>
            <a:endParaRPr lang="en-US"/>
          </a:p>
        </p:txBody>
      </p:sp>
      <p:sp>
        <p:nvSpPr>
          <p:cNvPr id="30" name="Text 28"/>
          <p:cNvSpPr txBox="1"/>
          <p:nvPr/>
        </p:nvSpPr>
        <p:spPr>
          <a:xfrm>
            <a:off x="566928" y="5210774"/>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6</a:t>
            </a:r>
            <a:endParaRPr lang="en-US" sz="1000" dirty="0"/>
          </a:p>
        </p:txBody>
      </p:sp>
      <p:sp>
        <p:nvSpPr>
          <p:cNvPr id="31" name="Text 29"/>
          <p:cNvSpPr txBox="1"/>
          <p:nvPr/>
        </p:nvSpPr>
        <p:spPr>
          <a:xfrm>
            <a:off x="987552" y="5155910"/>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Configure the multi-track trigger with the Mu2e trigger group</a:t>
            </a:r>
            <a:endParaRPr lang="en-US" sz="1300" dirty="0"/>
          </a:p>
        </p:txBody>
      </p:sp>
      <p:sp>
        <p:nvSpPr>
          <p:cNvPr id="32" name="Shape 30"/>
          <p:cNvSpPr/>
          <p:nvPr/>
        </p:nvSpPr>
        <p:spPr>
          <a:xfrm>
            <a:off x="566928" y="5654911"/>
            <a:ext cx="274320" cy="274320"/>
          </a:xfrm>
          <a:prstGeom prst="ellipse">
            <a:avLst/>
          </a:prstGeom>
          <a:solidFill>
            <a:srgbClr val="FFFFFF"/>
          </a:solidFill>
          <a:ln w="15875">
            <a:solidFill>
              <a:srgbClr val="73000A"/>
            </a:solidFill>
            <a:prstDash val="solid"/>
          </a:ln>
        </p:spPr>
        <p:txBody>
          <a:bodyPr/>
          <a:lstStyle/>
          <a:p>
            <a:endParaRPr lang="en-US"/>
          </a:p>
        </p:txBody>
      </p:sp>
      <p:sp>
        <p:nvSpPr>
          <p:cNvPr id="33" name="Text 31"/>
          <p:cNvSpPr txBox="1"/>
          <p:nvPr/>
        </p:nvSpPr>
        <p:spPr>
          <a:xfrm>
            <a:off x="566928" y="5654911"/>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7</a:t>
            </a:r>
            <a:endParaRPr lang="en-US" sz="1000" dirty="0"/>
          </a:p>
        </p:txBody>
      </p:sp>
      <p:sp>
        <p:nvSpPr>
          <p:cNvPr id="34" name="Text 32"/>
          <p:cNvSpPr txBox="1"/>
          <p:nvPr/>
        </p:nvSpPr>
        <p:spPr>
          <a:xfrm>
            <a:off x="987552" y="5600047"/>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Feed background yields, efficiency, and systematics into the sensitivity</a:t>
            </a:r>
            <a:endParaRPr lang="en-US" sz="1300" dirty="0"/>
          </a:p>
        </p:txBody>
      </p:sp>
      <p:sp>
        <p:nvSpPr>
          <p:cNvPr id="35" name="Shape 33"/>
          <p:cNvSpPr/>
          <p:nvPr/>
        </p:nvSpPr>
        <p:spPr>
          <a:xfrm>
            <a:off x="6720840" y="2514600"/>
            <a:ext cx="5010912" cy="3657600"/>
          </a:xfrm>
          <a:prstGeom prst="roundRect">
            <a:avLst>
              <a:gd name="adj" fmla="val 2500"/>
            </a:avLst>
          </a:prstGeom>
          <a:solidFill>
            <a:srgbClr val="F4F0F0"/>
          </a:solidFill>
          <a:ln/>
        </p:spPr>
        <p:txBody>
          <a:bodyPr/>
          <a:lstStyle/>
          <a:p>
            <a:endParaRPr lang="en-US"/>
          </a:p>
        </p:txBody>
      </p:sp>
      <p:sp>
        <p:nvSpPr>
          <p:cNvPr id="36" name="Text 34"/>
          <p:cNvSpPr txBox="1"/>
          <p:nvPr/>
        </p:nvSpPr>
        <p:spPr>
          <a:xfrm>
            <a:off x="6949440" y="2624328"/>
            <a:ext cx="4645152" cy="329184"/>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Deliverables</a:t>
            </a:r>
            <a:endParaRPr lang="en-US" sz="1600" dirty="0"/>
          </a:p>
        </p:txBody>
      </p:sp>
      <p:sp>
        <p:nvSpPr>
          <p:cNvPr id="37" name="Shape 35"/>
          <p:cNvSpPr/>
          <p:nvPr/>
        </p:nvSpPr>
        <p:spPr>
          <a:xfrm>
            <a:off x="6976872" y="3127248"/>
            <a:ext cx="146304" cy="146304"/>
          </a:xfrm>
          <a:prstGeom prst="rect">
            <a:avLst/>
          </a:prstGeom>
          <a:solidFill>
            <a:srgbClr val="73000A"/>
          </a:solidFill>
          <a:ln/>
        </p:spPr>
        <p:txBody>
          <a:bodyPr/>
          <a:lstStyle/>
          <a:p>
            <a:endParaRPr lang="en-US"/>
          </a:p>
        </p:txBody>
      </p:sp>
      <p:sp>
        <p:nvSpPr>
          <p:cNvPr id="38" name="Text 36"/>
          <p:cNvSpPr txBox="1"/>
          <p:nvPr/>
        </p:nvSpPr>
        <p:spPr>
          <a:xfrm>
            <a:off x="7269480" y="30449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Analyzable pure-signal and mixed simulation samples</a:t>
            </a:r>
            <a:endParaRPr lang="en-US" sz="1250" dirty="0"/>
          </a:p>
        </p:txBody>
      </p:sp>
      <p:sp>
        <p:nvSpPr>
          <p:cNvPr id="39" name="Shape 37"/>
          <p:cNvSpPr/>
          <p:nvPr/>
        </p:nvSpPr>
        <p:spPr>
          <a:xfrm>
            <a:off x="6976872" y="3529584"/>
            <a:ext cx="146304" cy="146304"/>
          </a:xfrm>
          <a:prstGeom prst="rect">
            <a:avLst/>
          </a:prstGeom>
          <a:solidFill>
            <a:srgbClr val="73000A"/>
          </a:solidFill>
          <a:ln/>
        </p:spPr>
        <p:txBody>
          <a:bodyPr/>
          <a:lstStyle/>
          <a:p>
            <a:endParaRPr lang="en-US"/>
          </a:p>
        </p:txBody>
      </p:sp>
      <p:sp>
        <p:nvSpPr>
          <p:cNvPr id="40" name="Text 38"/>
          <p:cNvSpPr txBox="1"/>
          <p:nvPr/>
        </p:nvSpPr>
        <p:spPr>
          <a:xfrm>
            <a:off x="7269480" y="3447288"/>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Reconstructed DIO, cosmic-ray, RPC/RMC, and beam-related samples</a:t>
            </a:r>
            <a:endParaRPr lang="en-US" sz="1250" dirty="0"/>
          </a:p>
        </p:txBody>
      </p:sp>
      <p:sp>
        <p:nvSpPr>
          <p:cNvPr id="41" name="Shape 39"/>
          <p:cNvSpPr/>
          <p:nvPr/>
        </p:nvSpPr>
        <p:spPr>
          <a:xfrm>
            <a:off x="6976872" y="3931920"/>
            <a:ext cx="146304" cy="146304"/>
          </a:xfrm>
          <a:prstGeom prst="rect">
            <a:avLst/>
          </a:prstGeom>
          <a:solidFill>
            <a:srgbClr val="73000A"/>
          </a:solidFill>
          <a:ln/>
        </p:spPr>
        <p:txBody>
          <a:bodyPr/>
          <a:lstStyle/>
          <a:p>
            <a:endParaRPr lang="en-US"/>
          </a:p>
        </p:txBody>
      </p:sp>
      <p:sp>
        <p:nvSpPr>
          <p:cNvPr id="42" name="Text 40"/>
          <p:cNvSpPr txBox="1"/>
          <p:nvPr/>
        </p:nvSpPr>
        <p:spPr>
          <a:xfrm>
            <a:off x="7269480" y="3849624"/>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Occupancy, pileup, and combinatoric characterization</a:t>
            </a:r>
            <a:endParaRPr lang="en-US" sz="1250" dirty="0"/>
          </a:p>
        </p:txBody>
      </p:sp>
      <p:sp>
        <p:nvSpPr>
          <p:cNvPr id="43" name="Shape 41"/>
          <p:cNvSpPr/>
          <p:nvPr/>
        </p:nvSpPr>
        <p:spPr>
          <a:xfrm>
            <a:off x="6976872" y="4334256"/>
            <a:ext cx="146304" cy="146304"/>
          </a:xfrm>
          <a:prstGeom prst="rect">
            <a:avLst/>
          </a:prstGeom>
          <a:solidFill>
            <a:srgbClr val="73000A"/>
          </a:solidFill>
          <a:ln/>
        </p:spPr>
        <p:txBody>
          <a:bodyPr/>
          <a:lstStyle/>
          <a:p>
            <a:endParaRPr lang="en-US"/>
          </a:p>
        </p:txBody>
      </p:sp>
      <p:sp>
        <p:nvSpPr>
          <p:cNvPr id="44" name="Text 42"/>
          <p:cNvSpPr txBox="1"/>
          <p:nvPr/>
        </p:nvSpPr>
        <p:spPr>
          <a:xfrm>
            <a:off x="7269480" y="4251960"/>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Robust signal–background track discrimination</a:t>
            </a:r>
            <a:endParaRPr lang="en-US" sz="1250" dirty="0"/>
          </a:p>
        </p:txBody>
      </p:sp>
      <p:sp>
        <p:nvSpPr>
          <p:cNvPr id="45" name="Shape 43"/>
          <p:cNvSpPr/>
          <p:nvPr/>
        </p:nvSpPr>
        <p:spPr>
          <a:xfrm>
            <a:off x="6976872" y="4736592"/>
            <a:ext cx="146304" cy="146304"/>
          </a:xfrm>
          <a:prstGeom prst="rect">
            <a:avLst/>
          </a:prstGeom>
          <a:solidFill>
            <a:srgbClr val="73000A"/>
          </a:solidFill>
          <a:ln/>
        </p:spPr>
        <p:txBody>
          <a:bodyPr/>
          <a:lstStyle/>
          <a:p>
            <a:endParaRPr lang="en-US"/>
          </a:p>
        </p:txBody>
      </p:sp>
      <p:sp>
        <p:nvSpPr>
          <p:cNvPr id="46" name="Text 44"/>
          <p:cNvSpPr txBox="1"/>
          <p:nvPr/>
        </p:nvSpPr>
        <p:spPr>
          <a:xfrm>
            <a:off x="7269480" y="4654296"/>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Validated background yields, efficiency, and systematic inputs</a:t>
            </a:r>
            <a:endParaRPr lang="en-US" sz="1250" dirty="0"/>
          </a:p>
        </p:txBody>
      </p:sp>
      <p:sp>
        <p:nvSpPr>
          <p:cNvPr id="47" name="Shape 45"/>
          <p:cNvSpPr/>
          <p:nvPr/>
        </p:nvSpPr>
        <p:spPr>
          <a:xfrm>
            <a:off x="6949440" y="5440680"/>
            <a:ext cx="4553712" cy="0"/>
          </a:xfrm>
          <a:prstGeom prst="line">
            <a:avLst/>
          </a:prstGeom>
          <a:noFill/>
          <a:ln w="12700">
            <a:solidFill>
              <a:srgbClr val="D9C4C6"/>
            </a:solidFill>
            <a:prstDash val="solid"/>
          </a:ln>
        </p:spPr>
        <p:txBody>
          <a:bodyPr/>
          <a:lstStyle/>
          <a:p>
            <a:endParaRPr lang="en-US"/>
          </a:p>
        </p:txBody>
      </p:sp>
      <p:sp>
        <p:nvSpPr>
          <p:cNvPr id="48" name="Text 46"/>
          <p:cNvSpPr txBox="1"/>
          <p:nvPr/>
        </p:nvSpPr>
        <p:spPr>
          <a:xfrm>
            <a:off x="6949440" y="5513832"/>
            <a:ext cx="4645152" cy="256032"/>
          </a:xfrm>
          <a:prstGeom prst="rect">
            <a:avLst/>
          </a:prstGeom>
          <a:noFill/>
          <a:ln/>
        </p:spPr>
        <p:txBody>
          <a:bodyPr wrap="square" lIns="0" tIns="0" rIns="0" bIns="0" rtlCol="0" anchor="ctr"/>
          <a:lstStyle/>
          <a:p>
            <a:pPr marL="0" indent="0">
              <a:buNone/>
            </a:pPr>
            <a:r>
              <a:rPr lang="en-US" sz="1200" b="1" dirty="0">
                <a:solidFill>
                  <a:srgbClr val="73000A"/>
                </a:solidFill>
                <a:latin typeface="Calibri" pitchFamily="34" charset="0"/>
                <a:ea typeface="Calibri" pitchFamily="34" charset="-122"/>
                <a:cs typeface="Calibri" pitchFamily="34" charset="-120"/>
              </a:rPr>
              <a:t>Write-ups</a:t>
            </a:r>
            <a:endParaRPr lang="en-US" sz="1200" dirty="0"/>
          </a:p>
        </p:txBody>
      </p:sp>
      <p:sp>
        <p:nvSpPr>
          <p:cNvPr id="49" name="Shape 47"/>
          <p:cNvSpPr/>
          <p:nvPr/>
        </p:nvSpPr>
        <p:spPr>
          <a:xfrm>
            <a:off x="6976872" y="5861304"/>
            <a:ext cx="146304" cy="146304"/>
          </a:xfrm>
          <a:prstGeom prst="rect">
            <a:avLst/>
          </a:prstGeom>
          <a:solidFill>
            <a:srgbClr val="FFFFFF"/>
          </a:solidFill>
          <a:ln w="15875">
            <a:solidFill>
              <a:srgbClr val="73000A"/>
            </a:solidFill>
            <a:prstDash val="solid"/>
          </a:ln>
        </p:spPr>
        <p:txBody>
          <a:bodyPr/>
          <a:lstStyle/>
          <a:p>
            <a:endParaRPr lang="en-US"/>
          </a:p>
        </p:txBody>
      </p:sp>
      <p:sp>
        <p:nvSpPr>
          <p:cNvPr id="50" name="Text 48"/>
          <p:cNvSpPr txBox="1"/>
          <p:nvPr/>
        </p:nvSpPr>
        <p:spPr>
          <a:xfrm>
            <a:off x="7269480" y="5788152"/>
            <a:ext cx="4279392" cy="274320"/>
          </a:xfrm>
          <a:prstGeom prst="rect">
            <a:avLst/>
          </a:prstGeom>
          <a:noFill/>
          <a:ln/>
        </p:spPr>
        <p:txBody>
          <a:bodyPr wrap="square" lIns="0" tIns="0" rIns="0" bIns="0" rtlCol="0" anchor="ctr"/>
          <a:lstStyle/>
          <a:p>
            <a:pPr marL="0" indent="0">
              <a:buNone/>
            </a:pPr>
            <a:r>
              <a:rPr lang="en-US" sz="1200" i="1" dirty="0">
                <a:solidFill>
                  <a:srgbClr val="333333"/>
                </a:solidFill>
                <a:latin typeface="Calibri" pitchFamily="34" charset="0"/>
                <a:ea typeface="Calibri" pitchFamily="34" charset="-122"/>
                <a:cs typeface="Calibri" pitchFamily="34" charset="-120"/>
              </a:rPr>
              <a:t>Proposal to Mu2e for dedicated half-field running</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47472"/>
            <a:ext cx="512064" cy="512064"/>
          </a:xfrm>
          <a:prstGeom prst="ellipse">
            <a:avLst/>
          </a:prstGeom>
          <a:solidFill>
            <a:srgbClr val="73000A"/>
          </a:solidFill>
          <a:ln/>
        </p:spPr>
        <p:txBody>
          <a:bodyPr/>
          <a:lstStyle/>
          <a:p>
            <a:endParaRPr lang="en-US"/>
          </a:p>
        </p:txBody>
      </p:sp>
      <p:sp>
        <p:nvSpPr>
          <p:cNvPr id="3" name="Text 1"/>
          <p:cNvSpPr txBox="1"/>
          <p:nvPr/>
        </p:nvSpPr>
        <p:spPr>
          <a:xfrm>
            <a:off x="548640" y="34747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 name="Text 2"/>
          <p:cNvSpPr txBox="1"/>
          <p:nvPr/>
        </p:nvSpPr>
        <p:spPr>
          <a:xfrm>
            <a:off x="1234440" y="320040"/>
            <a:ext cx="10424160" cy="566928"/>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Theoretical Refinement of the Generator</a:t>
            </a:r>
            <a:endParaRPr lang="en-US" sz="2800" dirty="0"/>
          </a:p>
        </p:txBody>
      </p:sp>
      <p:sp>
        <p:nvSpPr>
          <p:cNvPr id="5" name="Text 3"/>
          <p:cNvSpPr txBox="1"/>
          <p:nvPr/>
        </p:nvSpPr>
        <p:spPr>
          <a:xfrm>
            <a:off x="1234440" y="896112"/>
            <a:ext cx="1042416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Goal 3 of 4  |  Fall 2027 to Spring 2028</a:t>
            </a:r>
            <a:endParaRPr lang="en-US" sz="1600" dirty="0"/>
          </a:p>
        </p:txBody>
      </p:sp>
      <p:sp>
        <p:nvSpPr>
          <p:cNvPr id="6" name="Shape 4"/>
          <p:cNvSpPr/>
          <p:nvPr/>
        </p:nvSpPr>
        <p:spPr>
          <a:xfrm>
            <a:off x="548640" y="1463040"/>
            <a:ext cx="5120640" cy="777240"/>
          </a:xfrm>
          <a:prstGeom prst="roundRect">
            <a:avLst>
              <a:gd name="adj" fmla="val 11765"/>
            </a:avLst>
          </a:prstGeom>
          <a:solidFill>
            <a:srgbClr val="F2F2F2"/>
          </a:solidFill>
          <a:ln/>
        </p:spPr>
        <p:txBody>
          <a:bodyPr/>
          <a:lstStyle/>
          <a:p>
            <a:endParaRPr lang="en-US"/>
          </a:p>
        </p:txBody>
      </p:sp>
      <p:sp>
        <p:nvSpPr>
          <p:cNvPr id="7" name="Text 5"/>
          <p:cNvSpPr txBox="1"/>
          <p:nvPr/>
        </p:nvSpPr>
        <p:spPr>
          <a:xfrm>
            <a:off x="731520" y="1554480"/>
            <a:ext cx="1371600" cy="228600"/>
          </a:xfrm>
          <a:prstGeom prst="rect">
            <a:avLst/>
          </a:prstGeom>
          <a:noFill/>
          <a:ln/>
        </p:spPr>
        <p:txBody>
          <a:bodyPr wrap="square" lIns="0" tIns="0" rIns="0" bIns="0" rtlCol="0" anchor="ctr"/>
          <a:lstStyle/>
          <a:p>
            <a:pPr marL="0" indent="0">
              <a:buNone/>
            </a:pPr>
            <a:r>
              <a:rPr lang="en-US" sz="1100" b="1" kern="0" spc="200" dirty="0">
                <a:solidFill>
                  <a:srgbClr val="6A6A6A"/>
                </a:solidFill>
                <a:latin typeface="Calibri" pitchFamily="34" charset="0"/>
                <a:ea typeface="Calibri" pitchFamily="34" charset="-122"/>
                <a:cs typeface="Calibri" pitchFamily="34" charset="-120"/>
              </a:rPr>
              <a:t>NOW</a:t>
            </a:r>
            <a:endParaRPr lang="en-US" sz="1100" dirty="0"/>
          </a:p>
        </p:txBody>
      </p:sp>
      <p:sp>
        <p:nvSpPr>
          <p:cNvPr id="8" name="Text 6"/>
          <p:cNvSpPr txBox="1"/>
          <p:nvPr/>
        </p:nvSpPr>
        <p:spPr>
          <a:xfrm>
            <a:off x="731520" y="1792224"/>
            <a:ext cx="4800600" cy="384048"/>
          </a:xfrm>
          <a:prstGeom prst="rect">
            <a:avLst/>
          </a:prstGeom>
          <a:noFill/>
          <a:ln/>
        </p:spPr>
        <p:txBody>
          <a:bodyPr wrap="square" lIns="0" tIns="0" rIns="0" bIns="0" rtlCol="0" anchor="t"/>
          <a:lstStyle/>
          <a:p>
            <a:pPr marL="0" indent="0">
              <a:buNone/>
            </a:pPr>
            <a:r>
              <a:rPr lang="en-US" sz="1300" dirty="0">
                <a:solidFill>
                  <a:srgbClr val="4A4A4A"/>
                </a:solidFill>
                <a:latin typeface="Calibri" pitchFamily="34" charset="0"/>
                <a:ea typeface="Calibri" pitchFamily="34" charset="-122"/>
                <a:cs typeface="Calibri" pitchFamily="34" charset="-120"/>
              </a:rPr>
              <a:t>Toy generator: equal-energy, isotropic, exactly back-to-back electrons</a:t>
            </a:r>
            <a:endParaRPr lang="en-US" sz="1300" dirty="0"/>
          </a:p>
        </p:txBody>
      </p:sp>
      <p:sp>
        <p:nvSpPr>
          <p:cNvPr id="9" name="Shape 7"/>
          <p:cNvSpPr/>
          <p:nvPr/>
        </p:nvSpPr>
        <p:spPr>
          <a:xfrm>
            <a:off x="5779008" y="1691640"/>
            <a:ext cx="457200" cy="320040"/>
          </a:xfrm>
          <a:prstGeom prst="rightArrow">
            <a:avLst/>
          </a:prstGeom>
          <a:solidFill>
            <a:srgbClr val="73000A"/>
          </a:solidFill>
          <a:ln/>
        </p:spPr>
        <p:txBody>
          <a:bodyPr/>
          <a:lstStyle/>
          <a:p>
            <a:endParaRPr lang="en-US"/>
          </a:p>
        </p:txBody>
      </p:sp>
      <p:sp>
        <p:nvSpPr>
          <p:cNvPr id="10" name="Shape 8"/>
          <p:cNvSpPr/>
          <p:nvPr/>
        </p:nvSpPr>
        <p:spPr>
          <a:xfrm>
            <a:off x="6355080" y="1463040"/>
            <a:ext cx="5376672" cy="777240"/>
          </a:xfrm>
          <a:prstGeom prst="roundRect">
            <a:avLst>
              <a:gd name="adj" fmla="val 11765"/>
            </a:avLst>
          </a:prstGeom>
          <a:solidFill>
            <a:srgbClr val="F4E6E7"/>
          </a:solidFill>
          <a:ln w="15875">
            <a:solidFill>
              <a:srgbClr val="73000A"/>
            </a:solidFill>
            <a:prstDash val="solid"/>
          </a:ln>
        </p:spPr>
        <p:txBody>
          <a:bodyPr/>
          <a:lstStyle/>
          <a:p>
            <a:endParaRPr lang="en-US"/>
          </a:p>
        </p:txBody>
      </p:sp>
      <p:sp>
        <p:nvSpPr>
          <p:cNvPr id="11" name="Text 9"/>
          <p:cNvSpPr txBox="1"/>
          <p:nvPr/>
        </p:nvSpPr>
        <p:spPr>
          <a:xfrm>
            <a:off x="6537960" y="1554480"/>
            <a:ext cx="1371600" cy="228600"/>
          </a:xfrm>
          <a:prstGeom prst="rect">
            <a:avLst/>
          </a:prstGeom>
          <a:noFill/>
          <a:ln/>
        </p:spPr>
        <p:txBody>
          <a:bodyPr wrap="square" lIns="0" tIns="0" rIns="0" bIns="0" rtlCol="0" anchor="ctr"/>
          <a:lstStyle/>
          <a:p>
            <a:pPr marL="0" indent="0">
              <a:buNone/>
            </a:pPr>
            <a:r>
              <a:rPr lang="en-US" sz="1100" b="1" kern="0" spc="200" dirty="0">
                <a:solidFill>
                  <a:srgbClr val="73000A"/>
                </a:solidFill>
                <a:latin typeface="Calibri" pitchFamily="34" charset="0"/>
                <a:ea typeface="Calibri" pitchFamily="34" charset="-122"/>
                <a:cs typeface="Calibri" pitchFamily="34" charset="-120"/>
              </a:rPr>
              <a:t>TARGET</a:t>
            </a:r>
            <a:endParaRPr lang="en-US" sz="1100" dirty="0"/>
          </a:p>
        </p:txBody>
      </p:sp>
      <p:sp>
        <p:nvSpPr>
          <p:cNvPr id="12" name="Text 10"/>
          <p:cNvSpPr txBox="1"/>
          <p:nvPr/>
        </p:nvSpPr>
        <p:spPr>
          <a:xfrm>
            <a:off x="6537960" y="1792224"/>
            <a:ext cx="5074920" cy="384048"/>
          </a:xfrm>
          <a:prstGeom prst="rect">
            <a:avLst/>
          </a:prstGeom>
          <a:noFill/>
          <a:ln/>
        </p:spPr>
        <p:txBody>
          <a:bodyPr wrap="square" lIns="0" tIns="0" rIns="0" bIns="0" rtlCol="0" anchor="t"/>
          <a:lstStyle/>
          <a:p>
            <a:pPr marL="0" indent="0">
              <a:buNone/>
            </a:pPr>
            <a:r>
              <a:rPr lang="en-US" sz="1300" b="1" dirty="0">
                <a:solidFill>
                  <a:srgbClr val="1A1A1A"/>
                </a:solidFill>
                <a:latin typeface="Calibri" pitchFamily="34" charset="0"/>
                <a:ea typeface="Calibri" pitchFamily="34" charset="-122"/>
                <a:cs typeface="Calibri" pitchFamily="34" charset="-120"/>
              </a:rPr>
              <a:t>Theory-weighted, recoil-aware generator with correlated energy and angle</a:t>
            </a:r>
            <a:endParaRPr lang="en-US" sz="1300" dirty="0"/>
          </a:p>
        </p:txBody>
      </p:sp>
      <p:sp>
        <p:nvSpPr>
          <p:cNvPr id="13" name="Text 11"/>
          <p:cNvSpPr txBox="1"/>
          <p:nvPr/>
        </p:nvSpPr>
        <p:spPr>
          <a:xfrm>
            <a:off x="548640" y="2514600"/>
            <a:ext cx="5486400" cy="329184"/>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Approach</a:t>
            </a:r>
            <a:endParaRPr lang="en-US" sz="1600" dirty="0"/>
          </a:p>
        </p:txBody>
      </p:sp>
      <p:sp>
        <p:nvSpPr>
          <p:cNvPr id="14" name="Shape 12"/>
          <p:cNvSpPr/>
          <p:nvPr/>
        </p:nvSpPr>
        <p:spPr>
          <a:xfrm>
            <a:off x="566928" y="2990088"/>
            <a:ext cx="274320" cy="274320"/>
          </a:xfrm>
          <a:prstGeom prst="ellipse">
            <a:avLst/>
          </a:prstGeom>
          <a:solidFill>
            <a:srgbClr val="FFFFFF"/>
          </a:solidFill>
          <a:ln w="15875">
            <a:solidFill>
              <a:srgbClr val="73000A"/>
            </a:solidFill>
            <a:prstDash val="solid"/>
          </a:ln>
        </p:spPr>
        <p:txBody>
          <a:bodyPr/>
          <a:lstStyle/>
          <a:p>
            <a:endParaRPr lang="en-US"/>
          </a:p>
        </p:txBody>
      </p:sp>
      <p:sp>
        <p:nvSpPr>
          <p:cNvPr id="15" name="Text 13"/>
          <p:cNvSpPr txBox="1"/>
          <p:nvPr/>
        </p:nvSpPr>
        <p:spPr>
          <a:xfrm>
            <a:off x="566928" y="2990088"/>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1</a:t>
            </a:r>
            <a:endParaRPr lang="en-US" sz="1000" dirty="0"/>
          </a:p>
        </p:txBody>
      </p:sp>
      <p:sp>
        <p:nvSpPr>
          <p:cNvPr id="16" name="Text 14"/>
          <p:cNvSpPr txBox="1"/>
          <p:nvPr/>
        </p:nvSpPr>
        <p:spPr>
          <a:xfrm>
            <a:off x="987552" y="2935224"/>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Replace toy kinematics with theory-derived energy and opening-angle distributions</a:t>
            </a:r>
            <a:endParaRPr lang="en-US" sz="1300" dirty="0"/>
          </a:p>
        </p:txBody>
      </p:sp>
      <p:sp>
        <p:nvSpPr>
          <p:cNvPr id="17" name="Shape 15"/>
          <p:cNvSpPr/>
          <p:nvPr/>
        </p:nvSpPr>
        <p:spPr>
          <a:xfrm>
            <a:off x="566928" y="3502152"/>
            <a:ext cx="274320" cy="274320"/>
          </a:xfrm>
          <a:prstGeom prst="ellipse">
            <a:avLst/>
          </a:prstGeom>
          <a:solidFill>
            <a:srgbClr val="FFFFFF"/>
          </a:solidFill>
          <a:ln w="15875">
            <a:solidFill>
              <a:srgbClr val="73000A"/>
            </a:solidFill>
            <a:prstDash val="solid"/>
          </a:ln>
        </p:spPr>
        <p:txBody>
          <a:bodyPr/>
          <a:lstStyle/>
          <a:p>
            <a:endParaRPr lang="en-US"/>
          </a:p>
        </p:txBody>
      </p:sp>
      <p:sp>
        <p:nvSpPr>
          <p:cNvPr id="18" name="Text 16"/>
          <p:cNvSpPr txBox="1"/>
          <p:nvPr/>
        </p:nvSpPr>
        <p:spPr>
          <a:xfrm>
            <a:off x="566928" y="3502152"/>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2</a:t>
            </a:r>
            <a:endParaRPr lang="en-US" sz="1000" dirty="0"/>
          </a:p>
        </p:txBody>
      </p:sp>
      <p:sp>
        <p:nvSpPr>
          <p:cNvPr id="19" name="Text 17"/>
          <p:cNvSpPr txBox="1"/>
          <p:nvPr/>
        </p:nvSpPr>
        <p:spPr>
          <a:xfrm>
            <a:off x="987552" y="3447288"/>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Weight photonic and contact interactions by their relative probabilities</a:t>
            </a:r>
            <a:endParaRPr lang="en-US" sz="1300" dirty="0"/>
          </a:p>
        </p:txBody>
      </p:sp>
      <p:sp>
        <p:nvSpPr>
          <p:cNvPr id="20" name="Shape 18"/>
          <p:cNvSpPr/>
          <p:nvPr/>
        </p:nvSpPr>
        <p:spPr>
          <a:xfrm>
            <a:off x="566928" y="4014216"/>
            <a:ext cx="274320" cy="274320"/>
          </a:xfrm>
          <a:prstGeom prst="ellipse">
            <a:avLst/>
          </a:prstGeom>
          <a:solidFill>
            <a:srgbClr val="FFFFFF"/>
          </a:solidFill>
          <a:ln w="15875">
            <a:solidFill>
              <a:srgbClr val="73000A"/>
            </a:solidFill>
            <a:prstDash val="solid"/>
          </a:ln>
        </p:spPr>
        <p:txBody>
          <a:bodyPr/>
          <a:lstStyle/>
          <a:p>
            <a:endParaRPr lang="en-US"/>
          </a:p>
        </p:txBody>
      </p:sp>
      <p:sp>
        <p:nvSpPr>
          <p:cNvPr id="21" name="Text 19"/>
          <p:cNvSpPr txBox="1"/>
          <p:nvPr/>
        </p:nvSpPr>
        <p:spPr>
          <a:xfrm>
            <a:off x="566928" y="4014216"/>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3</a:t>
            </a:r>
            <a:endParaRPr lang="en-US" sz="1000" dirty="0"/>
          </a:p>
        </p:txBody>
      </p:sp>
      <p:sp>
        <p:nvSpPr>
          <p:cNvPr id="22" name="Text 20"/>
          <p:cNvSpPr txBox="1"/>
          <p:nvPr/>
        </p:nvSpPr>
        <p:spPr>
          <a:xfrm>
            <a:off x="987552" y="3959352"/>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Include muonic-aluminum bound-state effects and nuclear recoil (Z = 13)</a:t>
            </a:r>
            <a:endParaRPr lang="en-US" sz="1300" dirty="0"/>
          </a:p>
        </p:txBody>
      </p:sp>
      <p:sp>
        <p:nvSpPr>
          <p:cNvPr id="23" name="Shape 21"/>
          <p:cNvSpPr/>
          <p:nvPr/>
        </p:nvSpPr>
        <p:spPr>
          <a:xfrm>
            <a:off x="566928" y="4526280"/>
            <a:ext cx="274320" cy="274320"/>
          </a:xfrm>
          <a:prstGeom prst="ellipse">
            <a:avLst/>
          </a:prstGeom>
          <a:solidFill>
            <a:srgbClr val="FFFFFF"/>
          </a:solidFill>
          <a:ln w="15875">
            <a:solidFill>
              <a:srgbClr val="73000A"/>
            </a:solidFill>
            <a:prstDash val="solid"/>
          </a:ln>
        </p:spPr>
        <p:txBody>
          <a:bodyPr/>
          <a:lstStyle/>
          <a:p>
            <a:endParaRPr lang="en-US"/>
          </a:p>
        </p:txBody>
      </p:sp>
      <p:sp>
        <p:nvSpPr>
          <p:cNvPr id="24" name="Text 22"/>
          <p:cNvSpPr txBox="1"/>
          <p:nvPr/>
        </p:nvSpPr>
        <p:spPr>
          <a:xfrm>
            <a:off x="566928" y="4526280"/>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987552" y="4471416"/>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Implement in Mu2e Offline with a reproducible, high-statistics workflow</a:t>
            </a:r>
            <a:endParaRPr lang="en-US" sz="1300" dirty="0"/>
          </a:p>
        </p:txBody>
      </p:sp>
      <p:sp>
        <p:nvSpPr>
          <p:cNvPr id="26" name="Shape 24"/>
          <p:cNvSpPr/>
          <p:nvPr/>
        </p:nvSpPr>
        <p:spPr>
          <a:xfrm>
            <a:off x="566928" y="5038344"/>
            <a:ext cx="274320" cy="274320"/>
          </a:xfrm>
          <a:prstGeom prst="ellipse">
            <a:avLst/>
          </a:prstGeom>
          <a:solidFill>
            <a:srgbClr val="FFFFFF"/>
          </a:solidFill>
          <a:ln w="15875">
            <a:solidFill>
              <a:srgbClr val="73000A"/>
            </a:solidFill>
            <a:prstDash val="solid"/>
          </a:ln>
        </p:spPr>
        <p:txBody>
          <a:bodyPr/>
          <a:lstStyle/>
          <a:p>
            <a:endParaRPr lang="en-US"/>
          </a:p>
        </p:txBody>
      </p:sp>
      <p:sp>
        <p:nvSpPr>
          <p:cNvPr id="27" name="Text 25"/>
          <p:cNvSpPr txBox="1"/>
          <p:nvPr/>
        </p:nvSpPr>
        <p:spPr>
          <a:xfrm>
            <a:off x="566928" y="5038344"/>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5</a:t>
            </a:r>
            <a:endParaRPr lang="en-US" sz="1000" dirty="0"/>
          </a:p>
        </p:txBody>
      </p:sp>
      <p:sp>
        <p:nvSpPr>
          <p:cNvPr id="28" name="Text 26"/>
          <p:cNvSpPr txBox="1"/>
          <p:nvPr/>
        </p:nvSpPr>
        <p:spPr>
          <a:xfrm>
            <a:off x="987552" y="4983480"/>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Validate at truth level against conservation laws and published predictions</a:t>
            </a:r>
            <a:endParaRPr lang="en-US" sz="1300" dirty="0"/>
          </a:p>
        </p:txBody>
      </p:sp>
      <p:sp>
        <p:nvSpPr>
          <p:cNvPr id="29" name="Shape 27"/>
          <p:cNvSpPr/>
          <p:nvPr/>
        </p:nvSpPr>
        <p:spPr>
          <a:xfrm>
            <a:off x="566928" y="5550408"/>
            <a:ext cx="274320" cy="274320"/>
          </a:xfrm>
          <a:prstGeom prst="ellipse">
            <a:avLst/>
          </a:prstGeom>
          <a:solidFill>
            <a:srgbClr val="FFFFFF"/>
          </a:solidFill>
          <a:ln w="15875">
            <a:solidFill>
              <a:srgbClr val="73000A"/>
            </a:solidFill>
            <a:prstDash val="solid"/>
          </a:ln>
        </p:spPr>
        <p:txBody>
          <a:bodyPr/>
          <a:lstStyle/>
          <a:p>
            <a:endParaRPr lang="en-US"/>
          </a:p>
        </p:txBody>
      </p:sp>
      <p:sp>
        <p:nvSpPr>
          <p:cNvPr id="30" name="Text 28"/>
          <p:cNvSpPr txBox="1"/>
          <p:nvPr/>
        </p:nvSpPr>
        <p:spPr>
          <a:xfrm>
            <a:off x="566928" y="5550408"/>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6</a:t>
            </a:r>
            <a:endParaRPr lang="en-US" sz="1000" dirty="0"/>
          </a:p>
        </p:txBody>
      </p:sp>
      <p:sp>
        <p:nvSpPr>
          <p:cNvPr id="31" name="Text 29"/>
          <p:cNvSpPr txBox="1"/>
          <p:nvPr/>
        </p:nvSpPr>
        <p:spPr>
          <a:xfrm>
            <a:off x="987552" y="5495544"/>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Propagate to acceptance, efficiency, vertexing, discrimination, and sensitivity</a:t>
            </a:r>
            <a:endParaRPr lang="en-US" sz="1300" dirty="0"/>
          </a:p>
        </p:txBody>
      </p:sp>
      <p:sp>
        <p:nvSpPr>
          <p:cNvPr id="32" name="Shape 30"/>
          <p:cNvSpPr/>
          <p:nvPr/>
        </p:nvSpPr>
        <p:spPr>
          <a:xfrm>
            <a:off x="6720840" y="2514600"/>
            <a:ext cx="5010912" cy="3657600"/>
          </a:xfrm>
          <a:prstGeom prst="roundRect">
            <a:avLst>
              <a:gd name="adj" fmla="val 2500"/>
            </a:avLst>
          </a:prstGeom>
          <a:solidFill>
            <a:srgbClr val="F4F0F0"/>
          </a:solidFill>
          <a:ln/>
        </p:spPr>
        <p:txBody>
          <a:bodyPr/>
          <a:lstStyle/>
          <a:p>
            <a:endParaRPr lang="en-US"/>
          </a:p>
        </p:txBody>
      </p:sp>
      <p:sp>
        <p:nvSpPr>
          <p:cNvPr id="33" name="Text 31"/>
          <p:cNvSpPr txBox="1"/>
          <p:nvPr/>
        </p:nvSpPr>
        <p:spPr>
          <a:xfrm>
            <a:off x="6949440" y="2624328"/>
            <a:ext cx="4645152" cy="329184"/>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Deliverables</a:t>
            </a:r>
            <a:endParaRPr lang="en-US" sz="1600" dirty="0"/>
          </a:p>
        </p:txBody>
      </p:sp>
      <p:sp>
        <p:nvSpPr>
          <p:cNvPr id="34" name="Shape 32"/>
          <p:cNvSpPr/>
          <p:nvPr/>
        </p:nvSpPr>
        <p:spPr>
          <a:xfrm>
            <a:off x="6976872" y="3127248"/>
            <a:ext cx="146304" cy="146304"/>
          </a:xfrm>
          <a:prstGeom prst="rect">
            <a:avLst/>
          </a:prstGeom>
          <a:solidFill>
            <a:srgbClr val="73000A"/>
          </a:solidFill>
          <a:ln/>
        </p:spPr>
        <p:txBody>
          <a:bodyPr/>
          <a:lstStyle/>
          <a:p>
            <a:endParaRPr lang="en-US"/>
          </a:p>
        </p:txBody>
      </p:sp>
      <p:sp>
        <p:nvSpPr>
          <p:cNvPr id="35" name="Text 33"/>
          <p:cNvSpPr txBox="1"/>
          <p:nvPr/>
        </p:nvSpPr>
        <p:spPr>
          <a:xfrm>
            <a:off x="7269480" y="30449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Theory-weighted μ⁻e⁻ → e⁻e⁻ event generator</a:t>
            </a:r>
            <a:endParaRPr lang="en-US" sz="1250" dirty="0"/>
          </a:p>
        </p:txBody>
      </p:sp>
      <p:sp>
        <p:nvSpPr>
          <p:cNvPr id="36" name="Shape 34"/>
          <p:cNvSpPr/>
          <p:nvPr/>
        </p:nvSpPr>
        <p:spPr>
          <a:xfrm>
            <a:off x="6976872" y="3470148"/>
            <a:ext cx="146304" cy="146304"/>
          </a:xfrm>
          <a:prstGeom prst="rect">
            <a:avLst/>
          </a:prstGeom>
          <a:solidFill>
            <a:srgbClr val="73000A"/>
          </a:solidFill>
          <a:ln/>
        </p:spPr>
        <p:txBody>
          <a:bodyPr/>
          <a:lstStyle/>
          <a:p>
            <a:endParaRPr lang="en-US"/>
          </a:p>
        </p:txBody>
      </p:sp>
      <p:sp>
        <p:nvSpPr>
          <p:cNvPr id="37" name="Text 35"/>
          <p:cNvSpPr txBox="1"/>
          <p:nvPr/>
        </p:nvSpPr>
        <p:spPr>
          <a:xfrm>
            <a:off x="7269480" y="33878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Correlated electron-energy and opening-angle distributions</a:t>
            </a:r>
            <a:endParaRPr lang="en-US" sz="1250" dirty="0"/>
          </a:p>
        </p:txBody>
      </p:sp>
      <p:sp>
        <p:nvSpPr>
          <p:cNvPr id="38" name="Shape 36"/>
          <p:cNvSpPr/>
          <p:nvPr/>
        </p:nvSpPr>
        <p:spPr>
          <a:xfrm>
            <a:off x="6976872" y="3813048"/>
            <a:ext cx="146304" cy="146304"/>
          </a:xfrm>
          <a:prstGeom prst="rect">
            <a:avLst/>
          </a:prstGeom>
          <a:solidFill>
            <a:srgbClr val="73000A"/>
          </a:solidFill>
          <a:ln/>
        </p:spPr>
        <p:txBody>
          <a:bodyPr/>
          <a:lstStyle/>
          <a:p>
            <a:endParaRPr lang="en-US"/>
          </a:p>
        </p:txBody>
      </p:sp>
      <p:sp>
        <p:nvSpPr>
          <p:cNvPr id="39" name="Text 37"/>
          <p:cNvSpPr txBox="1"/>
          <p:nvPr/>
        </p:nvSpPr>
        <p:spPr>
          <a:xfrm>
            <a:off x="7269480" y="37307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Bound-state effects and aluminum nuclear recoil</a:t>
            </a:r>
            <a:endParaRPr lang="en-US" sz="1250" dirty="0"/>
          </a:p>
        </p:txBody>
      </p:sp>
      <p:sp>
        <p:nvSpPr>
          <p:cNvPr id="40" name="Shape 38"/>
          <p:cNvSpPr/>
          <p:nvPr/>
        </p:nvSpPr>
        <p:spPr>
          <a:xfrm>
            <a:off x="6976872" y="4155948"/>
            <a:ext cx="146304" cy="146304"/>
          </a:xfrm>
          <a:prstGeom prst="rect">
            <a:avLst/>
          </a:prstGeom>
          <a:solidFill>
            <a:srgbClr val="73000A"/>
          </a:solidFill>
          <a:ln/>
        </p:spPr>
        <p:txBody>
          <a:bodyPr/>
          <a:lstStyle/>
          <a:p>
            <a:endParaRPr lang="en-US"/>
          </a:p>
        </p:txBody>
      </p:sp>
      <p:sp>
        <p:nvSpPr>
          <p:cNvPr id="41" name="Text 39"/>
          <p:cNvSpPr txBox="1"/>
          <p:nvPr/>
        </p:nvSpPr>
        <p:spPr>
          <a:xfrm>
            <a:off x="7269480" y="40736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Kinematic validation against theory</a:t>
            </a:r>
            <a:endParaRPr lang="en-US" sz="1250" dirty="0"/>
          </a:p>
        </p:txBody>
      </p:sp>
      <p:sp>
        <p:nvSpPr>
          <p:cNvPr id="42" name="Shape 40"/>
          <p:cNvSpPr/>
          <p:nvPr/>
        </p:nvSpPr>
        <p:spPr>
          <a:xfrm>
            <a:off x="6976872" y="4498848"/>
            <a:ext cx="146304" cy="146304"/>
          </a:xfrm>
          <a:prstGeom prst="rect">
            <a:avLst/>
          </a:prstGeom>
          <a:solidFill>
            <a:srgbClr val="73000A"/>
          </a:solidFill>
          <a:ln/>
        </p:spPr>
        <p:txBody>
          <a:bodyPr/>
          <a:lstStyle/>
          <a:p>
            <a:endParaRPr lang="en-US"/>
          </a:p>
        </p:txBody>
      </p:sp>
      <p:sp>
        <p:nvSpPr>
          <p:cNvPr id="43" name="Text 41"/>
          <p:cNvSpPr txBox="1"/>
          <p:nvPr/>
        </p:nvSpPr>
        <p:spPr>
          <a:xfrm>
            <a:off x="7269480" y="44165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High-statistics reconstructed signal samples</a:t>
            </a:r>
            <a:endParaRPr lang="en-US" sz="1250" dirty="0"/>
          </a:p>
        </p:txBody>
      </p:sp>
      <p:sp>
        <p:nvSpPr>
          <p:cNvPr id="44" name="Shape 42"/>
          <p:cNvSpPr/>
          <p:nvPr/>
        </p:nvSpPr>
        <p:spPr>
          <a:xfrm>
            <a:off x="6976872" y="4841748"/>
            <a:ext cx="146304" cy="146304"/>
          </a:xfrm>
          <a:prstGeom prst="rect">
            <a:avLst/>
          </a:prstGeom>
          <a:solidFill>
            <a:srgbClr val="73000A"/>
          </a:solidFill>
          <a:ln/>
        </p:spPr>
        <p:txBody>
          <a:bodyPr/>
          <a:lstStyle/>
          <a:p>
            <a:endParaRPr lang="en-US"/>
          </a:p>
        </p:txBody>
      </p:sp>
      <p:sp>
        <p:nvSpPr>
          <p:cNvPr id="45" name="Text 43"/>
          <p:cNvSpPr txBox="1"/>
          <p:nvPr/>
        </p:nvSpPr>
        <p:spPr>
          <a:xfrm>
            <a:off x="7269480" y="47594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Updated mixed samples with the refined signal model</a:t>
            </a:r>
            <a:endParaRPr lang="en-US" sz="1250" dirty="0"/>
          </a:p>
        </p:txBody>
      </p:sp>
      <p:sp>
        <p:nvSpPr>
          <p:cNvPr id="46" name="Shape 44"/>
          <p:cNvSpPr/>
          <p:nvPr/>
        </p:nvSpPr>
        <p:spPr>
          <a:xfrm>
            <a:off x="6949440" y="5166360"/>
            <a:ext cx="4553712" cy="0"/>
          </a:xfrm>
          <a:prstGeom prst="line">
            <a:avLst/>
          </a:prstGeom>
          <a:noFill/>
          <a:ln w="12700">
            <a:solidFill>
              <a:srgbClr val="D9C4C6"/>
            </a:solidFill>
            <a:prstDash val="solid"/>
          </a:ln>
        </p:spPr>
        <p:txBody>
          <a:bodyPr/>
          <a:lstStyle/>
          <a:p>
            <a:endParaRPr lang="en-US"/>
          </a:p>
        </p:txBody>
      </p:sp>
      <p:sp>
        <p:nvSpPr>
          <p:cNvPr id="47" name="Text 45"/>
          <p:cNvSpPr txBox="1"/>
          <p:nvPr/>
        </p:nvSpPr>
        <p:spPr>
          <a:xfrm>
            <a:off x="6949440" y="5239512"/>
            <a:ext cx="4645152" cy="256032"/>
          </a:xfrm>
          <a:prstGeom prst="rect">
            <a:avLst/>
          </a:prstGeom>
          <a:noFill/>
          <a:ln/>
        </p:spPr>
        <p:txBody>
          <a:bodyPr wrap="square" lIns="0" tIns="0" rIns="0" bIns="0" rtlCol="0" anchor="ctr"/>
          <a:lstStyle/>
          <a:p>
            <a:pPr marL="0" indent="0">
              <a:buNone/>
            </a:pPr>
            <a:r>
              <a:rPr lang="en-US" sz="1200" b="1" dirty="0">
                <a:solidFill>
                  <a:srgbClr val="73000A"/>
                </a:solidFill>
                <a:latin typeface="Calibri" pitchFamily="34" charset="0"/>
                <a:ea typeface="Calibri" pitchFamily="34" charset="-122"/>
                <a:cs typeface="Calibri" pitchFamily="34" charset="-120"/>
              </a:rPr>
              <a:t>Write-ups</a:t>
            </a:r>
            <a:endParaRPr lang="en-US" sz="1200" dirty="0"/>
          </a:p>
        </p:txBody>
      </p:sp>
      <p:sp>
        <p:nvSpPr>
          <p:cNvPr id="48" name="Shape 46"/>
          <p:cNvSpPr/>
          <p:nvPr/>
        </p:nvSpPr>
        <p:spPr>
          <a:xfrm>
            <a:off x="6976872" y="5586984"/>
            <a:ext cx="146304" cy="146304"/>
          </a:xfrm>
          <a:prstGeom prst="rect">
            <a:avLst/>
          </a:prstGeom>
          <a:solidFill>
            <a:srgbClr val="FFFFFF"/>
          </a:solidFill>
          <a:ln w="15875">
            <a:solidFill>
              <a:srgbClr val="73000A"/>
            </a:solidFill>
            <a:prstDash val="solid"/>
          </a:ln>
        </p:spPr>
        <p:txBody>
          <a:bodyPr/>
          <a:lstStyle/>
          <a:p>
            <a:endParaRPr lang="en-US"/>
          </a:p>
        </p:txBody>
      </p:sp>
      <p:sp>
        <p:nvSpPr>
          <p:cNvPr id="49" name="Text 47"/>
          <p:cNvSpPr txBox="1"/>
          <p:nvPr/>
        </p:nvSpPr>
        <p:spPr>
          <a:xfrm>
            <a:off x="7269480" y="5513832"/>
            <a:ext cx="4279392" cy="274320"/>
          </a:xfrm>
          <a:prstGeom prst="rect">
            <a:avLst/>
          </a:prstGeom>
          <a:noFill/>
          <a:ln/>
        </p:spPr>
        <p:txBody>
          <a:bodyPr wrap="square" lIns="0" tIns="0" rIns="0" bIns="0" rtlCol="0" anchor="ctr"/>
          <a:lstStyle/>
          <a:p>
            <a:pPr marL="0" indent="0">
              <a:buNone/>
            </a:pPr>
            <a:r>
              <a:rPr lang="en-US" sz="1200" i="1" dirty="0">
                <a:solidFill>
                  <a:srgbClr val="333333"/>
                </a:solidFill>
                <a:latin typeface="Calibri" pitchFamily="34" charset="0"/>
                <a:ea typeface="Calibri" pitchFamily="34" charset="-122"/>
                <a:cs typeface="Calibri" pitchFamily="34" charset="-120"/>
              </a:rPr>
              <a:t>Technical paper with S. Muhammad and A. Petrov</a:t>
            </a:r>
            <a:endParaRPr lang="en-US" sz="1200" dirty="0"/>
          </a:p>
        </p:txBody>
      </p:sp>
      <p:sp>
        <p:nvSpPr>
          <p:cNvPr id="50" name="Shape 48"/>
          <p:cNvSpPr/>
          <p:nvPr/>
        </p:nvSpPr>
        <p:spPr>
          <a:xfrm>
            <a:off x="6976872" y="5861304"/>
            <a:ext cx="146304" cy="146304"/>
          </a:xfrm>
          <a:prstGeom prst="rect">
            <a:avLst/>
          </a:prstGeom>
          <a:solidFill>
            <a:srgbClr val="FFFFFF"/>
          </a:solidFill>
          <a:ln w="15875">
            <a:solidFill>
              <a:srgbClr val="73000A"/>
            </a:solidFill>
            <a:prstDash val="solid"/>
          </a:ln>
        </p:spPr>
        <p:txBody>
          <a:bodyPr/>
          <a:lstStyle/>
          <a:p>
            <a:endParaRPr lang="en-US"/>
          </a:p>
        </p:txBody>
      </p:sp>
      <p:sp>
        <p:nvSpPr>
          <p:cNvPr id="51" name="Text 49"/>
          <p:cNvSpPr txBox="1"/>
          <p:nvPr/>
        </p:nvSpPr>
        <p:spPr>
          <a:xfrm>
            <a:off x="7269480" y="5788152"/>
            <a:ext cx="4279392" cy="274320"/>
          </a:xfrm>
          <a:prstGeom prst="rect">
            <a:avLst/>
          </a:prstGeom>
          <a:noFill/>
          <a:ln/>
        </p:spPr>
        <p:txBody>
          <a:bodyPr wrap="square" lIns="0" tIns="0" rIns="0" bIns="0" rtlCol="0" anchor="ctr"/>
          <a:lstStyle/>
          <a:p>
            <a:pPr marL="0" indent="0">
              <a:buNone/>
            </a:pPr>
            <a:r>
              <a:rPr lang="en-US" sz="1200" i="1" dirty="0">
                <a:solidFill>
                  <a:srgbClr val="333333"/>
                </a:solidFill>
                <a:latin typeface="Calibri" pitchFamily="34" charset="0"/>
                <a:ea typeface="Calibri" pitchFamily="34" charset="-122"/>
                <a:cs typeface="Calibri" pitchFamily="34" charset="-120"/>
              </a:rPr>
              <a:t>Internal Mu2e note on the generator and its sampling</a:t>
            </a:r>
            <a:endParaRPr lang="en-US" sz="1200" dirty="0"/>
          </a:p>
        </p:txBody>
      </p:sp>
      <p:sp>
        <p:nvSpPr>
          <p:cNvPr id="52" name="Text 50"/>
          <p:cNvSpPr txBox="1"/>
          <p:nvPr/>
        </p:nvSpPr>
        <p:spPr>
          <a:xfrm>
            <a:off x="548640" y="5989320"/>
            <a:ext cx="11155680" cy="256032"/>
          </a:xfrm>
          <a:prstGeom prst="rect">
            <a:avLst/>
          </a:prstGeom>
          <a:noFill/>
          <a:ln/>
        </p:spPr>
        <p:txBody>
          <a:bodyPr wrap="square" lIns="0" tIns="0" rIns="0" bIns="0" rtlCol="0" anchor="ctr"/>
          <a:lstStyle/>
          <a:p>
            <a:pPr marL="0" indent="0">
              <a:buNone/>
            </a:pPr>
            <a:r>
              <a:rPr lang="en-US" sz="1100" i="1" dirty="0">
                <a:solidFill>
                  <a:srgbClr val="4A4A4A"/>
                </a:solidFill>
                <a:latin typeface="Calibri" pitchFamily="34" charset="0"/>
                <a:ea typeface="Calibri" pitchFamily="34" charset="-122"/>
                <a:cs typeface="Calibri" pitchFamily="34" charset="-120"/>
              </a:rPr>
              <a:t>Differential templates from S. Muhammad and A. Petrov (USC theory)</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47472"/>
            <a:ext cx="512064" cy="512064"/>
          </a:xfrm>
          <a:prstGeom prst="ellipse">
            <a:avLst/>
          </a:prstGeom>
          <a:solidFill>
            <a:srgbClr val="73000A"/>
          </a:solidFill>
          <a:ln/>
        </p:spPr>
        <p:txBody>
          <a:bodyPr/>
          <a:lstStyle/>
          <a:p>
            <a:endParaRPr lang="en-US"/>
          </a:p>
        </p:txBody>
      </p:sp>
      <p:sp>
        <p:nvSpPr>
          <p:cNvPr id="3" name="Text 1"/>
          <p:cNvSpPr txBox="1"/>
          <p:nvPr/>
        </p:nvSpPr>
        <p:spPr>
          <a:xfrm>
            <a:off x="548640" y="34747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 name="Text 2"/>
          <p:cNvSpPr txBox="1"/>
          <p:nvPr/>
        </p:nvSpPr>
        <p:spPr>
          <a:xfrm>
            <a:off x="1234440" y="320040"/>
            <a:ext cx="10424160" cy="566928"/>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Full Sensitivity Study and Statistical Analysis</a:t>
            </a:r>
            <a:endParaRPr lang="en-US" sz="2800" dirty="0"/>
          </a:p>
        </p:txBody>
      </p:sp>
      <p:sp>
        <p:nvSpPr>
          <p:cNvPr id="5" name="Text 3"/>
          <p:cNvSpPr txBox="1"/>
          <p:nvPr/>
        </p:nvSpPr>
        <p:spPr>
          <a:xfrm>
            <a:off x="1234440" y="896112"/>
            <a:ext cx="10424160"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Goal 4 of 4  |  Summer 2028 to Winter 2028</a:t>
            </a:r>
            <a:endParaRPr lang="en-US" sz="1600" dirty="0"/>
          </a:p>
        </p:txBody>
      </p:sp>
      <p:sp>
        <p:nvSpPr>
          <p:cNvPr id="6" name="Shape 4"/>
          <p:cNvSpPr/>
          <p:nvPr/>
        </p:nvSpPr>
        <p:spPr>
          <a:xfrm>
            <a:off x="548640" y="1463040"/>
            <a:ext cx="5120640" cy="777240"/>
          </a:xfrm>
          <a:prstGeom prst="roundRect">
            <a:avLst>
              <a:gd name="adj" fmla="val 11765"/>
            </a:avLst>
          </a:prstGeom>
          <a:solidFill>
            <a:srgbClr val="F2F2F2"/>
          </a:solidFill>
          <a:ln/>
        </p:spPr>
        <p:txBody>
          <a:bodyPr/>
          <a:lstStyle/>
          <a:p>
            <a:endParaRPr lang="en-US"/>
          </a:p>
        </p:txBody>
      </p:sp>
      <p:sp>
        <p:nvSpPr>
          <p:cNvPr id="7" name="Text 5"/>
          <p:cNvSpPr txBox="1"/>
          <p:nvPr/>
        </p:nvSpPr>
        <p:spPr>
          <a:xfrm>
            <a:off x="731520" y="1554480"/>
            <a:ext cx="1371600" cy="228600"/>
          </a:xfrm>
          <a:prstGeom prst="rect">
            <a:avLst/>
          </a:prstGeom>
          <a:noFill/>
          <a:ln/>
        </p:spPr>
        <p:txBody>
          <a:bodyPr wrap="square" lIns="0" tIns="0" rIns="0" bIns="0" rtlCol="0" anchor="ctr"/>
          <a:lstStyle/>
          <a:p>
            <a:pPr marL="0" indent="0">
              <a:buNone/>
            </a:pPr>
            <a:r>
              <a:rPr lang="en-US" sz="1100" b="1" kern="0" spc="200" dirty="0">
                <a:solidFill>
                  <a:srgbClr val="6A6A6A"/>
                </a:solidFill>
                <a:latin typeface="Calibri" pitchFamily="34" charset="0"/>
                <a:ea typeface="Calibri" pitchFamily="34" charset="-122"/>
                <a:cs typeface="Calibri" pitchFamily="34" charset="-120"/>
              </a:rPr>
              <a:t>NOW</a:t>
            </a:r>
            <a:endParaRPr lang="en-US" sz="1100" dirty="0"/>
          </a:p>
        </p:txBody>
      </p:sp>
      <p:sp>
        <p:nvSpPr>
          <p:cNvPr id="8" name="Text 6"/>
          <p:cNvSpPr txBox="1"/>
          <p:nvPr/>
        </p:nvSpPr>
        <p:spPr>
          <a:xfrm>
            <a:off x="731520" y="1792224"/>
            <a:ext cx="4800600" cy="384048"/>
          </a:xfrm>
          <a:prstGeom prst="rect">
            <a:avLst/>
          </a:prstGeom>
          <a:noFill/>
          <a:ln/>
        </p:spPr>
        <p:txBody>
          <a:bodyPr wrap="square" lIns="0" tIns="0" rIns="0" bIns="0" rtlCol="0" anchor="t"/>
          <a:lstStyle/>
          <a:p>
            <a:pPr marL="0" indent="0">
              <a:buNone/>
            </a:pPr>
            <a:r>
              <a:rPr lang="en-US" sz="1300" dirty="0">
                <a:solidFill>
                  <a:srgbClr val="4A4A4A"/>
                </a:solidFill>
                <a:latin typeface="Calibri" pitchFamily="34" charset="0"/>
                <a:ea typeface="Calibri" pitchFamily="34" charset="-122"/>
                <a:cs typeface="Calibri" pitchFamily="34" charset="-120"/>
              </a:rPr>
              <a:t>Back-of-envelope run-time estimate from simplified assumptions</a:t>
            </a:r>
            <a:endParaRPr lang="en-US" sz="1300" dirty="0"/>
          </a:p>
        </p:txBody>
      </p:sp>
      <p:sp>
        <p:nvSpPr>
          <p:cNvPr id="9" name="Shape 7"/>
          <p:cNvSpPr/>
          <p:nvPr/>
        </p:nvSpPr>
        <p:spPr>
          <a:xfrm>
            <a:off x="5779008" y="1691640"/>
            <a:ext cx="457200" cy="320040"/>
          </a:xfrm>
          <a:prstGeom prst="rightArrow">
            <a:avLst/>
          </a:prstGeom>
          <a:solidFill>
            <a:srgbClr val="73000A"/>
          </a:solidFill>
          <a:ln/>
        </p:spPr>
        <p:txBody>
          <a:bodyPr/>
          <a:lstStyle/>
          <a:p>
            <a:endParaRPr lang="en-US"/>
          </a:p>
        </p:txBody>
      </p:sp>
      <p:sp>
        <p:nvSpPr>
          <p:cNvPr id="10" name="Shape 8"/>
          <p:cNvSpPr/>
          <p:nvPr/>
        </p:nvSpPr>
        <p:spPr>
          <a:xfrm>
            <a:off x="6355080" y="1463040"/>
            <a:ext cx="5376672" cy="777240"/>
          </a:xfrm>
          <a:prstGeom prst="roundRect">
            <a:avLst>
              <a:gd name="adj" fmla="val 11765"/>
            </a:avLst>
          </a:prstGeom>
          <a:solidFill>
            <a:srgbClr val="F4E6E7"/>
          </a:solidFill>
          <a:ln w="15875">
            <a:solidFill>
              <a:srgbClr val="73000A"/>
            </a:solidFill>
            <a:prstDash val="solid"/>
          </a:ln>
        </p:spPr>
        <p:txBody>
          <a:bodyPr/>
          <a:lstStyle/>
          <a:p>
            <a:endParaRPr lang="en-US"/>
          </a:p>
        </p:txBody>
      </p:sp>
      <p:sp>
        <p:nvSpPr>
          <p:cNvPr id="11" name="Text 9"/>
          <p:cNvSpPr txBox="1"/>
          <p:nvPr/>
        </p:nvSpPr>
        <p:spPr>
          <a:xfrm>
            <a:off x="6537960" y="1554480"/>
            <a:ext cx="1371600" cy="228600"/>
          </a:xfrm>
          <a:prstGeom prst="rect">
            <a:avLst/>
          </a:prstGeom>
          <a:noFill/>
          <a:ln/>
        </p:spPr>
        <p:txBody>
          <a:bodyPr wrap="square" lIns="0" tIns="0" rIns="0" bIns="0" rtlCol="0" anchor="ctr"/>
          <a:lstStyle/>
          <a:p>
            <a:pPr marL="0" indent="0">
              <a:buNone/>
            </a:pPr>
            <a:r>
              <a:rPr lang="en-US" sz="1100" b="1" kern="0" spc="200" dirty="0">
                <a:solidFill>
                  <a:srgbClr val="73000A"/>
                </a:solidFill>
                <a:latin typeface="Calibri" pitchFamily="34" charset="0"/>
                <a:ea typeface="Calibri" pitchFamily="34" charset="-122"/>
                <a:cs typeface="Calibri" pitchFamily="34" charset="-120"/>
              </a:rPr>
              <a:t>TARGET</a:t>
            </a:r>
            <a:endParaRPr lang="en-US" sz="1100" dirty="0"/>
          </a:p>
        </p:txBody>
      </p:sp>
      <p:sp>
        <p:nvSpPr>
          <p:cNvPr id="12" name="Text 10"/>
          <p:cNvSpPr txBox="1"/>
          <p:nvPr/>
        </p:nvSpPr>
        <p:spPr>
          <a:xfrm>
            <a:off x="6537960" y="1792224"/>
            <a:ext cx="5074920" cy="384048"/>
          </a:xfrm>
          <a:prstGeom prst="rect">
            <a:avLst/>
          </a:prstGeom>
          <a:noFill/>
          <a:ln/>
        </p:spPr>
        <p:txBody>
          <a:bodyPr wrap="square" lIns="0" tIns="0" rIns="0" bIns="0" rtlCol="0" anchor="t"/>
          <a:lstStyle/>
          <a:p>
            <a:pPr marL="0" indent="0">
              <a:buNone/>
            </a:pPr>
            <a:r>
              <a:rPr lang="en-US" sz="1300" b="1" dirty="0">
                <a:solidFill>
                  <a:srgbClr val="1A1A1A"/>
                </a:solidFill>
                <a:latin typeface="Calibri" pitchFamily="34" charset="0"/>
                <a:ea typeface="Calibri" pitchFamily="34" charset="-122"/>
                <a:cs typeface="Calibri" pitchFamily="34" charset="-120"/>
              </a:rPr>
              <a:t>Expected limit and discovery reach, with the Mu2e running conditions they require</a:t>
            </a:r>
            <a:endParaRPr lang="en-US" sz="1300" dirty="0"/>
          </a:p>
        </p:txBody>
      </p:sp>
      <p:sp>
        <p:nvSpPr>
          <p:cNvPr id="13" name="Text 11"/>
          <p:cNvSpPr txBox="1"/>
          <p:nvPr/>
        </p:nvSpPr>
        <p:spPr>
          <a:xfrm>
            <a:off x="548640" y="2514600"/>
            <a:ext cx="5486400" cy="329184"/>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Approach</a:t>
            </a:r>
            <a:endParaRPr lang="en-US" sz="1600" dirty="0"/>
          </a:p>
        </p:txBody>
      </p:sp>
      <p:sp>
        <p:nvSpPr>
          <p:cNvPr id="14" name="Shape 12"/>
          <p:cNvSpPr/>
          <p:nvPr/>
        </p:nvSpPr>
        <p:spPr>
          <a:xfrm>
            <a:off x="566928" y="2990088"/>
            <a:ext cx="274320" cy="274320"/>
          </a:xfrm>
          <a:prstGeom prst="ellipse">
            <a:avLst/>
          </a:prstGeom>
          <a:solidFill>
            <a:srgbClr val="FFFFFF"/>
          </a:solidFill>
          <a:ln w="15875">
            <a:solidFill>
              <a:srgbClr val="73000A"/>
            </a:solidFill>
            <a:prstDash val="solid"/>
          </a:ln>
        </p:spPr>
        <p:txBody>
          <a:bodyPr/>
          <a:lstStyle/>
          <a:p>
            <a:endParaRPr lang="en-US"/>
          </a:p>
        </p:txBody>
      </p:sp>
      <p:sp>
        <p:nvSpPr>
          <p:cNvPr id="15" name="Text 13"/>
          <p:cNvSpPr txBox="1"/>
          <p:nvPr/>
        </p:nvSpPr>
        <p:spPr>
          <a:xfrm>
            <a:off x="566928" y="2990088"/>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1</a:t>
            </a:r>
            <a:endParaRPr lang="en-US" sz="1000" dirty="0"/>
          </a:p>
        </p:txBody>
      </p:sp>
      <p:sp>
        <p:nvSpPr>
          <p:cNvPr id="16" name="Text 14"/>
          <p:cNvSpPr txBox="1"/>
          <p:nvPr/>
        </p:nvSpPr>
        <p:spPr>
          <a:xfrm>
            <a:off x="987552" y="2935224"/>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Validate geometry, fields, trigger, digitization, and reconstruction for total efficiency</a:t>
            </a:r>
            <a:endParaRPr lang="en-US" sz="1300" dirty="0"/>
          </a:p>
        </p:txBody>
      </p:sp>
      <p:sp>
        <p:nvSpPr>
          <p:cNvPr id="17" name="Shape 15"/>
          <p:cNvSpPr/>
          <p:nvPr/>
        </p:nvSpPr>
        <p:spPr>
          <a:xfrm>
            <a:off x="566928" y="3434225"/>
            <a:ext cx="274320" cy="274320"/>
          </a:xfrm>
          <a:prstGeom prst="ellipse">
            <a:avLst/>
          </a:prstGeom>
          <a:solidFill>
            <a:srgbClr val="FFFFFF"/>
          </a:solidFill>
          <a:ln w="15875">
            <a:solidFill>
              <a:srgbClr val="73000A"/>
            </a:solidFill>
            <a:prstDash val="solid"/>
          </a:ln>
        </p:spPr>
        <p:txBody>
          <a:bodyPr/>
          <a:lstStyle/>
          <a:p>
            <a:endParaRPr lang="en-US"/>
          </a:p>
        </p:txBody>
      </p:sp>
      <p:sp>
        <p:nvSpPr>
          <p:cNvPr id="18" name="Text 16"/>
          <p:cNvSpPr txBox="1"/>
          <p:nvPr/>
        </p:nvSpPr>
        <p:spPr>
          <a:xfrm>
            <a:off x="566928" y="3434225"/>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2</a:t>
            </a:r>
            <a:endParaRPr lang="en-US" sz="1000" dirty="0"/>
          </a:p>
        </p:txBody>
      </p:sp>
      <p:sp>
        <p:nvSpPr>
          <p:cNvPr id="19" name="Text 17"/>
          <p:cNvSpPr txBox="1"/>
          <p:nvPr/>
        </p:nvSpPr>
        <p:spPr>
          <a:xfrm>
            <a:off x="987552" y="3379361"/>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Combine generator, vertexing, and mixed backgrounds into one yield model</a:t>
            </a:r>
            <a:endParaRPr lang="en-US" sz="1300" dirty="0"/>
          </a:p>
        </p:txBody>
      </p:sp>
      <p:sp>
        <p:nvSpPr>
          <p:cNvPr id="20" name="Shape 18"/>
          <p:cNvSpPr/>
          <p:nvPr/>
        </p:nvSpPr>
        <p:spPr>
          <a:xfrm>
            <a:off x="566928" y="3878362"/>
            <a:ext cx="274320" cy="274320"/>
          </a:xfrm>
          <a:prstGeom prst="ellipse">
            <a:avLst/>
          </a:prstGeom>
          <a:solidFill>
            <a:srgbClr val="FFFFFF"/>
          </a:solidFill>
          <a:ln w="15875">
            <a:solidFill>
              <a:srgbClr val="73000A"/>
            </a:solidFill>
            <a:prstDash val="solid"/>
          </a:ln>
        </p:spPr>
        <p:txBody>
          <a:bodyPr/>
          <a:lstStyle/>
          <a:p>
            <a:endParaRPr lang="en-US"/>
          </a:p>
        </p:txBody>
      </p:sp>
      <p:sp>
        <p:nvSpPr>
          <p:cNvPr id="21" name="Text 19"/>
          <p:cNvSpPr txBox="1"/>
          <p:nvPr/>
        </p:nvSpPr>
        <p:spPr>
          <a:xfrm>
            <a:off x="566928" y="3878362"/>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3</a:t>
            </a:r>
            <a:endParaRPr lang="en-US" sz="1000" dirty="0"/>
          </a:p>
        </p:txBody>
      </p:sp>
      <p:sp>
        <p:nvSpPr>
          <p:cNvPr id="22" name="Text 20"/>
          <p:cNvSpPr txBox="1"/>
          <p:nvPr/>
        </p:nvSpPr>
        <p:spPr>
          <a:xfrm>
            <a:off x="987552" y="3823498"/>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Optimize proton beam intensity against pileup and statistics</a:t>
            </a:r>
            <a:endParaRPr lang="en-US" sz="1300" dirty="0"/>
          </a:p>
        </p:txBody>
      </p:sp>
      <p:sp>
        <p:nvSpPr>
          <p:cNvPr id="23" name="Shape 21"/>
          <p:cNvSpPr/>
          <p:nvPr/>
        </p:nvSpPr>
        <p:spPr>
          <a:xfrm>
            <a:off x="566928" y="4322499"/>
            <a:ext cx="274320" cy="274320"/>
          </a:xfrm>
          <a:prstGeom prst="ellipse">
            <a:avLst/>
          </a:prstGeom>
          <a:solidFill>
            <a:srgbClr val="FFFFFF"/>
          </a:solidFill>
          <a:ln w="15875">
            <a:solidFill>
              <a:srgbClr val="73000A"/>
            </a:solidFill>
            <a:prstDash val="solid"/>
          </a:ln>
        </p:spPr>
        <p:txBody>
          <a:bodyPr/>
          <a:lstStyle/>
          <a:p>
            <a:endParaRPr lang="en-US"/>
          </a:p>
        </p:txBody>
      </p:sp>
      <p:sp>
        <p:nvSpPr>
          <p:cNvPr id="24" name="Text 22"/>
          <p:cNvSpPr txBox="1"/>
          <p:nvPr/>
        </p:nvSpPr>
        <p:spPr>
          <a:xfrm>
            <a:off x="566928" y="4322499"/>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987552" y="4267635"/>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Feldman–Cousins: upper limits for null results, two-sided intervals for a signal</a:t>
            </a:r>
            <a:endParaRPr lang="en-US" sz="1300" dirty="0"/>
          </a:p>
        </p:txBody>
      </p:sp>
      <p:sp>
        <p:nvSpPr>
          <p:cNvPr id="26" name="Shape 24"/>
          <p:cNvSpPr/>
          <p:nvPr/>
        </p:nvSpPr>
        <p:spPr>
          <a:xfrm>
            <a:off x="566928" y="4766637"/>
            <a:ext cx="274320" cy="274320"/>
          </a:xfrm>
          <a:prstGeom prst="ellipse">
            <a:avLst/>
          </a:prstGeom>
          <a:solidFill>
            <a:srgbClr val="FFFFFF"/>
          </a:solidFill>
          <a:ln w="15875">
            <a:solidFill>
              <a:srgbClr val="73000A"/>
            </a:solidFill>
            <a:prstDash val="solid"/>
          </a:ln>
        </p:spPr>
        <p:txBody>
          <a:bodyPr/>
          <a:lstStyle/>
          <a:p>
            <a:endParaRPr lang="en-US"/>
          </a:p>
        </p:txBody>
      </p:sp>
      <p:sp>
        <p:nvSpPr>
          <p:cNvPr id="27" name="Text 25"/>
          <p:cNvSpPr txBox="1"/>
          <p:nvPr/>
        </p:nvSpPr>
        <p:spPr>
          <a:xfrm>
            <a:off x="566928" y="4766637"/>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5</a:t>
            </a:r>
            <a:endParaRPr lang="en-US" sz="1000" dirty="0"/>
          </a:p>
        </p:txBody>
      </p:sp>
      <p:sp>
        <p:nvSpPr>
          <p:cNvPr id="28" name="Text 26"/>
          <p:cNvSpPr txBox="1"/>
          <p:nvPr/>
        </p:nvSpPr>
        <p:spPr>
          <a:xfrm>
            <a:off x="987552" y="4711773"/>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Use Poisson likelihoods; separate limits from 3σ and 5σ discovery reach</a:t>
            </a:r>
            <a:endParaRPr lang="en-US" sz="1300" dirty="0"/>
          </a:p>
        </p:txBody>
      </p:sp>
      <p:sp>
        <p:nvSpPr>
          <p:cNvPr id="29" name="Shape 27"/>
          <p:cNvSpPr/>
          <p:nvPr/>
        </p:nvSpPr>
        <p:spPr>
          <a:xfrm>
            <a:off x="566928" y="5210774"/>
            <a:ext cx="274320" cy="274320"/>
          </a:xfrm>
          <a:prstGeom prst="ellipse">
            <a:avLst/>
          </a:prstGeom>
          <a:solidFill>
            <a:srgbClr val="FFFFFF"/>
          </a:solidFill>
          <a:ln w="15875">
            <a:solidFill>
              <a:srgbClr val="73000A"/>
            </a:solidFill>
            <a:prstDash val="solid"/>
          </a:ln>
        </p:spPr>
        <p:txBody>
          <a:bodyPr/>
          <a:lstStyle/>
          <a:p>
            <a:endParaRPr lang="en-US"/>
          </a:p>
        </p:txBody>
      </p:sp>
      <p:sp>
        <p:nvSpPr>
          <p:cNvPr id="30" name="Text 28"/>
          <p:cNvSpPr txBox="1"/>
          <p:nvPr/>
        </p:nvSpPr>
        <p:spPr>
          <a:xfrm>
            <a:off x="566928" y="5210774"/>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6</a:t>
            </a:r>
            <a:endParaRPr lang="en-US" sz="1000" dirty="0"/>
          </a:p>
        </p:txBody>
      </p:sp>
      <p:sp>
        <p:nvSpPr>
          <p:cNvPr id="31" name="Text 29"/>
          <p:cNvSpPr txBox="1"/>
          <p:nvPr/>
        </p:nvSpPr>
        <p:spPr>
          <a:xfrm>
            <a:off x="987552" y="5155910"/>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Evaluate systematics: signal model, efficiency, background, normalization</a:t>
            </a:r>
            <a:endParaRPr lang="en-US" sz="1300" dirty="0"/>
          </a:p>
        </p:txBody>
      </p:sp>
      <p:sp>
        <p:nvSpPr>
          <p:cNvPr id="32" name="Shape 30"/>
          <p:cNvSpPr/>
          <p:nvPr/>
        </p:nvSpPr>
        <p:spPr>
          <a:xfrm>
            <a:off x="566928" y="5654911"/>
            <a:ext cx="274320" cy="274320"/>
          </a:xfrm>
          <a:prstGeom prst="ellipse">
            <a:avLst/>
          </a:prstGeom>
          <a:solidFill>
            <a:srgbClr val="FFFFFF"/>
          </a:solidFill>
          <a:ln w="15875">
            <a:solidFill>
              <a:srgbClr val="73000A"/>
            </a:solidFill>
            <a:prstDash val="solid"/>
          </a:ln>
        </p:spPr>
        <p:txBody>
          <a:bodyPr/>
          <a:lstStyle/>
          <a:p>
            <a:endParaRPr lang="en-US"/>
          </a:p>
        </p:txBody>
      </p:sp>
      <p:sp>
        <p:nvSpPr>
          <p:cNvPr id="33" name="Text 31"/>
          <p:cNvSpPr txBox="1"/>
          <p:nvPr/>
        </p:nvSpPr>
        <p:spPr>
          <a:xfrm>
            <a:off x="566928" y="5654911"/>
            <a:ext cx="274320" cy="274320"/>
          </a:xfrm>
          <a:prstGeom prst="rect">
            <a:avLst/>
          </a:prstGeom>
          <a:noFill/>
          <a:ln/>
        </p:spPr>
        <p:txBody>
          <a:bodyPr wrap="square" lIns="0" tIns="0" rIns="0" bIns="0" rtlCol="0" anchor="ctr"/>
          <a:lstStyle/>
          <a:p>
            <a:pPr marL="0" indent="0" algn="ctr">
              <a:buNone/>
            </a:pPr>
            <a:r>
              <a:rPr lang="en-US" sz="1000" b="1" dirty="0">
                <a:solidFill>
                  <a:srgbClr val="73000A"/>
                </a:solidFill>
                <a:latin typeface="Calibri" pitchFamily="34" charset="0"/>
                <a:ea typeface="Calibri" pitchFamily="34" charset="-122"/>
                <a:cs typeface="Calibri" pitchFamily="34" charset="-120"/>
              </a:rPr>
              <a:t>7</a:t>
            </a:r>
            <a:endParaRPr lang="en-US" sz="1000" dirty="0"/>
          </a:p>
        </p:txBody>
      </p:sp>
      <p:sp>
        <p:nvSpPr>
          <p:cNvPr id="34" name="Text 32"/>
          <p:cNvSpPr txBox="1"/>
          <p:nvPr/>
        </p:nvSpPr>
        <p:spPr>
          <a:xfrm>
            <a:off x="987552" y="5600047"/>
            <a:ext cx="5394960" cy="402336"/>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Find the stopped muons, POT, and wall-clock time to surpass SINDRUM</a:t>
            </a:r>
            <a:endParaRPr lang="en-US" sz="1300" dirty="0"/>
          </a:p>
        </p:txBody>
      </p:sp>
      <p:sp>
        <p:nvSpPr>
          <p:cNvPr id="35" name="Shape 33"/>
          <p:cNvSpPr/>
          <p:nvPr/>
        </p:nvSpPr>
        <p:spPr>
          <a:xfrm>
            <a:off x="6720840" y="2514600"/>
            <a:ext cx="5010912" cy="3657600"/>
          </a:xfrm>
          <a:prstGeom prst="roundRect">
            <a:avLst>
              <a:gd name="adj" fmla="val 2500"/>
            </a:avLst>
          </a:prstGeom>
          <a:solidFill>
            <a:srgbClr val="F4F0F0"/>
          </a:solidFill>
          <a:ln/>
        </p:spPr>
        <p:txBody>
          <a:bodyPr/>
          <a:lstStyle/>
          <a:p>
            <a:endParaRPr lang="en-US"/>
          </a:p>
        </p:txBody>
      </p:sp>
      <p:sp>
        <p:nvSpPr>
          <p:cNvPr id="36" name="Text 34"/>
          <p:cNvSpPr txBox="1"/>
          <p:nvPr/>
        </p:nvSpPr>
        <p:spPr>
          <a:xfrm>
            <a:off x="6949440" y="2624328"/>
            <a:ext cx="4645152" cy="329184"/>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Deliverables</a:t>
            </a:r>
            <a:endParaRPr lang="en-US" sz="1600" dirty="0"/>
          </a:p>
        </p:txBody>
      </p:sp>
      <p:sp>
        <p:nvSpPr>
          <p:cNvPr id="37" name="Shape 35"/>
          <p:cNvSpPr/>
          <p:nvPr/>
        </p:nvSpPr>
        <p:spPr>
          <a:xfrm>
            <a:off x="6976872" y="3127248"/>
            <a:ext cx="146304" cy="146304"/>
          </a:xfrm>
          <a:prstGeom prst="rect">
            <a:avLst/>
          </a:prstGeom>
          <a:solidFill>
            <a:srgbClr val="73000A"/>
          </a:solidFill>
          <a:ln/>
        </p:spPr>
        <p:txBody>
          <a:bodyPr/>
          <a:lstStyle/>
          <a:p>
            <a:endParaRPr lang="en-US"/>
          </a:p>
        </p:txBody>
      </p:sp>
      <p:sp>
        <p:nvSpPr>
          <p:cNvPr id="38" name="Text 36"/>
          <p:cNvSpPr txBox="1"/>
          <p:nvPr/>
        </p:nvSpPr>
        <p:spPr>
          <a:xfrm>
            <a:off x="7269480" y="30449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Signal-efficiency and background-yield model</a:t>
            </a:r>
            <a:endParaRPr lang="en-US" sz="1250" dirty="0"/>
          </a:p>
        </p:txBody>
      </p:sp>
      <p:sp>
        <p:nvSpPr>
          <p:cNvPr id="39" name="Shape 37"/>
          <p:cNvSpPr/>
          <p:nvPr/>
        </p:nvSpPr>
        <p:spPr>
          <a:xfrm>
            <a:off x="6976872" y="3470148"/>
            <a:ext cx="146304" cy="146304"/>
          </a:xfrm>
          <a:prstGeom prst="rect">
            <a:avLst/>
          </a:prstGeom>
          <a:solidFill>
            <a:srgbClr val="73000A"/>
          </a:solidFill>
          <a:ln/>
        </p:spPr>
        <p:txBody>
          <a:bodyPr/>
          <a:lstStyle/>
          <a:p>
            <a:endParaRPr lang="en-US"/>
          </a:p>
        </p:txBody>
      </p:sp>
      <p:sp>
        <p:nvSpPr>
          <p:cNvPr id="40" name="Text 38"/>
          <p:cNvSpPr txBox="1"/>
          <p:nvPr/>
        </p:nvSpPr>
        <p:spPr>
          <a:xfrm>
            <a:off x="7269480" y="33878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Poisson and Feldman–Cousins analysis toolbox</a:t>
            </a:r>
            <a:endParaRPr lang="en-US" sz="1250" dirty="0"/>
          </a:p>
        </p:txBody>
      </p:sp>
      <p:sp>
        <p:nvSpPr>
          <p:cNvPr id="41" name="Shape 39"/>
          <p:cNvSpPr/>
          <p:nvPr/>
        </p:nvSpPr>
        <p:spPr>
          <a:xfrm>
            <a:off x="6976872" y="3813048"/>
            <a:ext cx="146304" cy="146304"/>
          </a:xfrm>
          <a:prstGeom prst="rect">
            <a:avLst/>
          </a:prstGeom>
          <a:solidFill>
            <a:srgbClr val="73000A"/>
          </a:solidFill>
          <a:ln/>
        </p:spPr>
        <p:txBody>
          <a:bodyPr/>
          <a:lstStyle/>
          <a:p>
            <a:endParaRPr lang="en-US"/>
          </a:p>
        </p:txBody>
      </p:sp>
      <p:sp>
        <p:nvSpPr>
          <p:cNvPr id="42" name="Text 40"/>
          <p:cNvSpPr txBox="1"/>
          <p:nvPr/>
        </p:nvSpPr>
        <p:spPr>
          <a:xfrm>
            <a:off x="7269480" y="37307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Expected upper limit and discovery reach</a:t>
            </a:r>
            <a:endParaRPr lang="en-US" sz="1250" dirty="0"/>
          </a:p>
        </p:txBody>
      </p:sp>
      <p:sp>
        <p:nvSpPr>
          <p:cNvPr id="43" name="Shape 41"/>
          <p:cNvSpPr/>
          <p:nvPr/>
        </p:nvSpPr>
        <p:spPr>
          <a:xfrm>
            <a:off x="6976872" y="4155948"/>
            <a:ext cx="146304" cy="146304"/>
          </a:xfrm>
          <a:prstGeom prst="rect">
            <a:avLst/>
          </a:prstGeom>
          <a:solidFill>
            <a:srgbClr val="73000A"/>
          </a:solidFill>
          <a:ln/>
        </p:spPr>
        <p:txBody>
          <a:bodyPr/>
          <a:lstStyle/>
          <a:p>
            <a:endParaRPr lang="en-US"/>
          </a:p>
        </p:txBody>
      </p:sp>
      <p:sp>
        <p:nvSpPr>
          <p:cNvPr id="44" name="Text 42"/>
          <p:cNvSpPr txBox="1"/>
          <p:nvPr/>
        </p:nvSpPr>
        <p:spPr>
          <a:xfrm>
            <a:off x="7269480" y="40736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Systematic-uncertainty evaluation</a:t>
            </a:r>
            <a:endParaRPr lang="en-US" sz="1250" dirty="0"/>
          </a:p>
        </p:txBody>
      </p:sp>
      <p:sp>
        <p:nvSpPr>
          <p:cNvPr id="45" name="Shape 43"/>
          <p:cNvSpPr/>
          <p:nvPr/>
        </p:nvSpPr>
        <p:spPr>
          <a:xfrm>
            <a:off x="6976872" y="4498848"/>
            <a:ext cx="146304" cy="146304"/>
          </a:xfrm>
          <a:prstGeom prst="rect">
            <a:avLst/>
          </a:prstGeom>
          <a:solidFill>
            <a:srgbClr val="73000A"/>
          </a:solidFill>
          <a:ln/>
        </p:spPr>
        <p:txBody>
          <a:bodyPr/>
          <a:lstStyle/>
          <a:p>
            <a:endParaRPr lang="en-US"/>
          </a:p>
        </p:txBody>
      </p:sp>
      <p:sp>
        <p:nvSpPr>
          <p:cNvPr id="46" name="Text 44"/>
          <p:cNvSpPr txBox="1"/>
          <p:nvPr/>
        </p:nvSpPr>
        <p:spPr>
          <a:xfrm>
            <a:off x="7269480" y="44165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Required beam intensity, POT, and run duration</a:t>
            </a:r>
            <a:endParaRPr lang="en-US" sz="1250" dirty="0"/>
          </a:p>
        </p:txBody>
      </p:sp>
      <p:sp>
        <p:nvSpPr>
          <p:cNvPr id="47" name="Shape 45"/>
          <p:cNvSpPr/>
          <p:nvPr/>
        </p:nvSpPr>
        <p:spPr>
          <a:xfrm>
            <a:off x="6976872" y="4841748"/>
            <a:ext cx="146304" cy="146304"/>
          </a:xfrm>
          <a:prstGeom prst="rect">
            <a:avLst/>
          </a:prstGeom>
          <a:solidFill>
            <a:srgbClr val="73000A"/>
          </a:solidFill>
          <a:ln/>
        </p:spPr>
        <p:txBody>
          <a:bodyPr/>
          <a:lstStyle/>
          <a:p>
            <a:endParaRPr lang="en-US"/>
          </a:p>
        </p:txBody>
      </p:sp>
      <p:sp>
        <p:nvSpPr>
          <p:cNvPr id="48" name="Text 46"/>
          <p:cNvSpPr txBox="1"/>
          <p:nvPr/>
        </p:nvSpPr>
        <p:spPr>
          <a:xfrm>
            <a:off x="7269480" y="4759452"/>
            <a:ext cx="4279392" cy="310896"/>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Final reconstruction-level Mu2e sensitivity</a:t>
            </a:r>
            <a:endParaRPr lang="en-US" sz="1250" dirty="0"/>
          </a:p>
        </p:txBody>
      </p:sp>
      <p:sp>
        <p:nvSpPr>
          <p:cNvPr id="49" name="Shape 47"/>
          <p:cNvSpPr/>
          <p:nvPr/>
        </p:nvSpPr>
        <p:spPr>
          <a:xfrm>
            <a:off x="6949440" y="5166360"/>
            <a:ext cx="4553712" cy="0"/>
          </a:xfrm>
          <a:prstGeom prst="line">
            <a:avLst/>
          </a:prstGeom>
          <a:noFill/>
          <a:ln w="12700">
            <a:solidFill>
              <a:srgbClr val="D9C4C6"/>
            </a:solidFill>
            <a:prstDash val="solid"/>
          </a:ln>
        </p:spPr>
        <p:txBody>
          <a:bodyPr/>
          <a:lstStyle/>
          <a:p>
            <a:endParaRPr lang="en-US"/>
          </a:p>
        </p:txBody>
      </p:sp>
      <p:sp>
        <p:nvSpPr>
          <p:cNvPr id="50" name="Text 48"/>
          <p:cNvSpPr txBox="1"/>
          <p:nvPr/>
        </p:nvSpPr>
        <p:spPr>
          <a:xfrm>
            <a:off x="6949440" y="5239512"/>
            <a:ext cx="4645152" cy="256032"/>
          </a:xfrm>
          <a:prstGeom prst="rect">
            <a:avLst/>
          </a:prstGeom>
          <a:noFill/>
          <a:ln/>
        </p:spPr>
        <p:txBody>
          <a:bodyPr wrap="square" lIns="0" tIns="0" rIns="0" bIns="0" rtlCol="0" anchor="ctr"/>
          <a:lstStyle/>
          <a:p>
            <a:pPr marL="0" indent="0">
              <a:buNone/>
            </a:pPr>
            <a:r>
              <a:rPr lang="en-US" sz="1200" b="1" dirty="0">
                <a:solidFill>
                  <a:srgbClr val="73000A"/>
                </a:solidFill>
                <a:latin typeface="Calibri" pitchFamily="34" charset="0"/>
                <a:ea typeface="Calibri" pitchFamily="34" charset="-122"/>
                <a:cs typeface="Calibri" pitchFamily="34" charset="-120"/>
              </a:rPr>
              <a:t>Write-ups</a:t>
            </a:r>
            <a:endParaRPr lang="en-US" sz="1200" dirty="0"/>
          </a:p>
        </p:txBody>
      </p:sp>
      <p:sp>
        <p:nvSpPr>
          <p:cNvPr id="51" name="Shape 49"/>
          <p:cNvSpPr/>
          <p:nvPr/>
        </p:nvSpPr>
        <p:spPr>
          <a:xfrm>
            <a:off x="6976872" y="5586984"/>
            <a:ext cx="146304" cy="146304"/>
          </a:xfrm>
          <a:prstGeom prst="rect">
            <a:avLst/>
          </a:prstGeom>
          <a:solidFill>
            <a:srgbClr val="FFFFFF"/>
          </a:solidFill>
          <a:ln w="15875">
            <a:solidFill>
              <a:srgbClr val="73000A"/>
            </a:solidFill>
            <a:prstDash val="solid"/>
          </a:ln>
        </p:spPr>
        <p:txBody>
          <a:bodyPr/>
          <a:lstStyle/>
          <a:p>
            <a:endParaRPr lang="en-US"/>
          </a:p>
        </p:txBody>
      </p:sp>
      <p:sp>
        <p:nvSpPr>
          <p:cNvPr id="52" name="Text 50"/>
          <p:cNvSpPr txBox="1"/>
          <p:nvPr/>
        </p:nvSpPr>
        <p:spPr>
          <a:xfrm>
            <a:off x="7269480" y="5513832"/>
            <a:ext cx="4279392" cy="274320"/>
          </a:xfrm>
          <a:prstGeom prst="rect">
            <a:avLst/>
          </a:prstGeom>
          <a:noFill/>
          <a:ln/>
        </p:spPr>
        <p:txBody>
          <a:bodyPr wrap="square" lIns="0" tIns="0" rIns="0" bIns="0" rtlCol="0" anchor="ctr"/>
          <a:lstStyle/>
          <a:p>
            <a:pPr marL="0" indent="0">
              <a:buNone/>
            </a:pPr>
            <a:r>
              <a:rPr lang="en-US" sz="1200" i="1" dirty="0">
                <a:solidFill>
                  <a:srgbClr val="333333"/>
                </a:solidFill>
                <a:latin typeface="Calibri" pitchFamily="34" charset="0"/>
                <a:ea typeface="Calibri" pitchFamily="34" charset="-122"/>
                <a:cs typeface="Calibri" pitchFamily="34" charset="-120"/>
              </a:rPr>
              <a:t>Formal request for half-field run configuration</a:t>
            </a:r>
            <a:endParaRPr lang="en-US" sz="1200" dirty="0"/>
          </a:p>
        </p:txBody>
      </p:sp>
      <p:sp>
        <p:nvSpPr>
          <p:cNvPr id="53" name="Shape 51"/>
          <p:cNvSpPr/>
          <p:nvPr/>
        </p:nvSpPr>
        <p:spPr>
          <a:xfrm>
            <a:off x="6976872" y="5861304"/>
            <a:ext cx="146304" cy="146304"/>
          </a:xfrm>
          <a:prstGeom prst="rect">
            <a:avLst/>
          </a:prstGeom>
          <a:solidFill>
            <a:srgbClr val="FFFFFF"/>
          </a:solidFill>
          <a:ln w="15875">
            <a:solidFill>
              <a:srgbClr val="73000A"/>
            </a:solidFill>
            <a:prstDash val="solid"/>
          </a:ln>
        </p:spPr>
        <p:txBody>
          <a:bodyPr/>
          <a:lstStyle/>
          <a:p>
            <a:endParaRPr lang="en-US"/>
          </a:p>
        </p:txBody>
      </p:sp>
      <p:sp>
        <p:nvSpPr>
          <p:cNvPr id="54" name="Text 52"/>
          <p:cNvSpPr txBox="1"/>
          <p:nvPr/>
        </p:nvSpPr>
        <p:spPr>
          <a:xfrm>
            <a:off x="7269480" y="5788152"/>
            <a:ext cx="4279392" cy="274320"/>
          </a:xfrm>
          <a:prstGeom prst="rect">
            <a:avLst/>
          </a:prstGeom>
          <a:noFill/>
          <a:ln/>
        </p:spPr>
        <p:txBody>
          <a:bodyPr wrap="square" lIns="0" tIns="0" rIns="0" bIns="0" rtlCol="0" anchor="ctr"/>
          <a:lstStyle/>
          <a:p>
            <a:pPr marL="0" indent="0">
              <a:buNone/>
            </a:pPr>
            <a:r>
              <a:rPr lang="en-US" sz="1200" i="1" dirty="0">
                <a:solidFill>
                  <a:srgbClr val="333333"/>
                </a:solidFill>
                <a:latin typeface="Calibri" pitchFamily="34" charset="0"/>
                <a:ea typeface="Calibri" pitchFamily="34" charset="-122"/>
                <a:cs typeface="Calibri" pitchFamily="34" charset="-120"/>
              </a:rPr>
              <a:t>Internal Mu2e note on analyzing this channel</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Summary</a:t>
            </a:r>
            <a:endParaRPr lang="en-US" sz="2800" dirty="0"/>
          </a:p>
        </p:txBody>
      </p:sp>
      <mc:AlternateContent xmlns:mc="http://schemas.openxmlformats.org/markup-compatibility/2006">
        <mc:Choice xmlns:a14="http://schemas.microsoft.com/office/drawing/2010/main" Requires="a14">
          <p:sp>
            <p:nvSpPr>
              <p:cNvPr id="3" name="Text 1"/>
              <p:cNvSpPr txBox="1"/>
              <p:nvPr/>
            </p:nvSpPr>
            <p:spPr>
              <a:xfrm>
                <a:off x="378136" y="896112"/>
                <a:ext cx="11447188" cy="365760"/>
              </a:xfrm>
              <a:prstGeom prst="rect">
                <a:avLst/>
              </a:prstGeom>
              <a:noFill/>
              <a:ln/>
            </p:spPr>
            <p:txBody>
              <a:bodyPr wrap="square" lIns="0" tIns="0" rIns="0" bIns="0" rtlCol="0" anchor="ctr"/>
              <a:lstStyle/>
              <a:p>
                <a:pPr marL="0" indent="0">
                  <a:buNone/>
                </a:pPr>
                <a:r>
                  <a:rPr lang="en-US" sz="1600" i="1" dirty="0">
                    <a:solidFill>
                      <a:srgbClr val="73000A"/>
                    </a:solidFill>
                    <a:latin typeface="Calibri" pitchFamily="34" charset="0"/>
                    <a:ea typeface="Calibri" pitchFamily="34" charset="-122"/>
                    <a:cs typeface="Calibri" pitchFamily="34" charset="-120"/>
                  </a:rPr>
                  <a:t>Mu2e has the capability to search for an additional </a:t>
                </a:r>
                <a14:m>
                  <m:oMath xmlns:m="http://schemas.openxmlformats.org/officeDocument/2006/math">
                    <m:r>
                      <a:rPr lang="en-US" sz="1600" i="1" smtClean="0">
                        <a:solidFill>
                          <a:srgbClr val="73000A"/>
                        </a:solidFill>
                        <a:latin typeface="Cambria Math" panose="02040503050406030204" pitchFamily="18" charset="0"/>
                        <a:ea typeface="Cambria Math" panose="02040503050406030204" pitchFamily="18" charset="0"/>
                        <a:cs typeface="Calibri" pitchFamily="34" charset="-120"/>
                      </a:rPr>
                      <m:t>∆</m:t>
                    </m:r>
                    <m:sSub>
                      <m:sSubPr>
                        <m:ctrlPr>
                          <a:rPr lang="en-US" sz="1600" i="1" smtClean="0">
                            <a:solidFill>
                              <a:srgbClr val="73000A"/>
                            </a:solidFill>
                            <a:latin typeface="Cambria Math" panose="02040503050406030204" pitchFamily="18" charset="0"/>
                            <a:ea typeface="Cambria Math" panose="02040503050406030204" pitchFamily="18" charset="0"/>
                            <a:cs typeface="Calibri" pitchFamily="34" charset="-120"/>
                          </a:rPr>
                        </m:ctrlPr>
                      </m:sSubPr>
                      <m:e>
                        <m:r>
                          <a:rPr lang="en-US" sz="1600" b="0" i="1" smtClean="0">
                            <a:solidFill>
                              <a:srgbClr val="73000A"/>
                            </a:solidFill>
                            <a:latin typeface="Cambria Math" panose="02040503050406030204" pitchFamily="18" charset="0"/>
                            <a:ea typeface="Cambria Math" panose="02040503050406030204" pitchFamily="18" charset="0"/>
                            <a:cs typeface="Calibri" pitchFamily="34" charset="-120"/>
                          </a:rPr>
                          <m:t>𝐿</m:t>
                        </m:r>
                      </m:e>
                      <m:sub>
                        <m:r>
                          <a:rPr lang="en-US" sz="1600" i="1" smtClean="0">
                            <a:solidFill>
                              <a:srgbClr val="73000A"/>
                            </a:solidFill>
                            <a:latin typeface="Cambria Math" panose="02040503050406030204" pitchFamily="18" charset="0"/>
                            <a:ea typeface="Cambria Math" panose="02040503050406030204" pitchFamily="18" charset="0"/>
                            <a:cs typeface="Calibri" pitchFamily="34" charset="-120"/>
                          </a:rPr>
                          <m:t>𝜇</m:t>
                        </m:r>
                      </m:sub>
                    </m:sSub>
                    <m:r>
                      <a:rPr lang="en-US" sz="1600" b="0" i="1" smtClean="0">
                        <a:solidFill>
                          <a:srgbClr val="73000A"/>
                        </a:solidFill>
                        <a:latin typeface="Cambria Math" panose="02040503050406030204" pitchFamily="18" charset="0"/>
                        <a:ea typeface="Cambria Math" panose="02040503050406030204" pitchFamily="18" charset="0"/>
                        <a:cs typeface="Calibri" pitchFamily="34" charset="-120"/>
                      </a:rPr>
                      <m:t>=1 </m:t>
                    </m:r>
                  </m:oMath>
                </a14:m>
                <a:r>
                  <a:rPr lang="en-US" sz="1600" i="1" dirty="0">
                    <a:solidFill>
                      <a:srgbClr val="73000A"/>
                    </a:solidFill>
                    <a:latin typeface="Calibri" pitchFamily="34" charset="0"/>
                    <a:ea typeface="Calibri" pitchFamily="34" charset="-122"/>
                    <a:cs typeface="Calibri" pitchFamily="34" charset="-120"/>
                  </a:rPr>
                  <a:t>CLFV channel, and initial renditions of the required tools are already promising</a:t>
                </a:r>
                <a:endParaRPr lang="en-US" sz="1600" dirty="0"/>
              </a:p>
            </p:txBody>
          </p:sp>
        </mc:Choice>
        <mc:Fallback>
          <p:sp>
            <p:nvSpPr>
              <p:cNvPr id="3" name="Text 1"/>
              <p:cNvSpPr txBox="1">
                <a:spLocks noRot="1" noChangeAspect="1" noMove="1" noResize="1" noEditPoints="1" noAdjustHandles="1" noChangeArrowheads="1" noChangeShapeType="1" noTextEdit="1"/>
              </p:cNvSpPr>
              <p:nvPr/>
            </p:nvSpPr>
            <p:spPr>
              <a:xfrm>
                <a:off x="378136" y="896112"/>
                <a:ext cx="11447188" cy="365760"/>
              </a:xfrm>
              <a:prstGeom prst="rect">
                <a:avLst/>
              </a:prstGeom>
              <a:blipFill>
                <a:blip r:embed="rId3"/>
                <a:stretch>
                  <a:fillRect l="-997" t="-3333" r="-886" b="-13333"/>
                </a:stretch>
              </a:blipFill>
              <a:ln/>
            </p:spPr>
            <p:txBody>
              <a:bodyPr/>
              <a:lstStyle/>
              <a:p>
                <a:r>
                  <a:rPr lang="en-US">
                    <a:noFill/>
                  </a:rPr>
                  <a:t> </a:t>
                </a:r>
              </a:p>
            </p:txBody>
          </p:sp>
        </mc:Fallback>
      </mc:AlternateContent>
      <p:sp>
        <p:nvSpPr>
          <p:cNvPr id="4" name="Shape 2"/>
          <p:cNvSpPr/>
          <p:nvPr/>
        </p:nvSpPr>
        <p:spPr>
          <a:xfrm>
            <a:off x="548640" y="1463040"/>
            <a:ext cx="3550920" cy="3657600"/>
          </a:xfrm>
          <a:prstGeom prst="roundRect">
            <a:avLst>
              <a:gd name="adj" fmla="val 2575"/>
            </a:avLst>
          </a:prstGeom>
          <a:solidFill>
            <a:srgbClr val="F4F0F0"/>
          </a:solidFill>
          <a:ln/>
        </p:spPr>
        <p:txBody>
          <a:bodyPr/>
          <a:lstStyle/>
          <a:p>
            <a:endParaRPr lang="en-US"/>
          </a:p>
        </p:txBody>
      </p:sp>
      <p:sp>
        <p:nvSpPr>
          <p:cNvPr id="5" name="Text 3"/>
          <p:cNvSpPr txBox="1"/>
          <p:nvPr/>
        </p:nvSpPr>
        <p:spPr>
          <a:xfrm>
            <a:off x="777240" y="1600200"/>
            <a:ext cx="3093720" cy="256032"/>
          </a:xfrm>
          <a:prstGeom prst="rect">
            <a:avLst/>
          </a:prstGeom>
          <a:noFill/>
          <a:ln/>
        </p:spPr>
        <p:txBody>
          <a:bodyPr wrap="square" lIns="0" tIns="0" rIns="0" bIns="0" rtlCol="0" anchor="ctr"/>
          <a:lstStyle/>
          <a:p>
            <a:pPr marL="0" indent="0">
              <a:buNone/>
            </a:pPr>
            <a:r>
              <a:rPr lang="en-US" sz="1100" b="1" kern="0" spc="200" dirty="0">
                <a:solidFill>
                  <a:srgbClr val="73000A"/>
                </a:solidFill>
                <a:latin typeface="Calibri" pitchFamily="34" charset="0"/>
                <a:ea typeface="Calibri" pitchFamily="34" charset="-122"/>
                <a:cs typeface="Calibri" pitchFamily="34" charset="-120"/>
              </a:rPr>
              <a:t>IMPORTANCE OF STUDY</a:t>
            </a:r>
            <a:endParaRPr lang="en-US" sz="1100" dirty="0"/>
          </a:p>
        </p:txBody>
      </p:sp>
      <p:sp>
        <p:nvSpPr>
          <p:cNvPr id="6" name="Text 4"/>
          <p:cNvSpPr txBox="1"/>
          <p:nvPr/>
        </p:nvSpPr>
        <p:spPr>
          <a:xfrm>
            <a:off x="777240" y="1874520"/>
            <a:ext cx="3093720" cy="722376"/>
          </a:xfrm>
          <a:prstGeom prst="rect">
            <a:avLst/>
          </a:prstGeom>
          <a:noFill/>
          <a:ln/>
        </p:spPr>
        <p:txBody>
          <a:bodyPr wrap="square" lIns="0" tIns="0" rIns="0" bIns="0" rtlCol="0" anchor="t"/>
          <a:lstStyle/>
          <a:p>
            <a:pPr marL="0" indent="0">
              <a:buNone/>
            </a:pPr>
            <a:r>
              <a:rPr lang="en-US" sz="1600" b="1" dirty="0">
                <a:solidFill>
                  <a:srgbClr val="1A1A1A"/>
                </a:solidFill>
                <a:latin typeface="Calibri" pitchFamily="34" charset="0"/>
                <a:ea typeface="Calibri" pitchFamily="34" charset="-122"/>
                <a:cs typeface="Calibri" pitchFamily="34" charset="-120"/>
              </a:rPr>
              <a:t>A clean, untested window on charged lepton flavor violation in an already active experimental design</a:t>
            </a:r>
            <a:endParaRPr lang="en-US" sz="1600" dirty="0"/>
          </a:p>
        </p:txBody>
      </p:sp>
      <p:sp>
        <p:nvSpPr>
          <p:cNvPr id="7" name="Text 5"/>
          <p:cNvSpPr txBox="1"/>
          <p:nvPr/>
        </p:nvSpPr>
        <p:spPr>
          <a:xfrm>
            <a:off x="777240" y="2798064"/>
            <a:ext cx="3139440" cy="223113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Lepton flavor is an accidental symmetry of the Standard Model</a:t>
            </a:r>
            <a:endParaRPr lang="en-US" sz="1250" dirty="0"/>
          </a:p>
          <a:p>
            <a:pPr marL="342900" indent="-3429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Neutrinos change flavor; have not seen charged leptons do the same</a:t>
            </a:r>
            <a:endParaRPr lang="en-US" sz="1250" dirty="0"/>
          </a:p>
          <a:p>
            <a:pPr marL="342900" indent="-3429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Current B.R. limit near 10⁻¹², inferred only by crossing from SINDRUM (1988)</a:t>
            </a:r>
          </a:p>
          <a:p>
            <a:pPr marL="342900" indent="-342900">
              <a:spcAft>
                <a:spcPts val="600"/>
              </a:spcAft>
              <a:buSzPct val="100000"/>
              <a:buChar char="•"/>
            </a:pPr>
            <a:r>
              <a:rPr lang="en-US" sz="1250" dirty="0">
                <a:solidFill>
                  <a:srgbClr val="333333"/>
                </a:solidFill>
                <a:latin typeface="Calibri" pitchFamily="34" charset="0"/>
                <a:cs typeface="Calibri" pitchFamily="34" charset="-120"/>
              </a:rPr>
              <a:t>Additional models, operators, and mediators to constrain if run</a:t>
            </a:r>
            <a:endParaRPr lang="en-US" sz="1250" dirty="0"/>
          </a:p>
          <a:p>
            <a:pPr marL="342900" indent="-3429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Signature: two back-to-back 52.8 MeV electrons from one vertex</a:t>
            </a:r>
            <a:endParaRPr lang="en-US" sz="1250" dirty="0"/>
          </a:p>
        </p:txBody>
      </p:sp>
      <p:sp>
        <p:nvSpPr>
          <p:cNvPr id="8" name="Shape 6"/>
          <p:cNvSpPr/>
          <p:nvPr/>
        </p:nvSpPr>
        <p:spPr>
          <a:xfrm>
            <a:off x="4319016" y="1463040"/>
            <a:ext cx="3550920" cy="3657600"/>
          </a:xfrm>
          <a:prstGeom prst="roundRect">
            <a:avLst>
              <a:gd name="adj" fmla="val 2575"/>
            </a:avLst>
          </a:prstGeom>
          <a:solidFill>
            <a:srgbClr val="F4F0F0"/>
          </a:solidFill>
          <a:ln/>
        </p:spPr>
        <p:txBody>
          <a:bodyPr/>
          <a:lstStyle/>
          <a:p>
            <a:endParaRPr lang="en-US"/>
          </a:p>
        </p:txBody>
      </p:sp>
      <p:sp>
        <p:nvSpPr>
          <p:cNvPr id="9" name="Text 7"/>
          <p:cNvSpPr txBox="1"/>
          <p:nvPr/>
        </p:nvSpPr>
        <p:spPr>
          <a:xfrm>
            <a:off x="4547616" y="1600200"/>
            <a:ext cx="3093720" cy="256032"/>
          </a:xfrm>
          <a:prstGeom prst="rect">
            <a:avLst/>
          </a:prstGeom>
          <a:noFill/>
          <a:ln/>
        </p:spPr>
        <p:txBody>
          <a:bodyPr wrap="square" lIns="0" tIns="0" rIns="0" bIns="0" rtlCol="0" anchor="ctr"/>
          <a:lstStyle/>
          <a:p>
            <a:pPr marL="0" indent="0">
              <a:buNone/>
            </a:pPr>
            <a:r>
              <a:rPr lang="en-US" sz="1100" b="1" kern="0" spc="200" dirty="0">
                <a:solidFill>
                  <a:srgbClr val="73000A"/>
                </a:solidFill>
                <a:latin typeface="Calibri" pitchFamily="34" charset="0"/>
                <a:cs typeface="Calibri" pitchFamily="34" charset="-120"/>
              </a:rPr>
              <a:t>PROMISING INITIAL INVESTIGATION</a:t>
            </a:r>
            <a:endParaRPr lang="en-US" sz="1100" dirty="0"/>
          </a:p>
        </p:txBody>
      </p:sp>
      <p:sp>
        <p:nvSpPr>
          <p:cNvPr id="10" name="Text 8"/>
          <p:cNvSpPr txBox="1"/>
          <p:nvPr/>
        </p:nvSpPr>
        <p:spPr>
          <a:xfrm>
            <a:off x="4547616" y="1874520"/>
            <a:ext cx="3093720" cy="566928"/>
          </a:xfrm>
          <a:prstGeom prst="rect">
            <a:avLst/>
          </a:prstGeom>
          <a:noFill/>
          <a:ln/>
        </p:spPr>
        <p:txBody>
          <a:bodyPr wrap="square" lIns="0" tIns="0" rIns="0" bIns="0" rtlCol="0" anchor="t"/>
          <a:lstStyle/>
          <a:p>
            <a:pPr marL="0" indent="0">
              <a:buNone/>
            </a:pPr>
            <a:r>
              <a:rPr lang="en-US" sz="1600" b="1" dirty="0">
                <a:solidFill>
                  <a:srgbClr val="1A1A1A"/>
                </a:solidFill>
                <a:latin typeface="Calibri" pitchFamily="34" charset="0"/>
                <a:ea typeface="Calibri" pitchFamily="34" charset="-122"/>
                <a:cs typeface="Calibri" pitchFamily="34" charset="-120"/>
              </a:rPr>
              <a:t>The Mu2e simulation environment allows for a study to be progressed</a:t>
            </a:r>
            <a:endParaRPr lang="en-US" sz="1600" dirty="0"/>
          </a:p>
        </p:txBody>
      </p:sp>
      <p:sp>
        <p:nvSpPr>
          <p:cNvPr id="11" name="Text 9"/>
          <p:cNvSpPr txBox="1"/>
          <p:nvPr/>
        </p:nvSpPr>
        <p:spPr>
          <a:xfrm>
            <a:off x="4453128" y="2532888"/>
            <a:ext cx="1641348" cy="502920"/>
          </a:xfrm>
          <a:prstGeom prst="rect">
            <a:avLst/>
          </a:prstGeom>
          <a:noFill/>
          <a:ln/>
        </p:spPr>
        <p:txBody>
          <a:bodyPr wrap="square" lIns="0" tIns="0" rIns="0" bIns="0" rtlCol="0" anchor="ctr"/>
          <a:lstStyle/>
          <a:p>
            <a:r>
              <a:rPr lang="en-US" sz="3000" b="1" dirty="0">
                <a:solidFill>
                  <a:srgbClr val="73000A"/>
                </a:solidFill>
                <a:latin typeface="Calibri" pitchFamily="34" charset="0"/>
                <a:ea typeface="Calibri" pitchFamily="34" charset="-122"/>
                <a:cs typeface="Calibri" pitchFamily="34" charset="-120"/>
              </a:rPr>
              <a:t>≈ </a:t>
            </a:r>
            <a:r>
              <a:rPr lang="en-US" sz="3000" b="1" dirty="0">
                <a:solidFill>
                  <a:srgbClr val="73000A"/>
                </a:solidFill>
                <a:latin typeface="Calibri" pitchFamily="34" charset="0"/>
                <a:cs typeface="Calibri" pitchFamily="34" charset="-120"/>
              </a:rPr>
              <a:t>1 Month</a:t>
            </a:r>
            <a:endParaRPr lang="en-US" sz="3000" dirty="0"/>
          </a:p>
        </p:txBody>
      </p:sp>
      <p:sp>
        <p:nvSpPr>
          <p:cNvPr id="12" name="Text 10"/>
          <p:cNvSpPr txBox="1"/>
          <p:nvPr/>
        </p:nvSpPr>
        <p:spPr>
          <a:xfrm>
            <a:off x="4328160" y="2971800"/>
            <a:ext cx="1773936" cy="384048"/>
          </a:xfrm>
          <a:prstGeom prst="rect">
            <a:avLst/>
          </a:prstGeom>
          <a:noFill/>
          <a:ln/>
        </p:spPr>
        <p:txBody>
          <a:bodyPr wrap="square" lIns="0" tIns="0" rIns="0" bIns="0" rtlCol="0" anchor="t"/>
          <a:lstStyle/>
          <a:p>
            <a:pPr marL="0" indent="0">
              <a:buNone/>
            </a:pPr>
            <a:r>
              <a:rPr lang="en-US" sz="1100" dirty="0"/>
              <a:t>Wall-clock hours required to improve constraint from back-of-envelope calc.</a:t>
            </a:r>
          </a:p>
        </p:txBody>
      </p:sp>
      <p:sp>
        <p:nvSpPr>
          <p:cNvPr id="13" name="Text 11"/>
          <p:cNvSpPr txBox="1"/>
          <p:nvPr/>
        </p:nvSpPr>
        <p:spPr>
          <a:xfrm>
            <a:off x="6239256" y="2514600"/>
            <a:ext cx="1554480" cy="502920"/>
          </a:xfrm>
          <a:prstGeom prst="rect">
            <a:avLst/>
          </a:prstGeom>
          <a:noFill/>
          <a:ln/>
        </p:spPr>
        <p:txBody>
          <a:bodyPr wrap="square" lIns="0" tIns="0" rIns="0" bIns="0" rtlCol="0" anchor="ctr"/>
          <a:lstStyle/>
          <a:p>
            <a:pPr marL="0" indent="0">
              <a:buNone/>
            </a:pPr>
            <a:r>
              <a:rPr lang="en-US" sz="3000" b="1" dirty="0">
                <a:solidFill>
                  <a:srgbClr val="73000A"/>
                </a:solidFill>
                <a:latin typeface="Calibri" pitchFamily="34" charset="0"/>
                <a:ea typeface="Calibri" pitchFamily="34" charset="-122"/>
                <a:cs typeface="Calibri" pitchFamily="34" charset="-120"/>
              </a:rPr>
              <a:t>≈16.8%</a:t>
            </a:r>
            <a:endParaRPr lang="en-US" sz="3000" dirty="0"/>
          </a:p>
        </p:txBody>
      </p:sp>
      <p:sp>
        <p:nvSpPr>
          <p:cNvPr id="14" name="Text 12"/>
          <p:cNvSpPr txBox="1"/>
          <p:nvPr/>
        </p:nvSpPr>
        <p:spPr>
          <a:xfrm>
            <a:off x="6111240" y="2971800"/>
            <a:ext cx="1682496" cy="384048"/>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cs typeface="Calibri" pitchFamily="34" charset="-120"/>
              </a:rPr>
              <a:t>Simulation efficiency from candidacy cuts of pure-signal generation</a:t>
            </a:r>
            <a:endParaRPr lang="en-US" sz="1100" dirty="0"/>
          </a:p>
        </p:txBody>
      </p:sp>
      <p:sp>
        <p:nvSpPr>
          <p:cNvPr id="15" name="Text 13"/>
          <p:cNvSpPr txBox="1"/>
          <p:nvPr/>
        </p:nvSpPr>
        <p:spPr>
          <a:xfrm>
            <a:off x="4453128" y="3566160"/>
            <a:ext cx="3233928"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Toy back-to-back generator built and validated in Mu2e Offline</a:t>
            </a:r>
            <a:endParaRPr lang="en-US" sz="1250" dirty="0"/>
          </a:p>
          <a:p>
            <a:pPr marL="342900" indent="-3429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Simulation from stops through ntuples, with three candidacy cuts for vertexing process</a:t>
            </a:r>
            <a:endParaRPr lang="en-US" sz="1250" dirty="0"/>
          </a:p>
          <a:p>
            <a:pPr marL="342900" indent="-3429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Initial common vertex process utilized; minimization of z residual is the next target</a:t>
            </a:r>
            <a:endParaRPr lang="en-US" sz="1250" dirty="0"/>
          </a:p>
        </p:txBody>
      </p:sp>
      <p:sp>
        <p:nvSpPr>
          <p:cNvPr id="16" name="Shape 14"/>
          <p:cNvSpPr/>
          <p:nvPr/>
        </p:nvSpPr>
        <p:spPr>
          <a:xfrm>
            <a:off x="8089392" y="1463040"/>
            <a:ext cx="3550920" cy="3657600"/>
          </a:xfrm>
          <a:prstGeom prst="roundRect">
            <a:avLst>
              <a:gd name="adj" fmla="val 2575"/>
            </a:avLst>
          </a:prstGeom>
          <a:solidFill>
            <a:srgbClr val="F4F0F0"/>
          </a:solidFill>
          <a:ln/>
        </p:spPr>
        <p:txBody>
          <a:bodyPr/>
          <a:lstStyle/>
          <a:p>
            <a:endParaRPr lang="en-US"/>
          </a:p>
        </p:txBody>
      </p:sp>
      <p:sp>
        <p:nvSpPr>
          <p:cNvPr id="17" name="Text 15"/>
          <p:cNvSpPr txBox="1"/>
          <p:nvPr/>
        </p:nvSpPr>
        <p:spPr>
          <a:xfrm>
            <a:off x="8317992" y="1600200"/>
            <a:ext cx="3093720" cy="256032"/>
          </a:xfrm>
          <a:prstGeom prst="rect">
            <a:avLst/>
          </a:prstGeom>
          <a:noFill/>
          <a:ln/>
        </p:spPr>
        <p:txBody>
          <a:bodyPr wrap="square" lIns="0" tIns="0" rIns="0" bIns="0" rtlCol="0" anchor="ctr"/>
          <a:lstStyle/>
          <a:p>
            <a:pPr marL="0" indent="0">
              <a:buNone/>
            </a:pPr>
            <a:r>
              <a:rPr lang="en-US" sz="1100" b="1" kern="0" spc="200" dirty="0">
                <a:solidFill>
                  <a:srgbClr val="73000A"/>
                </a:solidFill>
                <a:latin typeface="Calibri" pitchFamily="34" charset="0"/>
                <a:ea typeface="Calibri" pitchFamily="34" charset="-122"/>
                <a:cs typeface="Calibri" pitchFamily="34" charset="-120"/>
              </a:rPr>
              <a:t>UPCOMING PROGRESS IN RESEARCH</a:t>
            </a:r>
            <a:endParaRPr lang="en-US" sz="1100" dirty="0"/>
          </a:p>
        </p:txBody>
      </p:sp>
      <p:sp>
        <p:nvSpPr>
          <p:cNvPr id="18" name="Text 16"/>
          <p:cNvSpPr txBox="1"/>
          <p:nvPr/>
        </p:nvSpPr>
        <p:spPr>
          <a:xfrm>
            <a:off x="8317992" y="1874520"/>
            <a:ext cx="3294888" cy="566928"/>
          </a:xfrm>
          <a:prstGeom prst="rect">
            <a:avLst/>
          </a:prstGeom>
          <a:noFill/>
          <a:ln/>
        </p:spPr>
        <p:txBody>
          <a:bodyPr wrap="square" lIns="0" tIns="0" rIns="0" bIns="0" rtlCol="0" anchor="t"/>
          <a:lstStyle/>
          <a:p>
            <a:pPr marL="0" indent="0">
              <a:buNone/>
            </a:pPr>
            <a:r>
              <a:rPr lang="en-US" sz="1600" b="1" dirty="0">
                <a:solidFill>
                  <a:srgbClr val="1A1A1A"/>
                </a:solidFill>
                <a:latin typeface="Calibri" pitchFamily="34" charset="0"/>
                <a:ea typeface="Calibri" pitchFamily="34" charset="-122"/>
                <a:cs typeface="Calibri" pitchFamily="34" charset="-120"/>
              </a:rPr>
              <a:t>Four goals to complete a reconstruction-level sensitivity study</a:t>
            </a:r>
            <a:endParaRPr lang="en-US" sz="1600" dirty="0"/>
          </a:p>
        </p:txBody>
      </p:sp>
      <p:sp>
        <p:nvSpPr>
          <p:cNvPr id="19" name="Shape 17"/>
          <p:cNvSpPr/>
          <p:nvPr/>
        </p:nvSpPr>
        <p:spPr>
          <a:xfrm>
            <a:off x="8317992" y="2596896"/>
            <a:ext cx="310896" cy="310896"/>
          </a:xfrm>
          <a:prstGeom prst="ellipse">
            <a:avLst/>
          </a:prstGeom>
          <a:solidFill>
            <a:srgbClr val="73000A"/>
          </a:solidFill>
          <a:ln/>
        </p:spPr>
        <p:txBody>
          <a:bodyPr/>
          <a:lstStyle/>
          <a:p>
            <a:endParaRPr lang="en-US"/>
          </a:p>
        </p:txBody>
      </p:sp>
      <p:sp>
        <p:nvSpPr>
          <p:cNvPr id="20" name="Text 18"/>
          <p:cNvSpPr txBox="1"/>
          <p:nvPr/>
        </p:nvSpPr>
        <p:spPr>
          <a:xfrm>
            <a:off x="8317992" y="259689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9"/>
          <p:cNvSpPr txBox="1"/>
          <p:nvPr/>
        </p:nvSpPr>
        <p:spPr>
          <a:xfrm>
            <a:off x="8747760" y="2560320"/>
            <a:ext cx="2682240" cy="384048"/>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Helical, covariance-aware vertexing</a:t>
            </a:r>
            <a:endParaRPr lang="en-US" sz="1250" dirty="0"/>
          </a:p>
        </p:txBody>
      </p:sp>
      <p:sp>
        <p:nvSpPr>
          <p:cNvPr id="22" name="Shape 20"/>
          <p:cNvSpPr/>
          <p:nvPr/>
        </p:nvSpPr>
        <p:spPr>
          <a:xfrm>
            <a:off x="8317992" y="3072384"/>
            <a:ext cx="310896" cy="310896"/>
          </a:xfrm>
          <a:prstGeom prst="ellipse">
            <a:avLst/>
          </a:prstGeom>
          <a:solidFill>
            <a:srgbClr val="73000A"/>
          </a:solidFill>
          <a:ln/>
        </p:spPr>
        <p:txBody>
          <a:bodyPr/>
          <a:lstStyle/>
          <a:p>
            <a:endParaRPr lang="en-US"/>
          </a:p>
        </p:txBody>
      </p:sp>
      <p:sp>
        <p:nvSpPr>
          <p:cNvPr id="23" name="Text 21"/>
          <p:cNvSpPr txBox="1"/>
          <p:nvPr/>
        </p:nvSpPr>
        <p:spPr>
          <a:xfrm>
            <a:off x="8317992" y="307238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txBox="1"/>
          <p:nvPr/>
        </p:nvSpPr>
        <p:spPr>
          <a:xfrm>
            <a:off x="8747760" y="3035808"/>
            <a:ext cx="2682240" cy="384048"/>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Signal–background mixing at half field</a:t>
            </a:r>
            <a:endParaRPr lang="en-US" sz="1250" dirty="0"/>
          </a:p>
        </p:txBody>
      </p:sp>
      <p:sp>
        <p:nvSpPr>
          <p:cNvPr id="25" name="Shape 23"/>
          <p:cNvSpPr/>
          <p:nvPr/>
        </p:nvSpPr>
        <p:spPr>
          <a:xfrm>
            <a:off x="8317992" y="3547872"/>
            <a:ext cx="310896" cy="310896"/>
          </a:xfrm>
          <a:prstGeom prst="ellipse">
            <a:avLst/>
          </a:prstGeom>
          <a:solidFill>
            <a:srgbClr val="73000A"/>
          </a:solidFill>
          <a:ln/>
        </p:spPr>
        <p:txBody>
          <a:bodyPr/>
          <a:lstStyle/>
          <a:p>
            <a:endParaRPr lang="en-US"/>
          </a:p>
        </p:txBody>
      </p:sp>
      <p:sp>
        <p:nvSpPr>
          <p:cNvPr id="26" name="Text 24"/>
          <p:cNvSpPr txBox="1"/>
          <p:nvPr/>
        </p:nvSpPr>
        <p:spPr>
          <a:xfrm>
            <a:off x="8317992" y="35478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5"/>
          <p:cNvSpPr txBox="1"/>
          <p:nvPr/>
        </p:nvSpPr>
        <p:spPr>
          <a:xfrm>
            <a:off x="8747759" y="3511296"/>
            <a:ext cx="2740679" cy="384048"/>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Theory-weighted generator with nuclear recoil implemented in generator sampling</a:t>
            </a:r>
            <a:endParaRPr lang="en-US" sz="1250" dirty="0"/>
          </a:p>
        </p:txBody>
      </p:sp>
      <p:sp>
        <p:nvSpPr>
          <p:cNvPr id="28" name="Shape 26"/>
          <p:cNvSpPr/>
          <p:nvPr/>
        </p:nvSpPr>
        <p:spPr>
          <a:xfrm>
            <a:off x="8317992" y="4023360"/>
            <a:ext cx="310896" cy="310896"/>
          </a:xfrm>
          <a:prstGeom prst="ellipse">
            <a:avLst/>
          </a:prstGeom>
          <a:solidFill>
            <a:srgbClr val="73000A"/>
          </a:solidFill>
          <a:ln/>
        </p:spPr>
        <p:txBody>
          <a:bodyPr/>
          <a:lstStyle/>
          <a:p>
            <a:endParaRPr lang="en-US"/>
          </a:p>
        </p:txBody>
      </p:sp>
      <p:sp>
        <p:nvSpPr>
          <p:cNvPr id="29" name="Text 27"/>
          <p:cNvSpPr txBox="1"/>
          <p:nvPr/>
        </p:nvSpPr>
        <p:spPr>
          <a:xfrm>
            <a:off x="8317992" y="402336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Text 28"/>
          <p:cNvSpPr txBox="1"/>
          <p:nvPr/>
        </p:nvSpPr>
        <p:spPr>
          <a:xfrm>
            <a:off x="8747760" y="3986784"/>
            <a:ext cx="2865120" cy="384048"/>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Full sensitivity and required run conditions determined for optimal sensitivity</a:t>
            </a:r>
            <a:endParaRPr lang="en-US" sz="1250" dirty="0"/>
          </a:p>
        </p:txBody>
      </p:sp>
      <p:sp>
        <p:nvSpPr>
          <p:cNvPr id="31" name="Text 29"/>
          <p:cNvSpPr txBox="1"/>
          <p:nvPr/>
        </p:nvSpPr>
        <p:spPr>
          <a:xfrm>
            <a:off x="8317992" y="4663440"/>
            <a:ext cx="3093720" cy="274320"/>
          </a:xfrm>
          <a:prstGeom prst="rect">
            <a:avLst/>
          </a:prstGeom>
          <a:noFill/>
          <a:ln/>
        </p:spPr>
        <p:txBody>
          <a:bodyPr wrap="square" lIns="0" tIns="0" rIns="0" bIns="0" rtlCol="0" anchor="ctr"/>
          <a:lstStyle/>
          <a:p>
            <a:pPr marL="0" indent="0">
              <a:buNone/>
            </a:pPr>
            <a:r>
              <a:rPr lang="en-US" sz="1200" b="1" i="1" dirty="0">
                <a:solidFill>
                  <a:srgbClr val="73000A"/>
                </a:solidFill>
                <a:latin typeface="Calibri" pitchFamily="34" charset="0"/>
                <a:ea typeface="Calibri" pitchFamily="34" charset="-122"/>
                <a:cs typeface="Calibri" pitchFamily="34" charset="-120"/>
              </a:rPr>
              <a:t>Dissertation defense: Winter 2028</a:t>
            </a:r>
            <a:endParaRPr lang="en-US" sz="1200" dirty="0"/>
          </a:p>
        </p:txBody>
      </p:sp>
      <p:sp>
        <p:nvSpPr>
          <p:cNvPr id="32" name="Shape 30"/>
          <p:cNvSpPr/>
          <p:nvPr/>
        </p:nvSpPr>
        <p:spPr>
          <a:xfrm>
            <a:off x="548640" y="5321808"/>
            <a:ext cx="11091672" cy="777240"/>
          </a:xfrm>
          <a:prstGeom prst="roundRect">
            <a:avLst>
              <a:gd name="adj" fmla="val 11765"/>
            </a:avLst>
          </a:prstGeom>
          <a:solidFill>
            <a:srgbClr val="73000A"/>
          </a:solidFill>
          <a:ln/>
        </p:spPr>
        <p:txBody>
          <a:bodyPr/>
          <a:lstStyle/>
          <a:p>
            <a:endParaRPr lang="en-US"/>
          </a:p>
        </p:txBody>
      </p:sp>
      <mc:AlternateContent xmlns:mc="http://schemas.openxmlformats.org/markup-compatibility/2006">
        <mc:Choice xmlns:a14="http://schemas.microsoft.com/office/drawing/2010/main" Requires="a14">
          <p:sp>
            <p:nvSpPr>
              <p:cNvPr id="33" name="Text 31"/>
              <p:cNvSpPr txBox="1"/>
              <p:nvPr/>
            </p:nvSpPr>
            <p:spPr>
              <a:xfrm>
                <a:off x="777240" y="5321808"/>
                <a:ext cx="10634472"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This study will tell Mu2e whether a dedicated half-field run can push </a:t>
                </a:r>
                <a14:m>
                  <m:oMath xmlns:m="http://schemas.openxmlformats.org/officeDocument/2006/math">
                    <m:r>
                      <a:rPr lang="en-US" sz="1600" b="1" i="1" dirty="0" smtClean="0">
                        <a:solidFill>
                          <a:srgbClr val="FFFFFF"/>
                        </a:solidFill>
                        <a:latin typeface="Cambria Math" panose="02040503050406030204" pitchFamily="18" charset="0"/>
                        <a:ea typeface="Calibri" pitchFamily="34" charset="-122"/>
                        <a:cs typeface="Calibri" pitchFamily="34" charset="-120"/>
                      </a:rPr>
                      <m:t>𝝁</m:t>
                    </m:r>
                    <m:r>
                      <a:rPr lang="en-US" sz="1600" b="1" i="1" dirty="0" smtClean="0">
                        <a:solidFill>
                          <a:srgbClr val="FFFFFF"/>
                        </a:solidFill>
                        <a:latin typeface="Cambria Math" panose="02040503050406030204" pitchFamily="18" charset="0"/>
                        <a:ea typeface="Calibri" pitchFamily="34" charset="-122"/>
                        <a:cs typeface="Calibri" pitchFamily="34" charset="-120"/>
                      </a:rPr>
                      <m:t>⁻</m:t>
                    </m:r>
                    <m:r>
                      <a:rPr lang="en-US" sz="1600" b="1" i="1" dirty="0" smtClean="0">
                        <a:solidFill>
                          <a:srgbClr val="FFFFFF"/>
                        </a:solidFill>
                        <a:latin typeface="Cambria Math" panose="02040503050406030204" pitchFamily="18" charset="0"/>
                        <a:ea typeface="Calibri" pitchFamily="34" charset="-122"/>
                        <a:cs typeface="Calibri" pitchFamily="34" charset="-120"/>
                      </a:rPr>
                      <m:t>𝒆</m:t>
                    </m:r>
                    <m:r>
                      <a:rPr lang="en-US" sz="1600" b="1" i="1" dirty="0" smtClean="0">
                        <a:solidFill>
                          <a:srgbClr val="FFFFFF"/>
                        </a:solidFill>
                        <a:latin typeface="Cambria Math" panose="02040503050406030204" pitchFamily="18" charset="0"/>
                        <a:ea typeface="Calibri" pitchFamily="34" charset="-122"/>
                        <a:cs typeface="Calibri" pitchFamily="34" charset="-120"/>
                      </a:rPr>
                      <m:t>⁻ → </m:t>
                    </m:r>
                    <m:r>
                      <a:rPr lang="en-US" sz="1600" b="1" i="1" dirty="0" smtClean="0">
                        <a:solidFill>
                          <a:srgbClr val="FFFFFF"/>
                        </a:solidFill>
                        <a:latin typeface="Cambria Math" panose="02040503050406030204" pitchFamily="18" charset="0"/>
                        <a:ea typeface="Calibri" pitchFamily="34" charset="-122"/>
                        <a:cs typeface="Calibri" pitchFamily="34" charset="-120"/>
                      </a:rPr>
                      <m:t>𝒆</m:t>
                    </m:r>
                    <m:r>
                      <a:rPr lang="en-US" sz="1600" b="1" i="1" dirty="0" smtClean="0">
                        <a:solidFill>
                          <a:srgbClr val="FFFFFF"/>
                        </a:solidFill>
                        <a:latin typeface="Cambria Math" panose="02040503050406030204" pitchFamily="18" charset="0"/>
                        <a:ea typeface="Calibri" pitchFamily="34" charset="-122"/>
                        <a:cs typeface="Calibri" pitchFamily="34" charset="-120"/>
                      </a:rPr>
                      <m:t>⁻</m:t>
                    </m:r>
                    <m:r>
                      <a:rPr lang="en-US" sz="1600" b="1" i="1" dirty="0" smtClean="0">
                        <a:solidFill>
                          <a:srgbClr val="FFFFFF"/>
                        </a:solidFill>
                        <a:latin typeface="Cambria Math" panose="02040503050406030204" pitchFamily="18" charset="0"/>
                        <a:ea typeface="Calibri" pitchFamily="34" charset="-122"/>
                        <a:cs typeface="Calibri" pitchFamily="34" charset="-120"/>
                      </a:rPr>
                      <m:t>𝒆</m:t>
                    </m:r>
                    <m:r>
                      <a:rPr lang="en-US" sz="1600" b="1" i="1" dirty="0" smtClean="0">
                        <a:solidFill>
                          <a:srgbClr val="FFFFFF"/>
                        </a:solidFill>
                        <a:latin typeface="Cambria Math" panose="02040503050406030204" pitchFamily="18" charset="0"/>
                        <a:ea typeface="Calibri" pitchFamily="34" charset="-122"/>
                        <a:cs typeface="Calibri" pitchFamily="34" charset="-120"/>
                      </a:rPr>
                      <m:t>⁻ </m:t>
                    </m:r>
                  </m:oMath>
                </a14:m>
                <a:r>
                  <a:rPr lang="en-US" sz="1600" b="1" dirty="0">
                    <a:solidFill>
                      <a:srgbClr val="FFFFFF"/>
                    </a:solidFill>
                    <a:latin typeface="Calibri" pitchFamily="34" charset="0"/>
                    <a:ea typeface="Calibri" pitchFamily="34" charset="-122"/>
                    <a:cs typeface="Calibri" pitchFamily="34" charset="-120"/>
                  </a:rPr>
                  <a:t>beyond the SINDRUM-era limit, what that run costs in beam time, and optimal run settings to identify upcoming sensitivity if beam time is approved.</a:t>
                </a:r>
                <a:endParaRPr lang="en-US" sz="1600" dirty="0"/>
              </a:p>
            </p:txBody>
          </p:sp>
        </mc:Choice>
        <mc:Fallback>
          <p:sp>
            <p:nvSpPr>
              <p:cNvPr id="33" name="Text 31"/>
              <p:cNvSpPr txBox="1">
                <a:spLocks noRot="1" noChangeAspect="1" noMove="1" noResize="1" noEditPoints="1" noAdjustHandles="1" noChangeArrowheads="1" noChangeShapeType="1" noTextEdit="1"/>
              </p:cNvSpPr>
              <p:nvPr/>
            </p:nvSpPr>
            <p:spPr>
              <a:xfrm>
                <a:off x="777240" y="5321808"/>
                <a:ext cx="10634472" cy="777240"/>
              </a:xfrm>
              <a:prstGeom prst="rect">
                <a:avLst/>
              </a:prstGeom>
              <a:blipFill>
                <a:blip r:embed="rId4"/>
                <a:stretch>
                  <a:fillRect l="-716" r="-1193"/>
                </a:stretch>
              </a:blipFill>
              <a:ln/>
            </p:spPr>
            <p:txBody>
              <a:bodyPr/>
              <a:lstStyle/>
              <a:p>
                <a:r>
                  <a:rPr 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77B11-9A70-8920-F876-2027D8483193}"/>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2C72B878-C847-1AEA-D2C5-68F68A7D2F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745720-E68A-B82A-D4C6-8A4AE3BB4243}"/>
              </a:ext>
            </a:extLst>
          </p:cNvPr>
          <p:cNvSpPr>
            <a:spLocks noGrp="1"/>
          </p:cNvSpPr>
          <p:nvPr>
            <p:ph type="sldNum" sz="quarter" idx="12"/>
          </p:nvPr>
        </p:nvSpPr>
        <p:spPr/>
        <p:txBody>
          <a:bodyPr/>
          <a:lstStyle/>
          <a:p>
            <a:fld id="{C0E0CB54-3DBF-E947-906E-85E307CF7971}" type="slidenum">
              <a:rPr lang="en-US" smtClean="0"/>
              <a:t>41</a:t>
            </a:fld>
            <a:endParaRPr lang="en-US"/>
          </a:p>
        </p:txBody>
      </p:sp>
    </p:spTree>
    <p:extLst>
      <p:ext uri="{BB962C8B-B14F-4D97-AF65-F5344CB8AC3E}">
        <p14:creationId xmlns:p14="http://schemas.microsoft.com/office/powerpoint/2010/main" val="11069725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949440" cy="6858000"/>
          </a:xfrm>
          <a:prstGeom prst="rect">
            <a:avLst/>
          </a:prstGeom>
          <a:solidFill>
            <a:srgbClr val="73000A"/>
          </a:solidFill>
          <a:ln/>
        </p:spPr>
        <p:txBody>
          <a:bodyPr/>
          <a:lstStyle/>
          <a:p>
            <a:endParaRPr lang="en-US"/>
          </a:p>
        </p:txBody>
      </p:sp>
      <p:sp>
        <p:nvSpPr>
          <p:cNvPr id="3" name="Text 1"/>
          <p:cNvSpPr txBox="1"/>
          <p:nvPr/>
        </p:nvSpPr>
        <p:spPr>
          <a:xfrm>
            <a:off x="731520" y="1417320"/>
            <a:ext cx="5852160" cy="365760"/>
          </a:xfrm>
          <a:prstGeom prst="rect">
            <a:avLst/>
          </a:prstGeom>
          <a:noFill/>
          <a:ln/>
        </p:spPr>
        <p:txBody>
          <a:bodyPr wrap="square" lIns="0" tIns="0" rIns="0" bIns="0" rtlCol="0" anchor="ctr"/>
          <a:lstStyle/>
          <a:p>
            <a:pPr marL="0" indent="0">
              <a:buNone/>
            </a:pPr>
            <a:r>
              <a:rPr lang="en-US" sz="1600" b="1" kern="0" spc="400" dirty="0">
                <a:solidFill>
                  <a:srgbClr val="F2D9DB"/>
                </a:solidFill>
                <a:latin typeface="Calibri" pitchFamily="34" charset="0"/>
                <a:ea typeface="Calibri" pitchFamily="34" charset="-122"/>
                <a:cs typeface="Calibri" pitchFamily="34" charset="-120"/>
              </a:rPr>
              <a:t>THANK YOU</a:t>
            </a:r>
            <a:endParaRPr lang="en-US" sz="1600" dirty="0"/>
          </a:p>
        </p:txBody>
      </p:sp>
      <p:sp>
        <p:nvSpPr>
          <p:cNvPr id="4" name="Text 2"/>
          <p:cNvSpPr txBox="1"/>
          <p:nvPr/>
        </p:nvSpPr>
        <p:spPr>
          <a:xfrm>
            <a:off x="731520" y="1828800"/>
            <a:ext cx="5852160" cy="1188720"/>
          </a:xfrm>
          <a:prstGeom prst="rect">
            <a:avLst/>
          </a:prstGeom>
          <a:noFill/>
          <a:ln/>
        </p:spPr>
        <p:txBody>
          <a:bodyPr wrap="square" lIns="0" tIns="0" rIns="0" bIns="0" rtlCol="0" anchor="ctr"/>
          <a:lstStyle/>
          <a:p>
            <a:pPr marL="0" indent="0">
              <a:buNone/>
            </a:pPr>
            <a:r>
              <a:rPr lang="en-US" sz="6600" b="1" dirty="0">
                <a:solidFill>
                  <a:srgbClr val="FFFFFF"/>
                </a:solidFill>
                <a:latin typeface="Calibri" pitchFamily="34" charset="0"/>
                <a:ea typeface="Calibri" pitchFamily="34" charset="-122"/>
                <a:cs typeface="Calibri" pitchFamily="34" charset="-120"/>
              </a:rPr>
              <a:t>Questions?</a:t>
            </a:r>
            <a:endParaRPr lang="en-US" sz="6600" dirty="0"/>
          </a:p>
        </p:txBody>
      </p:sp>
      <p:sp>
        <p:nvSpPr>
          <p:cNvPr id="5" name="Shape 3"/>
          <p:cNvSpPr/>
          <p:nvPr/>
        </p:nvSpPr>
        <p:spPr>
          <a:xfrm>
            <a:off x="749808" y="3246120"/>
            <a:ext cx="1097280" cy="0"/>
          </a:xfrm>
          <a:prstGeom prst="line">
            <a:avLst/>
          </a:prstGeom>
          <a:noFill/>
          <a:ln w="25400">
            <a:solidFill>
              <a:srgbClr val="FFFFFF"/>
            </a:solidFill>
            <a:prstDash val="solid"/>
          </a:ln>
        </p:spPr>
        <p:txBody>
          <a:bodyPr/>
          <a:lstStyle/>
          <a:p>
            <a:endParaRPr lang="en-US"/>
          </a:p>
        </p:txBody>
      </p:sp>
      <mc:AlternateContent xmlns:mc="http://schemas.openxmlformats.org/markup-compatibility/2006">
        <mc:Choice xmlns:a14="http://schemas.microsoft.com/office/drawing/2010/main" Requires="a14">
          <p:sp>
            <p:nvSpPr>
              <p:cNvPr id="6" name="Text 4"/>
              <p:cNvSpPr txBox="1"/>
              <p:nvPr/>
            </p:nvSpPr>
            <p:spPr>
              <a:xfrm>
                <a:off x="731520" y="3474720"/>
                <a:ext cx="5669280" cy="1097280"/>
              </a:xfrm>
              <a:prstGeom prst="rect">
                <a:avLst/>
              </a:prstGeom>
              <a:noFill/>
              <a:ln/>
            </p:spPr>
            <p:txBody>
              <a:bodyPr wrap="square" lIns="0" tIns="0" rIns="0" bIns="0" rtlCol="0" anchor="t"/>
              <a:lstStyle/>
              <a:p>
                <a:pPr marL="0" indent="0">
                  <a:buNone/>
                </a:pPr>
                <a:r>
                  <a:rPr lang="en-US" sz="1700" i="1" dirty="0">
                    <a:solidFill>
                      <a:srgbClr val="FFFFFF"/>
                    </a:solidFill>
                    <a:latin typeface="Calibri" pitchFamily="34" charset="0"/>
                    <a:ea typeface="Calibri" pitchFamily="34" charset="-122"/>
                    <a:cs typeface="Calibri" pitchFamily="34" charset="-120"/>
                  </a:rPr>
                  <a:t>A dedicated reduced-field run could push </a:t>
                </a:r>
                <a14:m>
                  <m:oMath xmlns:m="http://schemas.openxmlformats.org/officeDocument/2006/math">
                    <m:r>
                      <a:rPr lang="en-US" sz="1700" i="1" dirty="0" smtClean="0">
                        <a:solidFill>
                          <a:srgbClr val="FFFFFF"/>
                        </a:solidFill>
                        <a:latin typeface="Cambria Math" panose="02040503050406030204" pitchFamily="18" charset="0"/>
                        <a:ea typeface="Calibri" pitchFamily="34" charset="-122"/>
                        <a:cs typeface="Calibri" pitchFamily="34" charset="-120"/>
                      </a:rPr>
                      <m:t>𝜇</m:t>
                    </m:r>
                    <m:r>
                      <a:rPr lang="en-US" sz="1700" i="1" dirty="0" smtClean="0">
                        <a:solidFill>
                          <a:srgbClr val="FFFFFF"/>
                        </a:solidFill>
                        <a:latin typeface="Cambria Math" panose="02040503050406030204" pitchFamily="18" charset="0"/>
                        <a:ea typeface="Calibri" pitchFamily="34" charset="-122"/>
                        <a:cs typeface="Calibri" pitchFamily="34" charset="-120"/>
                      </a:rPr>
                      <m:t>⁻</m:t>
                    </m:r>
                    <m:r>
                      <a:rPr lang="en-US" sz="1700" i="1" dirty="0" smtClean="0">
                        <a:solidFill>
                          <a:srgbClr val="FFFFFF"/>
                        </a:solidFill>
                        <a:latin typeface="Cambria Math" panose="02040503050406030204" pitchFamily="18" charset="0"/>
                        <a:ea typeface="Calibri" pitchFamily="34" charset="-122"/>
                        <a:cs typeface="Calibri" pitchFamily="34" charset="-120"/>
                      </a:rPr>
                      <m:t>𝑒</m:t>
                    </m:r>
                    <m:r>
                      <a:rPr lang="en-US" sz="1700" i="1" dirty="0" smtClean="0">
                        <a:solidFill>
                          <a:srgbClr val="FFFFFF"/>
                        </a:solidFill>
                        <a:latin typeface="Cambria Math" panose="02040503050406030204" pitchFamily="18" charset="0"/>
                        <a:ea typeface="Calibri" pitchFamily="34" charset="-122"/>
                        <a:cs typeface="Calibri" pitchFamily="34" charset="-120"/>
                      </a:rPr>
                      <m:t>⁻ → </m:t>
                    </m:r>
                    <m:r>
                      <a:rPr lang="en-US" sz="1700" i="1" dirty="0" smtClean="0">
                        <a:solidFill>
                          <a:srgbClr val="FFFFFF"/>
                        </a:solidFill>
                        <a:latin typeface="Cambria Math" panose="02040503050406030204" pitchFamily="18" charset="0"/>
                        <a:ea typeface="Calibri" pitchFamily="34" charset="-122"/>
                        <a:cs typeface="Calibri" pitchFamily="34" charset="-120"/>
                      </a:rPr>
                      <m:t>𝑒</m:t>
                    </m:r>
                    <m:r>
                      <a:rPr lang="en-US" sz="1700" i="1" dirty="0" smtClean="0">
                        <a:solidFill>
                          <a:srgbClr val="FFFFFF"/>
                        </a:solidFill>
                        <a:latin typeface="Cambria Math" panose="02040503050406030204" pitchFamily="18" charset="0"/>
                        <a:ea typeface="Calibri" pitchFamily="34" charset="-122"/>
                        <a:cs typeface="Calibri" pitchFamily="34" charset="-120"/>
                      </a:rPr>
                      <m:t>⁻</m:t>
                    </m:r>
                    <m:r>
                      <a:rPr lang="en-US" sz="1700" i="1" dirty="0" smtClean="0">
                        <a:solidFill>
                          <a:srgbClr val="FFFFFF"/>
                        </a:solidFill>
                        <a:latin typeface="Cambria Math" panose="02040503050406030204" pitchFamily="18" charset="0"/>
                        <a:ea typeface="Calibri" pitchFamily="34" charset="-122"/>
                        <a:cs typeface="Calibri" pitchFamily="34" charset="-120"/>
                      </a:rPr>
                      <m:t>𝑒</m:t>
                    </m:r>
                    <m:r>
                      <a:rPr lang="en-US" sz="1700" i="1" dirty="0" smtClean="0">
                        <a:solidFill>
                          <a:srgbClr val="FFFFFF"/>
                        </a:solidFill>
                        <a:latin typeface="Cambria Math" panose="02040503050406030204" pitchFamily="18" charset="0"/>
                        <a:ea typeface="Calibri" pitchFamily="34" charset="-122"/>
                        <a:cs typeface="Calibri" pitchFamily="34" charset="-120"/>
                      </a:rPr>
                      <m:t>⁻ </m:t>
                    </m:r>
                  </m:oMath>
                </a14:m>
                <a:r>
                  <a:rPr lang="en-US" sz="1700" i="1" dirty="0">
                    <a:solidFill>
                      <a:srgbClr val="FFFFFF"/>
                    </a:solidFill>
                    <a:latin typeface="Calibri" pitchFamily="34" charset="0"/>
                    <a:ea typeface="Calibri" pitchFamily="34" charset="-122"/>
                    <a:cs typeface="Calibri" pitchFamily="34" charset="-120"/>
                  </a:rPr>
                  <a:t>beyond the SINDRUM-era limit. This study will determine optimal run conditions and what improvements the Mu2e experiment can make in what amount of run time.</a:t>
                </a:r>
                <a:endParaRPr lang="en-US" sz="1700" dirty="0"/>
              </a:p>
            </p:txBody>
          </p:sp>
        </mc:Choice>
        <mc:Fallback>
          <p:sp>
            <p:nvSpPr>
              <p:cNvPr id="6" name="Text 4"/>
              <p:cNvSpPr txBox="1">
                <a:spLocks noRot="1" noChangeAspect="1" noMove="1" noResize="1" noEditPoints="1" noAdjustHandles="1" noChangeArrowheads="1" noChangeShapeType="1" noTextEdit="1"/>
              </p:cNvSpPr>
              <p:nvPr/>
            </p:nvSpPr>
            <p:spPr>
              <a:xfrm>
                <a:off x="731520" y="3474720"/>
                <a:ext cx="5669280" cy="1097280"/>
              </a:xfrm>
              <a:prstGeom prst="rect">
                <a:avLst/>
              </a:prstGeom>
              <a:blipFill>
                <a:blip r:embed="rId3"/>
                <a:stretch>
                  <a:fillRect l="-2232" t="-5747" b="-5747"/>
                </a:stretch>
              </a:blipFill>
              <a:ln/>
            </p:spPr>
            <p:txBody>
              <a:bodyPr/>
              <a:lstStyle/>
              <a:p>
                <a:r>
                  <a:rPr lang="en-US">
                    <a:noFill/>
                  </a:rPr>
                  <a:t> </a:t>
                </a:r>
              </a:p>
            </p:txBody>
          </p:sp>
        </mc:Fallback>
      </mc:AlternateContent>
      <p:sp>
        <p:nvSpPr>
          <p:cNvPr id="7" name="Text 5"/>
          <p:cNvSpPr txBox="1"/>
          <p:nvPr/>
        </p:nvSpPr>
        <p:spPr>
          <a:xfrm>
            <a:off x="731520" y="5806440"/>
            <a:ext cx="6035040" cy="274320"/>
          </a:xfrm>
          <a:prstGeom prst="rect">
            <a:avLst/>
          </a:prstGeom>
          <a:noFill/>
          <a:ln/>
        </p:spPr>
        <p:txBody>
          <a:bodyPr wrap="square" lIns="0" tIns="0" rIns="0" bIns="0" rtlCol="0" anchor="ctr"/>
          <a:lstStyle/>
          <a:p>
            <a:pPr marL="0" indent="0">
              <a:buNone/>
            </a:pPr>
            <a:r>
              <a:rPr lang="en-US" sz="1200" dirty="0">
                <a:solidFill>
                  <a:srgbClr val="F2D9DB"/>
                </a:solidFill>
                <a:latin typeface="Calibri" pitchFamily="34" charset="0"/>
                <a:ea typeface="Calibri" pitchFamily="34" charset="-122"/>
                <a:cs typeface="Calibri" pitchFamily="34" charset="-120"/>
              </a:rPr>
              <a:t>Andrew Boldy  |  University of South Carolina  |  Mu2e Collaboration</a:t>
            </a:r>
            <a:endParaRPr lang="en-US" sz="1200" dirty="0"/>
          </a:p>
        </p:txBody>
      </p:sp>
      <p:sp>
        <p:nvSpPr>
          <p:cNvPr id="8" name="Text 6"/>
          <p:cNvSpPr txBox="1"/>
          <p:nvPr/>
        </p:nvSpPr>
        <p:spPr>
          <a:xfrm>
            <a:off x="7498080" y="1417320"/>
            <a:ext cx="4206240" cy="365760"/>
          </a:xfrm>
          <a:prstGeom prst="rect">
            <a:avLst/>
          </a:prstGeom>
          <a:noFill/>
          <a:ln/>
        </p:spPr>
        <p:txBody>
          <a:bodyPr wrap="square" lIns="0" tIns="0" rIns="0" bIns="0" rtlCol="0" anchor="ctr"/>
          <a:lstStyle/>
          <a:p>
            <a:pPr marL="0" indent="0">
              <a:buNone/>
            </a:pPr>
            <a:r>
              <a:rPr lang="en-US" sz="1600" b="1" dirty="0">
                <a:solidFill>
                  <a:srgbClr val="73000A"/>
                </a:solidFill>
                <a:latin typeface="Calibri" pitchFamily="34" charset="0"/>
                <a:ea typeface="Calibri" pitchFamily="34" charset="-122"/>
                <a:cs typeface="Calibri" pitchFamily="34" charset="-120"/>
              </a:rPr>
              <a:t>Backup slides</a:t>
            </a:r>
            <a:endParaRPr lang="en-US" sz="1600" dirty="0"/>
          </a:p>
        </p:txBody>
      </p:sp>
      <p:sp>
        <p:nvSpPr>
          <p:cNvPr id="9" name="Shape 7"/>
          <p:cNvSpPr/>
          <p:nvPr/>
        </p:nvSpPr>
        <p:spPr>
          <a:xfrm>
            <a:off x="7498080" y="1984248"/>
            <a:ext cx="128016" cy="128016"/>
          </a:xfrm>
          <a:prstGeom prst="rect">
            <a:avLst/>
          </a:prstGeom>
          <a:solidFill>
            <a:srgbClr val="73000A"/>
          </a:solidFill>
          <a:ln/>
        </p:spPr>
        <p:txBody>
          <a:bodyPr/>
          <a:lstStyle/>
          <a:p>
            <a:endParaRPr lang="en-US"/>
          </a:p>
        </p:txBody>
      </p:sp>
      <p:sp>
        <p:nvSpPr>
          <p:cNvPr id="10" name="Text 8"/>
          <p:cNvSpPr txBox="1"/>
          <p:nvPr/>
        </p:nvSpPr>
        <p:spPr>
          <a:xfrm>
            <a:off x="7790688" y="1874520"/>
            <a:ext cx="3931920" cy="34747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Geometric vertexing derivation</a:t>
            </a:r>
            <a:endParaRPr lang="en-US" sz="1300" dirty="0"/>
          </a:p>
        </p:txBody>
      </p:sp>
      <p:sp>
        <p:nvSpPr>
          <p:cNvPr id="11" name="Shape 9"/>
          <p:cNvSpPr/>
          <p:nvPr/>
        </p:nvSpPr>
        <p:spPr>
          <a:xfrm>
            <a:off x="7498080" y="2386584"/>
            <a:ext cx="128016" cy="128016"/>
          </a:xfrm>
          <a:prstGeom prst="rect">
            <a:avLst/>
          </a:prstGeom>
          <a:solidFill>
            <a:srgbClr val="73000A"/>
          </a:solidFill>
          <a:ln/>
        </p:spPr>
        <p:txBody>
          <a:bodyPr/>
          <a:lstStyle/>
          <a:p>
            <a:endParaRPr lang="en-US"/>
          </a:p>
        </p:txBody>
      </p:sp>
      <p:sp>
        <p:nvSpPr>
          <p:cNvPr id="12" name="Text 10"/>
          <p:cNvSpPr txBox="1"/>
          <p:nvPr/>
        </p:nvSpPr>
        <p:spPr>
          <a:xfrm>
            <a:off x="7790688" y="2276856"/>
            <a:ext cx="3931920" cy="34747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Muon lifetime considerations</a:t>
            </a:r>
            <a:endParaRPr lang="en-US" sz="1300" dirty="0"/>
          </a:p>
        </p:txBody>
      </p:sp>
      <p:sp>
        <p:nvSpPr>
          <p:cNvPr id="13" name="Shape 11"/>
          <p:cNvSpPr/>
          <p:nvPr/>
        </p:nvSpPr>
        <p:spPr>
          <a:xfrm>
            <a:off x="7498080" y="2788920"/>
            <a:ext cx="128016" cy="128016"/>
          </a:xfrm>
          <a:prstGeom prst="rect">
            <a:avLst/>
          </a:prstGeom>
          <a:solidFill>
            <a:srgbClr val="73000A"/>
          </a:solidFill>
          <a:ln/>
        </p:spPr>
        <p:txBody>
          <a:bodyPr/>
          <a:lstStyle/>
          <a:p>
            <a:endParaRPr lang="en-US"/>
          </a:p>
        </p:txBody>
      </p:sp>
      <p:sp>
        <p:nvSpPr>
          <p:cNvPr id="14" name="Text 12"/>
          <p:cNvSpPr txBox="1"/>
          <p:nvPr/>
        </p:nvSpPr>
        <p:spPr>
          <a:xfrm>
            <a:off x="7790688" y="2679192"/>
            <a:ext cx="3931920" cy="34747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Wall-clock hours estimate</a:t>
            </a:r>
            <a:endParaRPr lang="en-US" sz="1300" dirty="0"/>
          </a:p>
        </p:txBody>
      </p:sp>
      <p:sp>
        <p:nvSpPr>
          <p:cNvPr id="15" name="Shape 13"/>
          <p:cNvSpPr/>
          <p:nvPr/>
        </p:nvSpPr>
        <p:spPr>
          <a:xfrm>
            <a:off x="7498080" y="3191256"/>
            <a:ext cx="128016" cy="128016"/>
          </a:xfrm>
          <a:prstGeom prst="rect">
            <a:avLst/>
          </a:prstGeom>
          <a:solidFill>
            <a:srgbClr val="73000A"/>
          </a:solidFill>
          <a:ln/>
        </p:spPr>
        <p:txBody>
          <a:bodyPr/>
          <a:lstStyle/>
          <a:p>
            <a:endParaRPr lang="en-US"/>
          </a:p>
        </p:txBody>
      </p:sp>
      <p:sp>
        <p:nvSpPr>
          <p:cNvPr id="16" name="Text 14"/>
          <p:cNvSpPr txBox="1"/>
          <p:nvPr/>
        </p:nvSpPr>
        <p:spPr>
          <a:xfrm>
            <a:off x="7790688" y="3081528"/>
            <a:ext cx="3931920" cy="34747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Magnetic mirror derivation</a:t>
            </a:r>
            <a:endParaRPr lang="en-US" sz="1300" dirty="0"/>
          </a:p>
        </p:txBody>
      </p:sp>
      <p:sp>
        <p:nvSpPr>
          <p:cNvPr id="17" name="Shape 15"/>
          <p:cNvSpPr/>
          <p:nvPr/>
        </p:nvSpPr>
        <p:spPr>
          <a:xfrm>
            <a:off x="7498080" y="3593592"/>
            <a:ext cx="128016" cy="128016"/>
          </a:xfrm>
          <a:prstGeom prst="rect">
            <a:avLst/>
          </a:prstGeom>
          <a:solidFill>
            <a:srgbClr val="73000A"/>
          </a:solidFill>
          <a:ln/>
        </p:spPr>
        <p:txBody>
          <a:bodyPr/>
          <a:lstStyle/>
          <a:p>
            <a:endParaRPr lang="en-US"/>
          </a:p>
        </p:txBody>
      </p:sp>
      <p:sp>
        <p:nvSpPr>
          <p:cNvPr id="18" name="Text 16"/>
          <p:cNvSpPr txBox="1"/>
          <p:nvPr/>
        </p:nvSpPr>
        <p:spPr>
          <a:xfrm>
            <a:off x="7790688" y="3483864"/>
            <a:ext cx="3931920" cy="34747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Half-field detector solenoid requirement</a:t>
            </a:r>
            <a:endParaRPr lang="en-US" sz="1300" dirty="0"/>
          </a:p>
        </p:txBody>
      </p:sp>
      <p:sp>
        <p:nvSpPr>
          <p:cNvPr id="19" name="Shape 17"/>
          <p:cNvSpPr/>
          <p:nvPr/>
        </p:nvSpPr>
        <p:spPr>
          <a:xfrm>
            <a:off x="7498080" y="3995928"/>
            <a:ext cx="128016" cy="128016"/>
          </a:xfrm>
          <a:prstGeom prst="rect">
            <a:avLst/>
          </a:prstGeom>
          <a:solidFill>
            <a:srgbClr val="73000A"/>
          </a:solidFill>
          <a:ln/>
        </p:spPr>
        <p:txBody>
          <a:bodyPr/>
          <a:lstStyle/>
          <a:p>
            <a:endParaRPr lang="en-US"/>
          </a:p>
        </p:txBody>
      </p:sp>
      <p:sp>
        <p:nvSpPr>
          <p:cNvPr id="20" name="Text 18"/>
          <p:cNvSpPr txBox="1"/>
          <p:nvPr/>
        </p:nvSpPr>
        <p:spPr>
          <a:xfrm>
            <a:off x="7790688" y="3886200"/>
            <a:ext cx="3931920" cy="34747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Effective Lagrangian for μ⁻e⁻ → e⁻e⁻</a:t>
            </a:r>
            <a:endParaRPr lang="en-US" sz="1300" dirty="0"/>
          </a:p>
        </p:txBody>
      </p:sp>
      <p:sp>
        <p:nvSpPr>
          <p:cNvPr id="21" name="Shape 19"/>
          <p:cNvSpPr/>
          <p:nvPr/>
        </p:nvSpPr>
        <p:spPr>
          <a:xfrm>
            <a:off x="7498080" y="4398264"/>
            <a:ext cx="128016" cy="128016"/>
          </a:xfrm>
          <a:prstGeom prst="rect">
            <a:avLst/>
          </a:prstGeom>
          <a:solidFill>
            <a:srgbClr val="73000A"/>
          </a:solidFill>
          <a:ln/>
        </p:spPr>
        <p:txBody>
          <a:bodyPr/>
          <a:lstStyle/>
          <a:p>
            <a:endParaRPr lang="en-US"/>
          </a:p>
        </p:txBody>
      </p:sp>
      <p:sp>
        <p:nvSpPr>
          <p:cNvPr id="22" name="Text 20"/>
          <p:cNvSpPr txBox="1"/>
          <p:nvPr/>
        </p:nvSpPr>
        <p:spPr>
          <a:xfrm>
            <a:off x="7790688" y="4288536"/>
            <a:ext cx="3931920" cy="34747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Mu2e detector, component by component</a:t>
            </a:r>
            <a:endParaRPr lang="en-US" sz="1300" dirty="0"/>
          </a:p>
        </p:txBody>
      </p:sp>
      <p:sp>
        <p:nvSpPr>
          <p:cNvPr id="23" name="Shape 21"/>
          <p:cNvSpPr/>
          <p:nvPr/>
        </p:nvSpPr>
        <p:spPr>
          <a:xfrm>
            <a:off x="7498080" y="4800600"/>
            <a:ext cx="128016" cy="128016"/>
          </a:xfrm>
          <a:prstGeom prst="rect">
            <a:avLst/>
          </a:prstGeom>
          <a:solidFill>
            <a:srgbClr val="73000A"/>
          </a:solidFill>
          <a:ln/>
        </p:spPr>
        <p:txBody>
          <a:bodyPr/>
          <a:lstStyle/>
          <a:p>
            <a:endParaRPr lang="en-US"/>
          </a:p>
        </p:txBody>
      </p:sp>
      <p:sp>
        <p:nvSpPr>
          <p:cNvPr id="24" name="Text 22"/>
          <p:cNvSpPr txBox="1"/>
          <p:nvPr/>
        </p:nvSpPr>
        <p:spPr>
          <a:xfrm>
            <a:off x="7790688" y="4690872"/>
            <a:ext cx="3931920" cy="34747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References</a:t>
            </a:r>
            <a:endParaRPr lang="en-US" sz="1300" dirty="0"/>
          </a:p>
        </p:txBody>
      </p:sp>
      <p:sp>
        <p:nvSpPr>
          <p:cNvPr id="25" name="Shape 23"/>
          <p:cNvSpPr/>
          <p:nvPr/>
        </p:nvSpPr>
        <p:spPr>
          <a:xfrm>
            <a:off x="7498080" y="5257800"/>
            <a:ext cx="4206240" cy="868680"/>
          </a:xfrm>
          <a:prstGeom prst="roundRect">
            <a:avLst>
              <a:gd name="adj" fmla="val 10526"/>
            </a:avLst>
          </a:prstGeom>
          <a:solidFill>
            <a:srgbClr val="F4F0F0"/>
          </a:solidFill>
          <a:ln/>
        </p:spPr>
        <p:txBody>
          <a:bodyPr/>
          <a:lstStyle/>
          <a:p>
            <a:endParaRPr lang="en-US"/>
          </a:p>
        </p:txBody>
      </p:sp>
      <p:sp>
        <p:nvSpPr>
          <p:cNvPr id="26" name="Text 24"/>
          <p:cNvSpPr txBox="1"/>
          <p:nvPr/>
        </p:nvSpPr>
        <p:spPr>
          <a:xfrm>
            <a:off x="7680960" y="5303520"/>
            <a:ext cx="3840480" cy="777240"/>
          </a:xfrm>
          <a:prstGeom prst="rect">
            <a:avLst/>
          </a:prstGeom>
          <a:noFill/>
          <a:ln/>
        </p:spPr>
        <p:txBody>
          <a:bodyPr wrap="square" lIns="0" tIns="0" rIns="0" bIns="0"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With thanks to Dr. Dave Tedeschi, Dr. Bertrand </a:t>
            </a:r>
            <a:r>
              <a:rPr lang="en-US" sz="1200" b="1" dirty="0" err="1">
                <a:solidFill>
                  <a:srgbClr val="333333"/>
                </a:solidFill>
                <a:latin typeface="Calibri" pitchFamily="34" charset="0"/>
                <a:ea typeface="Calibri" pitchFamily="34" charset="-122"/>
                <a:cs typeface="Calibri" pitchFamily="34" charset="-120"/>
              </a:rPr>
              <a:t>Echenard</a:t>
            </a:r>
            <a:r>
              <a:rPr lang="en-US" sz="1200" b="1" dirty="0">
                <a:solidFill>
                  <a:srgbClr val="333333"/>
                </a:solidFill>
                <a:latin typeface="Calibri" pitchFamily="34" charset="0"/>
                <a:ea typeface="Calibri" pitchFamily="34" charset="-122"/>
                <a:cs typeface="Calibri" pitchFamily="34" charset="-120"/>
              </a:rPr>
              <a:t>, Dr. Alexey Petrov, Sudheer Muhammad, the committee, and the Mu2e Collaboration members who have assisted me in various goals throughout the process thus far.</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E0E4E-125A-776B-1C5F-6DE179C7C105}"/>
              </a:ext>
            </a:extLst>
          </p:cNvPr>
          <p:cNvSpPr>
            <a:spLocks noGrp="1"/>
          </p:cNvSpPr>
          <p:nvPr>
            <p:ph type="title"/>
          </p:nvPr>
        </p:nvSpPr>
        <p:spPr/>
        <p:txBody>
          <a:bodyPr/>
          <a:lstStyle/>
          <a:p>
            <a:r>
              <a:rPr lang="en-US" dirty="0"/>
              <a:t>Backup Slides</a:t>
            </a:r>
          </a:p>
        </p:txBody>
      </p:sp>
      <p:sp>
        <p:nvSpPr>
          <p:cNvPr id="3" name="Text Placeholder 2">
            <a:extLst>
              <a:ext uri="{FF2B5EF4-FFF2-40B4-BE49-F238E27FC236}">
                <a16:creationId xmlns:a16="http://schemas.microsoft.com/office/drawing/2014/main" id="{5853537D-A747-5FEE-1BC4-A4A2D9CF97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CB4379-7440-943F-D28B-50C880E3EF09}"/>
              </a:ext>
            </a:extLst>
          </p:cNvPr>
          <p:cNvSpPr>
            <a:spLocks noGrp="1"/>
          </p:cNvSpPr>
          <p:nvPr>
            <p:ph type="sldNum" sz="quarter" idx="12"/>
          </p:nvPr>
        </p:nvSpPr>
        <p:spPr/>
        <p:txBody>
          <a:bodyPr/>
          <a:lstStyle/>
          <a:p>
            <a:fld id="{C0E0CB54-3DBF-E947-906E-85E307CF7971}" type="slidenum">
              <a:rPr lang="en-US" smtClean="0"/>
              <a:t>43</a:t>
            </a:fld>
            <a:endParaRPr lang="en-US"/>
          </a:p>
        </p:txBody>
      </p:sp>
    </p:spTree>
    <p:extLst>
      <p:ext uri="{BB962C8B-B14F-4D97-AF65-F5344CB8AC3E}">
        <p14:creationId xmlns:p14="http://schemas.microsoft.com/office/powerpoint/2010/main" val="9785076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D5EB-46AB-09CF-64DA-308FFCFBEDCB}"/>
              </a:ext>
            </a:extLst>
          </p:cNvPr>
          <p:cNvSpPr>
            <a:spLocks noGrp="1"/>
          </p:cNvSpPr>
          <p:nvPr>
            <p:ph type="title"/>
          </p:nvPr>
        </p:nvSpPr>
        <p:spPr/>
        <p:txBody>
          <a:bodyPr/>
          <a:lstStyle/>
          <a:p>
            <a:r>
              <a:rPr lang="en-US" dirty="0"/>
              <a:t>Geometric Vertexing Description</a:t>
            </a:r>
          </a:p>
        </p:txBody>
      </p:sp>
      <p:sp>
        <p:nvSpPr>
          <p:cNvPr id="3" name="Content Placeholder 2">
            <a:extLst>
              <a:ext uri="{FF2B5EF4-FFF2-40B4-BE49-F238E27FC236}">
                <a16:creationId xmlns:a16="http://schemas.microsoft.com/office/drawing/2014/main" id="{BB1355BB-5C5E-482A-9ABD-AD566D995D03}"/>
              </a:ext>
            </a:extLst>
          </p:cNvPr>
          <p:cNvSpPr>
            <a:spLocks noGrp="1"/>
          </p:cNvSpPr>
          <p:nvPr>
            <p:ph idx="1"/>
          </p:nvPr>
        </p:nvSpPr>
        <p:spPr/>
        <p:txBody>
          <a:bodyPr/>
          <a:lstStyle/>
          <a:p>
            <a:endParaRPr lang="en-US"/>
          </a:p>
        </p:txBody>
      </p:sp>
      <p:sp>
        <p:nvSpPr>
          <p:cNvPr id="4" name="Title 1">
            <a:extLst>
              <a:ext uri="{FF2B5EF4-FFF2-40B4-BE49-F238E27FC236}">
                <a16:creationId xmlns:a16="http://schemas.microsoft.com/office/drawing/2014/main" id="{2D7D70CF-911E-C5FB-6BB0-4BB7425647C4}"/>
              </a:ext>
            </a:extLst>
          </p:cNvPr>
          <p:cNvSpPr txBox="1">
            <a:spLocks/>
          </p:cNvSpPr>
          <p:nvPr/>
        </p:nvSpPr>
        <p:spPr>
          <a:xfrm>
            <a:off x="0" y="0"/>
            <a:ext cx="10515600" cy="4245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Geometric Vertexing Description and Derivation</a:t>
            </a:r>
          </a:p>
        </p:txBody>
      </p:sp>
      <p:sp>
        <p:nvSpPr>
          <p:cNvPr id="7" name="Slide Number Placeholder 6">
            <a:extLst>
              <a:ext uri="{FF2B5EF4-FFF2-40B4-BE49-F238E27FC236}">
                <a16:creationId xmlns:a16="http://schemas.microsoft.com/office/drawing/2014/main" id="{C85366FA-0318-BE71-D010-383ACB483279}"/>
              </a:ext>
            </a:extLst>
          </p:cNvPr>
          <p:cNvSpPr>
            <a:spLocks noGrp="1"/>
          </p:cNvSpPr>
          <p:nvPr>
            <p:ph type="sldNum" sz="quarter" idx="12"/>
          </p:nvPr>
        </p:nvSpPr>
        <p:spPr/>
        <p:txBody>
          <a:bodyPr/>
          <a:lstStyle/>
          <a:p>
            <a:fld id="{C0E0CB54-3DBF-E947-906E-85E307CF7971}" type="slidenum">
              <a:rPr lang="en-US" smtClean="0"/>
              <a:t>44</a:t>
            </a:fld>
            <a:endParaRPr lang="en-US"/>
          </a:p>
        </p:txBody>
      </p:sp>
    </p:spTree>
    <p:extLst>
      <p:ext uri="{BB962C8B-B14F-4D97-AF65-F5344CB8AC3E}">
        <p14:creationId xmlns:p14="http://schemas.microsoft.com/office/powerpoint/2010/main" val="4135552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2E749-E201-3232-DAB3-1F82C7BD869E}"/>
              </a:ext>
            </a:extLst>
          </p:cNvPr>
          <p:cNvSpPr>
            <a:spLocks noGrp="1"/>
          </p:cNvSpPr>
          <p:nvPr>
            <p:ph type="title"/>
          </p:nvPr>
        </p:nvSpPr>
        <p:spPr/>
        <p:txBody>
          <a:bodyPr/>
          <a:lstStyle/>
          <a:p>
            <a:r>
              <a:rPr lang="en-US" dirty="0"/>
              <a:t>Muon-Lifetime Considerations</a:t>
            </a:r>
          </a:p>
        </p:txBody>
      </p:sp>
      <p:sp>
        <p:nvSpPr>
          <p:cNvPr id="3" name="Content Placeholder 2">
            <a:extLst>
              <a:ext uri="{FF2B5EF4-FFF2-40B4-BE49-F238E27FC236}">
                <a16:creationId xmlns:a16="http://schemas.microsoft.com/office/drawing/2014/main" id="{9E0A0A40-ADB9-7214-8562-5917CC41F151}"/>
              </a:ext>
            </a:extLst>
          </p:cNvPr>
          <p:cNvSpPr>
            <a:spLocks noGrp="1"/>
          </p:cNvSpPr>
          <p:nvPr>
            <p:ph idx="1"/>
          </p:nvPr>
        </p:nvSpPr>
        <p:spPr/>
        <p:txBody>
          <a:bodyPr/>
          <a:lstStyle/>
          <a:p>
            <a:endParaRPr lang="en-US"/>
          </a:p>
        </p:txBody>
      </p:sp>
      <p:sp>
        <p:nvSpPr>
          <p:cNvPr id="4" name="Title 1">
            <a:extLst>
              <a:ext uri="{FF2B5EF4-FFF2-40B4-BE49-F238E27FC236}">
                <a16:creationId xmlns:a16="http://schemas.microsoft.com/office/drawing/2014/main" id="{C8518CAF-DE97-FA65-0F07-668E1C32A45F}"/>
              </a:ext>
            </a:extLst>
          </p:cNvPr>
          <p:cNvSpPr txBox="1">
            <a:spLocks/>
          </p:cNvSpPr>
          <p:nvPr/>
        </p:nvSpPr>
        <p:spPr>
          <a:xfrm>
            <a:off x="0" y="0"/>
            <a:ext cx="10515600" cy="4245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Muon Lifetime Consideration and Calculation </a:t>
            </a:r>
          </a:p>
        </p:txBody>
      </p:sp>
      <p:sp>
        <p:nvSpPr>
          <p:cNvPr id="7" name="Slide Number Placeholder 6">
            <a:extLst>
              <a:ext uri="{FF2B5EF4-FFF2-40B4-BE49-F238E27FC236}">
                <a16:creationId xmlns:a16="http://schemas.microsoft.com/office/drawing/2014/main" id="{89794F03-7B80-6EE6-2718-BC10DCA90B43}"/>
              </a:ext>
            </a:extLst>
          </p:cNvPr>
          <p:cNvSpPr>
            <a:spLocks noGrp="1"/>
          </p:cNvSpPr>
          <p:nvPr>
            <p:ph type="sldNum" sz="quarter" idx="12"/>
          </p:nvPr>
        </p:nvSpPr>
        <p:spPr/>
        <p:txBody>
          <a:bodyPr/>
          <a:lstStyle/>
          <a:p>
            <a:fld id="{C0E0CB54-3DBF-E947-906E-85E307CF7971}" type="slidenum">
              <a:rPr lang="en-US" smtClean="0"/>
              <a:t>45</a:t>
            </a:fld>
            <a:endParaRPr lang="en-US"/>
          </a:p>
        </p:txBody>
      </p:sp>
    </p:spTree>
    <p:extLst>
      <p:ext uri="{BB962C8B-B14F-4D97-AF65-F5344CB8AC3E}">
        <p14:creationId xmlns:p14="http://schemas.microsoft.com/office/powerpoint/2010/main" val="37003797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C2427-717E-10B7-499E-D36E90151455}"/>
              </a:ext>
            </a:extLst>
          </p:cNvPr>
          <p:cNvSpPr>
            <a:spLocks noGrp="1"/>
          </p:cNvSpPr>
          <p:nvPr>
            <p:ph type="title"/>
          </p:nvPr>
        </p:nvSpPr>
        <p:spPr>
          <a:xfrm>
            <a:off x="0" y="0"/>
            <a:ext cx="10515600" cy="424543"/>
          </a:xfrm>
        </p:spPr>
        <p:txBody>
          <a:bodyPr>
            <a:normAutofit fontScale="90000"/>
          </a:bodyPr>
          <a:lstStyle/>
          <a:p>
            <a:r>
              <a:rPr lang="en-US" sz="2800" dirty="0">
                <a:solidFill>
                  <a:srgbClr val="C00000"/>
                </a:solidFill>
              </a:rPr>
              <a:t>Back-of-Envelope Wall Clock Hours Prediction (Pt.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E336D6-6E62-DF3A-041D-E5CCA5F86300}"/>
                  </a:ext>
                </a:extLst>
              </p:cNvPr>
              <p:cNvSpPr>
                <a:spLocks noGrp="1"/>
              </p:cNvSpPr>
              <p:nvPr>
                <p:ph idx="1"/>
              </p:nvPr>
            </p:nvSpPr>
            <p:spPr>
              <a:xfrm>
                <a:off x="0" y="424542"/>
                <a:ext cx="12192000" cy="6002383"/>
              </a:xfrm>
            </p:spPr>
            <p:txBody>
              <a:bodyPr>
                <a:normAutofit fontScale="92500" lnSpcReduction="10000"/>
              </a:bodyPr>
              <a:lstStyle/>
              <a:p>
                <a:r>
                  <a:rPr lang="en-US" dirty="0"/>
                  <a:t>Number of signal events needed:</a:t>
                </a:r>
              </a:p>
              <a:p>
                <a:endParaRPr lang="en-US" dirty="0"/>
              </a:p>
              <a:p>
                <a:r>
                  <a:rPr lang="en-US" dirty="0"/>
                  <a:t>Live time required:</a:t>
                </a:r>
              </a:p>
              <a:p>
                <a:endParaRPr lang="en-US" dirty="0"/>
              </a:p>
              <a:p>
                <a:endParaRPr lang="en-US" dirty="0"/>
              </a:p>
              <a:p>
                <a:r>
                  <a:rPr lang="en-US" dirty="0"/>
                  <a:t>Useful parents being stopped muons means we can determine the rate of the stopped muons from:</a:t>
                </a:r>
              </a:p>
              <a:p>
                <a:endParaRPr lang="en-US" dirty="0"/>
              </a:p>
              <a:p>
                <a:r>
                  <a:rPr lang="en-US" dirty="0"/>
                  <a:t>Live time in quantities of the beam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𝑃𝑂𝑇</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𝑝</m:t>
                        </m:r>
                      </m:sub>
                    </m:sSub>
                  </m:oMath>
                </a14:m>
                <a:r>
                  <a:rPr lang="en-US" dirty="0"/>
                  <a:t>), stops, and efficiency</a:t>
                </a:r>
              </a:p>
              <a:p>
                <a:endParaRPr lang="en-US" dirty="0"/>
              </a:p>
              <a:p>
                <a:endParaRPr lang="en-US" dirty="0"/>
              </a:p>
              <a:p>
                <a:endParaRPr lang="en-US" dirty="0"/>
              </a:p>
              <a:p>
                <a:pPr marL="0" indent="0">
                  <a:buNone/>
                </a:pPr>
                <a:r>
                  <a:rPr lang="en-US" dirty="0"/>
                  <a:t>Note that efficiency (</a:t>
                </a:r>
                <a14:m>
                  <m:oMath xmlns:m="http://schemas.openxmlformats.org/officeDocument/2006/math">
                    <m:r>
                      <a:rPr lang="en-US" i="1" smtClean="0">
                        <a:latin typeface="Cambria Math" panose="02040503050406030204" pitchFamily="18" charset="0"/>
                        <a:ea typeface="Cambria Math" panose="02040503050406030204" pitchFamily="18" charset="0"/>
                      </a:rPr>
                      <m:t>𝜖</m:t>
                    </m:r>
                  </m:oMath>
                </a14:m>
                <a:r>
                  <a:rPr lang="en-US" dirty="0"/>
                  <a:t>) is comprised of multiple different efficiencies multiplied together: 						           found via simulation</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BEE336D6-6E62-DF3A-041D-E5CCA5F86300}"/>
                  </a:ext>
                </a:extLst>
              </p:cNvPr>
              <p:cNvSpPr>
                <a:spLocks noGrp="1" noRot="1" noChangeAspect="1" noMove="1" noResize="1" noEditPoints="1" noAdjustHandles="1" noChangeArrowheads="1" noChangeShapeType="1" noTextEdit="1"/>
              </p:cNvSpPr>
              <p:nvPr>
                <p:ph idx="1"/>
              </p:nvPr>
            </p:nvSpPr>
            <p:spPr>
              <a:xfrm>
                <a:off x="0" y="424542"/>
                <a:ext cx="12192000" cy="6002383"/>
              </a:xfrm>
              <a:blipFill>
                <a:blip r:embed="rId2"/>
                <a:stretch>
                  <a:fillRect l="-937" t="-1903" b="-190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9765FAF5-D931-54B8-7EDF-89CDC48CEA60}"/>
              </a:ext>
            </a:extLst>
          </p:cNvPr>
          <p:cNvPicPr>
            <a:picLocks noChangeAspect="1"/>
          </p:cNvPicPr>
          <p:nvPr/>
        </p:nvPicPr>
        <p:blipFill>
          <a:blip r:embed="rId3"/>
          <a:stretch>
            <a:fillRect/>
          </a:stretch>
        </p:blipFill>
        <p:spPr>
          <a:xfrm>
            <a:off x="2262051" y="1748228"/>
            <a:ext cx="5991497" cy="714894"/>
          </a:xfrm>
          <a:prstGeom prst="rect">
            <a:avLst/>
          </a:prstGeom>
        </p:spPr>
      </p:pic>
      <p:pic>
        <p:nvPicPr>
          <p:cNvPr id="9" name="Picture 8">
            <a:extLst>
              <a:ext uri="{FF2B5EF4-FFF2-40B4-BE49-F238E27FC236}">
                <a16:creationId xmlns:a16="http://schemas.microsoft.com/office/drawing/2014/main" id="{7CDE9E62-73D9-6DA4-90AE-5AC38D2EDA79}"/>
              </a:ext>
            </a:extLst>
          </p:cNvPr>
          <p:cNvPicPr>
            <a:picLocks noChangeAspect="1"/>
          </p:cNvPicPr>
          <p:nvPr/>
        </p:nvPicPr>
        <p:blipFill>
          <a:blip r:embed="rId4"/>
          <a:stretch>
            <a:fillRect/>
          </a:stretch>
        </p:blipFill>
        <p:spPr>
          <a:xfrm>
            <a:off x="2209799" y="985309"/>
            <a:ext cx="7772400" cy="349528"/>
          </a:xfrm>
          <a:prstGeom prst="rect">
            <a:avLst/>
          </a:prstGeom>
        </p:spPr>
      </p:pic>
      <p:pic>
        <p:nvPicPr>
          <p:cNvPr id="10" name="Picture 9">
            <a:extLst>
              <a:ext uri="{FF2B5EF4-FFF2-40B4-BE49-F238E27FC236}">
                <a16:creationId xmlns:a16="http://schemas.microsoft.com/office/drawing/2014/main" id="{0773DCB2-6819-2A40-2EBA-2BE6DE3AE177}"/>
              </a:ext>
            </a:extLst>
          </p:cNvPr>
          <p:cNvPicPr>
            <a:picLocks noChangeAspect="1"/>
          </p:cNvPicPr>
          <p:nvPr/>
        </p:nvPicPr>
        <p:blipFill>
          <a:blip r:embed="rId5"/>
          <a:stretch>
            <a:fillRect/>
          </a:stretch>
        </p:blipFill>
        <p:spPr>
          <a:xfrm>
            <a:off x="2405742" y="3174009"/>
            <a:ext cx="6043748" cy="706871"/>
          </a:xfrm>
          <a:prstGeom prst="rect">
            <a:avLst/>
          </a:prstGeom>
        </p:spPr>
      </p:pic>
      <p:pic>
        <p:nvPicPr>
          <p:cNvPr id="11" name="Picture 10">
            <a:extLst>
              <a:ext uri="{FF2B5EF4-FFF2-40B4-BE49-F238E27FC236}">
                <a16:creationId xmlns:a16="http://schemas.microsoft.com/office/drawing/2014/main" id="{20D9ACD0-2F37-5D3C-7836-6EA6226B561D}"/>
              </a:ext>
            </a:extLst>
          </p:cNvPr>
          <p:cNvPicPr>
            <a:picLocks noChangeAspect="1"/>
          </p:cNvPicPr>
          <p:nvPr/>
        </p:nvPicPr>
        <p:blipFill>
          <a:blip r:embed="rId6"/>
          <a:stretch>
            <a:fillRect/>
          </a:stretch>
        </p:blipFill>
        <p:spPr>
          <a:xfrm>
            <a:off x="2066108" y="4602120"/>
            <a:ext cx="6383382" cy="620607"/>
          </a:xfrm>
          <a:prstGeom prst="rect">
            <a:avLst/>
          </a:prstGeom>
        </p:spPr>
      </p:pic>
      <p:pic>
        <p:nvPicPr>
          <p:cNvPr id="12" name="Picture 11">
            <a:extLst>
              <a:ext uri="{FF2B5EF4-FFF2-40B4-BE49-F238E27FC236}">
                <a16:creationId xmlns:a16="http://schemas.microsoft.com/office/drawing/2014/main" id="{1F2C81D3-3CC5-53FB-BFDC-9B9D267EFB1D}"/>
              </a:ext>
            </a:extLst>
          </p:cNvPr>
          <p:cNvPicPr>
            <a:picLocks noChangeAspect="1"/>
          </p:cNvPicPr>
          <p:nvPr/>
        </p:nvPicPr>
        <p:blipFill>
          <a:blip r:embed="rId7"/>
          <a:stretch>
            <a:fillRect/>
          </a:stretch>
        </p:blipFill>
        <p:spPr>
          <a:xfrm>
            <a:off x="1482009" y="6061800"/>
            <a:ext cx="5622267" cy="201626"/>
          </a:xfrm>
          <a:prstGeom prst="rect">
            <a:avLst/>
          </a:prstGeom>
        </p:spPr>
      </p:pic>
      <p:sp>
        <p:nvSpPr>
          <p:cNvPr id="4" name="Slide Number Placeholder 3">
            <a:extLst>
              <a:ext uri="{FF2B5EF4-FFF2-40B4-BE49-F238E27FC236}">
                <a16:creationId xmlns:a16="http://schemas.microsoft.com/office/drawing/2014/main" id="{9EAC6301-294C-047C-857C-5B06789CF2EB}"/>
              </a:ext>
            </a:extLst>
          </p:cNvPr>
          <p:cNvSpPr>
            <a:spLocks noGrp="1"/>
          </p:cNvSpPr>
          <p:nvPr>
            <p:ph type="sldNum" sz="quarter" idx="12"/>
          </p:nvPr>
        </p:nvSpPr>
        <p:spPr/>
        <p:txBody>
          <a:bodyPr/>
          <a:lstStyle/>
          <a:p>
            <a:fld id="{C0E0CB54-3DBF-E947-906E-85E307CF7971}" type="slidenum">
              <a:rPr lang="en-US" smtClean="0"/>
              <a:t>46</a:t>
            </a:fld>
            <a:endParaRPr lang="en-US"/>
          </a:p>
        </p:txBody>
      </p:sp>
    </p:spTree>
    <p:extLst>
      <p:ext uri="{BB962C8B-B14F-4D97-AF65-F5344CB8AC3E}">
        <p14:creationId xmlns:p14="http://schemas.microsoft.com/office/powerpoint/2010/main" val="16782041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9290EE-BEC6-0A6E-2D4B-BA3D8AFA5182}"/>
                  </a:ext>
                </a:extLst>
              </p:cNvPr>
              <p:cNvSpPr>
                <a:spLocks noGrp="1"/>
              </p:cNvSpPr>
              <p:nvPr>
                <p:ph idx="1"/>
              </p:nvPr>
            </p:nvSpPr>
            <p:spPr>
              <a:xfrm>
                <a:off x="0" y="574765"/>
                <a:ext cx="12192000" cy="5781585"/>
              </a:xfrm>
            </p:spPr>
            <p:txBody>
              <a:bodyPr>
                <a:normAutofit/>
              </a:bodyPr>
              <a:lstStyle/>
              <a:p>
                <a:r>
                  <a:rPr lang="en-US" dirty="0"/>
                  <a:t>Values to use in the calculation: </a:t>
                </a:r>
              </a:p>
              <a:p>
                <a:pPr lvl="1"/>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=1.5</m:t>
                    </m:r>
                  </m:oMath>
                </a14:m>
                <a:r>
                  <a:rPr lang="en-US" dirty="0"/>
                  <a:t> kW (Bernstein, 2019 Frontiers), needs to be reduced by large factor (300) for pileup considerations in reconstruction </a:t>
                </a:r>
                <a:r>
                  <a:rPr lang="en-US" dirty="0">
                    <a:sym typeface="Wingdings" pitchFamily="2" charset="2"/>
                  </a:rPr>
                  <a:t> exact to be determined</a:t>
                </a:r>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𝑝</m:t>
                        </m:r>
                      </m:sub>
                    </m:sSub>
                    <m:r>
                      <a:rPr lang="en-US" b="0" i="1" smtClean="0">
                        <a:latin typeface="Cambria Math" panose="02040503050406030204" pitchFamily="18" charset="0"/>
                      </a:rPr>
                      <m:t>=8</m:t>
                    </m:r>
                  </m:oMath>
                </a14:m>
                <a:r>
                  <a:rPr lang="en-US" dirty="0"/>
                  <a:t> GeV</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𝑠𝑡𝑜𝑝𝑠</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18</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𝜇</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𝑃𝑂𝑇</m:t>
                        </m:r>
                      </m:sub>
                    </m:sSub>
                    <m:r>
                      <a:rPr lang="en-US" b="0" i="1" smtClean="0">
                        <a:latin typeface="Cambria Math" panose="02040503050406030204" pitchFamily="18" charset="0"/>
                      </a:rPr>
                      <m:t>=3.8</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20</m:t>
                        </m:r>
                      </m:sup>
                    </m:sSup>
                  </m:oMath>
                </a14:m>
                <a:r>
                  <a:rPr lang="en-US" dirty="0"/>
                  <a:t> protons</a:t>
                </a:r>
              </a:p>
              <a:p>
                <a:pPr lvl="1"/>
                <a14:m>
                  <m:oMath xmlns:m="http://schemas.openxmlformats.org/officeDocument/2006/math">
                    <m:r>
                      <a:rPr lang="en-US" b="0" i="1" smtClean="0">
                        <a:latin typeface="Cambria Math" panose="02040503050406030204" pitchFamily="18" charset="0"/>
                      </a:rPr>
                      <m:t>𝐵𝑟</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=1.0×</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−12</m:t>
                        </m:r>
                      </m:sup>
                    </m:sSup>
                  </m:oMath>
                </a14:m>
                <a:r>
                  <a:rPr lang="en-US" dirty="0"/>
                  <a:t> branching ratio from Sindrum II analogous process</a:t>
                </a:r>
              </a:p>
              <a:p>
                <a:pPr lvl="1"/>
                <a:endParaRPr lang="en-US" dirty="0"/>
              </a:p>
              <a:p>
                <a:pPr lvl="1"/>
                <a:endParaRPr lang="en-US" dirty="0"/>
              </a:p>
              <a:p>
                <a:pPr marL="457200" lvl="1" indent="0">
                  <a:buNone/>
                </a:pPr>
                <a:r>
                  <a:rPr lang="en-US" dirty="0"/>
                  <a:t>From initial simulation, efficiency from muon stops to </a:t>
                </a:r>
                <a:r>
                  <a:rPr lang="en-US" dirty="0" err="1"/>
                  <a:t>ntuple</a:t>
                </a:r>
                <a:r>
                  <a:rPr lang="en-US" dirty="0"/>
                  <a:t> stage </a:t>
                </a:r>
                <a14:m>
                  <m:oMath xmlns:m="http://schemas.openxmlformats.org/officeDocument/2006/math">
                    <m:r>
                      <a:rPr lang="en-US" i="1" smtClean="0">
                        <a:latin typeface="Cambria Math" panose="02040503050406030204" pitchFamily="18" charset="0"/>
                        <a:ea typeface="Cambria Math" panose="02040503050406030204" pitchFamily="18" charset="0"/>
                      </a:rPr>
                      <m:t>𝜀</m:t>
                    </m:r>
                    <m:r>
                      <a:rPr lang="en-US" i="1" smtClean="0">
                        <a:latin typeface="Cambria Math" panose="02040503050406030204" pitchFamily="18" charset="0"/>
                        <a:ea typeface="Cambria Math" panose="02040503050406030204" pitchFamily="18" charset="0"/>
                      </a:rPr>
                      <m:t>≈9.54%</m:t>
                    </m:r>
                  </m:oMath>
                </a14:m>
                <a:r>
                  <a:rPr lang="en-US" dirty="0"/>
                  <a:t> (estimate)</a:t>
                </a:r>
              </a:p>
              <a:p>
                <a:pPr lvl="1"/>
                <a:r>
                  <a:rPr lang="en-US" dirty="0"/>
                  <a:t>For 90% confidence interval: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𝑠𝑖𝑔𝑛𝑎𝑙</m:t>
                        </m:r>
                      </m:sub>
                    </m:sSub>
                    <m:r>
                      <a:rPr lang="en-US" b="0" i="1" smtClean="0">
                        <a:latin typeface="Cambria Math" panose="02040503050406030204" pitchFamily="18" charset="0"/>
                      </a:rPr>
                      <m:t>=2.3</m:t>
                    </m:r>
                  </m:oMath>
                </a14:m>
                <a:r>
                  <a:rPr lang="en-US" dirty="0"/>
                  <a:t> events </a:t>
                </a:r>
                <a:r>
                  <a:rPr lang="en-US" dirty="0">
                    <a:sym typeface="Wingdings" pitchFamily="2" charset="2"/>
                  </a:rPr>
                  <a:t> 648.94 hours </a:t>
                </a:r>
                <a14:m>
                  <m:oMath xmlns:m="http://schemas.openxmlformats.org/officeDocument/2006/math">
                    <m:r>
                      <a:rPr lang="en-US" i="1" smtClean="0">
                        <a:latin typeface="Cambria Math" panose="02040503050406030204" pitchFamily="18" charset="0"/>
                        <a:ea typeface="Cambria Math" panose="02040503050406030204" pitchFamily="18" charset="0"/>
                        <a:sym typeface="Wingdings" pitchFamily="2" charset="2"/>
                      </a:rPr>
                      <m:t>≈</m:t>
                    </m:r>
                  </m:oMath>
                </a14:m>
                <a:r>
                  <a:rPr lang="en-US" dirty="0"/>
                  <a:t> 27.04 days</a:t>
                </a:r>
              </a:p>
              <a:p>
                <a:pPr lvl="1"/>
                <a:r>
                  <a:rPr lang="en-US" dirty="0"/>
                  <a:t>For 95% confidence interval: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𝑠𝑖𝑔𝑛𝑎𝑙</m:t>
                        </m:r>
                      </m:sub>
                    </m:sSub>
                    <m:r>
                      <a:rPr lang="en-US" i="1">
                        <a:latin typeface="Cambria Math" panose="02040503050406030204" pitchFamily="18" charset="0"/>
                      </a:rPr>
                      <m:t>=</m:t>
                    </m:r>
                    <m:r>
                      <a:rPr lang="en-US" b="0" i="1" smtClean="0">
                        <a:latin typeface="Cambria Math" panose="02040503050406030204" pitchFamily="18" charset="0"/>
                      </a:rPr>
                      <m:t>3</m:t>
                    </m:r>
                  </m:oMath>
                </a14:m>
                <a:r>
                  <a:rPr lang="en-US" dirty="0"/>
                  <a:t> events</a:t>
                </a:r>
                <a:r>
                  <a:rPr lang="en-US" dirty="0">
                    <a:sym typeface="Wingdings" pitchFamily="2" charset="2"/>
                  </a:rPr>
                  <a:t> 846.45 hours </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 35.27 days</a:t>
                </a:r>
              </a:p>
              <a:p>
                <a:pPr lvl="1"/>
                <a:r>
                  <a:rPr lang="en-US" dirty="0"/>
                  <a:t>For 99% confidence interval: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𝑠𝑖𝑔𝑛𝑎𝑙</m:t>
                        </m:r>
                      </m:sub>
                    </m:sSub>
                    <m:r>
                      <a:rPr lang="en-US" i="1">
                        <a:latin typeface="Cambria Math" panose="02040503050406030204" pitchFamily="18" charset="0"/>
                      </a:rPr>
                      <m:t>=</m:t>
                    </m:r>
                    <m:r>
                      <a:rPr lang="en-US" b="0" i="1" smtClean="0">
                        <a:latin typeface="Cambria Math" panose="02040503050406030204" pitchFamily="18" charset="0"/>
                      </a:rPr>
                      <m:t>4.6</m:t>
                    </m:r>
                  </m:oMath>
                </a14:m>
                <a:r>
                  <a:rPr lang="en-US" dirty="0"/>
                  <a:t> events </a:t>
                </a:r>
                <a:r>
                  <a:rPr lang="en-US" dirty="0">
                    <a:sym typeface="Wingdings" pitchFamily="2" charset="2"/>
                  </a:rPr>
                  <a:t> 1,297.89 hours  </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 54.08 days</a:t>
                </a:r>
              </a:p>
              <a:p>
                <a:endParaRPr lang="en-US" dirty="0"/>
              </a:p>
            </p:txBody>
          </p:sp>
        </mc:Choice>
        <mc:Fallback xmlns="">
          <p:sp>
            <p:nvSpPr>
              <p:cNvPr id="3" name="Content Placeholder 2">
                <a:extLst>
                  <a:ext uri="{FF2B5EF4-FFF2-40B4-BE49-F238E27FC236}">
                    <a16:creationId xmlns:a16="http://schemas.microsoft.com/office/drawing/2014/main" id="{5F9290EE-BEC6-0A6E-2D4B-BA3D8AFA5182}"/>
                  </a:ext>
                </a:extLst>
              </p:cNvPr>
              <p:cNvSpPr>
                <a:spLocks noGrp="1" noRot="1" noChangeAspect="1" noMove="1" noResize="1" noEditPoints="1" noAdjustHandles="1" noChangeArrowheads="1" noChangeShapeType="1" noTextEdit="1"/>
              </p:cNvSpPr>
              <p:nvPr>
                <p:ph idx="1"/>
              </p:nvPr>
            </p:nvSpPr>
            <p:spPr>
              <a:xfrm>
                <a:off x="0" y="574765"/>
                <a:ext cx="12192000" cy="5781585"/>
              </a:xfrm>
              <a:blipFill>
                <a:blip r:embed="rId2"/>
                <a:stretch>
                  <a:fillRect l="-937" t="-1974" r="-312"/>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9AE1F9AE-A6BD-D5CA-2031-9DD933346201}"/>
              </a:ext>
            </a:extLst>
          </p:cNvPr>
          <p:cNvSpPr>
            <a:spLocks noGrp="1"/>
          </p:cNvSpPr>
          <p:nvPr>
            <p:ph type="title"/>
          </p:nvPr>
        </p:nvSpPr>
        <p:spPr>
          <a:xfrm>
            <a:off x="0" y="0"/>
            <a:ext cx="10515600" cy="424543"/>
          </a:xfrm>
        </p:spPr>
        <p:txBody>
          <a:bodyPr>
            <a:normAutofit fontScale="90000"/>
          </a:bodyPr>
          <a:lstStyle/>
          <a:p>
            <a:r>
              <a:rPr lang="en-US" sz="2800" dirty="0">
                <a:solidFill>
                  <a:srgbClr val="C00000"/>
                </a:solidFill>
              </a:rPr>
              <a:t>Back-of-Envelope Wall Clock Hours Prediction (Pt. 2)</a:t>
            </a:r>
          </a:p>
        </p:txBody>
      </p:sp>
      <p:pic>
        <p:nvPicPr>
          <p:cNvPr id="2" name="Picture 1">
            <a:extLst>
              <a:ext uri="{FF2B5EF4-FFF2-40B4-BE49-F238E27FC236}">
                <a16:creationId xmlns:a16="http://schemas.microsoft.com/office/drawing/2014/main" id="{77923FF2-3374-173A-1897-48EF55C6476A}"/>
              </a:ext>
            </a:extLst>
          </p:cNvPr>
          <p:cNvPicPr>
            <a:picLocks noChangeAspect="1"/>
          </p:cNvPicPr>
          <p:nvPr/>
        </p:nvPicPr>
        <p:blipFill>
          <a:blip r:embed="rId3"/>
          <a:stretch>
            <a:fillRect/>
          </a:stretch>
        </p:blipFill>
        <p:spPr>
          <a:xfrm>
            <a:off x="3605044" y="3429000"/>
            <a:ext cx="4548356" cy="667567"/>
          </a:xfrm>
          <a:prstGeom prst="rect">
            <a:avLst/>
          </a:prstGeom>
        </p:spPr>
      </p:pic>
      <p:sp>
        <p:nvSpPr>
          <p:cNvPr id="7" name="Slide Number Placeholder 6">
            <a:extLst>
              <a:ext uri="{FF2B5EF4-FFF2-40B4-BE49-F238E27FC236}">
                <a16:creationId xmlns:a16="http://schemas.microsoft.com/office/drawing/2014/main" id="{904CE41E-1615-A679-D773-A66B9C3ACF99}"/>
              </a:ext>
            </a:extLst>
          </p:cNvPr>
          <p:cNvSpPr>
            <a:spLocks noGrp="1"/>
          </p:cNvSpPr>
          <p:nvPr>
            <p:ph type="sldNum" sz="quarter" idx="12"/>
          </p:nvPr>
        </p:nvSpPr>
        <p:spPr/>
        <p:txBody>
          <a:bodyPr/>
          <a:lstStyle/>
          <a:p>
            <a:fld id="{C0E0CB54-3DBF-E947-906E-85E307CF7971}" type="slidenum">
              <a:rPr lang="en-US" smtClean="0"/>
              <a:t>47</a:t>
            </a:fld>
            <a:endParaRPr lang="en-US"/>
          </a:p>
        </p:txBody>
      </p:sp>
    </p:spTree>
    <p:extLst>
      <p:ext uri="{BB962C8B-B14F-4D97-AF65-F5344CB8AC3E}">
        <p14:creationId xmlns:p14="http://schemas.microsoft.com/office/powerpoint/2010/main" val="34646254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27CEA1-D624-33D2-7572-4EEE4D3E60CD}"/>
                  </a:ext>
                </a:extLst>
              </p:cNvPr>
              <p:cNvSpPr>
                <a:spLocks noGrp="1"/>
              </p:cNvSpPr>
              <p:nvPr>
                <p:ph idx="1"/>
              </p:nvPr>
            </p:nvSpPr>
            <p:spPr>
              <a:xfrm>
                <a:off x="0" y="424542"/>
                <a:ext cx="12192000" cy="5931807"/>
              </a:xfrm>
            </p:spPr>
            <p:txBody>
              <a:bodyPr/>
              <a:lstStyle/>
              <a:p>
                <a:r>
                  <a:rPr lang="en-US" dirty="0"/>
                  <a:t>Assumptions</a:t>
                </a:r>
              </a:p>
              <a:p>
                <a:pPr lvl="1"/>
                <a:r>
                  <a:rPr lang="en-US" dirty="0"/>
                  <a:t> static magnetic field (</a:t>
                </a:r>
                <a14:m>
                  <m:oMath xmlns:m="http://schemas.openxmlformats.org/officeDocument/2006/math">
                    <m:f>
                      <m:fPr>
                        <m:type m:val="skw"/>
                        <m:ctrlPr>
                          <a:rPr lang="en-US" i="1">
                            <a:latin typeface="Cambria Math" panose="02040503050406030204" pitchFamily="18" charset="0"/>
                          </a:rPr>
                        </m:ctrlPr>
                      </m:fPr>
                      <m:num>
                        <m:r>
                          <a:rPr lang="en-US" i="1">
                            <a:latin typeface="Cambria Math" panose="02040503050406030204" pitchFamily="18" charset="0"/>
                          </a:rPr>
                          <m:t>𝑑𝐵</m:t>
                        </m:r>
                      </m:num>
                      <m:den>
                        <m:r>
                          <a:rPr lang="en-US" i="1">
                            <a:latin typeface="Cambria Math" panose="02040503050406030204" pitchFamily="18" charset="0"/>
                          </a:rPr>
                          <m:t>𝑑𝑡</m:t>
                        </m:r>
                      </m:den>
                    </m:f>
                    <m:r>
                      <a:rPr lang="en-US" i="1">
                        <a:latin typeface="Cambria Math" panose="02040503050406030204" pitchFamily="18" charset="0"/>
                      </a:rPr>
                      <m:t>=0</m:t>
                    </m:r>
                  </m:oMath>
                </a14:m>
                <a:r>
                  <a:rPr lang="en-US" dirty="0"/>
                  <a:t>) with no external electric field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𝐸</m:t>
                        </m:r>
                      </m:e>
                    </m:acc>
                    <m:r>
                      <a:rPr lang="en-US" b="0" i="1" smtClean="0">
                        <a:latin typeface="Cambria Math" panose="02040503050406030204" pitchFamily="18" charset="0"/>
                      </a:rPr>
                      <m:t>=0</m:t>
                    </m:r>
                  </m:oMath>
                </a14:m>
                <a:endParaRPr lang="en-US" dirty="0"/>
              </a:p>
              <a:p>
                <a:pPr lvl="1"/>
                <a:r>
                  <a:rPr lang="en-US" dirty="0"/>
                  <a:t>Nonrelativistic motion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oMath>
                </a14:m>
                <a:r>
                  <a:rPr lang="en-US" dirty="0"/>
                  <a:t>) for particles moving in field</a:t>
                </a:r>
              </a:p>
              <a:p>
                <a:pPr lvl="1"/>
                <a:r>
                  <a:rPr lang="en-US" dirty="0"/>
                  <a:t>Magnetic field assumed to be solely in </a:t>
                </a:r>
                <a14:m>
                  <m:oMath xmlns:m="http://schemas.openxmlformats.org/officeDocument/2006/math">
                    <m:r>
                      <a:rPr lang="en-US" b="0" i="1" smtClean="0">
                        <a:latin typeface="Cambria Math" panose="02040503050406030204" pitchFamily="18" charset="0"/>
                      </a:rPr>
                      <m:t>𝑧</m:t>
                    </m:r>
                  </m:oMath>
                </a14:m>
                <a:r>
                  <a:rPr lang="en-US" dirty="0"/>
                  <a:t>-direction,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𝐵</m:t>
                        </m:r>
                      </m:e>
                    </m:acc>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oMath>
                </a14:m>
                <a:r>
                  <a:rPr lang="en-US" dirty="0"/>
                  <a:t> and changes gradually with change in </a:t>
                </a:r>
                <a14:m>
                  <m:oMath xmlns:m="http://schemas.openxmlformats.org/officeDocument/2006/math">
                    <m:r>
                      <a:rPr lang="en-US" b="0" i="1" smtClean="0">
                        <a:latin typeface="Cambria Math" panose="02040503050406030204" pitchFamily="18" charset="0"/>
                      </a:rPr>
                      <m:t>𝑧</m:t>
                    </m:r>
                  </m:oMath>
                </a14:m>
                <a:endParaRPr lang="en-US" dirty="0"/>
              </a:p>
            </p:txBody>
          </p:sp>
        </mc:Choice>
        <mc:Fallback xmlns="">
          <p:sp>
            <p:nvSpPr>
              <p:cNvPr id="3" name="Content Placeholder 2">
                <a:extLst>
                  <a:ext uri="{FF2B5EF4-FFF2-40B4-BE49-F238E27FC236}">
                    <a16:creationId xmlns:a16="http://schemas.microsoft.com/office/drawing/2014/main" id="{F927CEA1-D624-33D2-7572-4EEE4D3E60CD}"/>
                  </a:ext>
                </a:extLst>
              </p:cNvPr>
              <p:cNvSpPr>
                <a:spLocks noGrp="1" noRot="1" noChangeAspect="1" noMove="1" noResize="1" noEditPoints="1" noAdjustHandles="1" noChangeArrowheads="1" noChangeShapeType="1" noTextEdit="1"/>
              </p:cNvSpPr>
              <p:nvPr>
                <p:ph idx="1"/>
              </p:nvPr>
            </p:nvSpPr>
            <p:spPr>
              <a:xfrm>
                <a:off x="0" y="424542"/>
                <a:ext cx="12192000" cy="5931807"/>
              </a:xfrm>
              <a:blipFill>
                <a:blip r:embed="rId2"/>
                <a:stretch>
                  <a:fillRect l="-937" t="-2564"/>
                </a:stretch>
              </a:blipFill>
            </p:spPr>
            <p:txBody>
              <a:bodyPr/>
              <a:lstStyle/>
              <a:p>
                <a:r>
                  <a:rPr lang="en-US">
                    <a:noFill/>
                  </a:rPr>
                  <a:t> </a:t>
                </a:r>
              </a:p>
            </p:txBody>
          </p:sp>
        </mc:Fallback>
      </mc:AlternateContent>
      <p:sp>
        <p:nvSpPr>
          <p:cNvPr id="8" name="Title 1">
            <a:extLst>
              <a:ext uri="{FF2B5EF4-FFF2-40B4-BE49-F238E27FC236}">
                <a16:creationId xmlns:a16="http://schemas.microsoft.com/office/drawing/2014/main" id="{EACEEC5F-DC2E-1200-0085-D8BB40A603AC}"/>
              </a:ext>
            </a:extLst>
          </p:cNvPr>
          <p:cNvSpPr txBox="1">
            <a:spLocks/>
          </p:cNvSpPr>
          <p:nvPr/>
        </p:nvSpPr>
        <p:spPr>
          <a:xfrm>
            <a:off x="0" y="0"/>
            <a:ext cx="10515600" cy="4245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Magnetic Mirror Effect Derivation (Pt. 1)</a:t>
            </a:r>
          </a:p>
        </p:txBody>
      </p:sp>
      <p:sp>
        <p:nvSpPr>
          <p:cNvPr id="2" name="Slide Number Placeholder 1">
            <a:extLst>
              <a:ext uri="{FF2B5EF4-FFF2-40B4-BE49-F238E27FC236}">
                <a16:creationId xmlns:a16="http://schemas.microsoft.com/office/drawing/2014/main" id="{CBA9829B-E45E-3F43-C275-64F70B4D18EC}"/>
              </a:ext>
            </a:extLst>
          </p:cNvPr>
          <p:cNvSpPr>
            <a:spLocks noGrp="1"/>
          </p:cNvSpPr>
          <p:nvPr>
            <p:ph type="sldNum" sz="quarter" idx="12"/>
          </p:nvPr>
        </p:nvSpPr>
        <p:spPr/>
        <p:txBody>
          <a:bodyPr/>
          <a:lstStyle/>
          <a:p>
            <a:fld id="{C0E0CB54-3DBF-E947-906E-85E307CF7971}" type="slidenum">
              <a:rPr lang="en-US" smtClean="0"/>
              <a:t>48</a:t>
            </a:fld>
            <a:endParaRPr lang="en-US"/>
          </a:p>
        </p:txBody>
      </p:sp>
    </p:spTree>
    <p:extLst>
      <p:ext uri="{BB962C8B-B14F-4D97-AF65-F5344CB8AC3E}">
        <p14:creationId xmlns:p14="http://schemas.microsoft.com/office/powerpoint/2010/main" val="842777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CEB7-3DE4-573B-EDA2-1B6FBA276945}"/>
              </a:ext>
            </a:extLst>
          </p:cNvPr>
          <p:cNvSpPr>
            <a:spLocks noGrp="1"/>
          </p:cNvSpPr>
          <p:nvPr>
            <p:ph type="title"/>
          </p:nvPr>
        </p:nvSpPr>
        <p:spPr/>
        <p:txBody>
          <a:bodyPr/>
          <a:lstStyle/>
          <a:p>
            <a:r>
              <a:rPr lang="en-US" dirty="0"/>
              <a:t>Half-Field DS Field Designation</a:t>
            </a:r>
          </a:p>
        </p:txBody>
      </p:sp>
      <p:sp>
        <p:nvSpPr>
          <p:cNvPr id="3" name="Content Placeholder 2">
            <a:extLst>
              <a:ext uri="{FF2B5EF4-FFF2-40B4-BE49-F238E27FC236}">
                <a16:creationId xmlns:a16="http://schemas.microsoft.com/office/drawing/2014/main" id="{763F44E5-A5F9-A925-1B54-76981E1B3EC5}"/>
              </a:ext>
            </a:extLst>
          </p:cNvPr>
          <p:cNvSpPr>
            <a:spLocks noGrp="1"/>
          </p:cNvSpPr>
          <p:nvPr>
            <p:ph idx="1"/>
          </p:nvPr>
        </p:nvSpPr>
        <p:spPr/>
        <p:txBody>
          <a:bodyPr/>
          <a:lstStyle/>
          <a:p>
            <a:endParaRPr lang="en-US"/>
          </a:p>
        </p:txBody>
      </p:sp>
      <p:sp>
        <p:nvSpPr>
          <p:cNvPr id="4" name="Title 1">
            <a:extLst>
              <a:ext uri="{FF2B5EF4-FFF2-40B4-BE49-F238E27FC236}">
                <a16:creationId xmlns:a16="http://schemas.microsoft.com/office/drawing/2014/main" id="{568356BF-0515-B375-CAA4-90B2F56C5AB7}"/>
              </a:ext>
            </a:extLst>
          </p:cNvPr>
          <p:cNvSpPr txBox="1">
            <a:spLocks/>
          </p:cNvSpPr>
          <p:nvPr/>
        </p:nvSpPr>
        <p:spPr>
          <a:xfrm>
            <a:off x="0" y="0"/>
            <a:ext cx="10515600" cy="4245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Half-Field DS Field Necessity Derivation</a:t>
            </a:r>
          </a:p>
        </p:txBody>
      </p:sp>
      <p:sp>
        <p:nvSpPr>
          <p:cNvPr id="7" name="Slide Number Placeholder 6">
            <a:extLst>
              <a:ext uri="{FF2B5EF4-FFF2-40B4-BE49-F238E27FC236}">
                <a16:creationId xmlns:a16="http://schemas.microsoft.com/office/drawing/2014/main" id="{03AE05CF-C9A5-E32F-01CE-28DAE0C9BDBB}"/>
              </a:ext>
            </a:extLst>
          </p:cNvPr>
          <p:cNvSpPr>
            <a:spLocks noGrp="1"/>
          </p:cNvSpPr>
          <p:nvPr>
            <p:ph type="sldNum" sz="quarter" idx="12"/>
          </p:nvPr>
        </p:nvSpPr>
        <p:spPr/>
        <p:txBody>
          <a:bodyPr/>
          <a:lstStyle/>
          <a:p>
            <a:fld id="{C0E0CB54-3DBF-E947-906E-85E307CF7971}" type="slidenum">
              <a:rPr lang="en-US" smtClean="0"/>
              <a:t>49</a:t>
            </a:fld>
            <a:endParaRPr lang="en-US"/>
          </a:p>
        </p:txBody>
      </p:sp>
    </p:spTree>
    <p:extLst>
      <p:ext uri="{BB962C8B-B14F-4D97-AF65-F5344CB8AC3E}">
        <p14:creationId xmlns:p14="http://schemas.microsoft.com/office/powerpoint/2010/main" val="33998097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5B417-A02F-4DD9-D59C-129E014E3472}"/>
              </a:ext>
            </a:extLst>
          </p:cNvPr>
          <p:cNvSpPr>
            <a:spLocks noGrp="1"/>
          </p:cNvSpPr>
          <p:nvPr>
            <p:ph type="title"/>
          </p:nvPr>
        </p:nvSpPr>
        <p:spPr/>
        <p:txBody>
          <a:bodyPr/>
          <a:lstStyle/>
          <a:p>
            <a:r>
              <a:rPr lang="en-US" dirty="0"/>
              <a:t>Mu2e Experiment Background Slides</a:t>
            </a:r>
          </a:p>
        </p:txBody>
      </p:sp>
      <p:sp>
        <p:nvSpPr>
          <p:cNvPr id="3" name="Text Placeholder 2">
            <a:extLst>
              <a:ext uri="{FF2B5EF4-FFF2-40B4-BE49-F238E27FC236}">
                <a16:creationId xmlns:a16="http://schemas.microsoft.com/office/drawing/2014/main" id="{CE8A165D-CDAB-6477-ACF6-A3B06CE60C19}"/>
              </a:ext>
            </a:extLst>
          </p:cNvPr>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08045356-1DBA-F50A-1F25-6B746BAD0328}"/>
              </a:ext>
            </a:extLst>
          </p:cNvPr>
          <p:cNvSpPr>
            <a:spLocks noGrp="1"/>
          </p:cNvSpPr>
          <p:nvPr>
            <p:ph type="sldNum" sz="quarter" idx="12"/>
          </p:nvPr>
        </p:nvSpPr>
        <p:spPr/>
        <p:txBody>
          <a:bodyPr/>
          <a:lstStyle/>
          <a:p>
            <a:fld id="{C0E0CB54-3DBF-E947-906E-85E307CF7971}" type="slidenum">
              <a:rPr lang="en-US" smtClean="0"/>
              <a:t>50</a:t>
            </a:fld>
            <a:endParaRPr lang="en-US"/>
          </a:p>
        </p:txBody>
      </p:sp>
    </p:spTree>
    <p:extLst>
      <p:ext uri="{BB962C8B-B14F-4D97-AF65-F5344CB8AC3E}">
        <p14:creationId xmlns:p14="http://schemas.microsoft.com/office/powerpoint/2010/main" val="20964927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D4B47-BFD3-70F7-DF02-D4D73E205C67}"/>
              </a:ext>
            </a:extLst>
          </p:cNvPr>
          <p:cNvSpPr>
            <a:spLocks noGrp="1"/>
          </p:cNvSpPr>
          <p:nvPr>
            <p:ph type="title"/>
          </p:nvPr>
        </p:nvSpPr>
        <p:spPr>
          <a:xfrm>
            <a:off x="0" y="0"/>
            <a:ext cx="10515600" cy="549275"/>
          </a:xfrm>
        </p:spPr>
        <p:txBody>
          <a:bodyPr>
            <a:normAutofit/>
          </a:bodyPr>
          <a:lstStyle/>
          <a:p>
            <a:r>
              <a:rPr lang="en-US" sz="2500" u="sng" dirty="0">
                <a:solidFill>
                  <a:srgbClr val="C00000"/>
                </a:solidFill>
              </a:rPr>
              <a:t>Proton Beam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0DD926-6A21-9530-929C-A36CC9E3C1DD}"/>
                  </a:ext>
                </a:extLst>
              </p:cNvPr>
              <p:cNvSpPr>
                <a:spLocks noGrp="1"/>
              </p:cNvSpPr>
              <p:nvPr>
                <p:ph idx="1"/>
              </p:nvPr>
            </p:nvSpPr>
            <p:spPr>
              <a:xfrm>
                <a:off x="838200" y="767443"/>
                <a:ext cx="10515600" cy="5409520"/>
              </a:xfrm>
            </p:spPr>
            <p:txBody>
              <a:bodyPr/>
              <a:lstStyle/>
              <a:p>
                <a:r>
                  <a:rPr lang="en-US" dirty="0"/>
                  <a:t>Utilize the Fermilab Delivery Ring to supply a stream of 8 GeV protons in a time-pulsed format</a:t>
                </a:r>
              </a:p>
              <a:p>
                <a:pPr lvl="1"/>
                <a:r>
                  <a:rPr lang="en-US" dirty="0"/>
                  <a:t>Pulse width: 250 ns FWHM</a:t>
                </a:r>
              </a:p>
              <a:p>
                <a:pPr lvl="1"/>
                <a:r>
                  <a:rPr lang="en-US" dirty="0"/>
                  <a:t>Pulse separation: 1,695 ns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r>
                  <a:rPr lang="en-US" dirty="0"/>
                  <a:t>Anticipated Protons on Target (POT): </a:t>
                </a:r>
                <a14:m>
                  <m:oMath xmlns:m="http://schemas.openxmlformats.org/officeDocument/2006/math">
                    <m:r>
                      <a:rPr lang="en-US" b="0" i="1" smtClean="0">
                        <a:latin typeface="Cambria Math" panose="02040503050406030204" pitchFamily="18" charset="0"/>
                      </a:rPr>
                      <m:t>3.6 </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20</m:t>
                        </m:r>
                      </m:sup>
                    </m:sSup>
                  </m:oMath>
                </a14:m>
                <a:r>
                  <a:rPr lang="en-US" dirty="0"/>
                  <a:t> protons</a:t>
                </a:r>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00DD926-6A21-9530-929C-A36CC9E3C1DD}"/>
                  </a:ext>
                </a:extLst>
              </p:cNvPr>
              <p:cNvSpPr>
                <a:spLocks noGrp="1" noRot="1" noChangeAspect="1" noMove="1" noResize="1" noEditPoints="1" noAdjustHandles="1" noChangeArrowheads="1" noChangeShapeType="1" noTextEdit="1"/>
              </p:cNvSpPr>
              <p:nvPr>
                <p:ph idx="1"/>
              </p:nvPr>
            </p:nvSpPr>
            <p:spPr>
              <a:xfrm>
                <a:off x="838200" y="767443"/>
                <a:ext cx="10515600" cy="5409520"/>
              </a:xfrm>
              <a:blipFill>
                <a:blip r:embed="rId3"/>
                <a:stretch>
                  <a:fillRect l="-1086" t="-1874" b="-117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ED0D6C25-8CB8-6ED6-8A49-5E0E72A41BAC}"/>
              </a:ext>
            </a:extLst>
          </p:cNvPr>
          <p:cNvPicPr>
            <a:picLocks noChangeAspect="1"/>
          </p:cNvPicPr>
          <p:nvPr/>
        </p:nvPicPr>
        <p:blipFill>
          <a:blip r:embed="rId4"/>
          <a:srcRect t="3179" b="6573"/>
          <a:stretch>
            <a:fillRect/>
          </a:stretch>
        </p:blipFill>
        <p:spPr>
          <a:xfrm>
            <a:off x="1276421" y="2458875"/>
            <a:ext cx="9239179" cy="3112585"/>
          </a:xfrm>
          <a:prstGeom prst="rect">
            <a:avLst/>
          </a:prstGeom>
        </p:spPr>
      </p:pic>
      <p:sp>
        <p:nvSpPr>
          <p:cNvPr id="4" name="Slide Number Placeholder 3">
            <a:extLst>
              <a:ext uri="{FF2B5EF4-FFF2-40B4-BE49-F238E27FC236}">
                <a16:creationId xmlns:a16="http://schemas.microsoft.com/office/drawing/2014/main" id="{E077036B-4E0B-B97A-21DF-2CEC02CB44CC}"/>
              </a:ext>
            </a:extLst>
          </p:cNvPr>
          <p:cNvSpPr>
            <a:spLocks noGrp="1"/>
          </p:cNvSpPr>
          <p:nvPr>
            <p:ph type="sldNum" sz="quarter" idx="12"/>
          </p:nvPr>
        </p:nvSpPr>
        <p:spPr/>
        <p:txBody>
          <a:bodyPr/>
          <a:lstStyle/>
          <a:p>
            <a:fld id="{C0E0CB54-3DBF-E947-906E-85E307CF7971}" type="slidenum">
              <a:rPr lang="en-US" smtClean="0"/>
              <a:t>51</a:t>
            </a:fld>
            <a:endParaRPr lang="en-US"/>
          </a:p>
        </p:txBody>
      </p:sp>
    </p:spTree>
    <p:extLst>
      <p:ext uri="{BB962C8B-B14F-4D97-AF65-F5344CB8AC3E}">
        <p14:creationId xmlns:p14="http://schemas.microsoft.com/office/powerpoint/2010/main" val="329859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62E47-47F3-2A82-A3BF-A79AE1C842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4FFAD7-166A-7DAF-97CF-04F2FC2BA426}"/>
              </a:ext>
            </a:extLst>
          </p:cNvPr>
          <p:cNvSpPr>
            <a:spLocks noGrp="1"/>
          </p:cNvSpPr>
          <p:nvPr>
            <p:ph idx="1"/>
          </p:nvPr>
        </p:nvSpPr>
        <p:spPr>
          <a:xfrm>
            <a:off x="838200" y="584880"/>
            <a:ext cx="10515600" cy="6084206"/>
          </a:xfrm>
        </p:spPr>
        <p:txBody>
          <a:bodyPr>
            <a:normAutofit/>
          </a:bodyPr>
          <a:lstStyle/>
          <a:p>
            <a:r>
              <a:rPr lang="en-US" dirty="0"/>
              <a:t>Radiatively cooled tungsten solid target</a:t>
            </a:r>
          </a:p>
          <a:p>
            <a:r>
              <a:rPr lang="en-US" dirty="0"/>
              <a:t>Production of pions that scatter backwards</a:t>
            </a:r>
          </a:p>
          <a:p>
            <a:r>
              <a:rPr lang="en-US" dirty="0"/>
              <a:t>Charged pions decay into (anti-)muons and muon (anti-)neutrino via the diagrams below</a:t>
            </a:r>
          </a:p>
          <a:p>
            <a:endParaRPr lang="en-US" dirty="0"/>
          </a:p>
          <a:p>
            <a:endParaRPr lang="en-US" dirty="0"/>
          </a:p>
          <a:p>
            <a:endParaRPr lang="en-US" dirty="0"/>
          </a:p>
          <a:p>
            <a:endParaRPr lang="en-US" dirty="0"/>
          </a:p>
          <a:p>
            <a:endParaRPr lang="en-US" dirty="0"/>
          </a:p>
          <a:p>
            <a:endParaRPr lang="en-US" dirty="0"/>
          </a:p>
          <a:p>
            <a:endParaRPr lang="en-US" dirty="0"/>
          </a:p>
          <a:p>
            <a:r>
              <a:rPr lang="en-US" dirty="0"/>
              <a:t>Solenoid focuses pions into transport solenoid</a:t>
            </a:r>
          </a:p>
          <a:p>
            <a:pPr marL="0" indent="0">
              <a:buNone/>
            </a:pPr>
            <a:endParaRPr lang="en-US" dirty="0"/>
          </a:p>
        </p:txBody>
      </p:sp>
      <p:grpSp>
        <p:nvGrpSpPr>
          <p:cNvPr id="9" name="Group 8">
            <a:extLst>
              <a:ext uri="{FF2B5EF4-FFF2-40B4-BE49-F238E27FC236}">
                <a16:creationId xmlns:a16="http://schemas.microsoft.com/office/drawing/2014/main" id="{D25D1F80-903D-4B1B-E374-0EC5CFB3F264}"/>
              </a:ext>
            </a:extLst>
          </p:cNvPr>
          <p:cNvGrpSpPr/>
          <p:nvPr/>
        </p:nvGrpSpPr>
        <p:grpSpPr>
          <a:xfrm>
            <a:off x="2919490" y="2403934"/>
            <a:ext cx="5691110" cy="3769853"/>
            <a:chOff x="2201798" y="2139001"/>
            <a:chExt cx="5691110" cy="3859807"/>
          </a:xfrm>
        </p:grpSpPr>
        <p:pic>
          <p:nvPicPr>
            <p:cNvPr id="6" name="Picture 5">
              <a:extLst>
                <a:ext uri="{FF2B5EF4-FFF2-40B4-BE49-F238E27FC236}">
                  <a16:creationId xmlns:a16="http://schemas.microsoft.com/office/drawing/2014/main" id="{806892FC-780D-6EEC-A3CD-F1BFFE55BDCA}"/>
                </a:ext>
              </a:extLst>
            </p:cNvPr>
            <p:cNvPicPr>
              <a:picLocks noChangeAspect="1"/>
            </p:cNvPicPr>
            <p:nvPr/>
          </p:nvPicPr>
          <p:blipFill>
            <a:blip r:embed="rId3"/>
            <a:stretch>
              <a:fillRect/>
            </a:stretch>
          </p:blipFill>
          <p:spPr>
            <a:xfrm>
              <a:off x="2763704" y="2139001"/>
              <a:ext cx="4567299" cy="3471497"/>
            </a:xfrm>
            <a:prstGeom prst="rect">
              <a:avLst/>
            </a:prstGeom>
          </p:spPr>
        </p:pic>
        <p:sp>
          <p:nvSpPr>
            <p:cNvPr id="8" name="TextBox 7">
              <a:extLst>
                <a:ext uri="{FF2B5EF4-FFF2-40B4-BE49-F238E27FC236}">
                  <a16:creationId xmlns:a16="http://schemas.microsoft.com/office/drawing/2014/main" id="{4E0B62EF-5FB6-4152-ED15-07239ABEBE5D}"/>
                </a:ext>
              </a:extLst>
            </p:cNvPr>
            <p:cNvSpPr txBox="1"/>
            <p:nvPr/>
          </p:nvSpPr>
          <p:spPr>
            <a:xfrm>
              <a:off x="2201798" y="5414033"/>
              <a:ext cx="5691110" cy="584775"/>
            </a:xfrm>
            <a:prstGeom prst="rect">
              <a:avLst/>
            </a:prstGeom>
            <a:noFill/>
          </p:spPr>
          <p:txBody>
            <a:bodyPr wrap="none" rtlCol="0">
              <a:spAutoFit/>
            </a:bodyPr>
            <a:lstStyle/>
            <a:p>
              <a:pPr algn="ctr"/>
              <a:r>
                <a:rPr lang="en-US" sz="1600" dirty="0"/>
                <a:t>Hand-drawn diagrams for pion decay modeled after diagram in</a:t>
              </a:r>
            </a:p>
            <a:p>
              <a:pPr algn="ctr"/>
              <a:r>
                <a:rPr lang="en-US" sz="1600" dirty="0"/>
                <a:t>Intro. to Particle Physics by Griffiths </a:t>
              </a:r>
            </a:p>
          </p:txBody>
        </p:sp>
      </p:grpSp>
      <p:sp>
        <p:nvSpPr>
          <p:cNvPr id="2" name="Title 1">
            <a:extLst>
              <a:ext uri="{FF2B5EF4-FFF2-40B4-BE49-F238E27FC236}">
                <a16:creationId xmlns:a16="http://schemas.microsoft.com/office/drawing/2014/main" id="{82B6842A-4AF3-C463-1DA5-7CE439317F3A}"/>
              </a:ext>
            </a:extLst>
          </p:cNvPr>
          <p:cNvSpPr>
            <a:spLocks noGrp="1"/>
          </p:cNvSpPr>
          <p:nvPr>
            <p:ph type="title"/>
          </p:nvPr>
        </p:nvSpPr>
        <p:spPr>
          <a:xfrm>
            <a:off x="0" y="0"/>
            <a:ext cx="10515600" cy="549275"/>
          </a:xfrm>
        </p:spPr>
        <p:txBody>
          <a:bodyPr>
            <a:normAutofit/>
          </a:bodyPr>
          <a:lstStyle/>
          <a:p>
            <a:r>
              <a:rPr lang="en-US" sz="2500" u="sng" dirty="0">
                <a:solidFill>
                  <a:srgbClr val="C00000"/>
                </a:solidFill>
              </a:rPr>
              <a:t>Production Target and Solenoid</a:t>
            </a:r>
          </a:p>
        </p:txBody>
      </p:sp>
      <p:pic>
        <p:nvPicPr>
          <p:cNvPr id="10" name="Picture 9" descr="A diagram of a diagram of a machine&#10;&#10;AI-generated content may be incorrect.">
            <a:extLst>
              <a:ext uri="{FF2B5EF4-FFF2-40B4-BE49-F238E27FC236}">
                <a16:creationId xmlns:a16="http://schemas.microsoft.com/office/drawing/2014/main" id="{13BE6AA5-31AA-1D5F-96B8-672FFE18ED8B}"/>
              </a:ext>
            </a:extLst>
          </p:cNvPr>
          <p:cNvPicPr>
            <a:picLocks noChangeAspect="1"/>
          </p:cNvPicPr>
          <p:nvPr/>
        </p:nvPicPr>
        <p:blipFill>
          <a:blip r:embed="rId4"/>
          <a:stretch>
            <a:fillRect/>
          </a:stretch>
        </p:blipFill>
        <p:spPr>
          <a:xfrm>
            <a:off x="4152900" y="37419"/>
            <a:ext cx="4457700" cy="6413500"/>
          </a:xfrm>
          <a:prstGeom prst="rect">
            <a:avLst/>
          </a:prstGeom>
        </p:spPr>
      </p:pic>
      <p:sp>
        <p:nvSpPr>
          <p:cNvPr id="11" name="TextBox 10">
            <a:extLst>
              <a:ext uri="{FF2B5EF4-FFF2-40B4-BE49-F238E27FC236}">
                <a16:creationId xmlns:a16="http://schemas.microsoft.com/office/drawing/2014/main" id="{656F1EC4-47EB-FDFA-C6FB-40C95E15B77E}"/>
              </a:ext>
            </a:extLst>
          </p:cNvPr>
          <p:cNvSpPr txBox="1"/>
          <p:nvPr/>
        </p:nvSpPr>
        <p:spPr>
          <a:xfrm>
            <a:off x="6337006" y="1309741"/>
            <a:ext cx="6220004" cy="1200329"/>
          </a:xfrm>
          <a:prstGeom prst="rect">
            <a:avLst/>
          </a:prstGeom>
          <a:noFill/>
        </p:spPr>
        <p:txBody>
          <a:bodyPr wrap="square" rtlCol="0">
            <a:spAutoFit/>
          </a:bodyPr>
          <a:lstStyle/>
          <a:p>
            <a:r>
              <a:rPr lang="en-US" dirty="0"/>
              <a:t>Magnetic field density plot of production solenoid (top)</a:t>
            </a:r>
          </a:p>
          <a:p>
            <a:r>
              <a:rPr lang="en-US" dirty="0"/>
              <a:t>Magnetic flux along magnet axis (bottom);</a:t>
            </a:r>
          </a:p>
          <a:p>
            <a:r>
              <a:rPr lang="en-US" dirty="0"/>
              <a:t>from the Conceptual Design of Mu2e Production Solenoid</a:t>
            </a:r>
          </a:p>
          <a:p>
            <a:r>
              <a:rPr lang="en-US" dirty="0"/>
              <a:t>put out by </a:t>
            </a:r>
            <a:r>
              <a:rPr lang="en-US" dirty="0" err="1"/>
              <a:t>Kashikhin</a:t>
            </a:r>
            <a:r>
              <a:rPr lang="en-US" dirty="0"/>
              <a:t> et al.</a:t>
            </a:r>
          </a:p>
        </p:txBody>
      </p:sp>
      <p:sp>
        <p:nvSpPr>
          <p:cNvPr id="4" name="Slide Number Placeholder 3">
            <a:extLst>
              <a:ext uri="{FF2B5EF4-FFF2-40B4-BE49-F238E27FC236}">
                <a16:creationId xmlns:a16="http://schemas.microsoft.com/office/drawing/2014/main" id="{7CACC558-0B92-AF15-46EF-D4EB6B1D8BBA}"/>
              </a:ext>
            </a:extLst>
          </p:cNvPr>
          <p:cNvSpPr>
            <a:spLocks noGrp="1"/>
          </p:cNvSpPr>
          <p:nvPr>
            <p:ph type="sldNum" sz="quarter" idx="12"/>
          </p:nvPr>
        </p:nvSpPr>
        <p:spPr/>
        <p:txBody>
          <a:bodyPr/>
          <a:lstStyle/>
          <a:p>
            <a:fld id="{C0E0CB54-3DBF-E947-906E-85E307CF7971}" type="slidenum">
              <a:rPr lang="en-US" smtClean="0"/>
              <a:t>52</a:t>
            </a:fld>
            <a:endParaRPr lang="en-US"/>
          </a:p>
        </p:txBody>
      </p:sp>
    </p:spTree>
    <p:extLst>
      <p:ext uri="{BB962C8B-B14F-4D97-AF65-F5344CB8AC3E}">
        <p14:creationId xmlns:p14="http://schemas.microsoft.com/office/powerpoint/2010/main" val="7176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9"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childTnLst>
                                </p:cTn>
                              </p:par>
                              <p:par>
                                <p:cTn id="22" presetID="1" presetClass="exit" presetSubtype="0" fill="hold" grpId="0" nodeType="withEffect">
                                  <p:stCondLst>
                                    <p:cond delay="0"/>
                                  </p:stCondLst>
                                  <p:childTnLst>
                                    <p:set>
                                      <p:cBhvr>
                                        <p:cTn id="23" dur="1" fill="hold">
                                          <p:stCondLst>
                                            <p:cond delay="0"/>
                                          </p:stCondLst>
                                        </p:cTn>
                                        <p:tgtEl>
                                          <p:spTgt spid="3">
                                            <p:txEl>
                                              <p:pRg st="0" end="0"/>
                                            </p:txEl>
                                          </p:spTgt>
                                        </p:tgtEl>
                                        <p:attrNameLst>
                                          <p:attrName>style.visibility</p:attrName>
                                        </p:attrNameLst>
                                      </p:cBhvr>
                                      <p:to>
                                        <p:strVal val="hidden"/>
                                      </p:to>
                                    </p:set>
                                  </p:childTnLst>
                                </p:cTn>
                              </p:par>
                              <p:par>
                                <p:cTn id="24" presetID="1" presetClass="exit" presetSubtype="0" fill="hold" grpId="0" nodeType="withEffect">
                                  <p:stCondLst>
                                    <p:cond delay="0"/>
                                  </p:stCondLst>
                                  <p:childTnLst>
                                    <p:set>
                                      <p:cBhvr>
                                        <p:cTn id="25" dur="1" fill="hold">
                                          <p:stCondLst>
                                            <p:cond delay="0"/>
                                          </p:stCondLst>
                                        </p:cTn>
                                        <p:tgtEl>
                                          <p:spTgt spid="3">
                                            <p:txEl>
                                              <p:pRg st="1" end="1"/>
                                            </p:txEl>
                                          </p:spTgt>
                                        </p:tgtEl>
                                        <p:attrNameLst>
                                          <p:attrName>style.visibility</p:attrName>
                                        </p:attrNameLst>
                                      </p:cBhvr>
                                      <p:to>
                                        <p:strVal val="hidden"/>
                                      </p:to>
                                    </p:set>
                                  </p:childTnLst>
                                </p:cTn>
                              </p:par>
                              <p:par>
                                <p:cTn id="26" presetID="1" presetClass="exit" presetSubtype="0" fill="hold" grpId="0" nodeType="withEffect">
                                  <p:stCondLst>
                                    <p:cond delay="0"/>
                                  </p:stCondLst>
                                  <p:childTnLst>
                                    <p:set>
                                      <p:cBhvr>
                                        <p:cTn id="27" dur="1" fill="hold">
                                          <p:stCondLst>
                                            <p:cond delay="0"/>
                                          </p:stCondLst>
                                        </p:cTn>
                                        <p:tgtEl>
                                          <p:spTgt spid="3">
                                            <p:txEl>
                                              <p:pRg st="2" end="2"/>
                                            </p:txEl>
                                          </p:spTgt>
                                        </p:tgtEl>
                                        <p:attrNameLst>
                                          <p:attrName>style.visibility</p:attrName>
                                        </p:attrNameLst>
                                      </p:cBhvr>
                                      <p:to>
                                        <p:strVal val="hidden"/>
                                      </p:to>
                                    </p:set>
                                  </p:childTnLst>
                                </p:cTn>
                              </p:par>
                              <p:par>
                                <p:cTn id="28" presetID="1" presetClass="exit" presetSubtype="0" fill="hold" grpId="0"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9"/>
                                        </p:tgtEl>
                                        <p:attrNameLst>
                                          <p:attrName>style.visibility</p:attrName>
                                        </p:attrNameLst>
                                      </p:cBhvr>
                                      <p:to>
                                        <p:strVal val="hidden"/>
                                      </p:to>
                                    </p:set>
                                  </p:childTnLst>
                                </p:cTn>
                              </p:par>
                              <p:par>
                                <p:cTn id="32" presetID="9"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par>
                                <p:cTn id="35" presetID="9"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dissolv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80B09-F1DB-D062-359B-9B0840D84550}"/>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C05B921-9106-D0A7-610E-BC9F925F2E85}"/>
              </a:ext>
            </a:extLst>
          </p:cNvPr>
          <p:cNvGrpSpPr/>
          <p:nvPr/>
        </p:nvGrpSpPr>
        <p:grpSpPr>
          <a:xfrm>
            <a:off x="6667392" y="391619"/>
            <a:ext cx="4953215" cy="6252562"/>
            <a:chOff x="3059605" y="0"/>
            <a:chExt cx="4953215" cy="6252562"/>
          </a:xfrm>
        </p:grpSpPr>
        <p:pic>
          <p:nvPicPr>
            <p:cNvPr id="6" name="Picture 5">
              <a:extLst>
                <a:ext uri="{FF2B5EF4-FFF2-40B4-BE49-F238E27FC236}">
                  <a16:creationId xmlns:a16="http://schemas.microsoft.com/office/drawing/2014/main" id="{C6F75DF5-94BD-99E3-389B-52C8E2E7904B}"/>
                </a:ext>
              </a:extLst>
            </p:cNvPr>
            <p:cNvPicPr>
              <a:picLocks noChangeAspect="1"/>
            </p:cNvPicPr>
            <p:nvPr/>
          </p:nvPicPr>
          <p:blipFill>
            <a:blip r:embed="rId3"/>
            <a:stretch>
              <a:fillRect/>
            </a:stretch>
          </p:blipFill>
          <p:spPr>
            <a:xfrm>
              <a:off x="3423397" y="0"/>
              <a:ext cx="4225632" cy="5421565"/>
            </a:xfrm>
            <a:prstGeom prst="rect">
              <a:avLst/>
            </a:prstGeom>
          </p:spPr>
        </p:pic>
        <p:sp>
          <p:nvSpPr>
            <p:cNvPr id="8" name="TextBox 7">
              <a:extLst>
                <a:ext uri="{FF2B5EF4-FFF2-40B4-BE49-F238E27FC236}">
                  <a16:creationId xmlns:a16="http://schemas.microsoft.com/office/drawing/2014/main" id="{FDD5EA45-EA6A-5803-2875-E51E658D86FD}"/>
                </a:ext>
              </a:extLst>
            </p:cNvPr>
            <p:cNvSpPr txBox="1"/>
            <p:nvPr/>
          </p:nvSpPr>
          <p:spPr>
            <a:xfrm>
              <a:off x="3059605" y="5421565"/>
              <a:ext cx="4953215" cy="830997"/>
            </a:xfrm>
            <a:prstGeom prst="rect">
              <a:avLst/>
            </a:prstGeom>
            <a:noFill/>
          </p:spPr>
          <p:txBody>
            <a:bodyPr wrap="square" rtlCol="0">
              <a:spAutoFit/>
            </a:bodyPr>
            <a:lstStyle/>
            <a:p>
              <a:pPr algn="ctr"/>
              <a:r>
                <a:rPr lang="en-US" sz="1600" dirty="0"/>
                <a:t>Installed Transport Solenoid in the Mu2e Pit</a:t>
              </a:r>
            </a:p>
            <a:p>
              <a:pPr algn="ctr"/>
              <a:r>
                <a:rPr lang="en-US" sz="1600" dirty="0"/>
                <a:t>from the status updated published by Stefano Miscetti</a:t>
              </a:r>
            </a:p>
            <a:p>
              <a:pPr algn="ctr"/>
              <a:r>
                <a:rPr lang="en-US" sz="1600" dirty="0"/>
                <a:t>and the Mu2e Collaboration (2025)</a:t>
              </a:r>
            </a:p>
          </p:txBody>
        </p:sp>
      </p:grpSp>
      <p:sp>
        <p:nvSpPr>
          <p:cNvPr id="2" name="Title 1">
            <a:extLst>
              <a:ext uri="{FF2B5EF4-FFF2-40B4-BE49-F238E27FC236}">
                <a16:creationId xmlns:a16="http://schemas.microsoft.com/office/drawing/2014/main" id="{752E720B-F1FF-4C28-4E3A-EC869B0001D6}"/>
              </a:ext>
            </a:extLst>
          </p:cNvPr>
          <p:cNvSpPr>
            <a:spLocks noGrp="1"/>
          </p:cNvSpPr>
          <p:nvPr>
            <p:ph type="title"/>
          </p:nvPr>
        </p:nvSpPr>
        <p:spPr>
          <a:xfrm>
            <a:off x="0" y="0"/>
            <a:ext cx="10515600" cy="549275"/>
          </a:xfrm>
        </p:spPr>
        <p:txBody>
          <a:bodyPr>
            <a:normAutofit/>
          </a:bodyPr>
          <a:lstStyle/>
          <a:p>
            <a:r>
              <a:rPr lang="en-US" sz="2500" u="sng" dirty="0">
                <a:solidFill>
                  <a:srgbClr val="C00000"/>
                </a:solidFill>
              </a:rPr>
              <a:t>Transport Solenoid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9B5243-4BEB-D013-216C-A433CC2B549E}"/>
                  </a:ext>
                </a:extLst>
              </p:cNvPr>
              <p:cNvSpPr>
                <a:spLocks noGrp="1"/>
              </p:cNvSpPr>
              <p:nvPr>
                <p:ph idx="1"/>
              </p:nvPr>
            </p:nvSpPr>
            <p:spPr>
              <a:xfrm>
                <a:off x="838200" y="767443"/>
                <a:ext cx="10515600" cy="5409520"/>
              </a:xfrm>
            </p:spPr>
            <p:txBody>
              <a:bodyPr/>
              <a:lstStyle/>
              <a:p>
                <a:r>
                  <a:rPr lang="en-US" dirty="0"/>
                  <a:t>S-shaped structure serves three major functions</a:t>
                </a:r>
              </a:p>
              <a:p>
                <a:pPr lvl="1"/>
                <a:r>
                  <a:rPr lang="en-US" dirty="0"/>
                  <a:t>Allows for the selection of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rPr>
                          <m:t>−</m:t>
                        </m:r>
                      </m:sup>
                    </m:sSup>
                  </m:oMath>
                </a14:m>
                <a:r>
                  <a:rPr lang="en-US" dirty="0"/>
                  <a:t> vs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rPr>
                          <m:t>+</m:t>
                        </m:r>
                      </m:sup>
                    </m:sSup>
                  </m:oMath>
                </a14:m>
                <a:endParaRPr lang="en-US" dirty="0"/>
              </a:p>
              <a:p>
                <a:pPr lvl="2"/>
                <a:r>
                  <a:rPr lang="en-US" dirty="0"/>
                  <a:t>Vertical deviation from the path differs between positive and negative charges</a:t>
                </a:r>
              </a:p>
              <a:p>
                <a:pPr lvl="3"/>
                <a:r>
                  <a:rPr lang="en-US" dirty="0"/>
                  <a:t>Particle drift in solenoidal field </a:t>
                </a:r>
                <a:r>
                  <a:rPr lang="en-US" dirty="0">
                    <a:sym typeface="Wingdings" pitchFamily="2" charset="2"/>
                  </a:rPr>
                  <a:t> Jackson E&amp;M Problem 5.2</a:t>
                </a:r>
                <a:endParaRPr lang="en-US" dirty="0"/>
              </a:p>
              <a:p>
                <a:pPr lvl="2"/>
                <a:r>
                  <a:rPr lang="en-US" dirty="0"/>
                  <a:t>Orient magnetic fields to only allow negative muons from the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m:t>
                        </m:r>
                      </m:sup>
                    </m:sSup>
                  </m:oMath>
                </a14:m>
                <a:r>
                  <a:rPr lang="en-US" dirty="0"/>
                  <a:t> decays</a:t>
                </a:r>
              </a:p>
              <a:p>
                <a:pPr lvl="1"/>
                <a:r>
                  <a:rPr lang="en-US" dirty="0"/>
                  <a:t> Prevents the accumulation of photons created from proton collision</a:t>
                </a:r>
              </a:p>
              <a:p>
                <a:pPr lvl="2"/>
                <a:r>
                  <a:rPr lang="en-US" dirty="0"/>
                  <a:t>Uncharged particles without moments do not bend in presence of magnetic field</a:t>
                </a:r>
              </a:p>
              <a:p>
                <a:pPr lvl="2"/>
                <a:r>
                  <a:rPr lang="en-US" dirty="0"/>
                  <a:t>go directly into the wall of the solenoid at bend</a:t>
                </a:r>
              </a:p>
              <a:p>
                <a:pPr lvl="1"/>
                <a:r>
                  <a:rPr lang="en-US" dirty="0"/>
                  <a:t>Particles with too large a momentum will hit solenoid walls and not make it into the detector</a:t>
                </a:r>
              </a:p>
              <a:p>
                <a:pPr lvl="2"/>
                <a:r>
                  <a:rPr lang="en-US" dirty="0"/>
                  <a:t>too large a radius of gyration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type m:val="skw"/>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m:t>
                            </m:r>
                          </m:sub>
                        </m:sSub>
                      </m:num>
                      <m:den>
                        <m:r>
                          <a:rPr lang="en-US" b="0" i="1" smtClean="0">
                            <a:latin typeface="Cambria Math" panose="02040503050406030204" pitchFamily="18" charset="0"/>
                          </a:rPr>
                          <m:t>0.3</m:t>
                        </m:r>
                        <m:r>
                          <a:rPr lang="en-US" b="0" i="1" smtClean="0">
                            <a:latin typeface="Cambria Math" panose="02040503050406030204" pitchFamily="18" charset="0"/>
                          </a:rPr>
                          <m:t>𝐵</m:t>
                        </m:r>
                      </m:den>
                    </m:f>
                  </m:oMath>
                </a14:m>
                <a:endParaRPr lang="en-US" dirty="0"/>
              </a:p>
              <a:p>
                <a:pPr lvl="2"/>
                <a:r>
                  <a:rPr lang="en-US" dirty="0"/>
                  <a:t>also true for a straight solenoid, but exaggerated effects in the S shape</a:t>
                </a:r>
              </a:p>
            </p:txBody>
          </p:sp>
        </mc:Choice>
        <mc:Fallback xmlns="">
          <p:sp>
            <p:nvSpPr>
              <p:cNvPr id="3" name="Content Placeholder 2">
                <a:extLst>
                  <a:ext uri="{FF2B5EF4-FFF2-40B4-BE49-F238E27FC236}">
                    <a16:creationId xmlns:a16="http://schemas.microsoft.com/office/drawing/2014/main" id="{C09B5243-4BEB-D013-216C-A433CC2B549E}"/>
                  </a:ext>
                </a:extLst>
              </p:cNvPr>
              <p:cNvSpPr>
                <a:spLocks noGrp="1" noRot="1" noChangeAspect="1" noMove="1" noResize="1" noEditPoints="1" noAdjustHandles="1" noChangeArrowheads="1" noChangeShapeType="1" noTextEdit="1"/>
              </p:cNvSpPr>
              <p:nvPr>
                <p:ph idx="1"/>
              </p:nvPr>
            </p:nvSpPr>
            <p:spPr>
              <a:xfrm>
                <a:off x="838200" y="767443"/>
                <a:ext cx="10515600" cy="5409520"/>
              </a:xfrm>
              <a:blipFill>
                <a:blip r:embed="rId4"/>
                <a:stretch>
                  <a:fillRect l="-1086" t="-1874" r="-12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A6F0AA3-F8C8-CE31-B53D-3EBD7103F436}"/>
              </a:ext>
            </a:extLst>
          </p:cNvPr>
          <p:cNvSpPr>
            <a:spLocks noGrp="1"/>
          </p:cNvSpPr>
          <p:nvPr>
            <p:ph type="sldNum" sz="quarter" idx="12"/>
          </p:nvPr>
        </p:nvSpPr>
        <p:spPr/>
        <p:txBody>
          <a:bodyPr/>
          <a:lstStyle/>
          <a:p>
            <a:fld id="{C0E0CB54-3DBF-E947-906E-85E307CF7971}" type="slidenum">
              <a:rPr lang="en-US" smtClean="0"/>
              <a:t>53</a:t>
            </a:fld>
            <a:endParaRPr lang="en-US"/>
          </a:p>
        </p:txBody>
      </p:sp>
    </p:spTree>
    <p:extLst>
      <p:ext uri="{BB962C8B-B14F-4D97-AF65-F5344CB8AC3E}">
        <p14:creationId xmlns:p14="http://schemas.microsoft.com/office/powerpoint/2010/main" val="59861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3">
                                            <p:txEl>
                                              <p:pRg st="1" end="1"/>
                                            </p:txEl>
                                          </p:spTgt>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3">
                                            <p:txEl>
                                              <p:pRg st="2" end="2"/>
                                            </p:txEl>
                                          </p:spTgt>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3">
                                            <p:txEl>
                                              <p:pRg st="4" end="4"/>
                                            </p:txEl>
                                          </p:spTgt>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3">
                                            <p:txEl>
                                              <p:pRg st="5" end="5"/>
                                            </p:txEl>
                                          </p:spTgt>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3">
                                            <p:txEl>
                                              <p:pRg st="6" end="6"/>
                                            </p:txEl>
                                          </p:spTgt>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3">
                                            <p:txEl>
                                              <p:pRg st="7" end="7"/>
                                            </p:txEl>
                                          </p:spTgt>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3">
                                            <p:txEl>
                                              <p:pRg st="9" end="9"/>
                                            </p:txEl>
                                          </p:spTgt>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hidden"/>
                                      </p:to>
                                    </p:set>
                                  </p:childTnLst>
                                </p:cTn>
                              </p:par>
                              <p:par>
                                <p:cTn id="57" presetID="9"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dissolve">
                                      <p:cBhvr>
                                        <p:cTn id="5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102D0-315B-2E3F-FDC3-0318EA26EC3B}"/>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FC78F881-F8C5-3BD3-B237-855FF2FECEFD}"/>
              </a:ext>
            </a:extLst>
          </p:cNvPr>
          <p:cNvGrpSpPr/>
          <p:nvPr/>
        </p:nvGrpSpPr>
        <p:grpSpPr>
          <a:xfrm>
            <a:off x="4902200" y="274637"/>
            <a:ext cx="7917173" cy="5723841"/>
            <a:chOff x="2137413" y="588056"/>
            <a:chExt cx="7917173" cy="5723841"/>
          </a:xfrm>
        </p:grpSpPr>
        <p:pic>
          <p:nvPicPr>
            <p:cNvPr id="6" name="Picture 5" descr="A diagram of a blue and green circle&#10;&#10;AI-generated content may be incorrect.">
              <a:extLst>
                <a:ext uri="{FF2B5EF4-FFF2-40B4-BE49-F238E27FC236}">
                  <a16:creationId xmlns:a16="http://schemas.microsoft.com/office/drawing/2014/main" id="{8EE7EE83-BB4D-2973-AB9E-DEE971C280BC}"/>
                </a:ext>
              </a:extLst>
            </p:cNvPr>
            <p:cNvPicPr>
              <a:picLocks noChangeAspect="1"/>
            </p:cNvPicPr>
            <p:nvPr/>
          </p:nvPicPr>
          <p:blipFill>
            <a:blip r:embed="rId3"/>
            <a:stretch>
              <a:fillRect/>
            </a:stretch>
          </p:blipFill>
          <p:spPr>
            <a:xfrm>
              <a:off x="2137413" y="588056"/>
              <a:ext cx="7917173" cy="5361895"/>
            </a:xfrm>
            <a:prstGeom prst="rect">
              <a:avLst/>
            </a:prstGeom>
          </p:spPr>
        </p:pic>
        <p:sp>
          <p:nvSpPr>
            <p:cNvPr id="8" name="TextBox 7">
              <a:extLst>
                <a:ext uri="{FF2B5EF4-FFF2-40B4-BE49-F238E27FC236}">
                  <a16:creationId xmlns:a16="http://schemas.microsoft.com/office/drawing/2014/main" id="{6BB118F8-FDD3-E250-7B8C-E6ABE83A59BD}"/>
                </a:ext>
              </a:extLst>
            </p:cNvPr>
            <p:cNvSpPr txBox="1"/>
            <p:nvPr/>
          </p:nvSpPr>
          <p:spPr>
            <a:xfrm>
              <a:off x="2281076" y="5665566"/>
              <a:ext cx="7629846" cy="646331"/>
            </a:xfrm>
            <a:prstGeom prst="rect">
              <a:avLst/>
            </a:prstGeom>
            <a:noFill/>
          </p:spPr>
          <p:txBody>
            <a:bodyPr wrap="none" rtlCol="0">
              <a:spAutoFit/>
            </a:bodyPr>
            <a:lstStyle/>
            <a:p>
              <a:r>
                <a:rPr lang="en-US" dirty="0"/>
                <a:t>Simulated electron production for a mixed signal dataset constructed using</a:t>
              </a:r>
            </a:p>
            <a:p>
              <a:r>
                <a:rPr lang="en-US" dirty="0"/>
                <a:t>Geant4 simulation in Mu2e Geometry. Shaded region is the stopping target </a:t>
              </a:r>
            </a:p>
          </p:txBody>
        </p:sp>
      </p:grpSp>
      <p:sp>
        <p:nvSpPr>
          <p:cNvPr id="2" name="Title 1">
            <a:extLst>
              <a:ext uri="{FF2B5EF4-FFF2-40B4-BE49-F238E27FC236}">
                <a16:creationId xmlns:a16="http://schemas.microsoft.com/office/drawing/2014/main" id="{759DC644-3C98-8BE8-FDAA-EEB6FDC9FC6F}"/>
              </a:ext>
            </a:extLst>
          </p:cNvPr>
          <p:cNvSpPr>
            <a:spLocks noGrp="1"/>
          </p:cNvSpPr>
          <p:nvPr>
            <p:ph type="title"/>
          </p:nvPr>
        </p:nvSpPr>
        <p:spPr>
          <a:xfrm>
            <a:off x="0" y="0"/>
            <a:ext cx="10515600" cy="549275"/>
          </a:xfrm>
        </p:spPr>
        <p:txBody>
          <a:bodyPr>
            <a:normAutofit/>
          </a:bodyPr>
          <a:lstStyle/>
          <a:p>
            <a:r>
              <a:rPr lang="en-US" sz="2500" u="sng" dirty="0">
                <a:solidFill>
                  <a:srgbClr val="C00000"/>
                </a:solidFill>
              </a:rPr>
              <a:t>Stopping Target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CA8565-15D4-8B5C-2CB0-2FAE7064528F}"/>
                  </a:ext>
                </a:extLst>
              </p:cNvPr>
              <p:cNvSpPr>
                <a:spLocks noGrp="1"/>
              </p:cNvSpPr>
              <p:nvPr>
                <p:ph idx="1"/>
              </p:nvPr>
            </p:nvSpPr>
            <p:spPr>
              <a:xfrm>
                <a:off x="838200" y="584884"/>
                <a:ext cx="10515600" cy="5409520"/>
              </a:xfrm>
            </p:spPr>
            <p:txBody>
              <a:bodyPr>
                <a:normAutofit fontScale="92500" lnSpcReduction="10000"/>
              </a:bodyPr>
              <a:lstStyle/>
              <a:p>
                <a:r>
                  <a:rPr lang="en-US" dirty="0"/>
                  <a:t>Inside the stopping target, the muon knocks out an electron bound to an aluminum atom and sits in the k-shell</a:t>
                </a:r>
              </a:p>
              <a:p>
                <a:pPr lvl="1"/>
                <a:r>
                  <a:rPr lang="en-US" dirty="0"/>
                  <a:t>the K shell is the innermost nuclear shell of an atom, containing only an s-orbital</a:t>
                </a:r>
              </a:p>
              <a:p>
                <a:pPr lvl="1"/>
                <a:r>
                  <a:rPr lang="en-US" dirty="0"/>
                  <a:t>being 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it can only have 2 spin ½ particles in it</a:t>
                </a:r>
              </a:p>
              <a:p>
                <a:pPr lvl="1"/>
                <a:r>
                  <a:rPr lang="en-US" dirty="0"/>
                  <a:t>Increase in the mass of the orbiting lepton draws the radius of this atom in closer to the nucleus (smaller Bohr radius if it were a hydrogen atom)</a:t>
                </a:r>
              </a:p>
              <a:p>
                <a:pPr lvl="1"/>
                <a:r>
                  <a:rPr lang="en-US" dirty="0"/>
                  <a:t>Aluminum nucleus has </a:t>
                </a:r>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=13</m:t>
                    </m:r>
                  </m:oMath>
                </a14:m>
                <a:endParaRPr lang="en-US" dirty="0"/>
              </a:p>
              <a:p>
                <a:r>
                  <a:rPr lang="en-US" dirty="0"/>
                  <a:t>168 grams of 99.99% aluminum</a:t>
                </a:r>
              </a:p>
              <a:p>
                <a:r>
                  <a:rPr lang="en-US" dirty="0"/>
                  <a:t>Annular construction: minimize damage of stopping target as products pass to beam dump </a:t>
                </a:r>
              </a:p>
              <a:p>
                <a:r>
                  <a:rPr lang="en-US" dirty="0"/>
                  <a:t>Muons sit in the potential of the aluminum nucleus and decay after a lifetime of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ea typeface="Cambria Math" panose="02040503050406030204" pitchFamily="18" charset="0"/>
                      </a:rPr>
                      <m:t>=864</m:t>
                    </m:r>
                  </m:oMath>
                </a14:m>
                <a:r>
                  <a:rPr lang="en-US" dirty="0"/>
                  <a:t> ns (compared to the 2.2 </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t>s lifetime of a free muon)</a:t>
                </a:r>
              </a:p>
              <a:p>
                <a:pPr lvl="1"/>
                <a:r>
                  <a:rPr lang="en-US" dirty="0"/>
                  <a:t>electrons produced during this decay are monoenergetic with a conversion signature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𝐶𝐸</m:t>
                        </m:r>
                      </m:sub>
                    </m:sSub>
                    <m:r>
                      <a:rPr lang="en-US" b="0" i="1" smtClean="0">
                        <a:latin typeface="Cambria Math" panose="02040503050406030204" pitchFamily="18" charset="0"/>
                      </a:rPr>
                      <m:t>=104.97</m:t>
                    </m:r>
                  </m:oMath>
                </a14:m>
                <a:r>
                  <a:rPr lang="en-US" dirty="0"/>
                  <a:t> MeV</a:t>
                </a:r>
              </a:p>
              <a:p>
                <a:endParaRPr lang="en-US" dirty="0"/>
              </a:p>
            </p:txBody>
          </p:sp>
        </mc:Choice>
        <mc:Fallback xmlns="">
          <p:sp>
            <p:nvSpPr>
              <p:cNvPr id="3" name="Content Placeholder 2">
                <a:extLst>
                  <a:ext uri="{FF2B5EF4-FFF2-40B4-BE49-F238E27FC236}">
                    <a16:creationId xmlns:a16="http://schemas.microsoft.com/office/drawing/2014/main" id="{03CA8565-15D4-8B5C-2CB0-2FAE7064528F}"/>
                  </a:ext>
                </a:extLst>
              </p:cNvPr>
              <p:cNvSpPr>
                <a:spLocks noGrp="1" noRot="1" noChangeAspect="1" noMove="1" noResize="1" noEditPoints="1" noAdjustHandles="1" noChangeArrowheads="1" noChangeShapeType="1" noTextEdit="1"/>
              </p:cNvSpPr>
              <p:nvPr>
                <p:ph idx="1"/>
              </p:nvPr>
            </p:nvSpPr>
            <p:spPr>
              <a:xfrm>
                <a:off x="838200" y="584884"/>
                <a:ext cx="10515600" cy="5409520"/>
              </a:xfrm>
              <a:blipFill>
                <a:blip r:embed="rId4"/>
                <a:stretch>
                  <a:fillRect l="-965" t="-2347" r="-48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9C5F5DA-64E0-8D01-62D3-9A954D8F84B7}"/>
              </a:ext>
            </a:extLst>
          </p:cNvPr>
          <p:cNvSpPr>
            <a:spLocks noGrp="1"/>
          </p:cNvSpPr>
          <p:nvPr>
            <p:ph type="sldNum" sz="quarter" idx="12"/>
          </p:nvPr>
        </p:nvSpPr>
        <p:spPr/>
        <p:txBody>
          <a:bodyPr/>
          <a:lstStyle/>
          <a:p>
            <a:fld id="{C0E0CB54-3DBF-E947-906E-85E307CF7971}" type="slidenum">
              <a:rPr lang="en-US" smtClean="0"/>
              <a:t>54</a:t>
            </a:fld>
            <a:endParaRPr lang="en-US"/>
          </a:p>
        </p:txBody>
      </p:sp>
    </p:spTree>
    <p:extLst>
      <p:ext uri="{BB962C8B-B14F-4D97-AF65-F5344CB8AC3E}">
        <p14:creationId xmlns:p14="http://schemas.microsoft.com/office/powerpoint/2010/main" val="59807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3">
                                            <p:txEl>
                                              <p:pRg st="1" end="1"/>
                                            </p:txEl>
                                          </p:spTgt>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hidden"/>
                                      </p:to>
                                    </p:set>
                                  </p:childTnLst>
                                </p:cTn>
                              </p:par>
                              <p:par>
                                <p:cTn id="39" presetID="9"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dissolv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nodeType="clickEffect">
                                  <p:stCondLst>
                                    <p:cond delay="0"/>
                                  </p:stCondLst>
                                  <p:childTnLst>
                                    <p:set>
                                      <p:cBhvr>
                                        <p:cTn id="45" dur="1" fill="hold">
                                          <p:stCondLst>
                                            <p:cond delay="0"/>
                                          </p:stCondLst>
                                        </p:cTn>
                                        <p:tgtEl>
                                          <p:spTgt spid="9"/>
                                        </p:tgtEl>
                                        <p:attrNameLst>
                                          <p:attrName>style.visibility</p:attrName>
                                        </p:attrNameLst>
                                      </p:cBhvr>
                                      <p:to>
                                        <p:strVal val="hidden"/>
                                      </p:to>
                                    </p:set>
                                  </p:childTnLst>
                                </p:cTn>
                              </p:par>
                              <p:par>
                                <p:cTn id="46" presetID="1" presetClass="entr" presetSubtype="0" fill="hold" nodeType="withEffect">
                                  <p:stCondLst>
                                    <p:cond delay="0"/>
                                  </p:stCondLst>
                                  <p:childTnLst>
                                    <p:set>
                                      <p:cBhvr>
                                        <p:cTn id="47" dur="1" fill="hold">
                                          <p:stCondLst>
                                            <p:cond delay="0"/>
                                          </p:stCondLst>
                                        </p:cTn>
                                        <p:tgtEl>
                                          <p:spTgt spid="3">
                                            <p:txEl>
                                              <p:pRg st="0" end="0"/>
                                            </p:txEl>
                                          </p:spTgt>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3">
                                            <p:txEl>
                                              <p:pRg st="1" end="1"/>
                                            </p:txEl>
                                          </p:spTgt>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3">
                                            <p:txEl>
                                              <p:pRg st="2" end="2"/>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3">
                                            <p:txEl>
                                              <p:pRg st="4" end="4"/>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3">
                                            <p:txEl>
                                              <p:pRg st="5" end="5"/>
                                            </p:txEl>
                                          </p:spTgt>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
                                            <p:txEl>
                                              <p:pRg st="6" end="6"/>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ED7B9-6F8F-C5E2-E915-58FFC92CC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18718-3695-EDB5-0B0E-3D60386B856E}"/>
              </a:ext>
            </a:extLst>
          </p:cNvPr>
          <p:cNvSpPr>
            <a:spLocks noGrp="1"/>
          </p:cNvSpPr>
          <p:nvPr>
            <p:ph type="title"/>
          </p:nvPr>
        </p:nvSpPr>
        <p:spPr>
          <a:xfrm>
            <a:off x="0" y="0"/>
            <a:ext cx="10515600" cy="646331"/>
          </a:xfrm>
        </p:spPr>
        <p:txBody>
          <a:bodyPr>
            <a:normAutofit/>
          </a:bodyPr>
          <a:lstStyle/>
          <a:p>
            <a:r>
              <a:rPr lang="en-US" sz="2500" u="sng" dirty="0">
                <a:solidFill>
                  <a:srgbClr val="C00000"/>
                </a:solidFill>
              </a:rPr>
              <a:t>Tracker</a:t>
            </a:r>
          </a:p>
        </p:txBody>
      </p:sp>
      <p:pic>
        <p:nvPicPr>
          <p:cNvPr id="6" name="Content Placeholder 5">
            <a:extLst>
              <a:ext uri="{FF2B5EF4-FFF2-40B4-BE49-F238E27FC236}">
                <a16:creationId xmlns:a16="http://schemas.microsoft.com/office/drawing/2014/main" id="{33C385F1-54B4-610D-E698-CCF7DD67961D}"/>
              </a:ext>
            </a:extLst>
          </p:cNvPr>
          <p:cNvPicPr>
            <a:picLocks noGrp="1" noChangeAspect="1"/>
          </p:cNvPicPr>
          <p:nvPr>
            <p:ph idx="1"/>
          </p:nvPr>
        </p:nvPicPr>
        <p:blipFill>
          <a:blip r:embed="rId3"/>
          <a:stretch>
            <a:fillRect/>
          </a:stretch>
        </p:blipFill>
        <p:spPr>
          <a:xfrm>
            <a:off x="1268670" y="6351"/>
            <a:ext cx="5727691" cy="5660308"/>
          </a:xfrm>
        </p:spPr>
      </p:pic>
      <p:sp>
        <p:nvSpPr>
          <p:cNvPr id="3" name="TextBox 2">
            <a:extLst>
              <a:ext uri="{FF2B5EF4-FFF2-40B4-BE49-F238E27FC236}">
                <a16:creationId xmlns:a16="http://schemas.microsoft.com/office/drawing/2014/main" id="{2A6CBD2E-0B16-77DB-064B-618AE7C10759}"/>
              </a:ext>
            </a:extLst>
          </p:cNvPr>
          <p:cNvSpPr txBox="1"/>
          <p:nvPr/>
        </p:nvSpPr>
        <p:spPr>
          <a:xfrm>
            <a:off x="0" y="539101"/>
            <a:ext cx="12192000" cy="6401753"/>
          </a:xfrm>
          <a:prstGeom prst="rect">
            <a:avLst/>
          </a:prstGeom>
          <a:noFill/>
        </p:spPr>
        <p:txBody>
          <a:bodyPr wrap="square" rtlCol="0">
            <a:spAutoFit/>
          </a:bodyPr>
          <a:lstStyle/>
          <a:p>
            <a:pPr marL="285750" indent="-285750">
              <a:buFont typeface="Arial" panose="020B0604020202020204" pitchFamily="34" charset="0"/>
              <a:buChar char="•"/>
            </a:pPr>
            <a:r>
              <a:rPr lang="en-US" sz="2800" dirty="0"/>
              <a:t>18 tiers of the tracker centered along the beam axis</a:t>
            </a:r>
          </a:p>
          <a:p>
            <a:pPr marL="742950" lvl="1" indent="-285750">
              <a:buFont typeface="Arial" panose="020B0604020202020204" pitchFamily="34" charset="0"/>
              <a:buChar char="•"/>
            </a:pPr>
            <a:r>
              <a:rPr lang="en-US" sz="2800" dirty="0"/>
              <a:t>each tier has 2 planes rotated 30 degrees between each other</a:t>
            </a:r>
          </a:p>
          <a:p>
            <a:pPr marL="742950" lvl="1" indent="-285750">
              <a:buFont typeface="Arial" panose="020B0604020202020204" pitchFamily="34" charset="0"/>
              <a:buChar char="•"/>
            </a:pPr>
            <a:r>
              <a:rPr lang="en-US" sz="2800" dirty="0"/>
              <a:t>each contains array of straw tubes filled with 80:20 split of argon:CO2 gas for the drift gas</a:t>
            </a:r>
          </a:p>
          <a:p>
            <a:pPr marL="1200150" lvl="2" indent="-285750">
              <a:buFont typeface="Arial" panose="020B0604020202020204" pitchFamily="34" charset="0"/>
              <a:buChar char="•"/>
            </a:pPr>
            <a:r>
              <a:rPr lang="en-US" sz="2800" dirty="0"/>
              <a:t>when a charged particle passes through the gas, the gas ionizes, creating a voltage difference measurable by the electronics of the system</a:t>
            </a:r>
          </a:p>
          <a:p>
            <a:pPr marL="1200150" lvl="2" indent="-285750">
              <a:buFont typeface="Arial" panose="020B0604020202020204" pitchFamily="34" charset="0"/>
              <a:buChar char="•"/>
            </a:pPr>
            <a:r>
              <a:rPr lang="en-US" sz="2800" dirty="0"/>
              <a:t>total of 20,736 straw tubes</a:t>
            </a:r>
          </a:p>
          <a:p>
            <a:pPr marL="285750" indent="-285750">
              <a:buFont typeface="Arial" panose="020B0604020202020204" pitchFamily="34" charset="0"/>
              <a:buChar char="•"/>
            </a:pPr>
            <a:r>
              <a:rPr lang="en-US" sz="2800" dirty="0"/>
              <a:t>Allows for the determining of path by following the discharge of straws during each detected event</a:t>
            </a:r>
          </a:p>
          <a:p>
            <a:pPr marL="742950" lvl="1" indent="-285750">
              <a:buFont typeface="Arial" panose="020B0604020202020204" pitchFamily="34" charset="0"/>
              <a:buChar char="•"/>
            </a:pPr>
            <a:r>
              <a:rPr lang="en-US" sz="2800" dirty="0"/>
              <a:t>eventually (in conjunction with the next apparatus) allows for reconstruction of the path taken by each event particle</a:t>
            </a:r>
          </a:p>
          <a:p>
            <a:pPr marL="285750" indent="-285750">
              <a:buFont typeface="Arial" panose="020B0604020202020204" pitchFamily="34" charset="0"/>
              <a:buChar char="•"/>
            </a:pPr>
            <a:r>
              <a:rPr lang="en-US" sz="2800" dirty="0"/>
              <a:t>Small resolution and minimum energy loss decreases effect of DIO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895C49BE-2D70-7AB6-ACC9-FC560B72CCE9}"/>
              </a:ext>
            </a:extLst>
          </p:cNvPr>
          <p:cNvSpPr txBox="1"/>
          <p:nvPr/>
        </p:nvSpPr>
        <p:spPr>
          <a:xfrm>
            <a:off x="7272455" y="347881"/>
            <a:ext cx="4643451" cy="923330"/>
          </a:xfrm>
          <a:prstGeom prst="rect">
            <a:avLst/>
          </a:prstGeom>
          <a:noFill/>
        </p:spPr>
        <p:txBody>
          <a:bodyPr wrap="none" rtlCol="0">
            <a:spAutoFit/>
          </a:bodyPr>
          <a:lstStyle/>
          <a:p>
            <a:r>
              <a:rPr lang="en-US" dirty="0"/>
              <a:t>Small Black Circle: Michel Electrons</a:t>
            </a:r>
          </a:p>
          <a:p>
            <a:r>
              <a:rPr lang="en-US" dirty="0"/>
              <a:t>Larger Black Circle: Intermediate Momentum</a:t>
            </a:r>
          </a:p>
          <a:p>
            <a:r>
              <a:rPr lang="en-US" dirty="0"/>
              <a:t>Green Circle: Conversion electron</a:t>
            </a:r>
          </a:p>
        </p:txBody>
      </p:sp>
      <p:sp>
        <p:nvSpPr>
          <p:cNvPr id="9" name="TextBox 8">
            <a:extLst>
              <a:ext uri="{FF2B5EF4-FFF2-40B4-BE49-F238E27FC236}">
                <a16:creationId xmlns:a16="http://schemas.microsoft.com/office/drawing/2014/main" id="{684710EB-48B0-A619-1DF6-116A71B53831}"/>
              </a:ext>
            </a:extLst>
          </p:cNvPr>
          <p:cNvSpPr txBox="1"/>
          <p:nvPr/>
        </p:nvSpPr>
        <p:spPr>
          <a:xfrm>
            <a:off x="113407" y="5746879"/>
            <a:ext cx="8038215" cy="830997"/>
          </a:xfrm>
          <a:prstGeom prst="rect">
            <a:avLst/>
          </a:prstGeom>
          <a:noFill/>
        </p:spPr>
        <p:txBody>
          <a:bodyPr wrap="square" rtlCol="0">
            <a:spAutoFit/>
          </a:bodyPr>
          <a:lstStyle/>
          <a:p>
            <a:pPr algn="ctr"/>
            <a:r>
              <a:rPr lang="en-US" sz="1600" dirty="0"/>
              <a:t>Figure showing a side profile of the arrangement of detector plates, and the breakdown</a:t>
            </a:r>
          </a:p>
          <a:p>
            <a:pPr algn="ctr"/>
            <a:r>
              <a:rPr lang="en-US" sz="1600" dirty="0"/>
              <a:t> of different locations where electrons may intersect when moving through the detector;</a:t>
            </a:r>
          </a:p>
          <a:p>
            <a:pPr algn="ctr"/>
            <a:r>
              <a:rPr lang="en-US" sz="1600" dirty="0"/>
              <a:t>Bernstein 2019</a:t>
            </a:r>
          </a:p>
        </p:txBody>
      </p:sp>
      <p:sp>
        <p:nvSpPr>
          <p:cNvPr id="7" name="Slide Number Placeholder 6">
            <a:extLst>
              <a:ext uri="{FF2B5EF4-FFF2-40B4-BE49-F238E27FC236}">
                <a16:creationId xmlns:a16="http://schemas.microsoft.com/office/drawing/2014/main" id="{5695B644-8FD7-0AAE-DB64-4502B99546E3}"/>
              </a:ext>
            </a:extLst>
          </p:cNvPr>
          <p:cNvSpPr>
            <a:spLocks noGrp="1"/>
          </p:cNvSpPr>
          <p:nvPr>
            <p:ph type="sldNum" sz="quarter" idx="12"/>
          </p:nvPr>
        </p:nvSpPr>
        <p:spPr/>
        <p:txBody>
          <a:bodyPr/>
          <a:lstStyle/>
          <a:p>
            <a:fld id="{C0E0CB54-3DBF-E947-906E-85E307CF7971}" type="slidenum">
              <a:rPr lang="en-US" smtClean="0"/>
              <a:t>55</a:t>
            </a:fld>
            <a:endParaRPr lang="en-US"/>
          </a:p>
        </p:txBody>
      </p:sp>
    </p:spTree>
    <p:extLst>
      <p:ext uri="{BB962C8B-B14F-4D97-AF65-F5344CB8AC3E}">
        <p14:creationId xmlns:p14="http://schemas.microsoft.com/office/powerpoint/2010/main" val="62364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par>
                                <p:cTn id="43" presetID="9" presetClass="entr" presetSubtype="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dissolve">
                                      <p:cBhvr>
                                        <p:cTn id="45" dur="500"/>
                                        <p:tgtEl>
                                          <p:spTgt spid="6"/>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dissolve">
                                      <p:cBhvr>
                                        <p:cTn id="48" dur="500"/>
                                        <p:tgtEl>
                                          <p:spTgt spid="8"/>
                                        </p:tgtEl>
                                      </p:cBhvr>
                                    </p:animEffect>
                                  </p:childTnLst>
                                </p:cTn>
                              </p:par>
                              <p:par>
                                <p:cTn id="49" presetID="1" presetClass="exit" presetSubtype="0" fill="hold" nodeType="withEffect">
                                  <p:stCondLst>
                                    <p:cond delay="0"/>
                                  </p:stCondLst>
                                  <p:childTnLst>
                                    <p:set>
                                      <p:cBhvr>
                                        <p:cTn id="50" dur="1" fill="hold">
                                          <p:stCondLst>
                                            <p:cond delay="0"/>
                                          </p:stCondLst>
                                        </p:cTn>
                                        <p:tgtEl>
                                          <p:spTgt spid="3">
                                            <p:txEl>
                                              <p:pRg st="0" end="0"/>
                                            </p:txEl>
                                          </p:spTgt>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3">
                                            <p:txEl>
                                              <p:pRg st="1" end="1"/>
                                            </p:txEl>
                                          </p:spTgt>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3">
                                            <p:txEl>
                                              <p:pRg st="2" end="2"/>
                                            </p:txEl>
                                          </p:spTgt>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3">
                                            <p:txEl>
                                              <p:pRg st="3" end="3"/>
                                            </p:txEl>
                                          </p:spTgt>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3">
                                            <p:txEl>
                                              <p:pRg st="4" end="4"/>
                                            </p:txEl>
                                          </p:spTgt>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3">
                                            <p:txEl>
                                              <p:pRg st="5" end="5"/>
                                            </p:txEl>
                                          </p:spTgt>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3">
                                            <p:txEl>
                                              <p:pRg st="6" end="6"/>
                                            </p:txEl>
                                          </p:spTgt>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3">
                                            <p:txEl>
                                              <p:pRg st="7" end="7"/>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29539-141F-D3A7-BEE6-EB329B14E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9088F-D872-6BB7-1D92-2BF7CBE4BE4F}"/>
              </a:ext>
            </a:extLst>
          </p:cNvPr>
          <p:cNvSpPr>
            <a:spLocks noGrp="1"/>
          </p:cNvSpPr>
          <p:nvPr>
            <p:ph type="title"/>
          </p:nvPr>
        </p:nvSpPr>
        <p:spPr>
          <a:xfrm>
            <a:off x="0" y="0"/>
            <a:ext cx="10515600" cy="549275"/>
          </a:xfrm>
        </p:spPr>
        <p:txBody>
          <a:bodyPr>
            <a:normAutofit/>
          </a:bodyPr>
          <a:lstStyle/>
          <a:p>
            <a:r>
              <a:rPr lang="en-US" sz="2500" u="sng" dirty="0">
                <a:solidFill>
                  <a:srgbClr val="C00000"/>
                </a:solidFill>
              </a:rPr>
              <a:t>Calorimeter</a:t>
            </a:r>
          </a:p>
        </p:txBody>
      </p:sp>
      <p:sp>
        <p:nvSpPr>
          <p:cNvPr id="10" name="Content Placeholder 9">
            <a:extLst>
              <a:ext uri="{FF2B5EF4-FFF2-40B4-BE49-F238E27FC236}">
                <a16:creationId xmlns:a16="http://schemas.microsoft.com/office/drawing/2014/main" id="{D0D90DCF-D995-AE0C-8C1B-EEE35138E428}"/>
              </a:ext>
            </a:extLst>
          </p:cNvPr>
          <p:cNvSpPr>
            <a:spLocks noGrp="1"/>
          </p:cNvSpPr>
          <p:nvPr>
            <p:ph idx="1"/>
          </p:nvPr>
        </p:nvSpPr>
        <p:spPr>
          <a:xfrm>
            <a:off x="838200" y="549274"/>
            <a:ext cx="10515600" cy="5937249"/>
          </a:xfrm>
        </p:spPr>
        <p:txBody>
          <a:bodyPr>
            <a:normAutofit fontScale="77500" lnSpcReduction="20000"/>
          </a:bodyPr>
          <a:lstStyle/>
          <a:p>
            <a:r>
              <a:rPr lang="en-US" dirty="0"/>
              <a:t>Constructed from undoped CsI crystals</a:t>
            </a:r>
          </a:p>
          <a:p>
            <a:pPr lvl="1"/>
            <a:r>
              <a:rPr lang="en-US" dirty="0"/>
              <a:t>Very prominent scintillator in particle physics on account of its specific wavelength emitted </a:t>
            </a:r>
          </a:p>
          <a:p>
            <a:pPr lvl="1"/>
            <a:r>
              <a:rPr lang="en-US" dirty="0"/>
              <a:t>Light taken in by photosensors (Silicon Photomultiplier, </a:t>
            </a:r>
            <a:r>
              <a:rPr lang="en-US" dirty="0" err="1"/>
              <a:t>SiPMs</a:t>
            </a:r>
            <a:r>
              <a:rPr lang="en-US" dirty="0"/>
              <a:t>)</a:t>
            </a:r>
          </a:p>
          <a:p>
            <a:pPr lvl="1"/>
            <a:r>
              <a:rPr lang="en-US" dirty="0"/>
              <a:t>Converted to signal read in by DAQ</a:t>
            </a:r>
          </a:p>
          <a:p>
            <a:pPr lvl="1"/>
            <a:r>
              <a:rPr lang="en-US" dirty="0"/>
              <a:t>Annular construction: minimize damage of detector systems as products pass to beam dump </a:t>
            </a:r>
          </a:p>
          <a:p>
            <a:r>
              <a:rPr lang="en-US" dirty="0"/>
              <a:t>Two disk system to make sure helices of conversion electrons are not missed (separation of approximately 1 wavelength of the helix)</a:t>
            </a:r>
          </a:p>
          <a:p>
            <a:r>
              <a:rPr lang="en-US" dirty="0"/>
              <a:t>Purpose: Particle identification</a:t>
            </a:r>
          </a:p>
          <a:p>
            <a:pPr lvl="1"/>
            <a:r>
              <a:rPr lang="en-US" dirty="0"/>
              <a:t>differentiation between electrons and muons by mass difference</a:t>
            </a:r>
          </a:p>
          <a:p>
            <a:pPr lvl="2"/>
            <a:r>
              <a:rPr lang="en-US" dirty="0"/>
              <a:t>electrons cause radiative “showers”, muons are heavier and do not radiate as much</a:t>
            </a:r>
          </a:p>
          <a:p>
            <a:r>
              <a:rPr lang="en-US" dirty="0"/>
              <a:t>Purpose: Improvement of track reconstruction</a:t>
            </a:r>
          </a:p>
          <a:p>
            <a:pPr lvl="1"/>
            <a:r>
              <a:rPr lang="en-US" dirty="0"/>
              <a:t>“seed” for reconstruction: start</a:t>
            </a:r>
            <a:r>
              <a:rPr lang="en-US" dirty="0">
                <a:sym typeface="Wingdings" pitchFamily="2" charset="2"/>
              </a:rPr>
              <a:t> at calorimeter and work backwards to decrease computation time. Mark out hits in the calorimeter crystal clusters first</a:t>
            </a:r>
            <a:endParaRPr lang="en-US" dirty="0"/>
          </a:p>
          <a:p>
            <a:pPr lvl="1"/>
            <a:r>
              <a:rPr lang="en-US" dirty="0"/>
              <a:t>consistency check: making sure the tracks line up in a possible fit (Kinematic Kalman Fit)</a:t>
            </a:r>
          </a:p>
          <a:p>
            <a:pPr lvl="1"/>
            <a:r>
              <a:rPr lang="en-US" dirty="0"/>
              <a:t>can reconstruct position/direction of shower, time of hit, and energy deposited by the shower of particles that hit the calorimeter</a:t>
            </a:r>
          </a:p>
          <a:p>
            <a:r>
              <a:rPr lang="en-US" dirty="0"/>
              <a:t>Purpose: Triggering</a:t>
            </a:r>
          </a:p>
          <a:p>
            <a:pPr lvl="1"/>
            <a:r>
              <a:rPr lang="en-US" dirty="0"/>
              <a:t>specific energy ranges on the shower can choose what data to store and where, as we have a monoenergetic signal electron</a:t>
            </a:r>
          </a:p>
          <a:p>
            <a:pPr lvl="1"/>
            <a:endParaRPr lang="en-US" dirty="0"/>
          </a:p>
        </p:txBody>
      </p:sp>
      <p:grpSp>
        <p:nvGrpSpPr>
          <p:cNvPr id="4" name="Group 3">
            <a:extLst>
              <a:ext uri="{FF2B5EF4-FFF2-40B4-BE49-F238E27FC236}">
                <a16:creationId xmlns:a16="http://schemas.microsoft.com/office/drawing/2014/main" id="{49F51474-9B86-8DBE-E437-D29F9BFF28DC}"/>
              </a:ext>
            </a:extLst>
          </p:cNvPr>
          <p:cNvGrpSpPr/>
          <p:nvPr/>
        </p:nvGrpSpPr>
        <p:grpSpPr>
          <a:xfrm>
            <a:off x="6395483" y="95250"/>
            <a:ext cx="8240233" cy="6845298"/>
            <a:chOff x="1975883" y="6351"/>
            <a:chExt cx="8240233" cy="6845298"/>
          </a:xfrm>
        </p:grpSpPr>
        <p:pic>
          <p:nvPicPr>
            <p:cNvPr id="11" name="Content Placeholder 5">
              <a:extLst>
                <a:ext uri="{FF2B5EF4-FFF2-40B4-BE49-F238E27FC236}">
                  <a16:creationId xmlns:a16="http://schemas.microsoft.com/office/drawing/2014/main" id="{BFB5ADE3-B921-D54A-070B-ACDB4F04706A}"/>
                </a:ext>
              </a:extLst>
            </p:cNvPr>
            <p:cNvPicPr>
              <a:picLocks noChangeAspect="1"/>
            </p:cNvPicPr>
            <p:nvPr/>
          </p:nvPicPr>
          <p:blipFill>
            <a:blip r:embed="rId3"/>
            <a:stretch>
              <a:fillRect/>
            </a:stretch>
          </p:blipFill>
          <p:spPr>
            <a:xfrm>
              <a:off x="1975883" y="6351"/>
              <a:ext cx="8240233" cy="6640863"/>
            </a:xfrm>
            <a:prstGeom prst="rect">
              <a:avLst/>
            </a:prstGeom>
          </p:spPr>
        </p:pic>
        <p:sp>
          <p:nvSpPr>
            <p:cNvPr id="3" name="TextBox 2">
              <a:extLst>
                <a:ext uri="{FF2B5EF4-FFF2-40B4-BE49-F238E27FC236}">
                  <a16:creationId xmlns:a16="http://schemas.microsoft.com/office/drawing/2014/main" id="{3967AF52-ACBC-007C-7820-04205236D581}"/>
                </a:ext>
              </a:extLst>
            </p:cNvPr>
            <p:cNvSpPr txBox="1"/>
            <p:nvPr/>
          </p:nvSpPr>
          <p:spPr>
            <a:xfrm>
              <a:off x="2734534" y="6205318"/>
              <a:ext cx="6722931" cy="646331"/>
            </a:xfrm>
            <a:prstGeom prst="rect">
              <a:avLst/>
            </a:prstGeom>
            <a:noFill/>
          </p:spPr>
          <p:txBody>
            <a:bodyPr wrap="none" rtlCol="0">
              <a:spAutoFit/>
            </a:bodyPr>
            <a:lstStyle/>
            <a:p>
              <a:r>
                <a:rPr lang="en-US" dirty="0"/>
                <a:t>Calorimeter diagram with the annulus and the two disk orientation</a:t>
              </a:r>
            </a:p>
            <a:p>
              <a:pPr algn="ctr"/>
              <a:r>
                <a:rPr lang="en-US" dirty="0"/>
                <a:t>from Bernstein (2019)</a:t>
              </a:r>
            </a:p>
          </p:txBody>
        </p:sp>
      </p:grpSp>
      <p:sp>
        <p:nvSpPr>
          <p:cNvPr id="6" name="Slide Number Placeholder 5">
            <a:extLst>
              <a:ext uri="{FF2B5EF4-FFF2-40B4-BE49-F238E27FC236}">
                <a16:creationId xmlns:a16="http://schemas.microsoft.com/office/drawing/2014/main" id="{0A118C19-8176-0ACE-BABA-27278BC11138}"/>
              </a:ext>
            </a:extLst>
          </p:cNvPr>
          <p:cNvSpPr>
            <a:spLocks noGrp="1"/>
          </p:cNvSpPr>
          <p:nvPr>
            <p:ph type="sldNum" sz="quarter" idx="12"/>
          </p:nvPr>
        </p:nvSpPr>
        <p:spPr/>
        <p:txBody>
          <a:bodyPr/>
          <a:lstStyle/>
          <a:p>
            <a:fld id="{C0E0CB54-3DBF-E947-906E-85E307CF7971}" type="slidenum">
              <a:rPr lang="en-US" smtClean="0"/>
              <a:t>56</a:t>
            </a:fld>
            <a:endParaRPr lang="en-US"/>
          </a:p>
        </p:txBody>
      </p:sp>
    </p:spTree>
    <p:extLst>
      <p:ext uri="{BB962C8B-B14F-4D97-AF65-F5344CB8AC3E}">
        <p14:creationId xmlns:p14="http://schemas.microsoft.com/office/powerpoint/2010/main" val="353259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0">
                                            <p:txEl>
                                              <p:pRg st="0" end="0"/>
                                            </p:txEl>
                                          </p:spTgt>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0">
                                            <p:txEl>
                                              <p:pRg st="1" end="1"/>
                                            </p:txEl>
                                          </p:spTgt>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0">
                                            <p:txEl>
                                              <p:pRg st="2" end="2"/>
                                            </p:txEl>
                                          </p:spTgt>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0">
                                            <p:txEl>
                                              <p:pRg st="3" end="3"/>
                                            </p:txEl>
                                          </p:spTgt>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0">
                                            <p:txEl>
                                              <p:pRg st="4" end="4"/>
                                            </p:txEl>
                                          </p:spTgt>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0">
                                            <p:txEl>
                                              <p:pRg st="5" end="5"/>
                                            </p:txEl>
                                          </p:spTgt>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0">
                                            <p:txEl>
                                              <p:pRg st="6" end="6"/>
                                            </p:txEl>
                                          </p:spTgt>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0">
                                            <p:txEl>
                                              <p:pRg st="7" end="7"/>
                                            </p:txEl>
                                          </p:spTgt>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0">
                                            <p:txEl>
                                              <p:pRg st="8" end="8"/>
                                            </p:txEl>
                                          </p:spTgt>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0">
                                            <p:txEl>
                                              <p:pRg st="9" end="9"/>
                                            </p:txEl>
                                          </p:spTgt>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0">
                                            <p:txEl>
                                              <p:pRg st="10" end="10"/>
                                            </p:txEl>
                                          </p:spTgt>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0">
                                            <p:txEl>
                                              <p:pRg st="11" end="11"/>
                                            </p:txEl>
                                          </p:spTgt>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10">
                                            <p:txEl>
                                              <p:pRg st="12" end="12"/>
                                            </p:txEl>
                                          </p:spTgt>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0">
                                            <p:txEl>
                                              <p:pRg st="13" end="13"/>
                                            </p:txEl>
                                          </p:spTgt>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0">
                                            <p:txEl>
                                              <p:pRg st="14" end="14"/>
                                            </p:txEl>
                                          </p:spTgt>
                                        </p:tgtEl>
                                        <p:attrNameLst>
                                          <p:attrName>style.visibility</p:attrName>
                                        </p:attrNameLst>
                                      </p:cBhvr>
                                      <p:to>
                                        <p:strVal val="hidden"/>
                                      </p:to>
                                    </p:set>
                                  </p:childTnLst>
                                </p:cTn>
                              </p:par>
                              <p:par>
                                <p:cTn id="75" presetID="9" presetClass="entr" presetSubtype="0" fill="hold" nodeType="with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dissolve">
                                      <p:cBhvr>
                                        <p:cTn id="7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81FD-2272-76EE-73B5-9294F5D2FB90}"/>
            </a:ext>
          </a:extLst>
        </p:cNvPr>
        <p:cNvGrpSpPr/>
        <p:nvPr/>
      </p:nvGrpSpPr>
      <p:grpSpPr>
        <a:xfrm>
          <a:off x="0" y="0"/>
          <a:ext cx="0" cy="0"/>
          <a:chOff x="0" y="0"/>
          <a:chExt cx="0" cy="0"/>
        </a:xfrm>
      </p:grpSpPr>
      <p:pic>
        <p:nvPicPr>
          <p:cNvPr id="6" name="Content Placeholder 5" descr="A diagram of a mathematical equation&#10;&#10;AI-generated content may be incorrect.">
            <a:extLst>
              <a:ext uri="{FF2B5EF4-FFF2-40B4-BE49-F238E27FC236}">
                <a16:creationId xmlns:a16="http://schemas.microsoft.com/office/drawing/2014/main" id="{93C7A63B-56E7-A3FB-E77C-C1258353B1AB}"/>
              </a:ext>
            </a:extLst>
          </p:cNvPr>
          <p:cNvPicPr>
            <a:picLocks noGrp="1" noChangeAspect="1"/>
          </p:cNvPicPr>
          <p:nvPr>
            <p:ph idx="1"/>
          </p:nvPr>
        </p:nvPicPr>
        <p:blipFill>
          <a:blip r:embed="rId2"/>
          <a:srcRect l="66864"/>
          <a:stretch>
            <a:fillRect/>
          </a:stretch>
        </p:blipFill>
        <p:spPr>
          <a:xfrm>
            <a:off x="8138107" y="4230733"/>
            <a:ext cx="3185674" cy="2413000"/>
          </a:xfrm>
        </p:spPr>
      </p:pic>
      <p:pic>
        <p:nvPicPr>
          <p:cNvPr id="13" name="Content Placeholder 5" descr="A diagram of a mathematical equation&#10;&#10;AI-generated content may be incorrect.">
            <a:extLst>
              <a:ext uri="{FF2B5EF4-FFF2-40B4-BE49-F238E27FC236}">
                <a16:creationId xmlns:a16="http://schemas.microsoft.com/office/drawing/2014/main" id="{D6835CEA-3F1D-F12B-221F-757FCC4FAD8B}"/>
              </a:ext>
            </a:extLst>
          </p:cNvPr>
          <p:cNvPicPr>
            <a:picLocks noChangeAspect="1"/>
          </p:cNvPicPr>
          <p:nvPr/>
        </p:nvPicPr>
        <p:blipFill>
          <a:blip r:embed="rId2"/>
          <a:srcRect r="34721"/>
          <a:stretch>
            <a:fillRect/>
          </a:stretch>
        </p:blipFill>
        <p:spPr>
          <a:xfrm>
            <a:off x="5703788" y="1723277"/>
            <a:ext cx="6275826" cy="2413000"/>
          </a:xfrm>
          <a:prstGeom prst="rect">
            <a:avLst/>
          </a:prstGeom>
        </p:spPr>
      </p:pic>
      <mc:AlternateContent xmlns:mc="http://schemas.openxmlformats.org/markup-compatibility/2006">
        <mc:Choice xmlns:a14="http://schemas.microsoft.com/office/drawing/2010/main" Requires="a14">
          <p:sp>
            <p:nvSpPr>
              <p:cNvPr id="3" name="Title 1">
                <a:extLst>
                  <a:ext uri="{FF2B5EF4-FFF2-40B4-BE49-F238E27FC236}">
                    <a16:creationId xmlns:a16="http://schemas.microsoft.com/office/drawing/2014/main" id="{794F99BF-D6EC-5FCA-73BD-F24C5DBC1EC1}"/>
                  </a:ext>
                </a:extLst>
              </p:cNvPr>
              <p:cNvSpPr txBox="1">
                <a:spLocks/>
              </p:cNvSpPr>
              <p:nvPr/>
            </p:nvSpPr>
            <p:spPr>
              <a:xfrm>
                <a:off x="0" y="0"/>
                <a:ext cx="10515600" cy="59663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Effective Lagrangian Description of the  </a:t>
                </a:r>
                <a14:m>
                  <m:oMath xmlns:m="http://schemas.openxmlformats.org/officeDocument/2006/math">
                    <m:sSup>
                      <m:sSupPr>
                        <m:ctrlPr>
                          <a:rPr lang="en-US" sz="2800" i="1" smtClean="0">
                            <a:solidFill>
                              <a:srgbClr val="C00000"/>
                            </a:solidFill>
                            <a:latin typeface="Cambria Math" panose="02040503050406030204" pitchFamily="18" charset="0"/>
                            <a:ea typeface="Cambria Math" panose="02040503050406030204" pitchFamily="18" charset="0"/>
                          </a:rPr>
                        </m:ctrlPr>
                      </m:sSupPr>
                      <m:e>
                        <m:r>
                          <a:rPr lang="en-US" sz="2800" i="1" smtClean="0">
                            <a:solidFill>
                              <a:srgbClr val="C00000"/>
                            </a:solidFill>
                            <a:latin typeface="Cambria Math" panose="02040503050406030204" pitchFamily="18" charset="0"/>
                            <a:ea typeface="Cambria Math" panose="02040503050406030204" pitchFamily="18" charset="0"/>
                          </a:rPr>
                          <m:t>𝜇</m:t>
                        </m:r>
                      </m:e>
                      <m:sup>
                        <m:r>
                          <a:rPr lang="en-US" sz="2800" b="0" i="1" smtClean="0">
                            <a:solidFill>
                              <a:srgbClr val="C00000"/>
                            </a:solidFill>
                            <a:latin typeface="Cambria Math" panose="02040503050406030204" pitchFamily="18" charset="0"/>
                          </a:rPr>
                          <m:t>−</m:t>
                        </m:r>
                      </m:sup>
                    </m:sSup>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𝑒</m:t>
                        </m:r>
                      </m:e>
                      <m:sup>
                        <m:r>
                          <a:rPr lang="en-US" sz="2800" b="0" i="1" smtClean="0">
                            <a:solidFill>
                              <a:srgbClr val="C00000"/>
                            </a:solidFill>
                            <a:latin typeface="Cambria Math" panose="02040503050406030204" pitchFamily="18" charset="0"/>
                          </a:rPr>
                          <m:t>−</m:t>
                        </m:r>
                      </m:sup>
                    </m:sSup>
                    <m:r>
                      <a:rPr lang="en-US" sz="2800" i="1" smtClean="0">
                        <a:solidFill>
                          <a:srgbClr val="C00000"/>
                        </a:solidFill>
                        <a:latin typeface="Cambria Math" panose="02040503050406030204" pitchFamily="18" charset="0"/>
                        <a:ea typeface="Cambria Math" panose="02040503050406030204" pitchFamily="18" charset="0"/>
                      </a:rPr>
                      <m:t>→</m:t>
                    </m:r>
                    <m:sSup>
                      <m:sSupPr>
                        <m:ctrlPr>
                          <a:rPr lang="en-US" sz="2800" b="0" i="1" smtClean="0">
                            <a:solidFill>
                              <a:srgbClr val="C00000"/>
                            </a:solidFill>
                            <a:latin typeface="Cambria Math" panose="02040503050406030204" pitchFamily="18" charset="0"/>
                            <a:ea typeface="Cambria Math" panose="02040503050406030204" pitchFamily="18" charset="0"/>
                          </a:rPr>
                        </m:ctrlPr>
                      </m:sSupPr>
                      <m:e>
                        <m:r>
                          <a:rPr lang="en-US" sz="2800" b="0" i="1" smtClean="0">
                            <a:solidFill>
                              <a:srgbClr val="C00000"/>
                            </a:solidFill>
                            <a:latin typeface="Cambria Math" panose="02040503050406030204" pitchFamily="18" charset="0"/>
                            <a:ea typeface="Cambria Math" panose="02040503050406030204" pitchFamily="18" charset="0"/>
                          </a:rPr>
                          <m:t>𝑒</m:t>
                        </m:r>
                      </m:e>
                      <m:sup>
                        <m:r>
                          <a:rPr lang="en-US" sz="2800" b="0" i="1" smtClean="0">
                            <a:solidFill>
                              <a:srgbClr val="C00000"/>
                            </a:solidFill>
                            <a:latin typeface="Cambria Math" panose="02040503050406030204" pitchFamily="18" charset="0"/>
                            <a:ea typeface="Cambria Math" panose="02040503050406030204" pitchFamily="18" charset="0"/>
                          </a:rPr>
                          <m:t>−</m:t>
                        </m:r>
                      </m:sup>
                    </m:sSup>
                    <m:sSup>
                      <m:sSupPr>
                        <m:ctrlPr>
                          <a:rPr lang="en-US" sz="2800" b="0" i="1" smtClean="0">
                            <a:solidFill>
                              <a:srgbClr val="C00000"/>
                            </a:solidFill>
                            <a:latin typeface="Cambria Math" panose="02040503050406030204" pitchFamily="18" charset="0"/>
                            <a:ea typeface="Cambria Math" panose="02040503050406030204" pitchFamily="18" charset="0"/>
                          </a:rPr>
                        </m:ctrlPr>
                      </m:sSupPr>
                      <m:e>
                        <m:r>
                          <a:rPr lang="en-US" sz="2800" b="0" i="1" smtClean="0">
                            <a:solidFill>
                              <a:srgbClr val="C00000"/>
                            </a:solidFill>
                            <a:latin typeface="Cambria Math" panose="02040503050406030204" pitchFamily="18" charset="0"/>
                            <a:ea typeface="Cambria Math" panose="02040503050406030204" pitchFamily="18" charset="0"/>
                          </a:rPr>
                          <m:t>𝑒</m:t>
                        </m:r>
                      </m:e>
                      <m:sup>
                        <m:r>
                          <a:rPr lang="en-US" sz="2800" b="0" i="1" smtClean="0">
                            <a:solidFill>
                              <a:srgbClr val="C00000"/>
                            </a:solidFill>
                            <a:latin typeface="Cambria Math" panose="02040503050406030204" pitchFamily="18" charset="0"/>
                            <a:ea typeface="Cambria Math" panose="02040503050406030204" pitchFamily="18" charset="0"/>
                          </a:rPr>
                          <m:t>−</m:t>
                        </m:r>
                      </m:sup>
                    </m:sSup>
                  </m:oMath>
                </a14:m>
                <a:r>
                  <a:rPr lang="en-US" sz="2800" dirty="0">
                    <a:solidFill>
                      <a:srgbClr val="C00000"/>
                    </a:solidFill>
                  </a:rPr>
                  <a:t> Process</a:t>
                </a:r>
              </a:p>
            </p:txBody>
          </p:sp>
        </mc:Choice>
        <mc:Fallback>
          <p:sp>
            <p:nvSpPr>
              <p:cNvPr id="3" name="Title 1">
                <a:extLst>
                  <a:ext uri="{FF2B5EF4-FFF2-40B4-BE49-F238E27FC236}">
                    <a16:creationId xmlns:a16="http://schemas.microsoft.com/office/drawing/2014/main" id="{794F99BF-D6EC-5FCA-73BD-F24C5DBC1EC1}"/>
                  </a:ext>
                </a:extLst>
              </p:cNvPr>
              <p:cNvSpPr txBox="1">
                <a:spLocks noRot="1" noChangeAspect="1" noMove="1" noResize="1" noEditPoints="1" noAdjustHandles="1" noChangeArrowheads="1" noChangeShapeType="1" noTextEdit="1"/>
              </p:cNvSpPr>
              <p:nvPr/>
            </p:nvSpPr>
            <p:spPr>
              <a:xfrm>
                <a:off x="0" y="0"/>
                <a:ext cx="10515600" cy="596630"/>
              </a:xfrm>
              <a:prstGeom prst="rect">
                <a:avLst/>
              </a:prstGeom>
              <a:blipFill>
                <a:blip r:embed="rId3"/>
                <a:stretch>
                  <a:fillRect l="-1206" t="-6250" b="-1458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915676C-9796-291F-D53D-65F8F1705580}"/>
              </a:ext>
            </a:extLst>
          </p:cNvPr>
          <p:cNvSpPr txBox="1"/>
          <p:nvPr/>
        </p:nvSpPr>
        <p:spPr>
          <a:xfrm>
            <a:off x="279586" y="1657285"/>
            <a:ext cx="11204812" cy="372361"/>
          </a:xfrm>
          <a:prstGeom prst="rect">
            <a:avLst/>
          </a:prstGeom>
          <a:noFill/>
        </p:spPr>
        <p:txBody>
          <a:bodyPr wrap="square" rtlCol="0">
            <a:spAutoFit/>
          </a:bodyPr>
          <a:lstStyle/>
          <a:p>
            <a:r>
              <a:rPr lang="en-US" dirty="0"/>
              <a:t>Photonic Lagrangian: tensor vertex coupled with photonic field with distinct chiral structures</a:t>
            </a:r>
          </a:p>
        </p:txBody>
      </p:sp>
      <p:sp>
        <p:nvSpPr>
          <p:cNvPr id="5" name="TextBox 4">
            <a:extLst>
              <a:ext uri="{FF2B5EF4-FFF2-40B4-BE49-F238E27FC236}">
                <a16:creationId xmlns:a16="http://schemas.microsoft.com/office/drawing/2014/main" id="{CF627B93-3C94-C803-A854-0D2BFF13B733}"/>
              </a:ext>
            </a:extLst>
          </p:cNvPr>
          <p:cNvSpPr txBox="1"/>
          <p:nvPr/>
        </p:nvSpPr>
        <p:spPr>
          <a:xfrm>
            <a:off x="-77906" y="4167762"/>
            <a:ext cx="10671412" cy="369332"/>
          </a:xfrm>
          <a:prstGeom prst="rect">
            <a:avLst/>
          </a:prstGeom>
          <a:noFill/>
        </p:spPr>
        <p:txBody>
          <a:bodyPr wrap="square" rtlCol="0">
            <a:spAutoFit/>
          </a:bodyPr>
          <a:lstStyle/>
          <a:p>
            <a:r>
              <a:rPr lang="en-US" dirty="0"/>
              <a:t>Contact Lagrangian: scalar and vector structures, four-point interaction with distinct chiral structures</a:t>
            </a:r>
          </a:p>
        </p:txBody>
      </p:sp>
      <p:pic>
        <p:nvPicPr>
          <p:cNvPr id="7" name="Picture 6">
            <a:extLst>
              <a:ext uri="{FF2B5EF4-FFF2-40B4-BE49-F238E27FC236}">
                <a16:creationId xmlns:a16="http://schemas.microsoft.com/office/drawing/2014/main" id="{92C4D3DB-F4D0-0460-0D46-14C32A12A616}"/>
              </a:ext>
            </a:extLst>
          </p:cNvPr>
          <p:cNvPicPr>
            <a:picLocks noChangeAspect="1"/>
          </p:cNvPicPr>
          <p:nvPr/>
        </p:nvPicPr>
        <p:blipFill>
          <a:blip r:embed="rId4"/>
          <a:stretch>
            <a:fillRect/>
          </a:stretch>
        </p:blipFill>
        <p:spPr>
          <a:xfrm>
            <a:off x="3484649" y="1037593"/>
            <a:ext cx="4950157" cy="619692"/>
          </a:xfrm>
          <a:prstGeom prst="rect">
            <a:avLst/>
          </a:prstGeom>
        </p:spPr>
      </p:pic>
      <p:sp>
        <p:nvSpPr>
          <p:cNvPr id="11" name="TextBox 10">
            <a:extLst>
              <a:ext uri="{FF2B5EF4-FFF2-40B4-BE49-F238E27FC236}">
                <a16:creationId xmlns:a16="http://schemas.microsoft.com/office/drawing/2014/main" id="{7833B322-0C5F-DF2B-C958-9C6F879B704D}"/>
              </a:ext>
            </a:extLst>
          </p:cNvPr>
          <p:cNvSpPr txBox="1"/>
          <p:nvPr/>
        </p:nvSpPr>
        <p:spPr>
          <a:xfrm>
            <a:off x="171769" y="517941"/>
            <a:ext cx="11692648" cy="646331"/>
          </a:xfrm>
          <a:prstGeom prst="rect">
            <a:avLst/>
          </a:prstGeom>
          <a:noFill/>
        </p:spPr>
        <p:txBody>
          <a:bodyPr wrap="square" rtlCol="0">
            <a:spAutoFit/>
          </a:bodyPr>
          <a:lstStyle/>
          <a:p>
            <a:r>
              <a:rPr lang="en-US" dirty="0"/>
              <a:t>The low energy CLFV interaction can be parameterized by dimension-six effective Lagrangian containing photonic dipole terms and four-lepton contact terms.</a:t>
            </a:r>
          </a:p>
        </p:txBody>
      </p:sp>
      <p:pic>
        <p:nvPicPr>
          <p:cNvPr id="12" name="Picture 11">
            <a:extLst>
              <a:ext uri="{FF2B5EF4-FFF2-40B4-BE49-F238E27FC236}">
                <a16:creationId xmlns:a16="http://schemas.microsoft.com/office/drawing/2014/main" id="{978AAC1F-F8CE-0B80-BD00-11EF6C316A38}"/>
              </a:ext>
            </a:extLst>
          </p:cNvPr>
          <p:cNvPicPr>
            <a:picLocks noChangeAspect="1"/>
          </p:cNvPicPr>
          <p:nvPr/>
        </p:nvPicPr>
        <p:blipFill>
          <a:blip r:embed="rId5"/>
          <a:stretch>
            <a:fillRect/>
          </a:stretch>
        </p:blipFill>
        <p:spPr>
          <a:xfrm>
            <a:off x="279586" y="4929250"/>
            <a:ext cx="7772400" cy="1120739"/>
          </a:xfrm>
          <a:prstGeom prst="rect">
            <a:avLst/>
          </a:prstGeom>
        </p:spPr>
      </p:pic>
      <p:pic>
        <p:nvPicPr>
          <p:cNvPr id="15" name="Picture 14">
            <a:extLst>
              <a:ext uri="{FF2B5EF4-FFF2-40B4-BE49-F238E27FC236}">
                <a16:creationId xmlns:a16="http://schemas.microsoft.com/office/drawing/2014/main" id="{7C4FAD17-1B28-4175-5EB8-70BBAEA321C0}"/>
              </a:ext>
            </a:extLst>
          </p:cNvPr>
          <p:cNvPicPr>
            <a:picLocks noChangeAspect="1"/>
          </p:cNvPicPr>
          <p:nvPr/>
        </p:nvPicPr>
        <p:blipFill>
          <a:blip r:embed="rId6"/>
          <a:stretch>
            <a:fillRect/>
          </a:stretch>
        </p:blipFill>
        <p:spPr>
          <a:xfrm>
            <a:off x="279586" y="2717334"/>
            <a:ext cx="5377774" cy="731255"/>
          </a:xfrm>
          <a:prstGeom prst="rect">
            <a:avLst/>
          </a:prstGeom>
        </p:spPr>
      </p:pic>
      <p:sp>
        <p:nvSpPr>
          <p:cNvPr id="2" name="Slide Number Placeholder 1">
            <a:extLst>
              <a:ext uri="{FF2B5EF4-FFF2-40B4-BE49-F238E27FC236}">
                <a16:creationId xmlns:a16="http://schemas.microsoft.com/office/drawing/2014/main" id="{7F20837C-D7E2-8FE1-F086-842563B5C5B0}"/>
              </a:ext>
            </a:extLst>
          </p:cNvPr>
          <p:cNvSpPr>
            <a:spLocks noGrp="1"/>
          </p:cNvSpPr>
          <p:nvPr>
            <p:ph type="sldNum" sz="quarter" idx="12"/>
          </p:nvPr>
        </p:nvSpPr>
        <p:spPr/>
        <p:txBody>
          <a:bodyPr/>
          <a:lstStyle/>
          <a:p>
            <a:fld id="{C0E0CB54-3DBF-E947-906E-85E307CF7971}" type="slidenum">
              <a:rPr lang="en-US" smtClean="0"/>
              <a:t>57</a:t>
            </a:fld>
            <a:endParaRPr lang="en-US"/>
          </a:p>
        </p:txBody>
      </p:sp>
    </p:spTree>
    <p:extLst>
      <p:ext uri="{BB962C8B-B14F-4D97-AF65-F5344CB8AC3E}">
        <p14:creationId xmlns:p14="http://schemas.microsoft.com/office/powerpoint/2010/main" val="1932142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023601-D1BA-D1E2-CE47-90BA3D838FE3}"/>
                  </a:ext>
                </a:extLst>
              </p:cNvPr>
              <p:cNvSpPr>
                <a:spLocks noGrp="1"/>
              </p:cNvSpPr>
              <p:nvPr>
                <p:ph idx="1"/>
              </p:nvPr>
            </p:nvSpPr>
            <p:spPr>
              <a:xfrm>
                <a:off x="0" y="424542"/>
                <a:ext cx="12192000" cy="5931807"/>
              </a:xfrm>
            </p:spPr>
            <p:txBody>
              <a:bodyPr>
                <a:normAutofit fontScale="85000" lnSpcReduction="10000"/>
              </a:bodyPr>
              <a:lstStyle/>
              <a:p>
                <a:r>
                  <a:rPr lang="en-US" dirty="0"/>
                  <a:t> Dedicated Mu2e art/</a:t>
                </a:r>
                <a:r>
                  <a:rPr lang="en-US" dirty="0" err="1"/>
                  <a:t>FHiCL</a:t>
                </a:r>
                <a:r>
                  <a:rPr lang="en-US" dirty="0"/>
                  <a:t> signal-generator module for the process of interest</a:t>
                </a:r>
              </a:p>
              <a:p>
                <a:pPr lvl="1"/>
                <a:r>
                  <a:rPr lang="en-US" dirty="0"/>
                  <a:t>Implemented as an instance of the </a:t>
                </a:r>
                <a:r>
                  <a:rPr lang="en-US" dirty="0" err="1"/>
                  <a:t>EDProducer</a:t>
                </a:r>
                <a:r>
                  <a:rPr lang="en-US" dirty="0"/>
                  <a:t> class</a:t>
                </a:r>
              </a:p>
              <a:p>
                <a:r>
                  <a:rPr lang="en-US" dirty="0"/>
                  <a:t>Models a stopped </a:t>
                </a:r>
                <a:r>
                  <a:rPr lang="el-GR" dirty="0"/>
                  <a:t>μ⁻ </a:t>
                </a:r>
                <a:r>
                  <a:rPr lang="en-US" dirty="0"/>
                  <a:t>in the aluminum stopping target, with both generated electrons originating from a common position and time.</a:t>
                </a:r>
              </a:p>
              <a:p>
                <a:r>
                  <a:rPr lang="en-US" dirty="0"/>
                  <a:t>Generates two on-shell electrons with equal energies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𝜇</m:t>
                            </m:r>
                          </m:sub>
                        </m:sSub>
                      </m:num>
                      <m:den>
                        <m:r>
                          <a:rPr lang="en-US" b="0" i="1" smtClean="0">
                            <a:latin typeface="Cambria Math" panose="02040503050406030204" pitchFamily="18" charset="0"/>
                          </a:rPr>
                          <m:t>2</m:t>
                        </m:r>
                      </m:den>
                    </m:f>
                  </m:oMath>
                </a14:m>
                <a:r>
                  <a:rPr lang="en-US" dirty="0"/>
                  <a:t>as controlled benchmark </a:t>
                </a:r>
              </a:p>
              <a:p>
                <a:r>
                  <a:rPr lang="en-US" dirty="0"/>
                  <a:t>Samples one isotropic direction over the full solid angle and assigns exactly opposite three-momenta with </a:t>
                </a:r>
                <a14:m>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e>
                    </m:acc>
                  </m:oMath>
                </a14:m>
                <a:endParaRPr lang="en-US" dirty="0"/>
              </a:p>
              <a:p>
                <a:r>
                  <a:rPr lang="en-US" dirty="0"/>
                  <a:t>Enforces equal momentum magnitudes and a back-to-back opening angle, </a:t>
                </a:r>
                <a14:m>
                  <m:oMath xmlns:m="http://schemas.openxmlformats.org/officeDocument/2006/math">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cos</m:t>
                        </m:r>
                      </m:fName>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12</m:t>
                            </m:r>
                          </m:sub>
                        </m:sSub>
                        <m:r>
                          <a:rPr lang="en-US" b="0" i="1" smtClean="0">
                            <a:latin typeface="Cambria Math" panose="02040503050406030204" pitchFamily="18" charset="0"/>
                          </a:rPr>
                          <m:t>=−1</m:t>
                        </m:r>
                      </m:e>
                    </m:func>
                  </m:oMath>
                </a14:m>
                <a:r>
                  <a:rPr lang="en-US" dirty="0"/>
                  <a:t>, providing a simple, well-defined two-electron signal topology.</a:t>
                </a:r>
              </a:p>
              <a:p>
                <a:r>
                  <a:rPr lang="en-US" dirty="0"/>
                  <a:t>Validated at generator level through angular isotropy, momentum equality, opening-angle, and energy–momentum-conservation checks.</a:t>
                </a:r>
              </a:p>
              <a:p>
                <a:r>
                  <a:rPr lang="en-US" dirty="0"/>
                  <a:t>Propagated through the Mu2e simulation chain:</a:t>
                </a:r>
              </a:p>
              <a:p>
                <a:pPr marL="0" indent="0" algn="ctr">
                  <a:buNone/>
                </a:pPr>
                <a:r>
                  <a:rPr lang="en-US" dirty="0"/>
                  <a:t> generation → Geant4 transport → digitization → reconstruction → analysis </a:t>
                </a:r>
                <a:r>
                  <a:rPr lang="en-US" dirty="0" err="1"/>
                  <a:t>ntuples</a:t>
                </a:r>
                <a:r>
                  <a:rPr lang="en-US" dirty="0"/>
                  <a:t>.</a:t>
                </a:r>
              </a:p>
              <a:p>
                <a:r>
                  <a:rPr lang="en-US" dirty="0"/>
                  <a:t>Serves as a deliberately simplified validation model; later work will introduce theory-weighted energy/angular distributions bound-state effects, and aluminum nuclear recoil.</a:t>
                </a:r>
              </a:p>
            </p:txBody>
          </p:sp>
        </mc:Choice>
        <mc:Fallback xmlns="">
          <p:sp>
            <p:nvSpPr>
              <p:cNvPr id="3" name="Content Placeholder 2">
                <a:extLst>
                  <a:ext uri="{FF2B5EF4-FFF2-40B4-BE49-F238E27FC236}">
                    <a16:creationId xmlns:a16="http://schemas.microsoft.com/office/drawing/2014/main" id="{80023601-D1BA-D1E2-CE47-90BA3D838FE3}"/>
                  </a:ext>
                </a:extLst>
              </p:cNvPr>
              <p:cNvSpPr>
                <a:spLocks noGrp="1" noRot="1" noChangeAspect="1" noMove="1" noResize="1" noEditPoints="1" noAdjustHandles="1" noChangeArrowheads="1" noChangeShapeType="1" noTextEdit="1"/>
              </p:cNvSpPr>
              <p:nvPr>
                <p:ph idx="1"/>
              </p:nvPr>
            </p:nvSpPr>
            <p:spPr>
              <a:xfrm>
                <a:off x="0" y="424542"/>
                <a:ext cx="12192000" cy="5931807"/>
              </a:xfrm>
              <a:blipFill>
                <a:blip r:embed="rId2"/>
                <a:stretch>
                  <a:fillRect l="-728" t="-1923" r="-312" b="-2350"/>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AD9BA1F0-6847-47E2-1B99-5D16C86746D2}"/>
              </a:ext>
            </a:extLst>
          </p:cNvPr>
          <p:cNvSpPr txBox="1">
            <a:spLocks/>
          </p:cNvSpPr>
          <p:nvPr/>
        </p:nvSpPr>
        <p:spPr>
          <a:xfrm>
            <a:off x="0" y="0"/>
            <a:ext cx="10515600" cy="4245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Toy-Generator Creation and Validation</a:t>
            </a:r>
          </a:p>
        </p:txBody>
      </p:sp>
      <p:sp>
        <p:nvSpPr>
          <p:cNvPr id="2" name="Slide Number Placeholder 1">
            <a:extLst>
              <a:ext uri="{FF2B5EF4-FFF2-40B4-BE49-F238E27FC236}">
                <a16:creationId xmlns:a16="http://schemas.microsoft.com/office/drawing/2014/main" id="{9F84A18B-27BD-4B6B-01C2-572EDC6C7E5A}"/>
              </a:ext>
            </a:extLst>
          </p:cNvPr>
          <p:cNvSpPr>
            <a:spLocks noGrp="1"/>
          </p:cNvSpPr>
          <p:nvPr>
            <p:ph type="sldNum" sz="quarter" idx="12"/>
          </p:nvPr>
        </p:nvSpPr>
        <p:spPr/>
        <p:txBody>
          <a:bodyPr/>
          <a:lstStyle/>
          <a:p>
            <a:fld id="{C0E0CB54-3DBF-E947-906E-85E307CF7971}" type="slidenum">
              <a:rPr lang="en-US" smtClean="0"/>
              <a:t>58</a:t>
            </a:fld>
            <a:endParaRPr lang="en-US"/>
          </a:p>
        </p:txBody>
      </p:sp>
    </p:spTree>
    <p:extLst>
      <p:ext uri="{BB962C8B-B14F-4D97-AF65-F5344CB8AC3E}">
        <p14:creationId xmlns:p14="http://schemas.microsoft.com/office/powerpoint/2010/main" val="10168972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C34485-C336-718B-C230-D651BA0A32FE}"/>
              </a:ext>
            </a:extLst>
          </p:cNvPr>
          <p:cNvSpPr>
            <a:spLocks noGrp="1"/>
          </p:cNvSpPr>
          <p:nvPr>
            <p:ph idx="1"/>
          </p:nvPr>
        </p:nvSpPr>
        <p:spPr>
          <a:xfrm>
            <a:off x="0" y="862268"/>
            <a:ext cx="7010400" cy="4936491"/>
          </a:xfrm>
        </p:spPr>
        <p:txBody>
          <a:bodyPr>
            <a:normAutofit fontScale="70000" lnSpcReduction="20000"/>
          </a:bodyPr>
          <a:lstStyle/>
          <a:p>
            <a:r>
              <a:rPr lang="en-US" dirty="0"/>
              <a:t>Replace the preliminary straight-line geometric estimate with a common-vertex reconstruction based on the fitted helical trajectories of both reconstructed electron tracks.</a:t>
            </a:r>
          </a:p>
          <a:p>
            <a:r>
              <a:rPr lang="en-US" dirty="0"/>
              <a:t>Use full reconstructed-track information utilizing position, momentum/direction, time, and fit covariance from Mu2e track-fit products rather than only intersection position and direction estimates.</a:t>
            </a:r>
          </a:p>
          <a:p>
            <a:r>
              <a:rPr lang="en-US" dirty="0"/>
              <a:t>Quantify vertex quality and uncertainty using the track-pair distance of closest approach, vertex residuals, fit quality, bias, and spatial/time resolution.</a:t>
            </a:r>
          </a:p>
          <a:p>
            <a:r>
              <a:rPr lang="en-US" dirty="0"/>
              <a:t>Validate the method in pure signal simulation by comparing reconstructed vertices to Monte Carlo truth and testing reconstruction closure across signal kinematics.</a:t>
            </a:r>
          </a:p>
          <a:p>
            <a:r>
              <a:rPr lang="en-US" dirty="0"/>
              <a:t>Integrate the vertexing output into the Mu2e analysis workflow so it can be applied consistently to reconstructed and mixed samples.</a:t>
            </a:r>
          </a:p>
          <a:p>
            <a:r>
              <a:rPr lang="en-US" dirty="0"/>
              <a:t>Use common-vertex consistency as a discrimination variable against accidental track pairs and backgrounds, together with timing and track-quality information.</a:t>
            </a:r>
          </a:p>
        </p:txBody>
      </p:sp>
      <p:sp>
        <p:nvSpPr>
          <p:cNvPr id="4" name="Title 1">
            <a:extLst>
              <a:ext uri="{FF2B5EF4-FFF2-40B4-BE49-F238E27FC236}">
                <a16:creationId xmlns:a16="http://schemas.microsoft.com/office/drawing/2014/main" id="{C5080FBC-DFA4-04BD-D5F5-39ECDA29081D}"/>
              </a:ext>
            </a:extLst>
          </p:cNvPr>
          <p:cNvSpPr txBox="1">
            <a:spLocks/>
          </p:cNvSpPr>
          <p:nvPr/>
        </p:nvSpPr>
        <p:spPr>
          <a:xfrm>
            <a:off x="0" y="0"/>
            <a:ext cx="10515600" cy="4245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Improvements to Vertexing Procedure</a:t>
            </a:r>
          </a:p>
        </p:txBody>
      </p:sp>
      <p:sp>
        <p:nvSpPr>
          <p:cNvPr id="7" name="TextBox 6">
            <a:extLst>
              <a:ext uri="{FF2B5EF4-FFF2-40B4-BE49-F238E27FC236}">
                <a16:creationId xmlns:a16="http://schemas.microsoft.com/office/drawing/2014/main" id="{AB40B29C-6198-3F10-9A3A-1FD8D22F9C1E}"/>
              </a:ext>
            </a:extLst>
          </p:cNvPr>
          <p:cNvSpPr txBox="1"/>
          <p:nvPr/>
        </p:nvSpPr>
        <p:spPr>
          <a:xfrm>
            <a:off x="7848598" y="325078"/>
            <a:ext cx="3891063" cy="584775"/>
          </a:xfrm>
          <a:prstGeom prst="rect">
            <a:avLst/>
          </a:prstGeom>
          <a:noFill/>
          <a:ln w="19050">
            <a:solidFill>
              <a:schemeClr val="accent1"/>
            </a:solidFill>
          </a:ln>
        </p:spPr>
        <p:txBody>
          <a:bodyPr wrap="square" rtlCol="0">
            <a:spAutoFit/>
          </a:bodyPr>
          <a:lstStyle/>
          <a:p>
            <a:r>
              <a:rPr lang="en-US" sz="1600" b="1" dirty="0"/>
              <a:t>Current</a:t>
            </a:r>
            <a:r>
              <a:rPr lang="en-US" sz="1600" dirty="0"/>
              <a:t>: Preliminary geometric line–line closest-approach and midpoint estimate</a:t>
            </a:r>
          </a:p>
        </p:txBody>
      </p:sp>
      <p:sp>
        <p:nvSpPr>
          <p:cNvPr id="8" name="TextBox 7">
            <a:extLst>
              <a:ext uri="{FF2B5EF4-FFF2-40B4-BE49-F238E27FC236}">
                <a16:creationId xmlns:a16="http://schemas.microsoft.com/office/drawing/2014/main" id="{2D65C530-7499-81D3-37E5-0AC79E588236}"/>
              </a:ext>
            </a:extLst>
          </p:cNvPr>
          <p:cNvSpPr txBox="1"/>
          <p:nvPr/>
        </p:nvSpPr>
        <p:spPr>
          <a:xfrm>
            <a:off x="7806445" y="1760812"/>
            <a:ext cx="3891063" cy="830997"/>
          </a:xfrm>
          <a:prstGeom prst="rect">
            <a:avLst/>
          </a:prstGeom>
          <a:noFill/>
          <a:ln w="19050">
            <a:solidFill>
              <a:schemeClr val="accent1"/>
            </a:solidFill>
          </a:ln>
        </p:spPr>
        <p:txBody>
          <a:bodyPr wrap="square" rtlCol="0">
            <a:spAutoFit/>
          </a:bodyPr>
          <a:lstStyle/>
          <a:p>
            <a:r>
              <a:rPr lang="en-US" sz="1600" b="1" dirty="0"/>
              <a:t>Goal</a:t>
            </a:r>
            <a:r>
              <a:rPr lang="en-US" sz="1600" dirty="0"/>
              <a:t>: Covariance-aware, helical, reconstruction-level common-vertex determination.</a:t>
            </a:r>
          </a:p>
        </p:txBody>
      </p:sp>
      <p:sp>
        <p:nvSpPr>
          <p:cNvPr id="9" name="Down Arrow 8">
            <a:extLst>
              <a:ext uri="{FF2B5EF4-FFF2-40B4-BE49-F238E27FC236}">
                <a16:creationId xmlns:a16="http://schemas.microsoft.com/office/drawing/2014/main" id="{21410EEF-9B2F-D133-8008-B9C85CC43341}"/>
              </a:ext>
            </a:extLst>
          </p:cNvPr>
          <p:cNvSpPr/>
          <p:nvPr/>
        </p:nvSpPr>
        <p:spPr>
          <a:xfrm>
            <a:off x="9654699" y="1040259"/>
            <a:ext cx="278860" cy="584775"/>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4AA40BF-A71A-7822-5915-25E71D3F9D0F}"/>
              </a:ext>
            </a:extLst>
          </p:cNvPr>
          <p:cNvSpPr txBox="1"/>
          <p:nvPr/>
        </p:nvSpPr>
        <p:spPr>
          <a:xfrm>
            <a:off x="7010400" y="2966234"/>
            <a:ext cx="5032443" cy="3139321"/>
          </a:xfrm>
          <a:prstGeom prst="rect">
            <a:avLst/>
          </a:prstGeom>
          <a:noFill/>
          <a:ln w="19050">
            <a:solidFill>
              <a:srgbClr val="C00000"/>
            </a:solidFill>
          </a:ln>
        </p:spPr>
        <p:txBody>
          <a:bodyPr wrap="square" rtlCol="0">
            <a:spAutoFit/>
          </a:bodyPr>
          <a:lstStyle/>
          <a:p>
            <a:r>
              <a:rPr lang="en-US" b="1" i="1" dirty="0"/>
              <a:t>Deliverables: </a:t>
            </a:r>
          </a:p>
          <a:p>
            <a:pPr marL="285750" indent="-285750">
              <a:buFont typeface="Arial" panose="020B0604020202020204" pitchFamily="34" charset="0"/>
              <a:buChar char="•"/>
            </a:pPr>
            <a:r>
              <a:rPr lang="en-US" dirty="0"/>
              <a:t>Analyzable reconstructed-track and helix data product </a:t>
            </a:r>
          </a:p>
          <a:p>
            <a:pPr marL="285750" indent="-285750">
              <a:buFont typeface="Arial" panose="020B0604020202020204" pitchFamily="34" charset="0"/>
              <a:buChar char="•"/>
            </a:pPr>
            <a:r>
              <a:rPr lang="en-US" dirty="0"/>
              <a:t>Covariance-aware common-vertexing module using fitted helical trajectories </a:t>
            </a:r>
          </a:p>
          <a:p>
            <a:pPr marL="285750" indent="-285750">
              <a:buFont typeface="Arial" panose="020B0604020202020204" pitchFamily="34" charset="0"/>
              <a:buChar char="•"/>
            </a:pPr>
            <a:r>
              <a:rPr lang="en-US" dirty="0"/>
              <a:t>Vertex position, time, quality, and uncertainty estimates</a:t>
            </a:r>
          </a:p>
          <a:p>
            <a:pPr marL="285750" indent="-285750">
              <a:buFont typeface="Arial" panose="020B0604020202020204" pitchFamily="34" charset="0"/>
              <a:buChar char="•"/>
            </a:pPr>
            <a:r>
              <a:rPr lang="en-US" dirty="0"/>
              <a:t>Monte Carlo truth validation and integrated Mu2e art/</a:t>
            </a:r>
            <a:r>
              <a:rPr lang="en-US" dirty="0" err="1"/>
              <a:t>FHiCL</a:t>
            </a:r>
            <a:r>
              <a:rPr lang="en-US" dirty="0"/>
              <a:t> workflow </a:t>
            </a:r>
          </a:p>
          <a:p>
            <a:pPr marL="285750" indent="-285750">
              <a:buFont typeface="Arial" panose="020B0604020202020204" pitchFamily="34" charset="0"/>
              <a:buChar char="•"/>
            </a:pPr>
            <a:r>
              <a:rPr lang="en-US" dirty="0"/>
              <a:t>Vertex-quality variables for background discrimination</a:t>
            </a:r>
          </a:p>
        </p:txBody>
      </p:sp>
      <p:sp>
        <p:nvSpPr>
          <p:cNvPr id="2" name="Slide Number Placeholder 1">
            <a:extLst>
              <a:ext uri="{FF2B5EF4-FFF2-40B4-BE49-F238E27FC236}">
                <a16:creationId xmlns:a16="http://schemas.microsoft.com/office/drawing/2014/main" id="{1F082300-FBFD-324C-264B-08EFFAF7487A}"/>
              </a:ext>
            </a:extLst>
          </p:cNvPr>
          <p:cNvSpPr>
            <a:spLocks noGrp="1"/>
          </p:cNvSpPr>
          <p:nvPr>
            <p:ph type="sldNum" sz="quarter" idx="12"/>
          </p:nvPr>
        </p:nvSpPr>
        <p:spPr/>
        <p:txBody>
          <a:bodyPr/>
          <a:lstStyle/>
          <a:p>
            <a:fld id="{C0E0CB54-3DBF-E947-906E-85E307CF7971}" type="slidenum">
              <a:rPr lang="en-US" smtClean="0"/>
              <a:t>59</a:t>
            </a:fld>
            <a:endParaRPr lang="en-US"/>
          </a:p>
        </p:txBody>
      </p:sp>
    </p:spTree>
    <p:extLst>
      <p:ext uri="{BB962C8B-B14F-4D97-AF65-F5344CB8AC3E}">
        <p14:creationId xmlns:p14="http://schemas.microsoft.com/office/powerpoint/2010/main" val="1342103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699EC3-B19A-42E0-3396-2DD015FEE3E0}"/>
                  </a:ext>
                </a:extLst>
              </p:cNvPr>
              <p:cNvSpPr>
                <a:spLocks noGrp="1"/>
              </p:cNvSpPr>
              <p:nvPr>
                <p:ph idx="1"/>
              </p:nvPr>
            </p:nvSpPr>
            <p:spPr>
              <a:xfrm>
                <a:off x="0" y="916021"/>
                <a:ext cx="7016885" cy="5025957"/>
              </a:xfrm>
            </p:spPr>
            <p:txBody>
              <a:bodyPr>
                <a:normAutofit fontScale="70000" lnSpcReduction="20000"/>
              </a:bodyPr>
              <a:lstStyle/>
              <a:p>
                <a:r>
                  <a:rPr lang="en-US" dirty="0"/>
                  <a:t>Define representative signal–background overlay samples in consultation with the Mu2e production team, including realistic detector and pileup conditions.</a:t>
                </a:r>
              </a:p>
              <a:p>
                <a:r>
                  <a:rPr lang="en-US" dirty="0"/>
                  <a:t>Mix simulated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up>
                    </m:sSup>
                    <m:r>
                      <a:rPr lang="en-US"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oMath>
                </a14:m>
                <a:r>
                  <a:rPr lang="en-US" dirty="0"/>
                  <a:t>signal with DIO, cosmic-ray, beam-related, and other viable background processes, then digitize and reconstruct the combined samples.</a:t>
                </a:r>
              </a:p>
              <a:p>
                <a:r>
                  <a:rPr lang="en-US" dirty="0"/>
                  <a:t>Quantify the effects of occupancy and reconstruction combinatorics on two-electron candidate quality, track finding, common-vertex reconstruction, and signal efficiency.</a:t>
                </a:r>
              </a:p>
              <a:p>
                <a:r>
                  <a:rPr lang="en-US" dirty="0"/>
                  <a:t>Characterize background acceptance using reconstructed kinematics, timing, common-vertex consistency, track-fit quality, calorimeter matching, and cosmic-ray-veto information. </a:t>
                </a:r>
              </a:p>
              <a:p>
                <a:r>
                  <a:rPr lang="en-US" dirty="0"/>
                  <a:t>Establish a transparent baseline selection before evaluating whether anomaly-detection tools provide a robust improvement in signal–background discrimination.</a:t>
                </a:r>
              </a:p>
              <a:p>
                <a:r>
                  <a:rPr lang="en-US" dirty="0"/>
                  <a:t>Use the validated mixed samples to determine background yields, selection efficiency, systematic effects, and the final statistical sensitivity.</a:t>
                </a:r>
              </a:p>
              <a:p>
                <a:endParaRPr lang="en-US" dirty="0"/>
              </a:p>
            </p:txBody>
          </p:sp>
        </mc:Choice>
        <mc:Fallback xmlns="">
          <p:sp>
            <p:nvSpPr>
              <p:cNvPr id="3" name="Content Placeholder 2">
                <a:extLst>
                  <a:ext uri="{FF2B5EF4-FFF2-40B4-BE49-F238E27FC236}">
                    <a16:creationId xmlns:a16="http://schemas.microsoft.com/office/drawing/2014/main" id="{13699EC3-B19A-42E0-3396-2DD015FEE3E0}"/>
                  </a:ext>
                </a:extLst>
              </p:cNvPr>
              <p:cNvSpPr>
                <a:spLocks noGrp="1" noRot="1" noChangeAspect="1" noMove="1" noResize="1" noEditPoints="1" noAdjustHandles="1" noChangeArrowheads="1" noChangeShapeType="1" noTextEdit="1"/>
              </p:cNvSpPr>
              <p:nvPr>
                <p:ph idx="1"/>
              </p:nvPr>
            </p:nvSpPr>
            <p:spPr>
              <a:xfrm>
                <a:off x="0" y="916021"/>
                <a:ext cx="7016885" cy="5025957"/>
              </a:xfrm>
              <a:blipFill>
                <a:blip r:embed="rId2"/>
                <a:stretch>
                  <a:fillRect l="-723" t="-2015" r="-723" b="-20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963DDD82-1C4B-6E5A-D844-2CD4FEDBE047}"/>
                  </a:ext>
                </a:extLst>
              </p:cNvPr>
              <p:cNvSpPr txBox="1">
                <a:spLocks/>
              </p:cNvSpPr>
              <p:nvPr/>
            </p:nvSpPr>
            <p:spPr>
              <a:xfrm>
                <a:off x="0" y="0"/>
                <a:ext cx="10515600" cy="55123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Mixing of Relevant Backgrounds with </a:t>
                </a:r>
                <a14:m>
                  <m:oMath xmlns:m="http://schemas.openxmlformats.org/officeDocument/2006/math">
                    <m:sSup>
                      <m:sSupPr>
                        <m:ctrlPr>
                          <a:rPr lang="en-US" sz="2800" i="1" smtClean="0">
                            <a:solidFill>
                              <a:srgbClr val="C00000"/>
                            </a:solidFill>
                            <a:latin typeface="Cambria Math" panose="02040503050406030204" pitchFamily="18" charset="0"/>
                            <a:ea typeface="Cambria Math" panose="02040503050406030204" pitchFamily="18" charset="0"/>
                          </a:rPr>
                        </m:ctrlPr>
                      </m:sSupPr>
                      <m:e>
                        <m:r>
                          <a:rPr lang="en-US" sz="2800" i="1" smtClean="0">
                            <a:solidFill>
                              <a:srgbClr val="C00000"/>
                            </a:solidFill>
                            <a:latin typeface="Cambria Math" panose="02040503050406030204" pitchFamily="18" charset="0"/>
                            <a:ea typeface="Cambria Math" panose="02040503050406030204" pitchFamily="18" charset="0"/>
                          </a:rPr>
                          <m:t>𝜇</m:t>
                        </m:r>
                      </m:e>
                      <m:sup>
                        <m:r>
                          <a:rPr lang="en-US" sz="2800" b="0" i="1" smtClean="0">
                            <a:solidFill>
                              <a:srgbClr val="C00000"/>
                            </a:solidFill>
                            <a:latin typeface="Cambria Math" panose="02040503050406030204" pitchFamily="18" charset="0"/>
                          </a:rPr>
                          <m:t>−</m:t>
                        </m:r>
                      </m:sup>
                    </m:sSup>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𝑒</m:t>
                        </m:r>
                      </m:e>
                      <m:sup>
                        <m:r>
                          <a:rPr lang="en-US" sz="2800" b="0" i="1" smtClean="0">
                            <a:solidFill>
                              <a:srgbClr val="C00000"/>
                            </a:solidFill>
                            <a:latin typeface="Cambria Math" panose="02040503050406030204" pitchFamily="18" charset="0"/>
                          </a:rPr>
                          <m:t>−</m:t>
                        </m:r>
                      </m:sup>
                    </m:sSup>
                    <m:r>
                      <a:rPr lang="en-US" sz="2800" i="1" smtClean="0">
                        <a:solidFill>
                          <a:srgbClr val="C00000"/>
                        </a:solidFill>
                        <a:latin typeface="Cambria Math" panose="02040503050406030204" pitchFamily="18" charset="0"/>
                        <a:ea typeface="Cambria Math" panose="02040503050406030204" pitchFamily="18" charset="0"/>
                      </a:rPr>
                      <m:t>→</m:t>
                    </m:r>
                    <m:sSup>
                      <m:sSupPr>
                        <m:ctrlPr>
                          <a:rPr lang="en-US" sz="2800" b="0" i="1" smtClean="0">
                            <a:solidFill>
                              <a:srgbClr val="C00000"/>
                            </a:solidFill>
                            <a:latin typeface="Cambria Math" panose="02040503050406030204" pitchFamily="18" charset="0"/>
                            <a:ea typeface="Cambria Math" panose="02040503050406030204" pitchFamily="18" charset="0"/>
                          </a:rPr>
                        </m:ctrlPr>
                      </m:sSupPr>
                      <m:e>
                        <m:r>
                          <a:rPr lang="en-US" sz="2800" b="0" i="1" smtClean="0">
                            <a:solidFill>
                              <a:srgbClr val="C00000"/>
                            </a:solidFill>
                            <a:latin typeface="Cambria Math" panose="02040503050406030204" pitchFamily="18" charset="0"/>
                            <a:ea typeface="Cambria Math" panose="02040503050406030204" pitchFamily="18" charset="0"/>
                          </a:rPr>
                          <m:t>𝑒</m:t>
                        </m:r>
                      </m:e>
                      <m:sup>
                        <m:r>
                          <a:rPr lang="en-US" sz="2800" b="0" i="1" smtClean="0">
                            <a:solidFill>
                              <a:srgbClr val="C00000"/>
                            </a:solidFill>
                            <a:latin typeface="Cambria Math" panose="02040503050406030204" pitchFamily="18" charset="0"/>
                            <a:ea typeface="Cambria Math" panose="02040503050406030204" pitchFamily="18" charset="0"/>
                          </a:rPr>
                          <m:t>−</m:t>
                        </m:r>
                      </m:sup>
                    </m:sSup>
                    <m:sSup>
                      <m:sSupPr>
                        <m:ctrlPr>
                          <a:rPr lang="en-US" sz="2800" b="0" i="1" smtClean="0">
                            <a:solidFill>
                              <a:srgbClr val="C00000"/>
                            </a:solidFill>
                            <a:latin typeface="Cambria Math" panose="02040503050406030204" pitchFamily="18" charset="0"/>
                            <a:ea typeface="Cambria Math" panose="02040503050406030204" pitchFamily="18" charset="0"/>
                          </a:rPr>
                        </m:ctrlPr>
                      </m:sSupPr>
                      <m:e>
                        <m:r>
                          <a:rPr lang="en-US" sz="2800" b="0" i="1" smtClean="0">
                            <a:solidFill>
                              <a:srgbClr val="C00000"/>
                            </a:solidFill>
                            <a:latin typeface="Cambria Math" panose="02040503050406030204" pitchFamily="18" charset="0"/>
                            <a:ea typeface="Cambria Math" panose="02040503050406030204" pitchFamily="18" charset="0"/>
                          </a:rPr>
                          <m:t>𝑒</m:t>
                        </m:r>
                      </m:e>
                      <m:sup>
                        <m:r>
                          <a:rPr lang="en-US" sz="2800" b="0" i="1" smtClean="0">
                            <a:solidFill>
                              <a:srgbClr val="C00000"/>
                            </a:solidFill>
                            <a:latin typeface="Cambria Math" panose="02040503050406030204" pitchFamily="18" charset="0"/>
                            <a:ea typeface="Cambria Math" panose="02040503050406030204" pitchFamily="18" charset="0"/>
                          </a:rPr>
                          <m:t>−</m:t>
                        </m:r>
                      </m:sup>
                    </m:sSup>
                  </m:oMath>
                </a14:m>
                <a:r>
                  <a:rPr lang="en-US" sz="2800" dirty="0">
                    <a:solidFill>
                      <a:srgbClr val="C00000"/>
                    </a:solidFill>
                  </a:rPr>
                  <a:t> Process</a:t>
                </a:r>
              </a:p>
            </p:txBody>
          </p:sp>
        </mc:Choice>
        <mc:Fallback xmlns="">
          <p:sp>
            <p:nvSpPr>
              <p:cNvPr id="4" name="Title 1">
                <a:extLst>
                  <a:ext uri="{FF2B5EF4-FFF2-40B4-BE49-F238E27FC236}">
                    <a16:creationId xmlns:a16="http://schemas.microsoft.com/office/drawing/2014/main" id="{963DDD82-1C4B-6E5A-D844-2CD4FEDBE047}"/>
                  </a:ext>
                </a:extLst>
              </p:cNvPr>
              <p:cNvSpPr txBox="1">
                <a:spLocks noRot="1" noChangeAspect="1" noMove="1" noResize="1" noEditPoints="1" noAdjustHandles="1" noChangeArrowheads="1" noChangeShapeType="1" noTextEdit="1"/>
              </p:cNvSpPr>
              <p:nvPr/>
            </p:nvSpPr>
            <p:spPr>
              <a:xfrm>
                <a:off x="0" y="0"/>
                <a:ext cx="10515600" cy="551234"/>
              </a:xfrm>
              <a:prstGeom prst="rect">
                <a:avLst/>
              </a:prstGeom>
              <a:blipFill>
                <a:blip r:embed="rId3"/>
                <a:stretch>
                  <a:fillRect l="-1206" t="-11364" b="-2045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0F42097B-FB55-3E5E-58EC-871DEDCFF4D2}"/>
              </a:ext>
            </a:extLst>
          </p:cNvPr>
          <p:cNvSpPr txBox="1"/>
          <p:nvPr/>
        </p:nvSpPr>
        <p:spPr>
          <a:xfrm>
            <a:off x="7576224" y="500522"/>
            <a:ext cx="3891063" cy="830997"/>
          </a:xfrm>
          <a:prstGeom prst="rect">
            <a:avLst/>
          </a:prstGeom>
          <a:noFill/>
          <a:ln w="19050">
            <a:solidFill>
              <a:schemeClr val="accent1"/>
            </a:solidFill>
          </a:ln>
        </p:spPr>
        <p:txBody>
          <a:bodyPr wrap="square" rtlCol="0">
            <a:spAutoFit/>
          </a:bodyPr>
          <a:lstStyle/>
          <a:p>
            <a:r>
              <a:rPr lang="en-US" sz="1600" b="1" dirty="0"/>
              <a:t>Current</a:t>
            </a:r>
            <a:r>
              <a:rPr lang="en-US" sz="1600" dirty="0"/>
              <a:t>: Reconstructed signal-only studies and preliminary signal characterization.</a:t>
            </a:r>
          </a:p>
        </p:txBody>
      </p:sp>
      <p:sp>
        <p:nvSpPr>
          <p:cNvPr id="7" name="TextBox 6">
            <a:extLst>
              <a:ext uri="{FF2B5EF4-FFF2-40B4-BE49-F238E27FC236}">
                <a16:creationId xmlns:a16="http://schemas.microsoft.com/office/drawing/2014/main" id="{F0C692C3-E6C1-DC23-6C8F-2AA2E169B251}"/>
              </a:ext>
            </a:extLst>
          </p:cNvPr>
          <p:cNvSpPr txBox="1"/>
          <p:nvPr/>
        </p:nvSpPr>
        <p:spPr>
          <a:xfrm>
            <a:off x="7576222" y="2043872"/>
            <a:ext cx="3891063" cy="1077218"/>
          </a:xfrm>
          <a:prstGeom prst="rect">
            <a:avLst/>
          </a:prstGeom>
          <a:noFill/>
          <a:ln w="19050">
            <a:solidFill>
              <a:schemeClr val="accent1"/>
            </a:solidFill>
          </a:ln>
        </p:spPr>
        <p:txBody>
          <a:bodyPr wrap="square" rtlCol="0">
            <a:spAutoFit/>
          </a:bodyPr>
          <a:lstStyle/>
          <a:p>
            <a:r>
              <a:rPr lang="en-US" sz="1600" b="1" dirty="0"/>
              <a:t>Goal</a:t>
            </a:r>
            <a:r>
              <a:rPr lang="en-US" sz="1600" dirty="0"/>
              <a:t>: Production-team-supported, reconstruction-level signal–background mixing and validated discrimination performance.</a:t>
            </a:r>
          </a:p>
        </p:txBody>
      </p:sp>
      <p:sp>
        <p:nvSpPr>
          <p:cNvPr id="8" name="Down Arrow 7">
            <a:extLst>
              <a:ext uri="{FF2B5EF4-FFF2-40B4-BE49-F238E27FC236}">
                <a16:creationId xmlns:a16="http://schemas.microsoft.com/office/drawing/2014/main" id="{B527A4C4-F076-5F3B-364F-28FB4BE01DDF}"/>
              </a:ext>
            </a:extLst>
          </p:cNvPr>
          <p:cNvSpPr/>
          <p:nvPr/>
        </p:nvSpPr>
        <p:spPr>
          <a:xfrm>
            <a:off x="9382324" y="1411629"/>
            <a:ext cx="278860" cy="528126"/>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4E7B45A-407C-8FD7-9867-FE1A8F3A41F5}"/>
              </a:ext>
            </a:extLst>
          </p:cNvPr>
          <p:cNvSpPr txBox="1"/>
          <p:nvPr/>
        </p:nvSpPr>
        <p:spPr>
          <a:xfrm>
            <a:off x="7005531" y="3299566"/>
            <a:ext cx="5032443" cy="3354765"/>
          </a:xfrm>
          <a:prstGeom prst="rect">
            <a:avLst/>
          </a:prstGeom>
          <a:noFill/>
          <a:ln w="19050">
            <a:solidFill>
              <a:srgbClr val="C00000"/>
            </a:solidFill>
          </a:ln>
        </p:spPr>
        <p:txBody>
          <a:bodyPr wrap="square" rtlCol="0">
            <a:spAutoFit/>
          </a:bodyPr>
          <a:lstStyle/>
          <a:p>
            <a:r>
              <a:rPr lang="en-US" sz="1600" b="1" i="1" dirty="0"/>
              <a:t>Deliverables: </a:t>
            </a:r>
          </a:p>
          <a:p>
            <a:pPr marL="285750" indent="-285750">
              <a:buFont typeface="Arial" panose="020B0604020202020204" pitchFamily="34" charset="0"/>
              <a:buChar char="•"/>
            </a:pPr>
            <a:r>
              <a:rPr lang="en-US" sz="1600" dirty="0"/>
              <a:t>Production-team-supported mixed signal–background samples</a:t>
            </a:r>
          </a:p>
          <a:p>
            <a:pPr marL="285750" indent="-285750">
              <a:buFont typeface="Arial" panose="020B0604020202020204" pitchFamily="34" charset="0"/>
              <a:buChar char="•"/>
            </a:pPr>
            <a:r>
              <a:rPr lang="en-US" sz="1600" dirty="0"/>
              <a:t>Reconstructed DIO, cosmic-ray, RPC/RMC, beam-related, and other viable background samples</a:t>
            </a:r>
          </a:p>
          <a:p>
            <a:pPr marL="285750" indent="-285750">
              <a:buFont typeface="Arial" panose="020B0604020202020204" pitchFamily="34" charset="0"/>
              <a:buChar char="•"/>
            </a:pPr>
            <a:r>
              <a:rPr lang="en-US" sz="1600" dirty="0"/>
              <a:t>Occupancy and reconstruction-combinatoric characterization</a:t>
            </a:r>
          </a:p>
          <a:p>
            <a:pPr marL="285750" indent="-285750">
              <a:buFont typeface="Arial" panose="020B0604020202020204" pitchFamily="34" charset="0"/>
              <a:buChar char="•"/>
            </a:pPr>
            <a:r>
              <a:rPr lang="en-US" sz="1600" dirty="0"/>
              <a:t>Baseline signal–background discrimination procedure</a:t>
            </a:r>
          </a:p>
          <a:p>
            <a:pPr marL="285750" indent="-285750">
              <a:buFont typeface="Arial" panose="020B0604020202020204" pitchFamily="34" charset="0"/>
              <a:buChar char="•"/>
            </a:pPr>
            <a:r>
              <a:rPr lang="en-US" sz="1600" dirty="0"/>
              <a:t>Classical-selection versus ML/anomaly-detection comparison</a:t>
            </a:r>
          </a:p>
          <a:p>
            <a:pPr marL="285750" indent="-285750">
              <a:buFont typeface="Arial" panose="020B0604020202020204" pitchFamily="34" charset="0"/>
              <a:buChar char="•"/>
            </a:pPr>
            <a:r>
              <a:rPr lang="en-US" sz="1600" dirty="0"/>
              <a:t>Validated background yields, signal efficiency, and systematic inputs</a:t>
            </a:r>
          </a:p>
        </p:txBody>
      </p:sp>
      <p:sp>
        <p:nvSpPr>
          <p:cNvPr id="10" name="Slide Number Placeholder 9">
            <a:extLst>
              <a:ext uri="{FF2B5EF4-FFF2-40B4-BE49-F238E27FC236}">
                <a16:creationId xmlns:a16="http://schemas.microsoft.com/office/drawing/2014/main" id="{4BE6A5E9-7F64-276A-021A-452EBE2DFFB0}"/>
              </a:ext>
            </a:extLst>
          </p:cNvPr>
          <p:cNvSpPr>
            <a:spLocks noGrp="1"/>
          </p:cNvSpPr>
          <p:nvPr>
            <p:ph type="sldNum" sz="quarter" idx="12"/>
          </p:nvPr>
        </p:nvSpPr>
        <p:spPr/>
        <p:txBody>
          <a:bodyPr/>
          <a:lstStyle/>
          <a:p>
            <a:fld id="{C0E0CB54-3DBF-E947-906E-85E307CF7971}" type="slidenum">
              <a:rPr lang="en-US" smtClean="0"/>
              <a:t>60</a:t>
            </a:fld>
            <a:endParaRPr lang="en-US"/>
          </a:p>
        </p:txBody>
      </p:sp>
    </p:spTree>
    <p:extLst>
      <p:ext uri="{BB962C8B-B14F-4D97-AF65-F5344CB8AC3E}">
        <p14:creationId xmlns:p14="http://schemas.microsoft.com/office/powerpoint/2010/main" val="34594758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97D72-1232-8602-B329-96368A926C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E1BBC2-A2D0-5783-DC4B-492A97DE229D}"/>
              </a:ext>
            </a:extLst>
          </p:cNvPr>
          <p:cNvSpPr>
            <a:spLocks noGrp="1"/>
          </p:cNvSpPr>
          <p:nvPr>
            <p:ph idx="1"/>
          </p:nvPr>
        </p:nvSpPr>
        <p:spPr>
          <a:xfrm>
            <a:off x="0" y="916021"/>
            <a:ext cx="7016885" cy="5025957"/>
          </a:xfrm>
        </p:spPr>
        <p:txBody>
          <a:bodyPr>
            <a:normAutofit fontScale="70000" lnSpcReduction="20000"/>
          </a:bodyPr>
          <a:lstStyle/>
          <a:p>
            <a:r>
              <a:rPr lang="en-US" dirty="0"/>
              <a:t>Replace the equal-energy, exactly back-to-back toy kinematics with theory-derived differential distributions in electron energy and opening angle.</a:t>
            </a:r>
          </a:p>
          <a:p>
            <a:r>
              <a:rPr lang="en-US" dirty="0"/>
              <a:t>Implement interaction weights for representative CLFV operator benchmarks, allowing the generated kinematics to reflect the underlying physical model.</a:t>
            </a:r>
          </a:p>
          <a:p>
            <a:r>
              <a:rPr lang="en-US" dirty="0"/>
              <a:t>Incorporate bound-state effects of the muonic aluminum atom and aluminum nuclear recoil, which modify the idealized two-electron kinematics.</a:t>
            </a:r>
          </a:p>
          <a:p>
            <a:r>
              <a:rPr lang="en-US" dirty="0"/>
              <a:t>Preserve a reproducible Mu2e generator-to-reconstruction workflow while producing high-statistics signal samples over the relevant kinematic benchmarks.</a:t>
            </a:r>
          </a:p>
          <a:p>
            <a:r>
              <a:rPr lang="en-US" dirty="0"/>
              <a:t>Validate the refined generator at truth level through energy–momentum conservation, expected energy/angular distributions, and comparisons with published theoretical predictions.</a:t>
            </a:r>
          </a:p>
          <a:p>
            <a:r>
              <a:rPr lang="en-US" dirty="0"/>
              <a:t>Propagate the physics-weighted samples through detector simulation and reconstruction to measure their effects on acceptance, efficiency, vertexing, background discrimination, and final sensitivity.</a:t>
            </a:r>
          </a:p>
        </p:txBody>
      </p:sp>
      <p:sp>
        <p:nvSpPr>
          <p:cNvPr id="4" name="Title 1">
            <a:extLst>
              <a:ext uri="{FF2B5EF4-FFF2-40B4-BE49-F238E27FC236}">
                <a16:creationId xmlns:a16="http://schemas.microsoft.com/office/drawing/2014/main" id="{7EB01349-FA02-660F-E61D-19A1C22F735C}"/>
              </a:ext>
            </a:extLst>
          </p:cNvPr>
          <p:cNvSpPr txBox="1">
            <a:spLocks/>
          </p:cNvSpPr>
          <p:nvPr/>
        </p:nvSpPr>
        <p:spPr>
          <a:xfrm>
            <a:off x="0" y="0"/>
            <a:ext cx="10515600" cy="55123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Theoretical Refinement of Toy Generator</a:t>
            </a:r>
          </a:p>
        </p:txBody>
      </p:sp>
      <p:sp>
        <p:nvSpPr>
          <p:cNvPr id="2" name="TextBox 1">
            <a:extLst>
              <a:ext uri="{FF2B5EF4-FFF2-40B4-BE49-F238E27FC236}">
                <a16:creationId xmlns:a16="http://schemas.microsoft.com/office/drawing/2014/main" id="{77C9D90C-21FD-666F-E60D-499B2EE91278}"/>
              </a:ext>
            </a:extLst>
          </p:cNvPr>
          <p:cNvSpPr txBox="1"/>
          <p:nvPr/>
        </p:nvSpPr>
        <p:spPr>
          <a:xfrm>
            <a:off x="7576222" y="457873"/>
            <a:ext cx="3891063" cy="830997"/>
          </a:xfrm>
          <a:prstGeom prst="rect">
            <a:avLst/>
          </a:prstGeom>
          <a:noFill/>
          <a:ln w="19050">
            <a:solidFill>
              <a:schemeClr val="accent1"/>
            </a:solidFill>
          </a:ln>
        </p:spPr>
        <p:txBody>
          <a:bodyPr wrap="square" rtlCol="0">
            <a:spAutoFit/>
          </a:bodyPr>
          <a:lstStyle/>
          <a:p>
            <a:r>
              <a:rPr lang="en-US" sz="1600" b="1" dirty="0"/>
              <a:t>Current</a:t>
            </a:r>
            <a:r>
              <a:rPr lang="en-US" sz="1600" dirty="0"/>
              <a:t>: Validated simplified generator with equal-energy, isotropic, exactly back-to-back electrons.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070230-6C34-1883-F4DB-253F583E9E6A}"/>
                  </a:ext>
                </a:extLst>
              </p:cNvPr>
              <p:cNvSpPr txBox="1"/>
              <p:nvPr/>
            </p:nvSpPr>
            <p:spPr>
              <a:xfrm>
                <a:off x="7576221" y="1953727"/>
                <a:ext cx="3891063" cy="830997"/>
              </a:xfrm>
              <a:prstGeom prst="rect">
                <a:avLst/>
              </a:prstGeom>
              <a:noFill/>
              <a:ln w="19050">
                <a:solidFill>
                  <a:schemeClr val="accent1"/>
                </a:solidFill>
              </a:ln>
            </p:spPr>
            <p:txBody>
              <a:bodyPr wrap="square" rtlCol="0">
                <a:spAutoFit/>
              </a:bodyPr>
              <a:lstStyle/>
              <a:p>
                <a:r>
                  <a:rPr lang="en-US" sz="1600" b="1" dirty="0"/>
                  <a:t>Goal</a:t>
                </a:r>
                <a:r>
                  <a:rPr lang="en-US" sz="1600" dirty="0"/>
                  <a:t>: Theory-weighted, recoil-aware </a:t>
                </a:r>
                <a14:m>
                  <m:oMath xmlns:m="http://schemas.openxmlformats.org/officeDocument/2006/math">
                    <m:sSup>
                      <m:sSupPr>
                        <m:ctrlPr>
                          <a:rPr lang="en-US" sz="1600" i="1" smtClean="0">
                            <a:latin typeface="Cambria Math" panose="02040503050406030204" pitchFamily="18" charset="0"/>
                            <a:ea typeface="Cambria Math" panose="02040503050406030204" pitchFamily="18" charset="0"/>
                          </a:rPr>
                        </m:ctrlPr>
                      </m:sSupPr>
                      <m:e>
                        <m:r>
                          <a:rPr lang="en-US" sz="1600" i="1" smtClean="0">
                            <a:latin typeface="Cambria Math" panose="02040503050406030204" pitchFamily="18" charset="0"/>
                            <a:ea typeface="Cambria Math" panose="02040503050406030204" pitchFamily="18" charset="0"/>
                          </a:rPr>
                          <m:t>𝜇</m:t>
                        </m:r>
                      </m:e>
                      <m:sup>
                        <m:r>
                          <a:rPr lang="en-US" sz="1600" b="0" i="1" smtClean="0">
                            <a:latin typeface="Cambria Math" panose="02040503050406030204" pitchFamily="18" charset="0"/>
                          </a:rPr>
                          <m:t>−</m:t>
                        </m:r>
                      </m:sup>
                    </m:sSup>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sup>
                    </m:sSup>
                    <m:r>
                      <a:rPr lang="en-US" sz="160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𝑒</m:t>
                        </m:r>
                      </m:e>
                      <m:sup>
                        <m:r>
                          <a:rPr lang="en-US" sz="1600" b="0" i="1" smtClean="0">
                            <a:latin typeface="Cambria Math" panose="02040503050406030204" pitchFamily="18" charset="0"/>
                            <a:ea typeface="Cambria Math" panose="02040503050406030204" pitchFamily="18" charset="0"/>
                          </a:rPr>
                          <m:t>−</m:t>
                        </m:r>
                      </m:sup>
                    </m:sSup>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𝑒</m:t>
                        </m:r>
                      </m:e>
                      <m:sup>
                        <m:r>
                          <a:rPr lang="en-US" sz="1600" b="0" i="1" smtClean="0">
                            <a:latin typeface="Cambria Math" panose="02040503050406030204" pitchFamily="18" charset="0"/>
                            <a:ea typeface="Cambria Math" panose="02040503050406030204" pitchFamily="18" charset="0"/>
                          </a:rPr>
                          <m:t>−</m:t>
                        </m:r>
                      </m:sup>
                    </m:sSup>
                    <m:r>
                      <a:rPr lang="en-US" sz="1600" b="0" i="1" smtClean="0">
                        <a:latin typeface="Cambria Math" panose="02040503050406030204" pitchFamily="18" charset="0"/>
                        <a:ea typeface="Cambria Math" panose="02040503050406030204" pitchFamily="18" charset="0"/>
                      </a:rPr>
                      <m:t> </m:t>
                    </m:r>
                  </m:oMath>
                </a14:m>
                <a:r>
                  <a:rPr lang="en-US" sz="1600" dirty="0"/>
                  <a:t>signal generator with realistic energy and angular correlations.</a:t>
                </a:r>
              </a:p>
            </p:txBody>
          </p:sp>
        </mc:Choice>
        <mc:Fallback xmlns="">
          <p:sp>
            <p:nvSpPr>
              <p:cNvPr id="7" name="TextBox 6">
                <a:extLst>
                  <a:ext uri="{FF2B5EF4-FFF2-40B4-BE49-F238E27FC236}">
                    <a16:creationId xmlns:a16="http://schemas.microsoft.com/office/drawing/2014/main" id="{0A070230-6C34-1883-F4DB-253F583E9E6A}"/>
                  </a:ext>
                </a:extLst>
              </p:cNvPr>
              <p:cNvSpPr txBox="1">
                <a:spLocks noRot="1" noChangeAspect="1" noMove="1" noResize="1" noEditPoints="1" noAdjustHandles="1" noChangeArrowheads="1" noChangeShapeType="1" noTextEdit="1"/>
              </p:cNvSpPr>
              <p:nvPr/>
            </p:nvSpPr>
            <p:spPr>
              <a:xfrm>
                <a:off x="7576221" y="1953727"/>
                <a:ext cx="3891063" cy="830997"/>
              </a:xfrm>
              <a:prstGeom prst="rect">
                <a:avLst/>
              </a:prstGeom>
              <a:blipFill>
                <a:blip r:embed="rId2"/>
                <a:stretch>
                  <a:fillRect l="-649" t="-1471" b="-5882"/>
                </a:stretch>
              </a:blipFill>
              <a:ln w="19050">
                <a:solidFill>
                  <a:schemeClr val="accent1"/>
                </a:solidFill>
              </a:ln>
            </p:spPr>
            <p:txBody>
              <a:bodyPr/>
              <a:lstStyle/>
              <a:p>
                <a:r>
                  <a:rPr lang="en-US">
                    <a:noFill/>
                  </a:rPr>
                  <a:t> </a:t>
                </a:r>
              </a:p>
            </p:txBody>
          </p:sp>
        </mc:Fallback>
      </mc:AlternateContent>
      <p:sp>
        <p:nvSpPr>
          <p:cNvPr id="8" name="Down Arrow 7">
            <a:extLst>
              <a:ext uri="{FF2B5EF4-FFF2-40B4-BE49-F238E27FC236}">
                <a16:creationId xmlns:a16="http://schemas.microsoft.com/office/drawing/2014/main" id="{5D0697B5-F2B8-F671-48BB-518F0E9A566B}"/>
              </a:ext>
            </a:extLst>
          </p:cNvPr>
          <p:cNvSpPr/>
          <p:nvPr/>
        </p:nvSpPr>
        <p:spPr>
          <a:xfrm>
            <a:off x="9382323" y="1402221"/>
            <a:ext cx="278860" cy="438155"/>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D7B4D313-3572-1A6A-1AFA-E92756874D82}"/>
              </a:ext>
            </a:extLst>
          </p:cNvPr>
          <p:cNvSpPr txBox="1"/>
          <p:nvPr/>
        </p:nvSpPr>
        <p:spPr>
          <a:xfrm>
            <a:off x="6934194" y="3045362"/>
            <a:ext cx="5032443" cy="3385542"/>
          </a:xfrm>
          <a:prstGeom prst="rect">
            <a:avLst/>
          </a:prstGeom>
          <a:noFill/>
          <a:ln w="19050">
            <a:solidFill>
              <a:srgbClr val="C00000"/>
            </a:solidFill>
          </a:ln>
        </p:spPr>
        <p:txBody>
          <a:bodyPr wrap="square" rtlCol="0">
            <a:spAutoFit/>
          </a:bodyPr>
          <a:lstStyle/>
          <a:p>
            <a:r>
              <a:rPr lang="en-US" b="1" i="1" dirty="0"/>
              <a:t>Deliverables: </a:t>
            </a:r>
          </a:p>
          <a:p>
            <a:pPr marL="285750" indent="-285750">
              <a:buFont typeface="Arial" panose="020B0604020202020204" pitchFamily="34" charset="0"/>
              <a:buChar char="•"/>
            </a:pPr>
            <a:r>
              <a:rPr lang="en-US" dirty="0"/>
              <a:t>Theory-weighted </a:t>
            </a:r>
            <a:r>
              <a:rPr lang="el-GR" dirty="0"/>
              <a:t>μ⁻</a:t>
            </a:r>
            <a:r>
              <a:rPr lang="en-US" dirty="0"/>
              <a:t>e⁻ → </a:t>
            </a:r>
            <a:r>
              <a:rPr lang="en-US" dirty="0" err="1"/>
              <a:t>e⁻e</a:t>
            </a:r>
            <a:r>
              <a:rPr lang="en-US" dirty="0"/>
              <a:t>⁻ event generator</a:t>
            </a:r>
          </a:p>
          <a:p>
            <a:pPr marL="285750" indent="-285750">
              <a:buFont typeface="Arial" panose="020B0604020202020204" pitchFamily="34" charset="0"/>
              <a:buChar char="•"/>
            </a:pPr>
            <a:r>
              <a:rPr lang="en-US" dirty="0"/>
              <a:t>Correlated electron-energy and opening-angle distributions</a:t>
            </a:r>
          </a:p>
          <a:p>
            <a:pPr marL="285750" indent="-285750">
              <a:buFont typeface="Arial" panose="020B0604020202020204" pitchFamily="34" charset="0"/>
              <a:buChar char="•"/>
            </a:pPr>
            <a:r>
              <a:rPr lang="en-US" dirty="0"/>
              <a:t>Muonic-aluminum bound-state effects and aluminum nuclear recoil</a:t>
            </a:r>
          </a:p>
          <a:p>
            <a:pPr marL="285750" indent="-285750">
              <a:buFont typeface="Arial" panose="020B0604020202020204" pitchFamily="34" charset="0"/>
              <a:buChar char="•"/>
            </a:pPr>
            <a:r>
              <a:rPr lang="en-US" dirty="0"/>
              <a:t>Kinematic validation against conservation laws and theoretical distributions</a:t>
            </a:r>
          </a:p>
          <a:p>
            <a:pPr marL="285750" indent="-285750">
              <a:buFont typeface="Arial" panose="020B0604020202020204" pitchFamily="34" charset="0"/>
              <a:buChar char="•"/>
            </a:pPr>
            <a:r>
              <a:rPr lang="en-US" dirty="0"/>
              <a:t>Reproducible high-statistics reconstructed signal samples</a:t>
            </a:r>
          </a:p>
          <a:p>
            <a:pPr marL="285750" indent="-285750">
              <a:buFont typeface="Arial" panose="020B0604020202020204" pitchFamily="34" charset="0"/>
              <a:buChar char="•"/>
            </a:pPr>
            <a:r>
              <a:rPr lang="en-US" dirty="0"/>
              <a:t>Updated mixed samples using the refined signal model</a:t>
            </a:r>
          </a:p>
        </p:txBody>
      </p:sp>
      <p:sp>
        <p:nvSpPr>
          <p:cNvPr id="10" name="Slide Number Placeholder 9">
            <a:extLst>
              <a:ext uri="{FF2B5EF4-FFF2-40B4-BE49-F238E27FC236}">
                <a16:creationId xmlns:a16="http://schemas.microsoft.com/office/drawing/2014/main" id="{52204E06-AF7F-DE11-A759-696D2F7E46F7}"/>
              </a:ext>
            </a:extLst>
          </p:cNvPr>
          <p:cNvSpPr>
            <a:spLocks noGrp="1"/>
          </p:cNvSpPr>
          <p:nvPr>
            <p:ph type="sldNum" sz="quarter" idx="12"/>
          </p:nvPr>
        </p:nvSpPr>
        <p:spPr/>
        <p:txBody>
          <a:bodyPr/>
          <a:lstStyle/>
          <a:p>
            <a:fld id="{C0E0CB54-3DBF-E947-906E-85E307CF7971}" type="slidenum">
              <a:rPr lang="en-US" smtClean="0"/>
              <a:t>61</a:t>
            </a:fld>
            <a:endParaRPr lang="en-US"/>
          </a:p>
        </p:txBody>
      </p:sp>
    </p:spTree>
    <p:extLst>
      <p:ext uri="{BB962C8B-B14F-4D97-AF65-F5344CB8AC3E}">
        <p14:creationId xmlns:p14="http://schemas.microsoft.com/office/powerpoint/2010/main" val="21589119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9B291-DDC3-583E-B283-EFAB69A677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5989B2-105E-378D-4372-8D5600E3EAD9}"/>
              </a:ext>
            </a:extLst>
          </p:cNvPr>
          <p:cNvSpPr>
            <a:spLocks noGrp="1"/>
          </p:cNvSpPr>
          <p:nvPr>
            <p:ph idx="1"/>
          </p:nvPr>
        </p:nvSpPr>
        <p:spPr>
          <a:xfrm>
            <a:off x="-45396" y="1129629"/>
            <a:ext cx="7016885" cy="4440677"/>
          </a:xfrm>
        </p:spPr>
        <p:txBody>
          <a:bodyPr>
            <a:normAutofit fontScale="62500" lnSpcReduction="20000"/>
          </a:bodyPr>
          <a:lstStyle/>
          <a:p>
            <a:r>
              <a:rPr lang="en-US" dirty="0"/>
              <a:t>Combine the validated signal generator, reconstruction efficiency, common-vertexing performance, and mixed-background samples into a reconstruction-level sensitivity model.</a:t>
            </a:r>
          </a:p>
          <a:p>
            <a:r>
              <a:rPr lang="en-US" dirty="0"/>
              <a:t>Estimate the expected background yield after selection, including its composition and dependence on detector occupancy and reconstruction performance.</a:t>
            </a:r>
          </a:p>
          <a:p>
            <a:r>
              <a:rPr lang="en-US" dirty="0"/>
              <a:t>Use Poisson likelihood methods and confidence-interval constructions, including Feldman–Cousins methods where appropriate for low event counts, to obtain expected branching-ratio limits.</a:t>
            </a:r>
          </a:p>
          <a:p>
            <a:r>
              <a:rPr lang="en-US" dirty="0"/>
              <a:t>Distinguish upper-limit sensitivity from discovery reach by evaluating confidence-level exclusions separately from 3</a:t>
            </a:r>
            <a:r>
              <a:rPr lang="el-GR" dirty="0"/>
              <a:t>σ </a:t>
            </a:r>
            <a:r>
              <a:rPr lang="en-US" dirty="0"/>
              <a:t>and 5</a:t>
            </a:r>
            <a:r>
              <a:rPr lang="el-GR" dirty="0"/>
              <a:t>σ </a:t>
            </a:r>
            <a:r>
              <a:rPr lang="en-US" dirty="0"/>
              <a:t>signal-significance targets.</a:t>
            </a:r>
          </a:p>
          <a:p>
            <a:r>
              <a:rPr lang="en-US" dirty="0"/>
              <a:t>Evaluate systematic effects from signal modeling, reconstruction and selection efficiency, background prediction, and stopped-muon/exposure normalization.</a:t>
            </a:r>
          </a:p>
          <a:p>
            <a:r>
              <a:rPr lang="en-US" dirty="0"/>
              <a:t>Convert the resulting sensitivity requirements into Mu2e running conditions, including required stopped muons, proton-on-target exposure, beam intensity, and wall-clock time.</a:t>
            </a:r>
          </a:p>
        </p:txBody>
      </p:sp>
      <p:sp>
        <p:nvSpPr>
          <p:cNvPr id="4" name="Title 1">
            <a:extLst>
              <a:ext uri="{FF2B5EF4-FFF2-40B4-BE49-F238E27FC236}">
                <a16:creationId xmlns:a16="http://schemas.microsoft.com/office/drawing/2014/main" id="{6CA4D229-D9D5-DFCC-E7ED-6E26149A2DF7}"/>
              </a:ext>
            </a:extLst>
          </p:cNvPr>
          <p:cNvSpPr txBox="1">
            <a:spLocks/>
          </p:cNvSpPr>
          <p:nvPr/>
        </p:nvSpPr>
        <p:spPr>
          <a:xfrm>
            <a:off x="0" y="0"/>
            <a:ext cx="10515600" cy="55123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C00000"/>
                </a:solidFill>
              </a:rPr>
              <a:t>Full Sensitivity Study and Statistical Analysis </a:t>
            </a:r>
          </a:p>
        </p:txBody>
      </p:sp>
      <p:sp>
        <p:nvSpPr>
          <p:cNvPr id="2" name="TextBox 1">
            <a:extLst>
              <a:ext uri="{FF2B5EF4-FFF2-40B4-BE49-F238E27FC236}">
                <a16:creationId xmlns:a16="http://schemas.microsoft.com/office/drawing/2014/main" id="{4F594A7F-E9DC-52A4-A40D-941CDF32F929}"/>
              </a:ext>
            </a:extLst>
          </p:cNvPr>
          <p:cNvSpPr txBox="1"/>
          <p:nvPr/>
        </p:nvSpPr>
        <p:spPr>
          <a:xfrm>
            <a:off x="7576223" y="358853"/>
            <a:ext cx="3891063" cy="830997"/>
          </a:xfrm>
          <a:prstGeom prst="rect">
            <a:avLst/>
          </a:prstGeom>
          <a:noFill/>
          <a:ln w="19050">
            <a:solidFill>
              <a:schemeClr val="accent1"/>
            </a:solidFill>
          </a:ln>
        </p:spPr>
        <p:txBody>
          <a:bodyPr wrap="square" rtlCol="0">
            <a:spAutoFit/>
          </a:bodyPr>
          <a:lstStyle/>
          <a:p>
            <a:r>
              <a:rPr lang="en-US" sz="1600" b="1" dirty="0"/>
              <a:t>Current</a:t>
            </a:r>
            <a:r>
              <a:rPr lang="en-US" sz="1600" dirty="0"/>
              <a:t>: Validated simplified generator with equal-energy, isotropic, exactly back-to-back electrons.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ED9A6D8-7FE8-85FA-AFA2-9CA312DC4AD6}"/>
                  </a:ext>
                </a:extLst>
              </p:cNvPr>
              <p:cNvSpPr txBox="1"/>
              <p:nvPr/>
            </p:nvSpPr>
            <p:spPr>
              <a:xfrm>
                <a:off x="7576223" y="1918867"/>
                <a:ext cx="3891063" cy="830997"/>
              </a:xfrm>
              <a:prstGeom prst="rect">
                <a:avLst/>
              </a:prstGeom>
              <a:noFill/>
              <a:ln w="19050">
                <a:solidFill>
                  <a:schemeClr val="accent1"/>
                </a:solidFill>
              </a:ln>
            </p:spPr>
            <p:txBody>
              <a:bodyPr wrap="square" rtlCol="0">
                <a:spAutoFit/>
              </a:bodyPr>
              <a:lstStyle/>
              <a:p>
                <a:r>
                  <a:rPr lang="en-US" sz="1600" b="1" dirty="0"/>
                  <a:t>Goal</a:t>
                </a:r>
                <a:r>
                  <a:rPr lang="en-US" sz="1600" dirty="0"/>
                  <a:t>: Theory-weighted, recoil-aware </a:t>
                </a:r>
                <a14:m>
                  <m:oMath xmlns:m="http://schemas.openxmlformats.org/officeDocument/2006/math">
                    <m:sSup>
                      <m:sSupPr>
                        <m:ctrlPr>
                          <a:rPr lang="en-US" sz="1600" i="1" smtClean="0">
                            <a:latin typeface="Cambria Math" panose="02040503050406030204" pitchFamily="18" charset="0"/>
                            <a:ea typeface="Cambria Math" panose="02040503050406030204" pitchFamily="18" charset="0"/>
                          </a:rPr>
                        </m:ctrlPr>
                      </m:sSupPr>
                      <m:e>
                        <m:r>
                          <a:rPr lang="en-US" sz="1600" i="1" smtClean="0">
                            <a:latin typeface="Cambria Math" panose="02040503050406030204" pitchFamily="18" charset="0"/>
                            <a:ea typeface="Cambria Math" panose="02040503050406030204" pitchFamily="18" charset="0"/>
                          </a:rPr>
                          <m:t>𝜇</m:t>
                        </m:r>
                      </m:e>
                      <m:sup>
                        <m:r>
                          <a:rPr lang="en-US" sz="1600" b="0" i="1" smtClean="0">
                            <a:latin typeface="Cambria Math" panose="02040503050406030204" pitchFamily="18" charset="0"/>
                          </a:rPr>
                          <m:t>−</m:t>
                        </m:r>
                      </m:sup>
                    </m:sSup>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sup>
                    </m:sSup>
                    <m:r>
                      <a:rPr lang="en-US" sz="160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𝑒</m:t>
                        </m:r>
                      </m:e>
                      <m:sup>
                        <m:r>
                          <a:rPr lang="en-US" sz="1600" b="0" i="1" smtClean="0">
                            <a:latin typeface="Cambria Math" panose="02040503050406030204" pitchFamily="18" charset="0"/>
                            <a:ea typeface="Cambria Math" panose="02040503050406030204" pitchFamily="18" charset="0"/>
                          </a:rPr>
                          <m:t>−</m:t>
                        </m:r>
                      </m:sup>
                    </m:sSup>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𝑒</m:t>
                        </m:r>
                      </m:e>
                      <m:sup>
                        <m:r>
                          <a:rPr lang="en-US" sz="1600" b="0" i="1" smtClean="0">
                            <a:latin typeface="Cambria Math" panose="02040503050406030204" pitchFamily="18" charset="0"/>
                            <a:ea typeface="Cambria Math" panose="02040503050406030204" pitchFamily="18" charset="0"/>
                          </a:rPr>
                          <m:t>−</m:t>
                        </m:r>
                      </m:sup>
                    </m:sSup>
                    <m:r>
                      <a:rPr lang="en-US" sz="1600" b="0" i="1" smtClean="0">
                        <a:latin typeface="Cambria Math" panose="02040503050406030204" pitchFamily="18" charset="0"/>
                        <a:ea typeface="Cambria Math" panose="02040503050406030204" pitchFamily="18" charset="0"/>
                      </a:rPr>
                      <m:t> </m:t>
                    </m:r>
                  </m:oMath>
                </a14:m>
                <a:r>
                  <a:rPr lang="en-US" sz="1600" dirty="0"/>
                  <a:t>signal generator with realistic energy and angular correlations.</a:t>
                </a:r>
              </a:p>
            </p:txBody>
          </p:sp>
        </mc:Choice>
        <mc:Fallback xmlns="">
          <p:sp>
            <p:nvSpPr>
              <p:cNvPr id="7" name="TextBox 6">
                <a:extLst>
                  <a:ext uri="{FF2B5EF4-FFF2-40B4-BE49-F238E27FC236}">
                    <a16:creationId xmlns:a16="http://schemas.microsoft.com/office/drawing/2014/main" id="{BED9A6D8-7FE8-85FA-AFA2-9CA312DC4AD6}"/>
                  </a:ext>
                </a:extLst>
              </p:cNvPr>
              <p:cNvSpPr txBox="1">
                <a:spLocks noRot="1" noChangeAspect="1" noMove="1" noResize="1" noEditPoints="1" noAdjustHandles="1" noChangeArrowheads="1" noChangeShapeType="1" noTextEdit="1"/>
              </p:cNvSpPr>
              <p:nvPr/>
            </p:nvSpPr>
            <p:spPr>
              <a:xfrm>
                <a:off x="7576223" y="1918867"/>
                <a:ext cx="3891063" cy="830997"/>
              </a:xfrm>
              <a:prstGeom prst="rect">
                <a:avLst/>
              </a:prstGeom>
              <a:blipFill>
                <a:blip r:embed="rId2"/>
                <a:stretch>
                  <a:fillRect l="-649" t="-1471" b="-5882"/>
                </a:stretch>
              </a:blipFill>
              <a:ln w="19050">
                <a:solidFill>
                  <a:schemeClr val="accent1"/>
                </a:solidFill>
              </a:ln>
            </p:spPr>
            <p:txBody>
              <a:bodyPr/>
              <a:lstStyle/>
              <a:p>
                <a:r>
                  <a:rPr lang="en-US">
                    <a:noFill/>
                  </a:rPr>
                  <a:t> </a:t>
                </a:r>
              </a:p>
            </p:txBody>
          </p:sp>
        </mc:Fallback>
      </mc:AlternateContent>
      <p:sp>
        <p:nvSpPr>
          <p:cNvPr id="8" name="Down Arrow 7">
            <a:extLst>
              <a:ext uri="{FF2B5EF4-FFF2-40B4-BE49-F238E27FC236}">
                <a16:creationId xmlns:a16="http://schemas.microsoft.com/office/drawing/2014/main" id="{2EC4B9FE-B0CD-6F59-D1F0-30A9CCA754F0}"/>
              </a:ext>
            </a:extLst>
          </p:cNvPr>
          <p:cNvSpPr/>
          <p:nvPr/>
        </p:nvSpPr>
        <p:spPr>
          <a:xfrm>
            <a:off x="9382324" y="1268910"/>
            <a:ext cx="278860" cy="559585"/>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304BCA3-3810-4691-7CDC-02F9FCC14A75}"/>
              </a:ext>
            </a:extLst>
          </p:cNvPr>
          <p:cNvSpPr txBox="1"/>
          <p:nvPr/>
        </p:nvSpPr>
        <p:spPr>
          <a:xfrm>
            <a:off x="6934194" y="3045362"/>
            <a:ext cx="5032443" cy="3416320"/>
          </a:xfrm>
          <a:prstGeom prst="rect">
            <a:avLst/>
          </a:prstGeom>
          <a:noFill/>
          <a:ln w="19050">
            <a:solidFill>
              <a:srgbClr val="C00000"/>
            </a:solidFill>
          </a:ln>
        </p:spPr>
        <p:txBody>
          <a:bodyPr wrap="square" rtlCol="0">
            <a:spAutoFit/>
          </a:bodyPr>
          <a:lstStyle/>
          <a:p>
            <a:r>
              <a:rPr lang="en-US" b="1" i="1" dirty="0"/>
              <a:t>Deliverables: </a:t>
            </a:r>
          </a:p>
          <a:p>
            <a:pPr marL="285750" indent="-285750">
              <a:buFont typeface="Arial" panose="020B0604020202020204" pitchFamily="34" charset="0"/>
              <a:buChar char="•"/>
            </a:pPr>
            <a:r>
              <a:rPr lang="en-US" dirty="0"/>
              <a:t>Complete signal-efficiency and background-yield model</a:t>
            </a:r>
          </a:p>
          <a:p>
            <a:pPr marL="285750" indent="-285750">
              <a:buFont typeface="Arial" panose="020B0604020202020204" pitchFamily="34" charset="0"/>
              <a:buChar char="•"/>
            </a:pPr>
            <a:r>
              <a:rPr lang="en-US" dirty="0"/>
              <a:t>Poisson-likelihood and Feldman–Cousins statistical-analysis toolbox</a:t>
            </a:r>
          </a:p>
          <a:p>
            <a:pPr marL="285750" indent="-285750">
              <a:buFont typeface="Arial" panose="020B0604020202020204" pitchFamily="34" charset="0"/>
              <a:buChar char="•"/>
            </a:pPr>
            <a:r>
              <a:rPr lang="en-US" dirty="0"/>
              <a:t>Expected upper-limit and discovery-reach estimates</a:t>
            </a:r>
          </a:p>
          <a:p>
            <a:pPr marL="285750" indent="-285750">
              <a:buFont typeface="Arial" panose="020B0604020202020204" pitchFamily="34" charset="0"/>
              <a:buChar char="•"/>
            </a:pPr>
            <a:r>
              <a:rPr lang="en-US" dirty="0"/>
              <a:t>Systematic-uncertainty evaluation</a:t>
            </a:r>
          </a:p>
          <a:p>
            <a:pPr marL="285750" indent="-285750">
              <a:buFont typeface="Arial" panose="020B0604020202020204" pitchFamily="34" charset="0"/>
              <a:buChar char="•"/>
            </a:pPr>
            <a:r>
              <a:rPr lang="en-US" dirty="0"/>
              <a:t>Required signal statistics, stopped-muon exposure, POT, and run-duration estimates</a:t>
            </a:r>
          </a:p>
          <a:p>
            <a:pPr marL="285750" indent="-285750">
              <a:buFont typeface="Arial" panose="020B0604020202020204" pitchFamily="34" charset="0"/>
              <a:buChar char="•"/>
            </a:pPr>
            <a:r>
              <a:rPr lang="en-US" dirty="0"/>
              <a:t>Final reconstruction-level Mu2e sensitivity result</a:t>
            </a:r>
          </a:p>
        </p:txBody>
      </p:sp>
      <p:sp>
        <p:nvSpPr>
          <p:cNvPr id="9" name="Slide Number Placeholder 8">
            <a:extLst>
              <a:ext uri="{FF2B5EF4-FFF2-40B4-BE49-F238E27FC236}">
                <a16:creationId xmlns:a16="http://schemas.microsoft.com/office/drawing/2014/main" id="{031398B3-A665-5219-2DE7-4F0ED6D9740C}"/>
              </a:ext>
            </a:extLst>
          </p:cNvPr>
          <p:cNvSpPr>
            <a:spLocks noGrp="1"/>
          </p:cNvSpPr>
          <p:nvPr>
            <p:ph type="sldNum" sz="quarter" idx="12"/>
          </p:nvPr>
        </p:nvSpPr>
        <p:spPr/>
        <p:txBody>
          <a:bodyPr/>
          <a:lstStyle/>
          <a:p>
            <a:fld id="{C0E0CB54-3DBF-E947-906E-85E307CF7971}" type="slidenum">
              <a:rPr lang="en-US" smtClean="0"/>
              <a:t>62</a:t>
            </a:fld>
            <a:endParaRPr lang="en-US"/>
          </a:p>
        </p:txBody>
      </p:sp>
    </p:spTree>
    <p:extLst>
      <p:ext uri="{BB962C8B-B14F-4D97-AF65-F5344CB8AC3E}">
        <p14:creationId xmlns:p14="http://schemas.microsoft.com/office/powerpoint/2010/main" val="16568335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5BBBDC4-7699-7F82-1619-0C7B0283D850}"/>
              </a:ext>
            </a:extLst>
          </p:cNvPr>
          <p:cNvPicPr>
            <a:picLocks noChangeAspect="1"/>
          </p:cNvPicPr>
          <p:nvPr/>
        </p:nvPicPr>
        <p:blipFill>
          <a:blip r:embed="rId2"/>
          <a:stretch>
            <a:fillRect/>
          </a:stretch>
        </p:blipFill>
        <p:spPr>
          <a:xfrm>
            <a:off x="152400" y="136525"/>
            <a:ext cx="7772400" cy="437265"/>
          </a:xfrm>
          <a:prstGeom prst="rect">
            <a:avLst/>
          </a:prstGeom>
        </p:spPr>
      </p:pic>
      <p:sp>
        <p:nvSpPr>
          <p:cNvPr id="2" name="Slide Number Placeholder 1">
            <a:extLst>
              <a:ext uri="{FF2B5EF4-FFF2-40B4-BE49-F238E27FC236}">
                <a16:creationId xmlns:a16="http://schemas.microsoft.com/office/drawing/2014/main" id="{039C5207-ED5D-B478-F153-0219C4E639F9}"/>
              </a:ext>
            </a:extLst>
          </p:cNvPr>
          <p:cNvSpPr>
            <a:spLocks noGrp="1"/>
          </p:cNvSpPr>
          <p:nvPr>
            <p:ph type="sldNum" sz="quarter" idx="12"/>
          </p:nvPr>
        </p:nvSpPr>
        <p:spPr/>
        <p:txBody>
          <a:bodyPr/>
          <a:lstStyle/>
          <a:p>
            <a:fld id="{C0E0CB54-3DBF-E947-906E-85E307CF7971}" type="slidenum">
              <a:rPr lang="en-US" smtClean="0"/>
              <a:t>63</a:t>
            </a:fld>
            <a:endParaRPr lang="en-US"/>
          </a:p>
        </p:txBody>
      </p:sp>
    </p:spTree>
    <p:extLst>
      <p:ext uri="{BB962C8B-B14F-4D97-AF65-F5344CB8AC3E}">
        <p14:creationId xmlns:p14="http://schemas.microsoft.com/office/powerpoint/2010/main" val="1957627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2247</TotalTime>
  <Words>9923</Words>
  <Application>Microsoft Macintosh PowerPoint</Application>
  <PresentationFormat>Widescreen</PresentationFormat>
  <Paragraphs>1352</Paragraphs>
  <Slides>63</Slides>
  <Notes>42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Aptos</vt:lpstr>
      <vt:lpstr>Aptos Display</vt:lpstr>
      <vt:lpstr>Arial</vt:lpstr>
      <vt:lpstr>Calibri</vt:lpstr>
      <vt:lpstr>Cambria</vt:lpstr>
      <vt:lpstr>Cambria Math</vt:lpstr>
      <vt:lpstr>Wingdings</vt:lpstr>
      <vt:lpstr>Office Theme</vt:lpstr>
      <vt:lpstr>A Sensitivity Study of the μ^- e^-→e^- e^- Process in the Mu2e Experiment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Current Limits Placed as Stated by Calibbi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Vertexing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lpstr>Backup Slides</vt:lpstr>
      <vt:lpstr>Geometric Vertexing Description</vt:lpstr>
      <vt:lpstr>Muon-Lifetime Considerations</vt:lpstr>
      <vt:lpstr>Back-of-Envelope Wall Clock Hours Prediction (Pt. 1)</vt:lpstr>
      <vt:lpstr>Back-of-Envelope Wall Clock Hours Prediction (Pt. 2)</vt:lpstr>
      <vt:lpstr>PowerPoint Presentation</vt:lpstr>
      <vt:lpstr>Half-Field DS Field Designation</vt:lpstr>
      <vt:lpstr>Mu2e Experiment Background Slides</vt:lpstr>
      <vt:lpstr>Proton Beam</vt:lpstr>
      <vt:lpstr>Production Target and Solenoid</vt:lpstr>
      <vt:lpstr>Transport Solenoid</vt:lpstr>
      <vt:lpstr>Stopping Target</vt:lpstr>
      <vt:lpstr>Tracker</vt:lpstr>
      <vt:lpstr>Calorimeter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Boldy, Andrew</dc:creator>
  <cp:lastModifiedBy>Boldy, Andrew</cp:lastModifiedBy>
  <cp:revision>16</cp:revision>
  <dcterms:created xsi:type="dcterms:W3CDTF">2026-09-30T14:38:07Z</dcterms:created>
  <dcterms:modified xsi:type="dcterms:W3CDTF">2026-10-08T05:01:12Z</dcterms:modified>
</cp:coreProperties>
</file>